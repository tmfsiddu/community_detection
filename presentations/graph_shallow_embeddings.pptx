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8"/>
  </p:notesMasterIdLst>
  <p:sldIdLst>
    <p:sldId id="256" r:id="rId2"/>
    <p:sldId id="257" r:id="rId3"/>
    <p:sldId id="258" r:id="rId4"/>
    <p:sldId id="259" r:id="rId5"/>
    <p:sldId id="260" r:id="rId6"/>
    <p:sldId id="285" r:id="rId7"/>
    <p:sldId id="261" r:id="rId8"/>
    <p:sldId id="262" r:id="rId9"/>
    <p:sldId id="263" r:id="rId10"/>
    <p:sldId id="286" r:id="rId11"/>
    <p:sldId id="288" r:id="rId12"/>
    <p:sldId id="264" r:id="rId13"/>
    <p:sldId id="265" r:id="rId14"/>
    <p:sldId id="266" r:id="rId15"/>
    <p:sldId id="289" r:id="rId16"/>
    <p:sldId id="290" r:id="rId17"/>
    <p:sldId id="291" r:id="rId18"/>
    <p:sldId id="267" r:id="rId19"/>
    <p:sldId id="268" r:id="rId20"/>
    <p:sldId id="269" r:id="rId21"/>
    <p:sldId id="270" r:id="rId22"/>
    <p:sldId id="292" r:id="rId23"/>
    <p:sldId id="293" r:id="rId24"/>
    <p:sldId id="294" r:id="rId25"/>
    <p:sldId id="272" r:id="rId26"/>
    <p:sldId id="273" r:id="rId27"/>
    <p:sldId id="274" r:id="rId28"/>
    <p:sldId id="275" r:id="rId29"/>
    <p:sldId id="276" r:id="rId30"/>
    <p:sldId id="277" r:id="rId31"/>
    <p:sldId id="278" r:id="rId32"/>
    <p:sldId id="279" r:id="rId33"/>
    <p:sldId id="281" r:id="rId34"/>
    <p:sldId id="282" r:id="rId35"/>
    <p:sldId id="283" r:id="rId36"/>
    <p:sldId id="284" r:id="rId37"/>
  </p:sldIdLst>
  <p:sldSz cx="18288000" cy="10287000"/>
  <p:notesSz cx="6858000" cy="9144000"/>
  <p:embeddedFontLst>
    <p:embeddedFont>
      <p:font typeface="Cambria" panose="02040503050406030204" pitchFamily="18" charset="0"/>
      <p:regular r:id="rId39"/>
      <p:bold r:id="rId40"/>
      <p:italic r:id="rId41"/>
      <p:boldItalic r:id="rId42"/>
    </p:embeddedFont>
    <p:embeddedFont>
      <p:font typeface="Cambria Math" panose="02040503050406030204" pitchFamily="18" charset="0"/>
      <p:regular r:id="rId43"/>
    </p:embeddedFont>
    <p:embeddedFont>
      <p:font typeface="Hammersmith One" panose="02010703030501060504" pitchFamily="2" charset="0"/>
      <p:regular r:id="rId44"/>
    </p:embeddedFont>
    <p:embeddedFont>
      <p:font typeface="Playfair Display" panose="00000500000000000000" pitchFamily="2" charset="0"/>
      <p:regular r:id="rId45"/>
      <p:bold r:id="rId46"/>
      <p:italic r:id="rId47"/>
      <p:boldItalic r:id="rId48"/>
    </p:embeddedFont>
    <p:embeddedFont>
      <p:font typeface="Playfair Display Italics" panose="020B0604020202020204" charset="0"/>
      <p:regular r:id="rId4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D8E8B1-3DA4-4C0B-91AF-B8EDABC1938B}" v="68" dt="2026-06-11T07:17:31.5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0" d="100"/>
          <a:sy n="50" d="100"/>
        </p:scale>
        <p:origin x="874"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45" Type="http://schemas.openxmlformats.org/officeDocument/2006/relationships/font" Target="fonts/font7.fntdata"/><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6.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48" Type="http://schemas.openxmlformats.org/officeDocument/2006/relationships/font" Target="fonts/font10.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font" Target="fonts/font3.fntdata"/><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09.06.2026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Welcome slide. Introduce the topic: learning vector representations of graph nodes. Mention the two key references.</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4F61D-FAEF-13B0-6CDC-1E8E6F8CF857}"/>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DACC7415-C099-A084-F876-7836F1992112}"/>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C71032CE-A4F8-FFBC-6542-3B4FE808D708}"/>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0F96C5B9-6481-8D41-DB99-87022837810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BB2DE0EB-8D5D-1DC8-6B2E-B77111D64916}"/>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a:extLst>
              <a:ext uri="{FF2B5EF4-FFF2-40B4-BE49-F238E27FC236}">
                <a16:creationId xmlns:a16="http://schemas.microsoft.com/office/drawing/2014/main" id="{1E332D41-4055-9093-7997-4FFA828152B2}"/>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F426FCE3-8E96-6764-96E3-5B6D7D1830BE}"/>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0861462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65182-F488-99A1-8F0A-BA1168345CD2}"/>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613EA73E-D2F2-24D5-D9BE-C09FFAFFF4AE}"/>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A3B8FE57-33D6-C531-9496-C0373FADA7C1}"/>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E24ECD89-54EF-0007-6B8A-2FE9A498DB64}"/>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797E167B-1D43-D52F-0F14-431825344197}"/>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a:extLst>
              <a:ext uri="{FF2B5EF4-FFF2-40B4-BE49-F238E27FC236}">
                <a16:creationId xmlns:a16="http://schemas.microsoft.com/office/drawing/2014/main" id="{15F68DDA-0078-AC6C-0A4C-75CD1C0D8F14}"/>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E37F435F-B3BB-4CBA-460D-3F3208A2BF9A}"/>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7250828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62DDD-27DD-2CC3-2CE4-B78E2C47DE8A}"/>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8DBBF68F-6CFB-772D-0298-1259E07E99A5}"/>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56DE4169-84C8-615C-A4C0-42AEE9EF0444}"/>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79B5B391-A41E-3193-50AF-852014A380F1}"/>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9D485F85-7C97-3451-EF68-77792CA6D01F}"/>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a:extLst>
              <a:ext uri="{FF2B5EF4-FFF2-40B4-BE49-F238E27FC236}">
                <a16:creationId xmlns:a16="http://schemas.microsoft.com/office/drawing/2014/main" id="{803C8140-E572-99B6-2B7E-F0301705C481}"/>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B02012CD-6422-DB07-DAC1-FFB292ACACE1}"/>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8748663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Transition from deterministic factorization methods to stochastic random walk methods.</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875200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53439"/>
        </a:solidFill>
        <a:effectLst/>
      </p:bgPr>
    </p:bg>
    <p:spTree>
      <p:nvGrpSpPr>
        <p:cNvPr id="1" name=""/>
        <p:cNvGrpSpPr/>
        <p:nvPr/>
      </p:nvGrpSpPr>
      <p:grpSpPr>
        <a:xfrm>
          <a:off x="0" y="0"/>
          <a:ext cx="0" cy="0"/>
          <a:chOff x="0" y="0"/>
          <a:chExt cx="0" cy="0"/>
        </a:xfrm>
      </p:grpSpPr>
      <p:grpSp>
        <p:nvGrpSpPr>
          <p:cNvPr id="6" name="Group 6"/>
          <p:cNvGrpSpPr/>
          <p:nvPr/>
        </p:nvGrpSpPr>
        <p:grpSpPr>
          <a:xfrm>
            <a:off x="914400" y="822960"/>
            <a:ext cx="7315200" cy="640080"/>
            <a:chOff x="0" y="0"/>
            <a:chExt cx="9753600" cy="853440"/>
          </a:xfrm>
        </p:grpSpPr>
        <p:sp>
          <p:nvSpPr>
            <p:cNvPr id="7" name="Freeform 7"/>
            <p:cNvSpPr/>
            <p:nvPr/>
          </p:nvSpPr>
          <p:spPr>
            <a:xfrm>
              <a:off x="0" y="0"/>
              <a:ext cx="9753600" cy="853440"/>
            </a:xfrm>
            <a:custGeom>
              <a:avLst/>
              <a:gdLst/>
              <a:ahLst/>
              <a:cxnLst/>
              <a:rect l="l" t="t" r="r" b="b"/>
              <a:pathLst>
                <a:path w="9753600" h="853440">
                  <a:moveTo>
                    <a:pt x="0" y="0"/>
                  </a:moveTo>
                  <a:lnTo>
                    <a:pt x="9753600" y="0"/>
                  </a:lnTo>
                  <a:lnTo>
                    <a:pt x="9753600" y="853440"/>
                  </a:lnTo>
                  <a:lnTo>
                    <a:pt x="0" y="853440"/>
                  </a:lnTo>
                  <a:close/>
                </a:path>
              </a:pathLst>
            </a:custGeom>
            <a:blipFill>
              <a:blip r:embed="rId3">
                <a:alphaModFix amt="0"/>
              </a:blip>
              <a:stretch>
                <a:fillRect t="-172686" b="-172686"/>
              </a:stretch>
            </a:blipFill>
          </p:spPr>
          <p:txBody>
            <a:bodyPr/>
            <a:lstStyle/>
            <a:p>
              <a:endParaRPr lang="en-IN"/>
            </a:p>
          </p:txBody>
        </p:sp>
        <p:sp>
          <p:nvSpPr>
            <p:cNvPr id="8" name="TextBox 8"/>
            <p:cNvSpPr txBox="1"/>
            <p:nvPr/>
          </p:nvSpPr>
          <p:spPr>
            <a:xfrm>
              <a:off x="0" y="0"/>
              <a:ext cx="9753600" cy="853440"/>
            </a:xfrm>
            <a:prstGeom prst="rect">
              <a:avLst/>
            </a:prstGeom>
          </p:spPr>
          <p:txBody>
            <a:bodyPr lIns="0" tIns="0" rIns="0" bIns="0" rtlCol="0" anchor="ctr"/>
            <a:lstStyle/>
            <a:p>
              <a:pPr algn="l">
                <a:lnSpc>
                  <a:spcPts val="2400"/>
                </a:lnSpc>
              </a:pPr>
              <a:r>
                <a:rPr lang="en-US" sz="2000" spc="40">
                  <a:solidFill>
                    <a:srgbClr val="FFFFFF"/>
                  </a:solidFill>
                  <a:latin typeface="Playfair Display"/>
                  <a:ea typeface="Playfair Display"/>
                  <a:cs typeface="Playfair Display"/>
                  <a:sym typeface="Playfair Display"/>
                </a:rPr>
                <a:t>GRAPH REPRESENTATION LEARNING</a:t>
              </a:r>
            </a:p>
          </p:txBody>
        </p:sp>
      </p:grpSp>
      <p:grpSp>
        <p:nvGrpSpPr>
          <p:cNvPr id="9" name="Group 9"/>
          <p:cNvGrpSpPr/>
          <p:nvPr/>
        </p:nvGrpSpPr>
        <p:grpSpPr>
          <a:xfrm>
            <a:off x="914400" y="1645920"/>
            <a:ext cx="16093440" cy="2743200"/>
            <a:chOff x="0" y="0"/>
            <a:chExt cx="21457920" cy="3657600"/>
          </a:xfrm>
        </p:grpSpPr>
        <p:sp>
          <p:nvSpPr>
            <p:cNvPr id="10" name="Freeform 10"/>
            <p:cNvSpPr/>
            <p:nvPr/>
          </p:nvSpPr>
          <p:spPr>
            <a:xfrm>
              <a:off x="0" y="0"/>
              <a:ext cx="21457920" cy="3657600"/>
            </a:xfrm>
            <a:custGeom>
              <a:avLst/>
              <a:gdLst/>
              <a:ahLst/>
              <a:cxnLst/>
              <a:rect l="l" t="t" r="r" b="b"/>
              <a:pathLst>
                <a:path w="21457920" h="3657600">
                  <a:moveTo>
                    <a:pt x="0" y="0"/>
                  </a:moveTo>
                  <a:lnTo>
                    <a:pt x="21457920" y="0"/>
                  </a:lnTo>
                  <a:lnTo>
                    <a:pt x="21457920" y="3657600"/>
                  </a:lnTo>
                  <a:lnTo>
                    <a:pt x="0" y="3657600"/>
                  </a:lnTo>
                  <a:close/>
                </a:path>
              </a:pathLst>
            </a:custGeom>
            <a:blipFill>
              <a:blip r:embed="rId3">
                <a:alphaModFix amt="0"/>
              </a:blip>
              <a:stretch>
                <a:fillRect t="-64312" b="-64312"/>
              </a:stretch>
            </a:blipFill>
          </p:spPr>
          <p:txBody>
            <a:bodyPr/>
            <a:lstStyle/>
            <a:p>
              <a:endParaRPr lang="en-IN"/>
            </a:p>
          </p:txBody>
        </p:sp>
        <p:sp>
          <p:nvSpPr>
            <p:cNvPr id="11" name="TextBox 11"/>
            <p:cNvSpPr txBox="1"/>
            <p:nvPr/>
          </p:nvSpPr>
          <p:spPr>
            <a:xfrm>
              <a:off x="0" y="0"/>
              <a:ext cx="21457920" cy="3657600"/>
            </a:xfrm>
            <a:prstGeom prst="rect">
              <a:avLst/>
            </a:prstGeom>
          </p:spPr>
          <p:txBody>
            <a:bodyPr lIns="0" tIns="0" rIns="0" bIns="0" rtlCol="0" anchor="ctr"/>
            <a:lstStyle/>
            <a:p>
              <a:pPr algn="l">
                <a:lnSpc>
                  <a:spcPts val="8640"/>
                </a:lnSpc>
              </a:pPr>
              <a:r>
                <a:rPr lang="en-US" sz="7200" spc="1008">
                  <a:solidFill>
                    <a:srgbClr val="FFFFFF"/>
                  </a:solidFill>
                  <a:latin typeface="Hammersmith One"/>
                  <a:ea typeface="Hammersmith One"/>
                  <a:cs typeface="Hammersmith One"/>
                  <a:sym typeface="Hammersmith One"/>
                </a:rPr>
                <a:t>RANDOM WALKS, DEEPWALK</a:t>
              </a:r>
            </a:p>
            <a:p>
              <a:pPr algn="l">
                <a:lnSpc>
                  <a:spcPts val="8640"/>
                </a:lnSpc>
              </a:pPr>
              <a:r>
                <a:rPr lang="en-US" sz="7200" spc="1008">
                  <a:solidFill>
                    <a:srgbClr val="FFFFFF"/>
                  </a:solidFill>
                  <a:latin typeface="Hammersmith One"/>
                  <a:ea typeface="Hammersmith One"/>
                  <a:cs typeface="Hammersmith One"/>
                  <a:sym typeface="Hammersmith One"/>
                </a:rPr>
                <a:t>&amp; NODE2VEC</a:t>
              </a:r>
            </a:p>
          </p:txBody>
        </p:sp>
      </p:grpSp>
      <p:grpSp>
        <p:nvGrpSpPr>
          <p:cNvPr id="12" name="Group 12"/>
          <p:cNvGrpSpPr/>
          <p:nvPr/>
        </p:nvGrpSpPr>
        <p:grpSpPr>
          <a:xfrm>
            <a:off x="914400" y="4663440"/>
            <a:ext cx="15544800" cy="1463040"/>
            <a:chOff x="0" y="0"/>
            <a:chExt cx="20726400" cy="1950720"/>
          </a:xfrm>
        </p:grpSpPr>
        <p:sp>
          <p:nvSpPr>
            <p:cNvPr id="13" name="Freeform 13"/>
            <p:cNvSpPr/>
            <p:nvPr/>
          </p:nvSpPr>
          <p:spPr>
            <a:xfrm>
              <a:off x="0" y="0"/>
              <a:ext cx="20726400" cy="1950720"/>
            </a:xfrm>
            <a:custGeom>
              <a:avLst/>
              <a:gdLst/>
              <a:ahLst/>
              <a:cxnLst/>
              <a:rect l="l" t="t" r="r" b="b"/>
              <a:pathLst>
                <a:path w="20726400" h="1950720">
                  <a:moveTo>
                    <a:pt x="0" y="0"/>
                  </a:moveTo>
                  <a:lnTo>
                    <a:pt x="20726400" y="0"/>
                  </a:lnTo>
                  <a:lnTo>
                    <a:pt x="20726400" y="1950720"/>
                  </a:lnTo>
                  <a:lnTo>
                    <a:pt x="0" y="1950720"/>
                  </a:lnTo>
                  <a:close/>
                </a:path>
              </a:pathLst>
            </a:custGeom>
            <a:blipFill>
              <a:blip r:embed="rId3">
                <a:alphaModFix amt="0"/>
              </a:blip>
              <a:stretch>
                <a:fillRect t="-157028" b="-157028"/>
              </a:stretch>
            </a:blipFill>
          </p:spPr>
          <p:txBody>
            <a:bodyPr/>
            <a:lstStyle/>
            <a:p>
              <a:endParaRPr lang="en-IN"/>
            </a:p>
          </p:txBody>
        </p:sp>
        <p:sp>
          <p:nvSpPr>
            <p:cNvPr id="14" name="TextBox 14"/>
            <p:cNvSpPr txBox="1"/>
            <p:nvPr/>
          </p:nvSpPr>
          <p:spPr>
            <a:xfrm>
              <a:off x="0" y="0"/>
              <a:ext cx="20726400" cy="1950720"/>
            </a:xfrm>
            <a:prstGeom prst="rect">
              <a:avLst/>
            </a:prstGeom>
          </p:spPr>
          <p:txBody>
            <a:bodyPr lIns="0" tIns="0" rIns="0" bIns="0" rtlCol="0" anchor="ctr"/>
            <a:lstStyle/>
            <a:p>
              <a:pPr algn="l">
                <a:lnSpc>
                  <a:spcPts val="3840"/>
                </a:lnSpc>
              </a:pPr>
              <a:r>
                <a:rPr lang="en-US" sz="3200" i="1" spc="160">
                  <a:solidFill>
                    <a:srgbClr val="FFFFFF"/>
                  </a:solidFill>
                  <a:latin typeface="Playfair Display Italics"/>
                  <a:ea typeface="Playfair Display Italics"/>
                  <a:cs typeface="Playfair Display Italics"/>
                  <a:sym typeface="Playfair Display Italics"/>
                </a:rPr>
                <a:t>Encoder-Decoder Framework • Factorization Methods • Biased Random Walks</a:t>
              </a:r>
            </a:p>
          </p:txBody>
        </p:sp>
      </p:grpSp>
      <p:grpSp>
        <p:nvGrpSpPr>
          <p:cNvPr id="15" name="Group 15"/>
          <p:cNvGrpSpPr/>
          <p:nvPr/>
        </p:nvGrpSpPr>
        <p:grpSpPr>
          <a:xfrm>
            <a:off x="914400" y="8961120"/>
            <a:ext cx="16459200" cy="731520"/>
            <a:chOff x="0" y="0"/>
            <a:chExt cx="21945600" cy="975360"/>
          </a:xfrm>
        </p:grpSpPr>
        <p:sp>
          <p:nvSpPr>
            <p:cNvPr id="16" name="Freeform 16"/>
            <p:cNvSpPr/>
            <p:nvPr/>
          </p:nvSpPr>
          <p:spPr>
            <a:xfrm>
              <a:off x="0" y="0"/>
              <a:ext cx="21945600" cy="975360"/>
            </a:xfrm>
            <a:custGeom>
              <a:avLst/>
              <a:gdLst/>
              <a:ahLst/>
              <a:cxnLst/>
              <a:rect l="l" t="t" r="r" b="b"/>
              <a:pathLst>
                <a:path w="21945600" h="975360">
                  <a:moveTo>
                    <a:pt x="0" y="0"/>
                  </a:moveTo>
                  <a:lnTo>
                    <a:pt x="21945600" y="0"/>
                  </a:lnTo>
                  <a:lnTo>
                    <a:pt x="21945600" y="975360"/>
                  </a:lnTo>
                  <a:lnTo>
                    <a:pt x="0" y="975360"/>
                  </a:lnTo>
                  <a:close/>
                </a:path>
              </a:pathLst>
            </a:custGeom>
            <a:blipFill>
              <a:blip r:embed="rId3">
                <a:alphaModFix amt="0"/>
              </a:blip>
              <a:stretch>
                <a:fillRect t="-388413" b="-388413"/>
              </a:stretch>
            </a:blipFill>
          </p:spPr>
          <p:txBody>
            <a:bodyPr/>
            <a:lstStyle/>
            <a:p>
              <a:endParaRPr lang="en-IN"/>
            </a:p>
          </p:txBody>
        </p:sp>
        <p:sp>
          <p:nvSpPr>
            <p:cNvPr id="17" name="TextBox 17"/>
            <p:cNvSpPr txBox="1"/>
            <p:nvPr/>
          </p:nvSpPr>
          <p:spPr>
            <a:xfrm>
              <a:off x="0" y="0"/>
              <a:ext cx="21945600" cy="975360"/>
            </a:xfrm>
            <a:prstGeom prst="rect">
              <a:avLst/>
            </a:prstGeom>
          </p:spPr>
          <p:txBody>
            <a:bodyPr lIns="0" tIns="0" rIns="0" bIns="0" rtlCol="0" anchor="ctr"/>
            <a:lstStyle/>
            <a:p>
              <a:pPr algn="l">
                <a:lnSpc>
                  <a:spcPts val="2640"/>
                </a:lnSpc>
              </a:pPr>
              <a:r>
                <a:rPr lang="en-US" sz="2200" spc="43">
                  <a:solidFill>
                    <a:srgbClr val="FFFFFF"/>
                  </a:solidFill>
                  <a:latin typeface="Playfair Display"/>
                  <a:ea typeface="Playfair Display"/>
                  <a:cs typeface="Playfair Display"/>
                  <a:sym typeface="Playfair Display"/>
                </a:rPr>
                <a:t>Based on Hamilton (McGill, GRL Book) • Stanford CS224W • Chapter 3</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53439"/>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0" y="0"/>
              <a:ext cx="24417910" cy="1789557"/>
            </a:xfrm>
            <a:custGeom>
              <a:avLst/>
              <a:gdLst/>
              <a:ahLst/>
              <a:cxnLst/>
              <a:rect l="l" t="t" r="r" b="b"/>
              <a:pathLst>
                <a:path w="24417910" h="1789557">
                  <a:moveTo>
                    <a:pt x="0" y="0"/>
                  </a:moveTo>
                  <a:lnTo>
                    <a:pt x="24417910" y="0"/>
                  </a:lnTo>
                  <a:lnTo>
                    <a:pt x="24417910" y="1789557"/>
                  </a:lnTo>
                  <a:lnTo>
                    <a:pt x="0" y="1789557"/>
                  </a:lnTo>
                  <a:close/>
                </a:path>
              </a:pathLst>
            </a:custGeom>
            <a:solidFill>
              <a:srgbClr val="7C898B"/>
            </a:solidFill>
            <a:ln w="25400" cap="sq">
              <a:solidFill>
                <a:srgbClr val="1A3461"/>
              </a:solidFill>
              <a:prstDash val="solid"/>
              <a:miter/>
            </a:ln>
          </p:spPr>
          <p:txBody>
            <a:bodyPr/>
            <a:lstStyle/>
            <a:p>
              <a:endParaRPr lang="en-IN"/>
            </a:p>
          </p:txBody>
        </p:sp>
      </p:grpSp>
      <p:grpSp>
        <p:nvGrpSpPr>
          <p:cNvPr id="4" name="Group 4"/>
          <p:cNvGrpSpPr/>
          <p:nvPr/>
        </p:nvGrpSpPr>
        <p:grpSpPr>
          <a:xfrm>
            <a:off x="731520" y="0"/>
            <a:ext cx="16824960" cy="1316736"/>
            <a:chOff x="0" y="0"/>
            <a:chExt cx="22433280" cy="1755648"/>
          </a:xfrm>
        </p:grpSpPr>
        <p:sp>
          <p:nvSpPr>
            <p:cNvPr id="5" name="Freeform 5"/>
            <p:cNvSpPr/>
            <p:nvPr/>
          </p:nvSpPr>
          <p:spPr>
            <a:xfrm>
              <a:off x="0" y="0"/>
              <a:ext cx="22433280" cy="1755648"/>
            </a:xfrm>
            <a:custGeom>
              <a:avLst/>
              <a:gdLst/>
              <a:ahLst/>
              <a:cxnLst/>
              <a:rect l="l" t="t" r="r" b="b"/>
              <a:pathLst>
                <a:path w="22433280" h="1755648">
                  <a:moveTo>
                    <a:pt x="0" y="0"/>
                  </a:moveTo>
                  <a:lnTo>
                    <a:pt x="22433280" y="0"/>
                  </a:lnTo>
                  <a:lnTo>
                    <a:pt x="22433280" y="1755648"/>
                  </a:lnTo>
                  <a:lnTo>
                    <a:pt x="0" y="1755648"/>
                  </a:lnTo>
                  <a:close/>
                </a:path>
              </a:pathLst>
            </a:custGeom>
            <a:blipFill>
              <a:blip r:embed="rId3">
                <a:alphaModFix amt="0"/>
              </a:blip>
              <a:stretch>
                <a:fillRect t="-198975" b="-198975"/>
              </a:stretch>
            </a:blipFill>
          </p:spPr>
          <p:txBody>
            <a:bodyPr/>
            <a:lstStyle/>
            <a:p>
              <a:endParaRPr lang="en-IN"/>
            </a:p>
          </p:txBody>
        </p:sp>
        <p:sp>
          <p:nvSpPr>
            <p:cNvPr id="6" name="TextBox 6"/>
            <p:cNvSpPr txBox="1"/>
            <p:nvPr/>
          </p:nvSpPr>
          <p:spPr>
            <a:xfrm>
              <a:off x="0" y="0"/>
              <a:ext cx="22433280" cy="1755648"/>
            </a:xfrm>
            <a:prstGeom prst="rect">
              <a:avLst/>
            </a:prstGeom>
          </p:spPr>
          <p:txBody>
            <a:bodyPr lIns="0" tIns="0" rIns="0" bIns="0" rtlCol="0" anchor="ctr"/>
            <a:lstStyle/>
            <a:p>
              <a:pPr algn="l">
                <a:lnSpc>
                  <a:spcPts val="4800"/>
                </a:lnSpc>
              </a:pPr>
              <a:r>
                <a:rPr lang="en-US" sz="4000" b="1" spc="200" dirty="0">
                  <a:solidFill>
                    <a:srgbClr val="FFFFFF"/>
                  </a:solidFill>
                  <a:latin typeface="Times New Roman" panose="02020603050405020304" pitchFamily="18" charset="0"/>
                  <a:ea typeface="Playfair Display Italics"/>
                  <a:cs typeface="Times New Roman" panose="02020603050405020304" pitchFamily="18" charset="0"/>
                  <a:sym typeface="Playfair Display Italics"/>
                </a:rPr>
                <a:t>Presentation</a:t>
              </a:r>
              <a:r>
                <a:rPr lang="en-US" sz="4000" b="1" i="1" spc="200" dirty="0">
                  <a:solidFill>
                    <a:srgbClr val="FFFFFF"/>
                  </a:solidFill>
                  <a:latin typeface="Times New Roman" panose="02020603050405020304" pitchFamily="18" charset="0"/>
                  <a:ea typeface="Playfair Display Italics"/>
                  <a:cs typeface="Times New Roman" panose="02020603050405020304" pitchFamily="18" charset="0"/>
                  <a:sym typeface="Playfair Display Italics"/>
                </a:rPr>
                <a:t> </a:t>
              </a:r>
              <a:r>
                <a:rPr lang="en-US" sz="4000" b="1" spc="200" dirty="0">
                  <a:solidFill>
                    <a:srgbClr val="FFFFFF"/>
                  </a:solidFill>
                  <a:latin typeface="Times New Roman" panose="02020603050405020304" pitchFamily="18" charset="0"/>
                  <a:ea typeface="Playfair Display Italics"/>
                  <a:cs typeface="Times New Roman" panose="02020603050405020304" pitchFamily="18" charset="0"/>
                  <a:sym typeface="Playfair Display Italics"/>
                </a:rPr>
                <a:t>Outline</a:t>
              </a:r>
            </a:p>
          </p:txBody>
        </p:sp>
      </p:grpSp>
      <p:sp>
        <p:nvSpPr>
          <p:cNvPr id="149" name="TextBox 148">
            <a:extLst>
              <a:ext uri="{FF2B5EF4-FFF2-40B4-BE49-F238E27FC236}">
                <a16:creationId xmlns:a16="http://schemas.microsoft.com/office/drawing/2014/main" id="{72586328-D137-DA41-9E49-4C86E8367E31}"/>
              </a:ext>
            </a:extLst>
          </p:cNvPr>
          <p:cNvSpPr txBox="1"/>
          <p:nvPr/>
        </p:nvSpPr>
        <p:spPr>
          <a:xfrm>
            <a:off x="1219200" y="2552701"/>
            <a:ext cx="7239000" cy="4801314"/>
          </a:xfrm>
          <a:prstGeom prst="rect">
            <a:avLst/>
          </a:prstGeom>
          <a:noFill/>
        </p:spPr>
        <p:txBody>
          <a:bodyPr wrap="square" rtlCol="0">
            <a:spAutoFit/>
          </a:bodyPr>
          <a:lstStyle/>
          <a:p>
            <a:pPr marL="514350" indent="-514350">
              <a:buFont typeface="+mj-lt"/>
              <a:buAutoNum type="arabicPeriod"/>
            </a:pPr>
            <a:r>
              <a:rPr lang="en-IN" sz="3200" dirty="0">
                <a:solidFill>
                  <a:schemeClr val="bg1"/>
                </a:solidFill>
                <a:latin typeface="Times New Roman" panose="02020603050405020304" pitchFamily="18" charset="0"/>
                <a:cs typeface="Times New Roman" panose="02020603050405020304" pitchFamily="18" charset="0"/>
              </a:rPr>
              <a:t>Why Graph Representation Learning?</a:t>
            </a:r>
          </a:p>
          <a:p>
            <a:pPr marL="514350" indent="-514350">
              <a:buFont typeface="+mj-lt"/>
              <a:buAutoNum type="arabicPeriod"/>
            </a:pPr>
            <a:r>
              <a:rPr lang="en-IN" sz="3200" dirty="0">
                <a:solidFill>
                  <a:schemeClr val="bg1"/>
                </a:solidFill>
                <a:latin typeface="Times New Roman" panose="02020603050405020304" pitchFamily="18" charset="0"/>
                <a:cs typeface="Times New Roman" panose="02020603050405020304" pitchFamily="18" charset="0"/>
              </a:rPr>
              <a:t>Node Embeddings — The Big Idea</a:t>
            </a:r>
          </a:p>
          <a:p>
            <a:pPr marL="514350" indent="-514350">
              <a:buFont typeface="+mj-lt"/>
              <a:buAutoNum type="arabicPeriod"/>
            </a:pPr>
            <a:r>
              <a:rPr lang="en-IN" sz="3200" dirty="0">
                <a:solidFill>
                  <a:schemeClr val="bg1"/>
                </a:solidFill>
                <a:latin typeface="Times New Roman" panose="02020603050405020304" pitchFamily="18" charset="0"/>
                <a:cs typeface="Times New Roman" panose="02020603050405020304" pitchFamily="18" charset="0"/>
              </a:rPr>
              <a:t>The General Encoder-Decoder Framework</a:t>
            </a:r>
          </a:p>
          <a:p>
            <a:pPr marL="514350" indent="-514350">
              <a:buFont typeface="+mj-lt"/>
              <a:buAutoNum type="arabicPeriod"/>
            </a:pPr>
            <a:r>
              <a:rPr lang="en-IN" sz="3200" dirty="0">
                <a:solidFill>
                  <a:schemeClr val="bg1"/>
                </a:solidFill>
                <a:latin typeface="Times New Roman" panose="02020603050405020304" pitchFamily="18" charset="0"/>
                <a:cs typeface="Times New Roman" panose="02020603050405020304" pitchFamily="18" charset="0"/>
              </a:rPr>
              <a:t>Shallow Embeddings &amp; The Z Matrix</a:t>
            </a:r>
          </a:p>
          <a:p>
            <a:pPr marL="514350" indent="-514350">
              <a:buFont typeface="+mj-lt"/>
              <a:buAutoNum type="arabicPeriod"/>
            </a:pPr>
            <a:r>
              <a:rPr lang="en-IN" sz="3200" dirty="0">
                <a:solidFill>
                  <a:schemeClr val="bg1"/>
                </a:solidFill>
                <a:latin typeface="Times New Roman" panose="02020603050405020304" pitchFamily="18" charset="0"/>
                <a:cs typeface="Times New Roman" panose="02020603050405020304" pitchFamily="18" charset="0"/>
              </a:rPr>
              <a:t>Factorization-Based Methods</a:t>
            </a:r>
          </a:p>
          <a:p>
            <a:pPr marL="514350" indent="-514350">
              <a:buFont typeface="+mj-lt"/>
              <a:buAutoNum type="arabicPeriod"/>
            </a:pPr>
            <a:r>
              <a:rPr lang="en-IN" sz="3200" dirty="0">
                <a:solidFill>
                  <a:schemeClr val="bg1"/>
                </a:solidFill>
                <a:latin typeface="Times New Roman" panose="02020603050405020304" pitchFamily="18" charset="0"/>
                <a:cs typeface="Times New Roman" panose="02020603050405020304" pitchFamily="18" charset="0"/>
              </a:rPr>
              <a:t>From Factorization to Random Walks (The NLP Skip-Gram Inspiration)</a:t>
            </a:r>
          </a:p>
          <a:p>
            <a:pPr marL="514350" indent="-514350">
              <a:buFont typeface="+mj-lt"/>
              <a:buAutoNum type="arabicPeriod"/>
            </a:pPr>
            <a:r>
              <a:rPr lang="en-IN" sz="3200" dirty="0">
                <a:solidFill>
                  <a:schemeClr val="bg1"/>
                </a:solidFill>
                <a:latin typeface="Times New Roman" panose="02020603050405020304" pitchFamily="18" charset="0"/>
                <a:cs typeface="Times New Roman" panose="02020603050405020304" pitchFamily="18" charset="0"/>
              </a:rPr>
              <a:t>DeepWalk — Algorithm &amp; Math</a:t>
            </a:r>
          </a:p>
          <a:p>
            <a:endParaRPr lang="en-IN" dirty="0">
              <a:solidFill>
                <a:schemeClr val="bg1"/>
              </a:solidFill>
              <a:latin typeface="Times New Roman" panose="02020603050405020304" pitchFamily="18" charset="0"/>
              <a:cs typeface="Times New Roman" panose="02020603050405020304" pitchFamily="18" charset="0"/>
            </a:endParaRPr>
          </a:p>
        </p:txBody>
      </p:sp>
      <p:sp>
        <p:nvSpPr>
          <p:cNvPr id="150" name="TextBox 149">
            <a:extLst>
              <a:ext uri="{FF2B5EF4-FFF2-40B4-BE49-F238E27FC236}">
                <a16:creationId xmlns:a16="http://schemas.microsoft.com/office/drawing/2014/main" id="{C38D92AA-4287-50BB-2DE7-62F3AFEB5DB4}"/>
              </a:ext>
            </a:extLst>
          </p:cNvPr>
          <p:cNvSpPr txBox="1"/>
          <p:nvPr/>
        </p:nvSpPr>
        <p:spPr>
          <a:xfrm>
            <a:off x="9067800" y="2575562"/>
            <a:ext cx="8458200" cy="5509200"/>
          </a:xfrm>
          <a:prstGeom prst="rect">
            <a:avLst/>
          </a:prstGeom>
          <a:noFill/>
        </p:spPr>
        <p:txBody>
          <a:bodyPr wrap="square" rtlCol="0">
            <a:spAutoFit/>
          </a:bodyPr>
          <a:lstStyle/>
          <a:p>
            <a:pPr marL="514350" indent="-514350">
              <a:buFont typeface="+mj-lt"/>
              <a:buAutoNum type="arabicPeriod" startAt="8"/>
            </a:pPr>
            <a:r>
              <a:rPr lang="en-IN" sz="3200" dirty="0">
                <a:solidFill>
                  <a:schemeClr val="bg1"/>
                </a:solidFill>
                <a:latin typeface="Times New Roman" panose="02020603050405020304" pitchFamily="18" charset="0"/>
                <a:cs typeface="Times New Roman" panose="02020603050405020304" pitchFamily="18" charset="0"/>
              </a:rPr>
              <a:t>node2vec — Biased Random Walks</a:t>
            </a:r>
          </a:p>
          <a:p>
            <a:pPr marL="514350" indent="-514350">
              <a:buFont typeface="+mj-lt"/>
              <a:buAutoNum type="arabicPeriod" startAt="8"/>
            </a:pPr>
            <a:r>
              <a:rPr lang="en-IN" sz="3200" dirty="0">
                <a:solidFill>
                  <a:schemeClr val="bg1"/>
                </a:solidFill>
                <a:latin typeface="Times New Roman" panose="02020603050405020304" pitchFamily="18" charset="0"/>
                <a:cs typeface="Times New Roman" panose="02020603050405020304" pitchFamily="18" charset="0"/>
              </a:rPr>
              <a:t>p &amp; q Parameters in Detail</a:t>
            </a:r>
          </a:p>
          <a:p>
            <a:pPr marL="514350" indent="-514350">
              <a:buFont typeface="+mj-lt"/>
              <a:buAutoNum type="arabicPeriod" startAt="8"/>
            </a:pPr>
            <a:r>
              <a:rPr lang="en-IN" sz="3200" dirty="0">
                <a:solidFill>
                  <a:schemeClr val="bg1"/>
                </a:solidFill>
                <a:latin typeface="Times New Roman" panose="02020603050405020304" pitchFamily="18" charset="0"/>
                <a:cs typeface="Times New Roman" panose="02020603050405020304" pitchFamily="18" charset="0"/>
              </a:rPr>
              <a:t>Negative Sampling &amp; Training Optimization</a:t>
            </a:r>
          </a:p>
          <a:p>
            <a:pPr marL="514350" indent="-514350">
              <a:buFont typeface="+mj-lt"/>
              <a:buAutoNum type="arabicPeriod" startAt="8"/>
            </a:pPr>
            <a:r>
              <a:rPr lang="en-IN" sz="3200" dirty="0">
                <a:solidFill>
                  <a:schemeClr val="bg1"/>
                </a:solidFill>
                <a:latin typeface="Times New Roman" panose="02020603050405020304" pitchFamily="18" charset="0"/>
                <a:cs typeface="Times New Roman" panose="02020603050405020304" pitchFamily="18" charset="0"/>
              </a:rPr>
              <a:t>Putting Embeddings to Work (Downstream Tasks)</a:t>
            </a:r>
          </a:p>
          <a:p>
            <a:pPr marL="514350" indent="-514350">
              <a:buFont typeface="+mj-lt"/>
              <a:buAutoNum type="arabicPeriod" startAt="8"/>
            </a:pPr>
            <a:r>
              <a:rPr lang="en-IN" sz="3200" dirty="0">
                <a:solidFill>
                  <a:schemeClr val="bg1"/>
                </a:solidFill>
                <a:latin typeface="Times New Roman" panose="02020603050405020304" pitchFamily="18" charset="0"/>
                <a:cs typeface="Times New Roman" panose="02020603050405020304" pitchFamily="18" charset="0"/>
              </a:rPr>
              <a:t>DeepWalk ≡ Matrix Factorization (The NetMF Proof)</a:t>
            </a:r>
          </a:p>
          <a:p>
            <a:pPr marL="514350" indent="-514350">
              <a:buFont typeface="+mj-lt"/>
              <a:buAutoNum type="arabicPeriod" startAt="8"/>
            </a:pPr>
            <a:r>
              <a:rPr lang="en-IN" sz="3200" dirty="0">
                <a:solidFill>
                  <a:schemeClr val="bg1"/>
                </a:solidFill>
                <a:latin typeface="Times New Roman" panose="02020603050405020304" pitchFamily="18" charset="0"/>
                <a:cs typeface="Times New Roman" panose="02020603050405020304" pitchFamily="18" charset="0"/>
              </a:rPr>
              <a:t>Beyond Homogeneous Graphs: MetaPath2Vec</a:t>
            </a:r>
          </a:p>
          <a:p>
            <a:pPr marL="514350" indent="-514350">
              <a:buFont typeface="+mj-lt"/>
              <a:buAutoNum type="arabicPeriod" startAt="8"/>
            </a:pPr>
            <a:r>
              <a:rPr lang="en-IN" sz="3200" dirty="0">
                <a:solidFill>
                  <a:schemeClr val="bg1"/>
                </a:solidFill>
                <a:latin typeface="Times New Roman" panose="02020603050405020304" pitchFamily="18" charset="0"/>
                <a:cs typeface="Times New Roman" panose="02020603050405020304" pitchFamily="18" charset="0"/>
              </a:rPr>
              <a:t>Core Limitations of Shallow Embeddings</a:t>
            </a:r>
          </a:p>
          <a:p>
            <a:pPr marL="514350" indent="-514350">
              <a:buFont typeface="+mj-lt"/>
              <a:buAutoNum type="arabicPeriod" startAt="8"/>
            </a:pPr>
            <a:r>
              <a:rPr lang="en-IN" sz="3200" dirty="0">
                <a:solidFill>
                  <a:schemeClr val="bg1"/>
                </a:solidFill>
                <a:latin typeface="Times New Roman" panose="02020603050405020304" pitchFamily="18" charset="0"/>
                <a:cs typeface="Times New Roman" panose="02020603050405020304" pitchFamily="18" charset="0"/>
              </a:rPr>
              <a:t>Summary &amp; What Comes Next: Graph Neural Networks (GNNs)</a:t>
            </a:r>
            <a:endParaRPr lang="en-IN" sz="3200" dirty="0">
              <a:solidFill>
                <a:schemeClr val="bg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53439"/>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0" y="0"/>
              <a:ext cx="24417910" cy="1789557"/>
            </a:xfrm>
            <a:custGeom>
              <a:avLst/>
              <a:gdLst/>
              <a:ahLst/>
              <a:cxnLst/>
              <a:rect l="l" t="t" r="r" b="b"/>
              <a:pathLst>
                <a:path w="24417910" h="1789557">
                  <a:moveTo>
                    <a:pt x="0" y="0"/>
                  </a:moveTo>
                  <a:lnTo>
                    <a:pt x="24417910" y="0"/>
                  </a:lnTo>
                  <a:lnTo>
                    <a:pt x="24417910" y="1789557"/>
                  </a:lnTo>
                  <a:lnTo>
                    <a:pt x="0" y="1789557"/>
                  </a:lnTo>
                  <a:close/>
                </a:path>
              </a:pathLst>
            </a:custGeom>
            <a:solidFill>
              <a:srgbClr val="FFFFFF"/>
            </a:solidFill>
            <a:ln w="25400" cap="sq">
              <a:solidFill>
                <a:srgbClr val="1A3461"/>
              </a:solidFill>
              <a:prstDash val="solid"/>
              <a:miter/>
            </a:ln>
          </p:spPr>
          <p:txBody>
            <a:bodyPr/>
            <a:lstStyle/>
            <a:p>
              <a:endParaRPr lang="en-IN"/>
            </a:p>
          </p:txBody>
        </p:sp>
      </p:grpSp>
      <p:grpSp>
        <p:nvGrpSpPr>
          <p:cNvPr id="4" name="Group 4"/>
          <p:cNvGrpSpPr/>
          <p:nvPr/>
        </p:nvGrpSpPr>
        <p:grpSpPr>
          <a:xfrm>
            <a:off x="731520" y="0"/>
            <a:ext cx="16824960" cy="1316736"/>
            <a:chOff x="0" y="0"/>
            <a:chExt cx="22433280" cy="1755648"/>
          </a:xfrm>
        </p:grpSpPr>
        <p:sp>
          <p:nvSpPr>
            <p:cNvPr id="5" name="Freeform 5"/>
            <p:cNvSpPr/>
            <p:nvPr/>
          </p:nvSpPr>
          <p:spPr>
            <a:xfrm>
              <a:off x="0" y="0"/>
              <a:ext cx="22433280" cy="1755648"/>
            </a:xfrm>
            <a:custGeom>
              <a:avLst/>
              <a:gdLst/>
              <a:ahLst/>
              <a:cxnLst/>
              <a:rect l="l" t="t" r="r" b="b"/>
              <a:pathLst>
                <a:path w="22433280" h="1755648">
                  <a:moveTo>
                    <a:pt x="0" y="0"/>
                  </a:moveTo>
                  <a:lnTo>
                    <a:pt x="22433280" y="0"/>
                  </a:lnTo>
                  <a:lnTo>
                    <a:pt x="22433280" y="1755648"/>
                  </a:lnTo>
                  <a:lnTo>
                    <a:pt x="0" y="1755648"/>
                  </a:lnTo>
                  <a:close/>
                </a:path>
              </a:pathLst>
            </a:custGeom>
            <a:blipFill>
              <a:blip r:embed="rId3">
                <a:alphaModFix amt="0"/>
              </a:blip>
              <a:stretch>
                <a:fillRect t="-198975" b="-198975"/>
              </a:stretch>
            </a:blipFill>
          </p:spPr>
          <p:txBody>
            <a:bodyPr/>
            <a:lstStyle/>
            <a:p>
              <a:endParaRPr lang="en-IN"/>
            </a:p>
          </p:txBody>
        </p:sp>
        <p:sp>
          <p:nvSpPr>
            <p:cNvPr id="6" name="TextBox 6"/>
            <p:cNvSpPr txBox="1"/>
            <p:nvPr/>
          </p:nvSpPr>
          <p:spPr>
            <a:xfrm>
              <a:off x="0" y="-9525"/>
              <a:ext cx="22433280" cy="1765173"/>
            </a:xfrm>
            <a:prstGeom prst="rect">
              <a:avLst/>
            </a:prstGeom>
          </p:spPr>
          <p:txBody>
            <a:bodyPr lIns="0" tIns="0" rIns="0" bIns="0" rtlCol="0" anchor="ctr"/>
            <a:lstStyle/>
            <a:p>
              <a:pPr algn="l">
                <a:lnSpc>
                  <a:spcPts val="4800"/>
                </a:lnSpc>
              </a:pPr>
              <a:r>
                <a:rPr lang="en-US" sz="4000" spc="560" dirty="0">
                  <a:latin typeface="Times New Roman" panose="02020603050405020304" pitchFamily="18" charset="0"/>
                  <a:ea typeface="Hammersmith One"/>
                  <a:cs typeface="Times New Roman" panose="02020603050405020304" pitchFamily="18" charset="0"/>
                  <a:sym typeface="Hammersmith One"/>
                </a:rPr>
                <a:t>Why Graph Representation Learning?</a:t>
              </a:r>
            </a:p>
          </p:txBody>
        </p:sp>
      </p:grpSp>
      <p:sp>
        <p:nvSpPr>
          <p:cNvPr id="8" name="Freeform 8"/>
          <p:cNvSpPr/>
          <p:nvPr/>
        </p:nvSpPr>
        <p:spPr>
          <a:xfrm>
            <a:off x="731520" y="73152"/>
            <a:ext cx="16459200" cy="402336"/>
          </a:xfrm>
          <a:custGeom>
            <a:avLst/>
            <a:gdLst/>
            <a:ahLst/>
            <a:cxnLst/>
            <a:rect l="l" t="t" r="r" b="b"/>
            <a:pathLst>
              <a:path w="21945600" h="536448">
                <a:moveTo>
                  <a:pt x="0" y="0"/>
                </a:moveTo>
                <a:lnTo>
                  <a:pt x="21945600" y="0"/>
                </a:lnTo>
                <a:lnTo>
                  <a:pt x="21945600" y="536448"/>
                </a:lnTo>
                <a:lnTo>
                  <a:pt x="0" y="536448"/>
                </a:lnTo>
                <a:close/>
              </a:path>
            </a:pathLst>
          </a:custGeom>
          <a:blipFill>
            <a:blip r:embed="rId3">
              <a:alphaModFix amt="0"/>
            </a:blip>
            <a:stretch>
              <a:fillRect t="-747115" b="-747115"/>
            </a:stretch>
          </a:blipFill>
        </p:spPr>
        <p:txBody>
          <a:bodyPr/>
          <a:lstStyle/>
          <a:p>
            <a:endParaRPr lang="en-IN"/>
          </a:p>
        </p:txBody>
      </p:sp>
      <p:grpSp>
        <p:nvGrpSpPr>
          <p:cNvPr id="10" name="Group 10"/>
          <p:cNvGrpSpPr/>
          <p:nvPr/>
        </p:nvGrpSpPr>
        <p:grpSpPr>
          <a:xfrm>
            <a:off x="535943" y="1541783"/>
            <a:ext cx="8582721" cy="6192041"/>
            <a:chOff x="0" y="0"/>
            <a:chExt cx="10762831" cy="4910671"/>
          </a:xfrm>
        </p:grpSpPr>
        <p:sp>
          <p:nvSpPr>
            <p:cNvPr id="11" name="Freeform 11"/>
            <p:cNvSpPr/>
            <p:nvPr/>
          </p:nvSpPr>
          <p:spPr>
            <a:xfrm>
              <a:off x="0" y="0"/>
              <a:ext cx="10762742" cy="4910582"/>
            </a:xfrm>
            <a:custGeom>
              <a:avLst/>
              <a:gdLst/>
              <a:ahLst/>
              <a:cxnLst/>
              <a:rect l="l" t="t" r="r" b="b"/>
              <a:pathLst>
                <a:path w="10762742" h="4910582">
                  <a:moveTo>
                    <a:pt x="0" y="245491"/>
                  </a:moveTo>
                  <a:cubicBezTo>
                    <a:pt x="0" y="109982"/>
                    <a:pt x="109982" y="0"/>
                    <a:pt x="245491" y="0"/>
                  </a:cubicBezTo>
                  <a:lnTo>
                    <a:pt x="10517251" y="0"/>
                  </a:lnTo>
                  <a:cubicBezTo>
                    <a:pt x="10652887" y="0"/>
                    <a:pt x="10762742" y="109982"/>
                    <a:pt x="10762742" y="245491"/>
                  </a:cubicBezTo>
                  <a:lnTo>
                    <a:pt x="10762742" y="4665091"/>
                  </a:lnTo>
                  <a:cubicBezTo>
                    <a:pt x="10762742" y="4800727"/>
                    <a:pt x="10652760" y="4910582"/>
                    <a:pt x="10517251" y="4910582"/>
                  </a:cubicBezTo>
                  <a:lnTo>
                    <a:pt x="245491" y="4910582"/>
                  </a:lnTo>
                  <a:cubicBezTo>
                    <a:pt x="109982" y="4910709"/>
                    <a:pt x="0" y="4800727"/>
                    <a:pt x="0" y="4665091"/>
                  </a:cubicBezTo>
                  <a:close/>
                </a:path>
              </a:pathLst>
            </a:custGeom>
            <a:solidFill>
              <a:srgbClr val="FFFFFF"/>
            </a:solidFill>
            <a:ln w="25400" cap="sq">
              <a:solidFill>
                <a:srgbClr val="D8E8F8"/>
              </a:solidFill>
              <a:prstDash val="solid"/>
              <a:miter/>
            </a:ln>
          </p:spPr>
          <p:txBody>
            <a:bodyPr/>
            <a:lstStyle/>
            <a:p>
              <a:endParaRPr lang="en-IN"/>
            </a:p>
          </p:txBody>
        </p:sp>
      </p:grpSp>
      <p:grpSp>
        <p:nvGrpSpPr>
          <p:cNvPr id="12" name="Group 12"/>
          <p:cNvGrpSpPr/>
          <p:nvPr/>
        </p:nvGrpSpPr>
        <p:grpSpPr>
          <a:xfrm>
            <a:off x="914400" y="1645920"/>
            <a:ext cx="7315200" cy="694944"/>
            <a:chOff x="0" y="0"/>
            <a:chExt cx="9753600" cy="926592"/>
          </a:xfrm>
        </p:grpSpPr>
        <p:sp>
          <p:nvSpPr>
            <p:cNvPr id="13" name="Freeform 13"/>
            <p:cNvSpPr/>
            <p:nvPr/>
          </p:nvSpPr>
          <p:spPr>
            <a:xfrm>
              <a:off x="0" y="0"/>
              <a:ext cx="9753600" cy="926592"/>
            </a:xfrm>
            <a:custGeom>
              <a:avLst/>
              <a:gdLst/>
              <a:ahLst/>
              <a:cxnLst/>
              <a:rect l="l" t="t" r="r" b="b"/>
              <a:pathLst>
                <a:path w="9753600" h="926592">
                  <a:moveTo>
                    <a:pt x="0" y="0"/>
                  </a:moveTo>
                  <a:lnTo>
                    <a:pt x="9753600" y="0"/>
                  </a:lnTo>
                  <a:lnTo>
                    <a:pt x="9753600" y="926592"/>
                  </a:lnTo>
                  <a:lnTo>
                    <a:pt x="0" y="926592"/>
                  </a:lnTo>
                  <a:close/>
                </a:path>
              </a:pathLst>
            </a:custGeom>
            <a:blipFill>
              <a:blip r:embed="rId3">
                <a:alphaModFix amt="0"/>
              </a:blip>
              <a:stretch>
                <a:fillRect t="-155105" b="-155105"/>
              </a:stretch>
            </a:blipFill>
          </p:spPr>
          <p:txBody>
            <a:bodyPr/>
            <a:lstStyle/>
            <a:p>
              <a:endParaRPr lang="en-IN"/>
            </a:p>
          </p:txBody>
        </p:sp>
        <p:sp>
          <p:nvSpPr>
            <p:cNvPr id="14" name="TextBox 14"/>
            <p:cNvSpPr txBox="1"/>
            <p:nvPr/>
          </p:nvSpPr>
          <p:spPr>
            <a:xfrm>
              <a:off x="0" y="0"/>
              <a:ext cx="9753600" cy="926592"/>
            </a:xfrm>
            <a:prstGeom prst="rect">
              <a:avLst/>
            </a:prstGeom>
          </p:spPr>
          <p:txBody>
            <a:bodyPr lIns="0" tIns="0" rIns="0" bIns="0" rtlCol="0" anchor="ctr"/>
            <a:lstStyle/>
            <a:p>
              <a:pPr algn="l">
                <a:lnSpc>
                  <a:spcPts val="3600"/>
                </a:lnSpc>
              </a:pPr>
              <a:r>
                <a:rPr lang="en-US" sz="3000" b="1" spc="150" dirty="0">
                  <a:solidFill>
                    <a:srgbClr val="253439"/>
                  </a:solidFill>
                  <a:latin typeface="Times New Roman" panose="02020603050405020304" pitchFamily="18" charset="0"/>
                  <a:ea typeface="Playfair Display Italics"/>
                  <a:cs typeface="Times New Roman" panose="02020603050405020304" pitchFamily="18" charset="0"/>
                  <a:sym typeface="Playfair Display Italics"/>
                </a:rPr>
                <a:t>The Problem</a:t>
              </a:r>
            </a:p>
          </p:txBody>
        </p:sp>
      </p:grpSp>
      <p:grpSp>
        <p:nvGrpSpPr>
          <p:cNvPr id="15" name="Group 15"/>
          <p:cNvGrpSpPr/>
          <p:nvPr/>
        </p:nvGrpSpPr>
        <p:grpSpPr>
          <a:xfrm>
            <a:off x="914400" y="1680944"/>
            <a:ext cx="7620000" cy="6192040"/>
            <a:chOff x="0" y="-977429"/>
            <a:chExt cx="10160000" cy="8256053"/>
          </a:xfrm>
        </p:grpSpPr>
        <p:sp>
          <p:nvSpPr>
            <p:cNvPr id="16" name="Freeform 16"/>
            <p:cNvSpPr/>
            <p:nvPr/>
          </p:nvSpPr>
          <p:spPr>
            <a:xfrm>
              <a:off x="0" y="0"/>
              <a:ext cx="9753600" cy="3413760"/>
            </a:xfrm>
            <a:custGeom>
              <a:avLst/>
              <a:gdLst/>
              <a:ahLst/>
              <a:cxnLst/>
              <a:rect l="l" t="t" r="r" b="b"/>
              <a:pathLst>
                <a:path w="9753600" h="3413760">
                  <a:moveTo>
                    <a:pt x="0" y="0"/>
                  </a:moveTo>
                  <a:lnTo>
                    <a:pt x="9753600" y="0"/>
                  </a:lnTo>
                  <a:lnTo>
                    <a:pt x="9753600" y="3413760"/>
                  </a:lnTo>
                  <a:lnTo>
                    <a:pt x="0" y="3413760"/>
                  </a:lnTo>
                  <a:close/>
                </a:path>
              </a:pathLst>
            </a:custGeom>
            <a:blipFill>
              <a:blip r:embed="rId3">
                <a:alphaModFix amt="0"/>
              </a:blip>
              <a:stretch>
                <a:fillRect t="-5671" b="-5671"/>
              </a:stretch>
            </a:blipFill>
          </p:spPr>
          <p:txBody>
            <a:bodyPr/>
            <a:lstStyle/>
            <a:p>
              <a:endParaRPr lang="en-IN"/>
            </a:p>
          </p:txBody>
        </p:sp>
        <p:sp>
          <p:nvSpPr>
            <p:cNvPr id="17" name="TextBox 17"/>
            <p:cNvSpPr txBox="1"/>
            <p:nvPr/>
          </p:nvSpPr>
          <p:spPr>
            <a:xfrm>
              <a:off x="0" y="-977429"/>
              <a:ext cx="10160000" cy="8256053"/>
            </a:xfrm>
            <a:prstGeom prst="rect">
              <a:avLst/>
            </a:prstGeom>
          </p:spPr>
          <p:txBody>
            <a:bodyPr lIns="0" tIns="0" rIns="0" bIns="0" rtlCol="0" anchor="ctr"/>
            <a:lstStyle/>
            <a:p>
              <a:pPr algn="just"/>
              <a:r>
                <a:rPr lang="en-IN" sz="2800" b="1" dirty="0">
                  <a:latin typeface="Times New Roman" panose="02020603050405020304" pitchFamily="18" charset="0"/>
                  <a:cs typeface="Times New Roman" panose="02020603050405020304" pitchFamily="18" charset="0"/>
                </a:rPr>
                <a:t>Ubiquity of Graph Data:</a:t>
              </a:r>
              <a:r>
                <a:rPr lang="en-IN" sz="2800" dirty="0">
                  <a:latin typeface="Times New Roman" panose="02020603050405020304" pitchFamily="18" charset="0"/>
                  <a:cs typeface="Times New Roman" panose="02020603050405020304" pitchFamily="18" charset="0"/>
                </a:rPr>
                <a:t> Real-world data is naturally relational, spanning massive social networks, citation webs, biological protein interactions, and chemical structures.</a:t>
              </a:r>
            </a:p>
            <a:p>
              <a:pPr algn="just"/>
              <a:r>
                <a:rPr lang="en-IN" sz="2800" b="1" dirty="0">
                  <a:latin typeface="Times New Roman" panose="02020603050405020304" pitchFamily="18" charset="0"/>
                  <a:cs typeface="Times New Roman" panose="02020603050405020304" pitchFamily="18" charset="0"/>
                </a:rPr>
                <a:t>The Feature Vector Bottleneck:</a:t>
              </a:r>
              <a:r>
                <a:rPr lang="en-IN" sz="2800" dirty="0">
                  <a:latin typeface="Times New Roman" panose="02020603050405020304" pitchFamily="18" charset="0"/>
                  <a:cs typeface="Times New Roman" panose="02020603050405020304" pitchFamily="18" charset="0"/>
                </a:rPr>
                <a:t> Traditional Machine Learning models strictly require fixed-size, structured feature vectors as input.</a:t>
              </a:r>
            </a:p>
            <a:p>
              <a:pPr algn="just"/>
              <a:r>
                <a:rPr lang="en-IN" sz="2800" b="1" dirty="0">
                  <a:latin typeface="Times New Roman" panose="02020603050405020304" pitchFamily="18" charset="0"/>
                  <a:cs typeface="Times New Roman" panose="02020603050405020304" pitchFamily="18" charset="0"/>
                </a:rPr>
                <a:t>The Discrete Structure Gap:</a:t>
              </a:r>
              <a:r>
                <a:rPr lang="en-IN" sz="2800" dirty="0">
                  <a:latin typeface="Times New Roman" panose="02020603050405020304" pitchFamily="18" charset="0"/>
                  <a:cs typeface="Times New Roman" panose="02020603050405020304" pitchFamily="18" charset="0"/>
                </a:rPr>
                <a:t> Raw graphs are irregular, discrete topological structures with varying sizes, lacking a native coordinate space or standard vector representations.</a:t>
              </a:r>
            </a:p>
          </p:txBody>
        </p:sp>
      </p:grpSp>
      <p:grpSp>
        <p:nvGrpSpPr>
          <p:cNvPr id="18" name="Group 18"/>
          <p:cNvGrpSpPr/>
          <p:nvPr/>
        </p:nvGrpSpPr>
        <p:grpSpPr>
          <a:xfrm>
            <a:off x="9497063" y="1541783"/>
            <a:ext cx="8254994" cy="6191929"/>
            <a:chOff x="0" y="0"/>
            <a:chExt cx="10762831" cy="4910671"/>
          </a:xfrm>
        </p:grpSpPr>
        <p:sp>
          <p:nvSpPr>
            <p:cNvPr id="19" name="Freeform 19"/>
            <p:cNvSpPr/>
            <p:nvPr/>
          </p:nvSpPr>
          <p:spPr>
            <a:xfrm>
              <a:off x="0" y="0"/>
              <a:ext cx="10762742" cy="4910582"/>
            </a:xfrm>
            <a:custGeom>
              <a:avLst/>
              <a:gdLst/>
              <a:ahLst/>
              <a:cxnLst/>
              <a:rect l="l" t="t" r="r" b="b"/>
              <a:pathLst>
                <a:path w="10762742" h="4910582">
                  <a:moveTo>
                    <a:pt x="0" y="245491"/>
                  </a:moveTo>
                  <a:cubicBezTo>
                    <a:pt x="0" y="109982"/>
                    <a:pt x="109982" y="0"/>
                    <a:pt x="245491" y="0"/>
                  </a:cubicBezTo>
                  <a:lnTo>
                    <a:pt x="10517251" y="0"/>
                  </a:lnTo>
                  <a:cubicBezTo>
                    <a:pt x="10652887" y="0"/>
                    <a:pt x="10762742" y="109982"/>
                    <a:pt x="10762742" y="245491"/>
                  </a:cubicBezTo>
                  <a:lnTo>
                    <a:pt x="10762742" y="4665091"/>
                  </a:lnTo>
                  <a:cubicBezTo>
                    <a:pt x="10762742" y="4800727"/>
                    <a:pt x="10652760" y="4910582"/>
                    <a:pt x="10517251" y="4910582"/>
                  </a:cubicBezTo>
                  <a:lnTo>
                    <a:pt x="245491" y="4910582"/>
                  </a:lnTo>
                  <a:cubicBezTo>
                    <a:pt x="109982" y="4910709"/>
                    <a:pt x="0" y="4800727"/>
                    <a:pt x="0" y="4665091"/>
                  </a:cubicBezTo>
                  <a:close/>
                </a:path>
              </a:pathLst>
            </a:custGeom>
            <a:solidFill>
              <a:srgbClr val="FFFFFF"/>
            </a:solidFill>
            <a:ln w="25400" cap="sq">
              <a:solidFill>
                <a:srgbClr val="D8E8F8"/>
              </a:solidFill>
              <a:prstDash val="solid"/>
              <a:miter/>
            </a:ln>
          </p:spPr>
          <p:txBody>
            <a:bodyPr/>
            <a:lstStyle/>
            <a:p>
              <a:endParaRPr lang="en-IN"/>
            </a:p>
          </p:txBody>
        </p:sp>
      </p:grpSp>
      <p:grpSp>
        <p:nvGrpSpPr>
          <p:cNvPr id="20" name="Group 20"/>
          <p:cNvGrpSpPr/>
          <p:nvPr/>
        </p:nvGrpSpPr>
        <p:grpSpPr>
          <a:xfrm>
            <a:off x="9875520" y="1645920"/>
            <a:ext cx="7315200" cy="694944"/>
            <a:chOff x="0" y="0"/>
            <a:chExt cx="9753600" cy="926592"/>
          </a:xfrm>
        </p:grpSpPr>
        <p:sp>
          <p:nvSpPr>
            <p:cNvPr id="21" name="Freeform 21"/>
            <p:cNvSpPr/>
            <p:nvPr/>
          </p:nvSpPr>
          <p:spPr>
            <a:xfrm>
              <a:off x="0" y="0"/>
              <a:ext cx="9753600" cy="926592"/>
            </a:xfrm>
            <a:custGeom>
              <a:avLst/>
              <a:gdLst/>
              <a:ahLst/>
              <a:cxnLst/>
              <a:rect l="l" t="t" r="r" b="b"/>
              <a:pathLst>
                <a:path w="9753600" h="926592">
                  <a:moveTo>
                    <a:pt x="0" y="0"/>
                  </a:moveTo>
                  <a:lnTo>
                    <a:pt x="9753600" y="0"/>
                  </a:lnTo>
                  <a:lnTo>
                    <a:pt x="9753600" y="926592"/>
                  </a:lnTo>
                  <a:lnTo>
                    <a:pt x="0" y="926592"/>
                  </a:lnTo>
                  <a:close/>
                </a:path>
              </a:pathLst>
            </a:custGeom>
            <a:blipFill>
              <a:blip r:embed="rId3">
                <a:alphaModFix amt="0"/>
              </a:blip>
              <a:stretch>
                <a:fillRect t="-155105" b="-155105"/>
              </a:stretch>
            </a:blipFill>
          </p:spPr>
          <p:txBody>
            <a:bodyPr/>
            <a:lstStyle/>
            <a:p>
              <a:endParaRPr lang="en-IN"/>
            </a:p>
          </p:txBody>
        </p:sp>
        <p:sp>
          <p:nvSpPr>
            <p:cNvPr id="22" name="TextBox 22"/>
            <p:cNvSpPr txBox="1"/>
            <p:nvPr/>
          </p:nvSpPr>
          <p:spPr>
            <a:xfrm>
              <a:off x="0" y="0"/>
              <a:ext cx="9753600" cy="926592"/>
            </a:xfrm>
            <a:prstGeom prst="rect">
              <a:avLst/>
            </a:prstGeom>
          </p:spPr>
          <p:txBody>
            <a:bodyPr lIns="0" tIns="0" rIns="0" bIns="0" rtlCol="0" anchor="ctr"/>
            <a:lstStyle/>
            <a:p>
              <a:pPr algn="l">
                <a:lnSpc>
                  <a:spcPts val="3600"/>
                </a:lnSpc>
              </a:pPr>
              <a:r>
                <a:rPr lang="en-US" sz="3000" b="1" spc="150" dirty="0">
                  <a:solidFill>
                    <a:srgbClr val="253439"/>
                  </a:solidFill>
                  <a:latin typeface="Times New Roman" panose="02020603050405020304" pitchFamily="18" charset="0"/>
                  <a:ea typeface="Playfair Display Italics"/>
                  <a:cs typeface="Times New Roman" panose="02020603050405020304" pitchFamily="18" charset="0"/>
                  <a:sym typeface="Playfair Display Italics"/>
                </a:rPr>
                <a:t>The Solution</a:t>
              </a:r>
            </a:p>
          </p:txBody>
        </p:sp>
      </p:grpSp>
      <p:grpSp>
        <p:nvGrpSpPr>
          <p:cNvPr id="23" name="Group 23"/>
          <p:cNvGrpSpPr/>
          <p:nvPr/>
        </p:nvGrpSpPr>
        <p:grpSpPr>
          <a:xfrm>
            <a:off x="9875520" y="2414016"/>
            <a:ext cx="7577547" cy="4782312"/>
            <a:chOff x="0" y="0"/>
            <a:chExt cx="10103396" cy="6376416"/>
          </a:xfrm>
        </p:grpSpPr>
        <p:sp>
          <p:nvSpPr>
            <p:cNvPr id="24" name="Freeform 24"/>
            <p:cNvSpPr/>
            <p:nvPr/>
          </p:nvSpPr>
          <p:spPr>
            <a:xfrm>
              <a:off x="0" y="0"/>
              <a:ext cx="9753600" cy="3413760"/>
            </a:xfrm>
            <a:custGeom>
              <a:avLst/>
              <a:gdLst/>
              <a:ahLst/>
              <a:cxnLst/>
              <a:rect l="l" t="t" r="r" b="b"/>
              <a:pathLst>
                <a:path w="9753600" h="3413760">
                  <a:moveTo>
                    <a:pt x="0" y="0"/>
                  </a:moveTo>
                  <a:lnTo>
                    <a:pt x="9753600" y="0"/>
                  </a:lnTo>
                  <a:lnTo>
                    <a:pt x="9753600" y="3413760"/>
                  </a:lnTo>
                  <a:lnTo>
                    <a:pt x="0" y="3413760"/>
                  </a:lnTo>
                  <a:close/>
                </a:path>
              </a:pathLst>
            </a:custGeom>
            <a:blipFill>
              <a:blip r:embed="rId3">
                <a:alphaModFix amt="0"/>
              </a:blip>
              <a:stretch>
                <a:fillRect t="-5671" b="-5671"/>
              </a:stretch>
            </a:blipFill>
          </p:spPr>
          <p:txBody>
            <a:bodyPr/>
            <a:lstStyle/>
            <a:p>
              <a:endParaRPr lang="en-IN"/>
            </a:p>
          </p:txBody>
        </p:sp>
        <p:sp>
          <p:nvSpPr>
            <p:cNvPr id="25" name="TextBox 25"/>
            <p:cNvSpPr txBox="1"/>
            <p:nvPr/>
          </p:nvSpPr>
          <p:spPr>
            <a:xfrm>
              <a:off x="105956" y="451104"/>
              <a:ext cx="9997440" cy="5925312"/>
            </a:xfrm>
            <a:prstGeom prst="rect">
              <a:avLst/>
            </a:prstGeom>
          </p:spPr>
          <p:txBody>
            <a:bodyPr lIns="0" tIns="0" rIns="0" bIns="0" rtlCol="0" anchor="ctr"/>
            <a:lstStyle/>
            <a:p>
              <a:r>
                <a:rPr lang="en-IN" sz="2800" b="1" dirty="0">
                  <a:latin typeface="Times New Roman" panose="02020603050405020304" pitchFamily="18" charset="0"/>
                  <a:cs typeface="Times New Roman" panose="02020603050405020304" pitchFamily="18" charset="0"/>
                </a:rPr>
                <a:t>Learning a Continuous Mapping:</a:t>
              </a:r>
              <a:r>
                <a:rPr lang="en-IN" sz="2800" dirty="0">
                  <a:latin typeface="Times New Roman" panose="02020603050405020304" pitchFamily="18" charset="0"/>
                  <a:cs typeface="Times New Roman" panose="02020603050405020304" pitchFamily="18" charset="0"/>
                </a:rPr>
                <a:t> Automatically optimization of an encoder system to map discrete nodes into continuous, low-dimensional vector spaces ({R}^d).</a:t>
              </a:r>
            </a:p>
            <a:p>
              <a:r>
                <a:rPr lang="en-IN" sz="2800" b="1" dirty="0">
                  <a:latin typeface="Times New Roman" panose="02020603050405020304" pitchFamily="18" charset="0"/>
                  <a:cs typeface="Times New Roman" panose="02020603050405020304" pitchFamily="18" charset="0"/>
                </a:rPr>
                <a:t>Structural Preservation:</a:t>
              </a:r>
              <a:r>
                <a:rPr lang="en-IN" sz="2800" dirty="0">
                  <a:latin typeface="Times New Roman" panose="02020603050405020304" pitchFamily="18" charset="0"/>
                  <a:cs typeface="Times New Roman" panose="02020603050405020304" pitchFamily="18" charset="0"/>
                </a:rPr>
                <a:t> Forcing the output vectors to mathematically capture both localized neighbor configurations and global network topology.</a:t>
              </a:r>
            </a:p>
            <a:p>
              <a:r>
                <a:rPr lang="en-IN" sz="2800" b="1" dirty="0">
                  <a:latin typeface="Times New Roman" panose="02020603050405020304" pitchFamily="18" charset="0"/>
                  <a:cs typeface="Times New Roman" panose="02020603050405020304" pitchFamily="18" charset="0"/>
                </a:rPr>
                <a:t>Downstream Compatibility:</a:t>
              </a:r>
              <a:r>
                <a:rPr lang="en-IN" sz="2800" dirty="0">
                  <a:latin typeface="Times New Roman" panose="02020603050405020304" pitchFamily="18" charset="0"/>
                  <a:cs typeface="Times New Roman" panose="02020603050405020304" pitchFamily="18" charset="0"/>
                </a:rPr>
                <a:t> Providing optimized, numeric embeddings that serve as direct plug-and-play inputs for any statistical machine learning pipeline.</a:t>
              </a:r>
            </a:p>
          </p:txBody>
        </p:sp>
      </p:grpSp>
      <p:sp>
        <p:nvSpPr>
          <p:cNvPr id="39" name="Freeform 39"/>
          <p:cNvSpPr/>
          <p:nvPr/>
        </p:nvSpPr>
        <p:spPr>
          <a:xfrm>
            <a:off x="9400032" y="5577840"/>
            <a:ext cx="4023360" cy="1280160"/>
          </a:xfrm>
          <a:custGeom>
            <a:avLst/>
            <a:gdLst/>
            <a:ahLst/>
            <a:cxnLst/>
            <a:rect l="l" t="t" r="r" b="b"/>
            <a:pathLst>
              <a:path w="5364480" h="1706880">
                <a:moveTo>
                  <a:pt x="0" y="0"/>
                </a:moveTo>
                <a:lnTo>
                  <a:pt x="5364480" y="0"/>
                </a:lnTo>
                <a:lnTo>
                  <a:pt x="5364480" y="1706880"/>
                </a:lnTo>
                <a:lnTo>
                  <a:pt x="0" y="1706880"/>
                </a:lnTo>
                <a:close/>
              </a:path>
            </a:pathLst>
          </a:custGeom>
          <a:blipFill>
            <a:blip r:embed="rId3">
              <a:alphaModFix amt="0"/>
            </a:blip>
            <a:stretch>
              <a:fillRect t="-11238" b="-11238"/>
            </a:stretch>
          </a:blipFill>
        </p:spPr>
        <p:txBody>
          <a:bodyPr/>
          <a:lstStyle/>
          <a:p>
            <a:endParaRPr lang="en-IN"/>
          </a:p>
        </p:txBody>
      </p:sp>
      <p:grpSp>
        <p:nvGrpSpPr>
          <p:cNvPr id="51" name="Group 10">
            <a:extLst>
              <a:ext uri="{FF2B5EF4-FFF2-40B4-BE49-F238E27FC236}">
                <a16:creationId xmlns:a16="http://schemas.microsoft.com/office/drawing/2014/main" id="{48537021-A213-F0A7-0173-F3F8A122D8BD}"/>
              </a:ext>
            </a:extLst>
          </p:cNvPr>
          <p:cNvGrpSpPr/>
          <p:nvPr/>
        </p:nvGrpSpPr>
        <p:grpSpPr>
          <a:xfrm>
            <a:off x="1066800" y="8071928"/>
            <a:ext cx="16370892" cy="1795939"/>
            <a:chOff x="0" y="-1"/>
            <a:chExt cx="10762742" cy="4910581"/>
          </a:xfrm>
        </p:grpSpPr>
        <p:sp>
          <p:nvSpPr>
            <p:cNvPr id="52" name="Freeform 11">
              <a:extLst>
                <a:ext uri="{FF2B5EF4-FFF2-40B4-BE49-F238E27FC236}">
                  <a16:creationId xmlns:a16="http://schemas.microsoft.com/office/drawing/2014/main" id="{2D3BE69F-C444-61E5-170E-B9ACA5F188D8}"/>
                </a:ext>
              </a:extLst>
            </p:cNvPr>
            <p:cNvSpPr/>
            <p:nvPr/>
          </p:nvSpPr>
          <p:spPr>
            <a:xfrm>
              <a:off x="0" y="-1"/>
              <a:ext cx="10762742" cy="4910581"/>
            </a:xfrm>
            <a:custGeom>
              <a:avLst/>
              <a:gdLst/>
              <a:ahLst/>
              <a:cxnLst/>
              <a:rect l="l" t="t" r="r" b="b"/>
              <a:pathLst>
                <a:path w="10762742" h="4910582">
                  <a:moveTo>
                    <a:pt x="0" y="245491"/>
                  </a:moveTo>
                  <a:cubicBezTo>
                    <a:pt x="0" y="109982"/>
                    <a:pt x="109982" y="0"/>
                    <a:pt x="245491" y="0"/>
                  </a:cubicBezTo>
                  <a:lnTo>
                    <a:pt x="10517251" y="0"/>
                  </a:lnTo>
                  <a:cubicBezTo>
                    <a:pt x="10652887" y="0"/>
                    <a:pt x="10762742" y="109982"/>
                    <a:pt x="10762742" y="245491"/>
                  </a:cubicBezTo>
                  <a:lnTo>
                    <a:pt x="10762742" y="4665091"/>
                  </a:lnTo>
                  <a:cubicBezTo>
                    <a:pt x="10762742" y="4800727"/>
                    <a:pt x="10652760" y="4910582"/>
                    <a:pt x="10517251" y="4910582"/>
                  </a:cubicBezTo>
                  <a:lnTo>
                    <a:pt x="245491" y="4910582"/>
                  </a:lnTo>
                  <a:cubicBezTo>
                    <a:pt x="109982" y="4910709"/>
                    <a:pt x="0" y="4800727"/>
                    <a:pt x="0" y="4665091"/>
                  </a:cubicBezTo>
                  <a:close/>
                </a:path>
              </a:pathLst>
            </a:custGeom>
            <a:solidFill>
              <a:srgbClr val="FFFFFF"/>
            </a:solidFill>
            <a:ln w="25400" cap="sq">
              <a:solidFill>
                <a:srgbClr val="D8E8F8"/>
              </a:solidFill>
              <a:prstDash val="solid"/>
              <a:miter/>
            </a:ln>
          </p:spPr>
          <p:txBody>
            <a:bodyPr/>
            <a:lstStyle/>
            <a:p>
              <a:pPr algn="ctr"/>
              <a:r>
                <a:rPr lang="en-US" sz="3600" b="1" dirty="0">
                  <a:latin typeface="Times New Roman" panose="02020603050405020304" pitchFamily="18" charset="0"/>
                  <a:cs typeface="Times New Roman" panose="02020603050405020304" pitchFamily="18" charset="0"/>
                </a:rPr>
                <a:t>  Downstream Applications</a:t>
              </a:r>
            </a:p>
            <a:p>
              <a:pPr algn="ctr"/>
              <a:endParaRPr lang="en-US" sz="2800" dirty="0">
                <a:latin typeface="Times New Roman" panose="02020603050405020304" pitchFamily="18" charset="0"/>
                <a:cs typeface="Times New Roman" panose="02020603050405020304" pitchFamily="18" charset="0"/>
              </a:endParaRPr>
            </a:p>
            <a:p>
              <a:pPr algn="ctr"/>
              <a:r>
                <a:rPr lang="en-US" sz="2800" dirty="0">
                  <a:latin typeface="Times New Roman" panose="02020603050405020304" pitchFamily="18" charset="0"/>
                  <a:cs typeface="Times New Roman" panose="02020603050405020304" pitchFamily="18" charset="0"/>
                </a:rPr>
                <a:t>Node Classification	Link Prediction	Community Detection	Graph Classification         </a:t>
              </a:r>
            </a:p>
            <a:p>
              <a:endParaRPr lang="en-IN" dirty="0"/>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0" y="0"/>
              <a:ext cx="24417910" cy="1789557"/>
            </a:xfrm>
            <a:custGeom>
              <a:avLst/>
              <a:gdLst/>
              <a:ahLst/>
              <a:cxnLst/>
              <a:rect l="l" t="t" r="r" b="b"/>
              <a:pathLst>
                <a:path w="24417910" h="1789557">
                  <a:moveTo>
                    <a:pt x="0" y="0"/>
                  </a:moveTo>
                  <a:lnTo>
                    <a:pt x="24417910" y="0"/>
                  </a:lnTo>
                  <a:lnTo>
                    <a:pt x="24417910" y="1789557"/>
                  </a:lnTo>
                  <a:lnTo>
                    <a:pt x="0" y="1789557"/>
                  </a:lnTo>
                  <a:close/>
                </a:path>
              </a:pathLst>
            </a:custGeom>
            <a:solidFill>
              <a:srgbClr val="101F24"/>
            </a:solidFill>
            <a:ln w="25400" cap="sq">
              <a:solidFill>
                <a:srgbClr val="1A3461"/>
              </a:solidFill>
              <a:prstDash val="solid"/>
              <a:miter/>
            </a:ln>
          </p:spPr>
          <p:txBody>
            <a:bodyPr/>
            <a:lstStyle/>
            <a:p>
              <a:endParaRPr lang="en-IN"/>
            </a:p>
          </p:txBody>
        </p:sp>
      </p:grpSp>
      <p:grpSp>
        <p:nvGrpSpPr>
          <p:cNvPr id="4" name="Group 4"/>
          <p:cNvGrpSpPr/>
          <p:nvPr/>
        </p:nvGrpSpPr>
        <p:grpSpPr>
          <a:xfrm>
            <a:off x="731520" y="0"/>
            <a:ext cx="16824960" cy="1316736"/>
            <a:chOff x="0" y="0"/>
            <a:chExt cx="22433280" cy="1755648"/>
          </a:xfrm>
        </p:grpSpPr>
        <p:sp>
          <p:nvSpPr>
            <p:cNvPr id="5" name="Freeform 5"/>
            <p:cNvSpPr/>
            <p:nvPr/>
          </p:nvSpPr>
          <p:spPr>
            <a:xfrm>
              <a:off x="0" y="0"/>
              <a:ext cx="22433280" cy="1755648"/>
            </a:xfrm>
            <a:custGeom>
              <a:avLst/>
              <a:gdLst/>
              <a:ahLst/>
              <a:cxnLst/>
              <a:rect l="l" t="t" r="r" b="b"/>
              <a:pathLst>
                <a:path w="22433280" h="1755648">
                  <a:moveTo>
                    <a:pt x="0" y="0"/>
                  </a:moveTo>
                  <a:lnTo>
                    <a:pt x="22433280" y="0"/>
                  </a:lnTo>
                  <a:lnTo>
                    <a:pt x="22433280" y="1755648"/>
                  </a:lnTo>
                  <a:lnTo>
                    <a:pt x="0" y="1755648"/>
                  </a:lnTo>
                  <a:close/>
                </a:path>
              </a:pathLst>
            </a:custGeom>
            <a:blipFill>
              <a:blip r:embed="rId3">
                <a:alphaModFix amt="0"/>
              </a:blip>
              <a:stretch>
                <a:fillRect t="-198975" b="-198975"/>
              </a:stretch>
            </a:blipFill>
          </p:spPr>
          <p:txBody>
            <a:bodyPr/>
            <a:lstStyle/>
            <a:p>
              <a:endParaRPr lang="en-IN"/>
            </a:p>
          </p:txBody>
        </p:sp>
        <p:sp>
          <p:nvSpPr>
            <p:cNvPr id="6" name="TextBox 6"/>
            <p:cNvSpPr txBox="1"/>
            <p:nvPr/>
          </p:nvSpPr>
          <p:spPr>
            <a:xfrm>
              <a:off x="0" y="-9525"/>
              <a:ext cx="22433280" cy="1765173"/>
            </a:xfrm>
            <a:prstGeom prst="rect">
              <a:avLst/>
            </a:prstGeom>
          </p:spPr>
          <p:txBody>
            <a:bodyPr lIns="0" tIns="0" rIns="0" bIns="0" rtlCol="0" anchor="ctr"/>
            <a:lstStyle/>
            <a:p>
              <a:pPr algn="l">
                <a:lnSpc>
                  <a:spcPts val="4800"/>
                </a:lnSpc>
              </a:pPr>
              <a:r>
                <a:rPr lang="en-US" sz="4000" spc="560" dirty="0">
                  <a:solidFill>
                    <a:schemeClr val="bg1"/>
                  </a:solidFill>
                  <a:latin typeface="Times New Roman" panose="02020603050405020304" pitchFamily="18" charset="0"/>
                  <a:ea typeface="Hammersmith One"/>
                  <a:cs typeface="Times New Roman" panose="02020603050405020304" pitchFamily="18" charset="0"/>
                  <a:sym typeface="Hammersmith One"/>
                </a:rPr>
                <a:t>What is a node embedding?</a:t>
              </a:r>
            </a:p>
          </p:txBody>
        </p:sp>
      </p:grpSp>
      <p:sp>
        <p:nvSpPr>
          <p:cNvPr id="8" name="Freeform 8"/>
          <p:cNvSpPr/>
          <p:nvPr/>
        </p:nvSpPr>
        <p:spPr>
          <a:xfrm>
            <a:off x="731520" y="73152"/>
            <a:ext cx="16459200" cy="402336"/>
          </a:xfrm>
          <a:custGeom>
            <a:avLst/>
            <a:gdLst/>
            <a:ahLst/>
            <a:cxnLst/>
            <a:rect l="l" t="t" r="r" b="b"/>
            <a:pathLst>
              <a:path w="21945600" h="536448">
                <a:moveTo>
                  <a:pt x="0" y="0"/>
                </a:moveTo>
                <a:lnTo>
                  <a:pt x="21945600" y="0"/>
                </a:lnTo>
                <a:lnTo>
                  <a:pt x="21945600" y="536448"/>
                </a:lnTo>
                <a:lnTo>
                  <a:pt x="0" y="536448"/>
                </a:lnTo>
                <a:close/>
              </a:path>
            </a:pathLst>
          </a:custGeom>
          <a:blipFill>
            <a:blip r:embed="rId3">
              <a:alphaModFix amt="0"/>
            </a:blip>
            <a:stretch>
              <a:fillRect t="-747115" b="-747115"/>
            </a:stretch>
          </a:blipFill>
        </p:spPr>
        <p:txBody>
          <a:bodyPr/>
          <a:lstStyle/>
          <a:p>
            <a:endParaRPr lang="en-IN"/>
          </a:p>
        </p:txBody>
      </p:sp>
      <p:grpSp>
        <p:nvGrpSpPr>
          <p:cNvPr id="10" name="Group 10"/>
          <p:cNvGrpSpPr/>
          <p:nvPr/>
        </p:nvGrpSpPr>
        <p:grpSpPr>
          <a:xfrm>
            <a:off x="731520" y="1554480"/>
            <a:ext cx="16824960" cy="1097280"/>
            <a:chOff x="0" y="0"/>
            <a:chExt cx="22433280" cy="1463040"/>
          </a:xfrm>
        </p:grpSpPr>
        <p:sp>
          <p:nvSpPr>
            <p:cNvPr id="11" name="Freeform 11"/>
            <p:cNvSpPr/>
            <p:nvPr/>
          </p:nvSpPr>
          <p:spPr>
            <a:xfrm>
              <a:off x="0" y="0"/>
              <a:ext cx="22433280" cy="1463040"/>
            </a:xfrm>
            <a:custGeom>
              <a:avLst/>
              <a:gdLst/>
              <a:ahLst/>
              <a:cxnLst/>
              <a:rect l="l" t="t" r="r" b="b"/>
              <a:pathLst>
                <a:path w="22433280" h="1463040">
                  <a:moveTo>
                    <a:pt x="0" y="0"/>
                  </a:moveTo>
                  <a:lnTo>
                    <a:pt x="22433280" y="0"/>
                  </a:lnTo>
                  <a:lnTo>
                    <a:pt x="22433280" y="1463040"/>
                  </a:lnTo>
                  <a:lnTo>
                    <a:pt x="0" y="1463040"/>
                  </a:lnTo>
                  <a:close/>
                </a:path>
              </a:pathLst>
            </a:custGeom>
            <a:blipFill>
              <a:blip r:embed="rId3">
                <a:alphaModFix amt="0"/>
              </a:blip>
              <a:stretch>
                <a:fillRect t="-248770" b="-248770"/>
              </a:stretch>
            </a:blipFill>
          </p:spPr>
          <p:txBody>
            <a:bodyPr/>
            <a:lstStyle/>
            <a:p>
              <a:endParaRPr lang="en-IN"/>
            </a:p>
          </p:txBody>
        </p:sp>
        <p:sp>
          <p:nvSpPr>
            <p:cNvPr id="12" name="TextBox 12"/>
            <p:cNvSpPr txBox="1"/>
            <p:nvPr/>
          </p:nvSpPr>
          <p:spPr>
            <a:xfrm>
              <a:off x="0" y="0"/>
              <a:ext cx="22433280" cy="1463040"/>
            </a:xfrm>
            <a:prstGeom prst="rect">
              <a:avLst/>
            </a:prstGeom>
          </p:spPr>
          <p:txBody>
            <a:bodyPr lIns="0" tIns="0" rIns="0" bIns="0" rtlCol="0" anchor="ctr"/>
            <a:lstStyle/>
            <a:p>
              <a:pPr algn="l">
                <a:lnSpc>
                  <a:spcPts val="3600"/>
                </a:lnSpc>
              </a:pPr>
              <a:r>
                <a:rPr lang="en-US" sz="3000" spc="150" dirty="0">
                  <a:latin typeface="Times New Roman" panose="02020603050405020304" pitchFamily="18" charset="0"/>
                  <a:ea typeface="Playfair Display Italics"/>
                  <a:cs typeface="Times New Roman" panose="02020603050405020304" pitchFamily="18" charset="0"/>
                  <a:sym typeface="Playfair Display Italics"/>
                </a:rPr>
                <a:t>A node embedding is a low-dimensional vector that encodes a node's position and neighborhood structure in the graph.</a:t>
              </a:r>
            </a:p>
          </p:txBody>
        </p:sp>
      </p:grpSp>
      <p:grpSp>
        <p:nvGrpSpPr>
          <p:cNvPr id="13" name="Group 13"/>
          <p:cNvGrpSpPr/>
          <p:nvPr/>
        </p:nvGrpSpPr>
        <p:grpSpPr>
          <a:xfrm>
            <a:off x="535943" y="2821943"/>
            <a:ext cx="7706363" cy="5694683"/>
            <a:chOff x="0" y="0"/>
            <a:chExt cx="10275151" cy="7592911"/>
          </a:xfrm>
        </p:grpSpPr>
        <p:sp>
          <p:nvSpPr>
            <p:cNvPr id="14" name="Freeform 14"/>
            <p:cNvSpPr/>
            <p:nvPr/>
          </p:nvSpPr>
          <p:spPr>
            <a:xfrm>
              <a:off x="0" y="0"/>
              <a:ext cx="10275189" cy="7592949"/>
            </a:xfrm>
            <a:custGeom>
              <a:avLst/>
              <a:gdLst/>
              <a:ahLst/>
              <a:cxnLst/>
              <a:rect l="l" t="t" r="r" b="b"/>
              <a:pathLst>
                <a:path w="10275189" h="7592949">
                  <a:moveTo>
                    <a:pt x="0" y="244983"/>
                  </a:moveTo>
                  <a:cubicBezTo>
                    <a:pt x="0" y="109728"/>
                    <a:pt x="109728" y="0"/>
                    <a:pt x="244983" y="0"/>
                  </a:cubicBezTo>
                  <a:lnTo>
                    <a:pt x="10030206" y="0"/>
                  </a:lnTo>
                  <a:cubicBezTo>
                    <a:pt x="10165462" y="0"/>
                    <a:pt x="10275189" y="109728"/>
                    <a:pt x="10275189" y="244983"/>
                  </a:cubicBezTo>
                  <a:lnTo>
                    <a:pt x="10275189" y="7347966"/>
                  </a:lnTo>
                  <a:cubicBezTo>
                    <a:pt x="10275189" y="7483222"/>
                    <a:pt x="10165462" y="7592949"/>
                    <a:pt x="10030206" y="7592949"/>
                  </a:cubicBezTo>
                  <a:lnTo>
                    <a:pt x="244983" y="7592949"/>
                  </a:lnTo>
                  <a:cubicBezTo>
                    <a:pt x="109728" y="7592949"/>
                    <a:pt x="0" y="7483221"/>
                    <a:pt x="0" y="7347966"/>
                  </a:cubicBezTo>
                  <a:close/>
                </a:path>
              </a:pathLst>
            </a:custGeom>
            <a:solidFill>
              <a:srgbClr val="101F24"/>
            </a:solidFill>
            <a:ln w="25400" cap="sq">
              <a:solidFill>
                <a:srgbClr val="D8E8F8"/>
              </a:solidFill>
              <a:prstDash val="solid"/>
              <a:miter/>
            </a:ln>
          </p:spPr>
          <p:txBody>
            <a:bodyPr/>
            <a:lstStyle/>
            <a:p>
              <a:endParaRPr lang="en-IN"/>
            </a:p>
          </p:txBody>
        </p:sp>
      </p:grpSp>
      <p:grpSp>
        <p:nvGrpSpPr>
          <p:cNvPr id="15" name="Group 15"/>
          <p:cNvGrpSpPr/>
          <p:nvPr/>
        </p:nvGrpSpPr>
        <p:grpSpPr>
          <a:xfrm>
            <a:off x="914400" y="2926080"/>
            <a:ext cx="6949440" cy="640080"/>
            <a:chOff x="0" y="0"/>
            <a:chExt cx="9265920" cy="853440"/>
          </a:xfrm>
        </p:grpSpPr>
        <p:sp>
          <p:nvSpPr>
            <p:cNvPr id="16" name="Freeform 16"/>
            <p:cNvSpPr/>
            <p:nvPr/>
          </p:nvSpPr>
          <p:spPr>
            <a:xfrm>
              <a:off x="0" y="0"/>
              <a:ext cx="9265920" cy="853440"/>
            </a:xfrm>
            <a:custGeom>
              <a:avLst/>
              <a:gdLst/>
              <a:ahLst/>
              <a:cxnLst/>
              <a:rect l="l" t="t" r="r" b="b"/>
              <a:pathLst>
                <a:path w="9265920" h="853440">
                  <a:moveTo>
                    <a:pt x="0" y="0"/>
                  </a:moveTo>
                  <a:lnTo>
                    <a:pt x="9265920" y="0"/>
                  </a:lnTo>
                  <a:lnTo>
                    <a:pt x="9265920" y="853440"/>
                  </a:lnTo>
                  <a:lnTo>
                    <a:pt x="0" y="853440"/>
                  </a:lnTo>
                  <a:close/>
                </a:path>
              </a:pathLst>
            </a:custGeom>
            <a:blipFill>
              <a:blip r:embed="rId3">
                <a:alphaModFix amt="0"/>
              </a:blip>
              <a:stretch>
                <a:fillRect t="-161551" b="-161551"/>
              </a:stretch>
            </a:blipFill>
          </p:spPr>
          <p:txBody>
            <a:bodyPr/>
            <a:lstStyle/>
            <a:p>
              <a:endParaRPr lang="en-IN"/>
            </a:p>
          </p:txBody>
        </p:sp>
        <p:sp>
          <p:nvSpPr>
            <p:cNvPr id="17" name="TextBox 17"/>
            <p:cNvSpPr txBox="1"/>
            <p:nvPr/>
          </p:nvSpPr>
          <p:spPr>
            <a:xfrm>
              <a:off x="0" y="0"/>
              <a:ext cx="9265920" cy="853440"/>
            </a:xfrm>
            <a:prstGeom prst="rect">
              <a:avLst/>
            </a:prstGeom>
          </p:spPr>
          <p:txBody>
            <a:bodyPr lIns="0" tIns="0" rIns="0" bIns="0" rtlCol="0" anchor="ctr"/>
            <a:lstStyle/>
            <a:p>
              <a:pPr algn="l">
                <a:lnSpc>
                  <a:spcPts val="3120"/>
                </a:lnSpc>
              </a:pPr>
              <a:r>
                <a:rPr lang="en-US" sz="2600" spc="130" dirty="0">
                  <a:solidFill>
                    <a:schemeClr val="bg1"/>
                  </a:solidFill>
                  <a:latin typeface="Times New Roman" panose="02020603050405020304" pitchFamily="18" charset="0"/>
                  <a:ea typeface="Playfair Display Italics"/>
                  <a:cs typeface="Times New Roman" panose="02020603050405020304" pitchFamily="18" charset="0"/>
                  <a:sym typeface="Playfair Display Italics"/>
                </a:rPr>
                <a:t>Original Graph</a:t>
              </a:r>
            </a:p>
          </p:txBody>
        </p:sp>
      </p:grpSp>
      <p:grpSp>
        <p:nvGrpSpPr>
          <p:cNvPr id="42" name="Group 42"/>
          <p:cNvGrpSpPr/>
          <p:nvPr/>
        </p:nvGrpSpPr>
        <p:grpSpPr>
          <a:xfrm rot="21402863">
            <a:off x="8415139" y="5259375"/>
            <a:ext cx="1626799" cy="176790"/>
            <a:chOff x="0" y="0"/>
            <a:chExt cx="1808480" cy="101600"/>
          </a:xfrm>
        </p:grpSpPr>
        <p:sp>
          <p:nvSpPr>
            <p:cNvPr id="43" name="Freeform 43"/>
            <p:cNvSpPr/>
            <p:nvPr/>
          </p:nvSpPr>
          <p:spPr>
            <a:xfrm>
              <a:off x="0" y="0"/>
              <a:ext cx="1808480" cy="101600"/>
            </a:xfrm>
            <a:custGeom>
              <a:avLst/>
              <a:gdLst/>
              <a:ahLst/>
              <a:cxnLst/>
              <a:rect l="l" t="t" r="r" b="b"/>
              <a:pathLst>
                <a:path w="1808480" h="101600">
                  <a:moveTo>
                    <a:pt x="0" y="0"/>
                  </a:moveTo>
                  <a:lnTo>
                    <a:pt x="1808480" y="101600"/>
                  </a:lnTo>
                </a:path>
              </a:pathLst>
            </a:custGeom>
            <a:blipFill>
              <a:blip r:embed="rId3">
                <a:alphaModFix amt="0"/>
              </a:blip>
              <a:stretch>
                <a:fillRect t="-296833" b="-296833"/>
              </a:stretch>
            </a:blipFill>
            <a:ln w="76200" cap="sq">
              <a:solidFill>
                <a:srgbClr val="1E5FA8"/>
              </a:solidFill>
              <a:prstDash val="solid"/>
              <a:miter/>
            </a:ln>
          </p:spPr>
          <p:txBody>
            <a:bodyPr/>
            <a:lstStyle/>
            <a:p>
              <a:endParaRPr lang="en-IN"/>
            </a:p>
          </p:txBody>
        </p:sp>
      </p:grpSp>
      <p:grpSp>
        <p:nvGrpSpPr>
          <p:cNvPr id="44" name="Group 44"/>
          <p:cNvGrpSpPr/>
          <p:nvPr/>
        </p:nvGrpSpPr>
        <p:grpSpPr>
          <a:xfrm>
            <a:off x="8412480" y="5632704"/>
            <a:ext cx="1463040" cy="548640"/>
            <a:chOff x="0" y="0"/>
            <a:chExt cx="1950720" cy="731520"/>
          </a:xfrm>
        </p:grpSpPr>
        <p:sp>
          <p:nvSpPr>
            <p:cNvPr id="45" name="Freeform 45"/>
            <p:cNvSpPr/>
            <p:nvPr/>
          </p:nvSpPr>
          <p:spPr>
            <a:xfrm>
              <a:off x="0" y="0"/>
              <a:ext cx="1950720" cy="731520"/>
            </a:xfrm>
            <a:custGeom>
              <a:avLst/>
              <a:gdLst/>
              <a:ahLst/>
              <a:cxnLst/>
              <a:rect l="l" t="t" r="r" b="b"/>
              <a:pathLst>
                <a:path w="1950720" h="731520">
                  <a:moveTo>
                    <a:pt x="0" y="0"/>
                  </a:moveTo>
                  <a:lnTo>
                    <a:pt x="1950720" y="0"/>
                  </a:lnTo>
                  <a:lnTo>
                    <a:pt x="1950720" y="731520"/>
                  </a:lnTo>
                  <a:lnTo>
                    <a:pt x="0" y="731520"/>
                  </a:lnTo>
                  <a:close/>
                </a:path>
              </a:pathLst>
            </a:custGeom>
            <a:blipFill>
              <a:blip r:embed="rId3">
                <a:alphaModFix amt="0"/>
              </a:blip>
              <a:stretch>
                <a:fillRect t="-1960" b="-1960"/>
              </a:stretch>
            </a:blipFill>
          </p:spPr>
          <p:txBody>
            <a:bodyPr/>
            <a:lstStyle/>
            <a:p>
              <a:endParaRPr lang="en-IN"/>
            </a:p>
          </p:txBody>
        </p:sp>
        <p:sp>
          <p:nvSpPr>
            <p:cNvPr id="46" name="TextBox 46"/>
            <p:cNvSpPr txBox="1"/>
            <p:nvPr/>
          </p:nvSpPr>
          <p:spPr>
            <a:xfrm>
              <a:off x="0" y="0"/>
              <a:ext cx="1950720" cy="731520"/>
            </a:xfrm>
            <a:prstGeom prst="rect">
              <a:avLst/>
            </a:prstGeom>
          </p:spPr>
          <p:txBody>
            <a:bodyPr lIns="0" tIns="0" rIns="0" bIns="0" rtlCol="0" anchor="ctr"/>
            <a:lstStyle/>
            <a:p>
              <a:pPr algn="ctr">
                <a:lnSpc>
                  <a:spcPts val="2400"/>
                </a:lnSpc>
              </a:pPr>
              <a:r>
                <a:rPr lang="en-US" sz="2000" spc="100" dirty="0">
                  <a:latin typeface="Times New Roman" panose="02020603050405020304" pitchFamily="18" charset="0"/>
                  <a:ea typeface="Playfair Display Italics"/>
                  <a:cs typeface="Times New Roman" panose="02020603050405020304" pitchFamily="18" charset="0"/>
                  <a:sym typeface="Playfair Display Italics"/>
                </a:rPr>
                <a:t>Encoder</a:t>
              </a:r>
            </a:p>
          </p:txBody>
        </p:sp>
      </p:grpSp>
      <p:grpSp>
        <p:nvGrpSpPr>
          <p:cNvPr id="47" name="Group 47"/>
          <p:cNvGrpSpPr/>
          <p:nvPr/>
        </p:nvGrpSpPr>
        <p:grpSpPr>
          <a:xfrm>
            <a:off x="9875520" y="2803650"/>
            <a:ext cx="7523483" cy="5694683"/>
            <a:chOff x="0" y="0"/>
            <a:chExt cx="10031311" cy="7592911"/>
          </a:xfrm>
        </p:grpSpPr>
        <p:sp>
          <p:nvSpPr>
            <p:cNvPr id="48" name="Freeform 48"/>
            <p:cNvSpPr/>
            <p:nvPr/>
          </p:nvSpPr>
          <p:spPr>
            <a:xfrm>
              <a:off x="0" y="0"/>
              <a:ext cx="10031349" cy="7592949"/>
            </a:xfrm>
            <a:custGeom>
              <a:avLst/>
              <a:gdLst/>
              <a:ahLst/>
              <a:cxnLst/>
              <a:rect l="l" t="t" r="r" b="b"/>
              <a:pathLst>
                <a:path w="10031349" h="7592949">
                  <a:moveTo>
                    <a:pt x="0" y="244983"/>
                  </a:moveTo>
                  <a:cubicBezTo>
                    <a:pt x="0" y="109728"/>
                    <a:pt x="109728" y="0"/>
                    <a:pt x="244983" y="0"/>
                  </a:cubicBezTo>
                  <a:lnTo>
                    <a:pt x="9786366" y="0"/>
                  </a:lnTo>
                  <a:cubicBezTo>
                    <a:pt x="9921622" y="0"/>
                    <a:pt x="10031349" y="109728"/>
                    <a:pt x="10031349" y="244983"/>
                  </a:cubicBezTo>
                  <a:lnTo>
                    <a:pt x="10031349" y="7347966"/>
                  </a:lnTo>
                  <a:cubicBezTo>
                    <a:pt x="10031349" y="7483222"/>
                    <a:pt x="9921622" y="7592949"/>
                    <a:pt x="9786366" y="7592949"/>
                  </a:cubicBezTo>
                  <a:lnTo>
                    <a:pt x="244983" y="7592949"/>
                  </a:lnTo>
                  <a:cubicBezTo>
                    <a:pt x="109728" y="7592949"/>
                    <a:pt x="0" y="7483221"/>
                    <a:pt x="0" y="7347966"/>
                  </a:cubicBezTo>
                  <a:close/>
                </a:path>
              </a:pathLst>
            </a:custGeom>
            <a:solidFill>
              <a:srgbClr val="101F24"/>
            </a:solidFill>
            <a:ln w="25400" cap="sq">
              <a:solidFill>
                <a:srgbClr val="D8E8F8"/>
              </a:solidFill>
              <a:prstDash val="solid"/>
              <a:miter/>
            </a:ln>
          </p:spPr>
          <p:txBody>
            <a:bodyPr/>
            <a:lstStyle/>
            <a:p>
              <a:endParaRPr lang="en-IN"/>
            </a:p>
          </p:txBody>
        </p:sp>
      </p:grpSp>
      <p:grpSp>
        <p:nvGrpSpPr>
          <p:cNvPr id="49" name="Group 49"/>
          <p:cNvGrpSpPr/>
          <p:nvPr/>
        </p:nvGrpSpPr>
        <p:grpSpPr>
          <a:xfrm>
            <a:off x="10332720" y="2926080"/>
            <a:ext cx="6949440" cy="640080"/>
            <a:chOff x="0" y="0"/>
            <a:chExt cx="9265920" cy="853440"/>
          </a:xfrm>
        </p:grpSpPr>
        <p:sp>
          <p:nvSpPr>
            <p:cNvPr id="50" name="Freeform 50"/>
            <p:cNvSpPr/>
            <p:nvPr/>
          </p:nvSpPr>
          <p:spPr>
            <a:xfrm>
              <a:off x="0" y="0"/>
              <a:ext cx="9265920" cy="853440"/>
            </a:xfrm>
            <a:custGeom>
              <a:avLst/>
              <a:gdLst/>
              <a:ahLst/>
              <a:cxnLst/>
              <a:rect l="l" t="t" r="r" b="b"/>
              <a:pathLst>
                <a:path w="9265920" h="853440">
                  <a:moveTo>
                    <a:pt x="0" y="0"/>
                  </a:moveTo>
                  <a:lnTo>
                    <a:pt x="9265920" y="0"/>
                  </a:lnTo>
                  <a:lnTo>
                    <a:pt x="9265920" y="853440"/>
                  </a:lnTo>
                  <a:lnTo>
                    <a:pt x="0" y="853440"/>
                  </a:lnTo>
                  <a:close/>
                </a:path>
              </a:pathLst>
            </a:custGeom>
            <a:blipFill>
              <a:blip r:embed="rId3">
                <a:alphaModFix amt="0"/>
              </a:blip>
              <a:stretch>
                <a:fillRect t="-161551" b="-161551"/>
              </a:stretch>
            </a:blipFill>
          </p:spPr>
          <p:txBody>
            <a:bodyPr/>
            <a:lstStyle/>
            <a:p>
              <a:endParaRPr lang="en-IN"/>
            </a:p>
          </p:txBody>
        </p:sp>
        <p:sp>
          <p:nvSpPr>
            <p:cNvPr id="51" name="TextBox 51"/>
            <p:cNvSpPr txBox="1"/>
            <p:nvPr/>
          </p:nvSpPr>
          <p:spPr>
            <a:xfrm>
              <a:off x="0" y="0"/>
              <a:ext cx="9265920" cy="853440"/>
            </a:xfrm>
            <a:prstGeom prst="rect">
              <a:avLst/>
            </a:prstGeom>
          </p:spPr>
          <p:txBody>
            <a:bodyPr lIns="0" tIns="0" rIns="0" bIns="0" rtlCol="0" anchor="ctr"/>
            <a:lstStyle/>
            <a:p>
              <a:pPr algn="l">
                <a:lnSpc>
                  <a:spcPts val="3120"/>
                </a:lnSpc>
              </a:pPr>
              <a:r>
                <a:rPr lang="en-US" sz="2600" spc="130" dirty="0">
                  <a:solidFill>
                    <a:schemeClr val="bg1"/>
                  </a:solidFill>
                  <a:latin typeface="Times New Roman" panose="02020603050405020304" pitchFamily="18" charset="0"/>
                  <a:ea typeface="Playfair Display Italics"/>
                  <a:cs typeface="Times New Roman" panose="02020603050405020304" pitchFamily="18" charset="0"/>
                  <a:sym typeface="Playfair Display Italics"/>
                </a:rPr>
                <a:t>Embedding Space (d = 2)</a:t>
              </a:r>
            </a:p>
          </p:txBody>
        </p:sp>
      </p:grpSp>
      <p:grpSp>
        <p:nvGrpSpPr>
          <p:cNvPr id="52" name="Group 52"/>
          <p:cNvGrpSpPr/>
          <p:nvPr/>
        </p:nvGrpSpPr>
        <p:grpSpPr>
          <a:xfrm>
            <a:off x="10990326" y="5284470"/>
            <a:ext cx="696468" cy="696468"/>
            <a:chOff x="0" y="0"/>
            <a:chExt cx="928624" cy="928624"/>
          </a:xfrm>
        </p:grpSpPr>
        <p:sp>
          <p:nvSpPr>
            <p:cNvPr id="53" name="Freeform 53"/>
            <p:cNvSpPr/>
            <p:nvPr/>
          </p:nvSpPr>
          <p:spPr>
            <a:xfrm>
              <a:off x="0" y="0"/>
              <a:ext cx="928624" cy="928624"/>
            </a:xfrm>
            <a:custGeom>
              <a:avLst/>
              <a:gdLst/>
              <a:ahLst/>
              <a:cxnLst/>
              <a:rect l="l" t="t" r="r" b="b"/>
              <a:pathLst>
                <a:path w="928624" h="928624">
                  <a:moveTo>
                    <a:pt x="0" y="464312"/>
                  </a:moveTo>
                  <a:cubicBezTo>
                    <a:pt x="0" y="207899"/>
                    <a:pt x="207899" y="0"/>
                    <a:pt x="464312" y="0"/>
                  </a:cubicBezTo>
                  <a:cubicBezTo>
                    <a:pt x="720725" y="0"/>
                    <a:pt x="928624" y="207899"/>
                    <a:pt x="928624" y="464312"/>
                  </a:cubicBezTo>
                  <a:cubicBezTo>
                    <a:pt x="928624" y="720725"/>
                    <a:pt x="720725" y="928624"/>
                    <a:pt x="464312" y="928624"/>
                  </a:cubicBezTo>
                  <a:cubicBezTo>
                    <a:pt x="207899" y="928624"/>
                    <a:pt x="0" y="720725"/>
                    <a:pt x="0" y="464312"/>
                  </a:cubicBezTo>
                  <a:close/>
                </a:path>
              </a:pathLst>
            </a:custGeom>
            <a:solidFill>
              <a:srgbClr val="FFFFFF"/>
            </a:solidFill>
            <a:ln w="38100" cap="sq">
              <a:solidFill>
                <a:srgbClr val="FFFFFF"/>
              </a:solidFill>
              <a:prstDash val="solid"/>
              <a:miter/>
            </a:ln>
          </p:spPr>
          <p:txBody>
            <a:bodyPr/>
            <a:lstStyle/>
            <a:p>
              <a:endParaRPr lang="en-IN" dirty="0"/>
            </a:p>
          </p:txBody>
        </p:sp>
      </p:grpSp>
      <p:grpSp>
        <p:nvGrpSpPr>
          <p:cNvPr id="54" name="Group 54"/>
          <p:cNvGrpSpPr/>
          <p:nvPr/>
        </p:nvGrpSpPr>
        <p:grpSpPr>
          <a:xfrm>
            <a:off x="11026902" y="5248656"/>
            <a:ext cx="658368" cy="658368"/>
            <a:chOff x="0" y="0"/>
            <a:chExt cx="877824" cy="877824"/>
          </a:xfrm>
        </p:grpSpPr>
        <p:sp>
          <p:nvSpPr>
            <p:cNvPr id="55" name="Freeform 55"/>
            <p:cNvSpPr/>
            <p:nvPr/>
          </p:nvSpPr>
          <p:spPr>
            <a:xfrm>
              <a:off x="0" y="0"/>
              <a:ext cx="877824" cy="877824"/>
            </a:xfrm>
            <a:custGeom>
              <a:avLst/>
              <a:gdLst/>
              <a:ahLst/>
              <a:cxnLst/>
              <a:rect l="l" t="t" r="r" b="b"/>
              <a:pathLst>
                <a:path w="877824" h="877824">
                  <a:moveTo>
                    <a:pt x="0" y="0"/>
                  </a:moveTo>
                  <a:lnTo>
                    <a:pt x="877824" y="0"/>
                  </a:lnTo>
                  <a:lnTo>
                    <a:pt x="877824" y="877824"/>
                  </a:lnTo>
                  <a:lnTo>
                    <a:pt x="0" y="877824"/>
                  </a:lnTo>
                  <a:close/>
                </a:path>
              </a:pathLst>
            </a:custGeom>
            <a:blipFill>
              <a:blip r:embed="rId3">
                <a:alphaModFix amt="0"/>
              </a:blip>
              <a:stretch>
                <a:fillRect l="-78303" r="-78303"/>
              </a:stretch>
            </a:blipFill>
          </p:spPr>
          <p:txBody>
            <a:bodyPr/>
            <a:lstStyle/>
            <a:p>
              <a:endParaRPr lang="en-IN"/>
            </a:p>
          </p:txBody>
        </p:sp>
        <p:sp>
          <p:nvSpPr>
            <p:cNvPr id="56" name="TextBox 56"/>
            <p:cNvSpPr txBox="1"/>
            <p:nvPr/>
          </p:nvSpPr>
          <p:spPr>
            <a:xfrm>
              <a:off x="0" y="0"/>
              <a:ext cx="877824" cy="877824"/>
            </a:xfrm>
            <a:prstGeom prst="rect">
              <a:avLst/>
            </a:prstGeom>
          </p:spPr>
          <p:txBody>
            <a:bodyPr lIns="0" tIns="0" rIns="0" bIns="0" rtlCol="0" anchor="ctr"/>
            <a:lstStyle/>
            <a:p>
              <a:pPr algn="ctr">
                <a:lnSpc>
                  <a:spcPts val="2640"/>
                </a:lnSpc>
              </a:pPr>
              <a:r>
                <a:rPr lang="en-US" sz="2200" spc="109" dirty="0">
                  <a:solidFill>
                    <a:srgbClr val="7C898B"/>
                  </a:solidFill>
                  <a:latin typeface="Playfair Display Italics"/>
                  <a:ea typeface="Playfair Display Italics"/>
                  <a:cs typeface="Playfair Display Italics"/>
                  <a:sym typeface="Playfair Display Italics"/>
                </a:rPr>
                <a:t>A</a:t>
              </a:r>
            </a:p>
          </p:txBody>
        </p:sp>
      </p:grpSp>
      <p:grpSp>
        <p:nvGrpSpPr>
          <p:cNvPr id="57" name="Group 57"/>
          <p:cNvGrpSpPr/>
          <p:nvPr/>
        </p:nvGrpSpPr>
        <p:grpSpPr>
          <a:xfrm>
            <a:off x="10607040" y="6070346"/>
            <a:ext cx="1565371" cy="933958"/>
            <a:chOff x="0" y="-635677"/>
            <a:chExt cx="2087161" cy="1245277"/>
          </a:xfrm>
        </p:grpSpPr>
        <p:sp>
          <p:nvSpPr>
            <p:cNvPr id="58" name="Freeform 58"/>
            <p:cNvSpPr/>
            <p:nvPr/>
          </p:nvSpPr>
          <p:spPr>
            <a:xfrm>
              <a:off x="0" y="0"/>
              <a:ext cx="1950720" cy="609600"/>
            </a:xfrm>
            <a:custGeom>
              <a:avLst/>
              <a:gdLst/>
              <a:ahLst/>
              <a:cxnLst/>
              <a:rect l="l" t="t" r="r" b="b"/>
              <a:pathLst>
                <a:path w="1950720" h="609600">
                  <a:moveTo>
                    <a:pt x="0" y="0"/>
                  </a:moveTo>
                  <a:lnTo>
                    <a:pt x="1950720" y="0"/>
                  </a:lnTo>
                  <a:lnTo>
                    <a:pt x="1950720" y="609600"/>
                  </a:lnTo>
                  <a:lnTo>
                    <a:pt x="0" y="609600"/>
                  </a:lnTo>
                  <a:close/>
                </a:path>
              </a:pathLst>
            </a:custGeom>
            <a:blipFill>
              <a:blip r:embed="rId3">
                <a:alphaModFix amt="0"/>
              </a:blip>
              <a:stretch>
                <a:fillRect t="-12352" b="-12352"/>
              </a:stretch>
            </a:blipFill>
          </p:spPr>
          <p:txBody>
            <a:bodyPr/>
            <a:lstStyle/>
            <a:p>
              <a:endParaRPr lang="en-IN"/>
            </a:p>
          </p:txBody>
        </p:sp>
        <p:sp>
          <p:nvSpPr>
            <p:cNvPr id="59" name="TextBox 59"/>
            <p:cNvSpPr txBox="1"/>
            <p:nvPr/>
          </p:nvSpPr>
          <p:spPr>
            <a:xfrm>
              <a:off x="136441" y="-635677"/>
              <a:ext cx="1950720" cy="609600"/>
            </a:xfrm>
            <a:prstGeom prst="rect">
              <a:avLst/>
            </a:prstGeom>
          </p:spPr>
          <p:txBody>
            <a:bodyPr lIns="0" tIns="0" rIns="0" bIns="0" rtlCol="0" anchor="ctr"/>
            <a:lstStyle/>
            <a:p>
              <a:pPr algn="ctr">
                <a:lnSpc>
                  <a:spcPts val="2160"/>
                </a:lnSpc>
              </a:pPr>
              <a:r>
                <a:rPr lang="en-US" sz="1800" spc="36" dirty="0">
                  <a:solidFill>
                    <a:srgbClr val="FFFFFF"/>
                  </a:solidFill>
                  <a:latin typeface="Playfair Display"/>
                  <a:ea typeface="Playfair Display"/>
                  <a:cs typeface="Playfair Display"/>
                  <a:sym typeface="Playfair Display"/>
                </a:rPr>
                <a:t>[0.6, 0.4]</a:t>
              </a:r>
            </a:p>
          </p:txBody>
        </p:sp>
      </p:grpSp>
      <p:grpSp>
        <p:nvGrpSpPr>
          <p:cNvPr id="60" name="Group 60"/>
          <p:cNvGrpSpPr/>
          <p:nvPr/>
        </p:nvGrpSpPr>
        <p:grpSpPr>
          <a:xfrm>
            <a:off x="12782550" y="4004310"/>
            <a:ext cx="696468" cy="696468"/>
            <a:chOff x="0" y="0"/>
            <a:chExt cx="928624" cy="928624"/>
          </a:xfrm>
        </p:grpSpPr>
        <p:sp>
          <p:nvSpPr>
            <p:cNvPr id="61" name="Freeform 61"/>
            <p:cNvSpPr/>
            <p:nvPr/>
          </p:nvSpPr>
          <p:spPr>
            <a:xfrm>
              <a:off x="0" y="0"/>
              <a:ext cx="928624" cy="928624"/>
            </a:xfrm>
            <a:custGeom>
              <a:avLst/>
              <a:gdLst/>
              <a:ahLst/>
              <a:cxnLst/>
              <a:rect l="l" t="t" r="r" b="b"/>
              <a:pathLst>
                <a:path w="928624" h="928624">
                  <a:moveTo>
                    <a:pt x="0" y="464312"/>
                  </a:moveTo>
                  <a:cubicBezTo>
                    <a:pt x="0" y="207899"/>
                    <a:pt x="207899" y="0"/>
                    <a:pt x="464312" y="0"/>
                  </a:cubicBezTo>
                  <a:cubicBezTo>
                    <a:pt x="720725" y="0"/>
                    <a:pt x="928624" y="207899"/>
                    <a:pt x="928624" y="464312"/>
                  </a:cubicBezTo>
                  <a:cubicBezTo>
                    <a:pt x="928624" y="720725"/>
                    <a:pt x="720725" y="928624"/>
                    <a:pt x="464312" y="928624"/>
                  </a:cubicBezTo>
                  <a:cubicBezTo>
                    <a:pt x="207899" y="928624"/>
                    <a:pt x="0" y="720725"/>
                    <a:pt x="0" y="464312"/>
                  </a:cubicBezTo>
                  <a:close/>
                </a:path>
              </a:pathLst>
            </a:custGeom>
            <a:solidFill>
              <a:srgbClr val="FFFFFF"/>
            </a:solidFill>
            <a:ln w="38100" cap="sq">
              <a:solidFill>
                <a:srgbClr val="FFFFFF"/>
              </a:solidFill>
              <a:prstDash val="solid"/>
              <a:miter/>
            </a:ln>
          </p:spPr>
          <p:txBody>
            <a:bodyPr/>
            <a:lstStyle/>
            <a:p>
              <a:endParaRPr lang="en-IN"/>
            </a:p>
          </p:txBody>
        </p:sp>
      </p:grpSp>
      <p:grpSp>
        <p:nvGrpSpPr>
          <p:cNvPr id="62" name="Group 62"/>
          <p:cNvGrpSpPr/>
          <p:nvPr/>
        </p:nvGrpSpPr>
        <p:grpSpPr>
          <a:xfrm>
            <a:off x="12801600" y="4023360"/>
            <a:ext cx="658368" cy="658368"/>
            <a:chOff x="0" y="0"/>
            <a:chExt cx="877824" cy="877824"/>
          </a:xfrm>
        </p:grpSpPr>
        <p:sp>
          <p:nvSpPr>
            <p:cNvPr id="63" name="Freeform 63"/>
            <p:cNvSpPr/>
            <p:nvPr/>
          </p:nvSpPr>
          <p:spPr>
            <a:xfrm>
              <a:off x="0" y="0"/>
              <a:ext cx="877824" cy="877824"/>
            </a:xfrm>
            <a:custGeom>
              <a:avLst/>
              <a:gdLst/>
              <a:ahLst/>
              <a:cxnLst/>
              <a:rect l="l" t="t" r="r" b="b"/>
              <a:pathLst>
                <a:path w="877824" h="877824">
                  <a:moveTo>
                    <a:pt x="0" y="0"/>
                  </a:moveTo>
                  <a:lnTo>
                    <a:pt x="877824" y="0"/>
                  </a:lnTo>
                  <a:lnTo>
                    <a:pt x="877824" y="877824"/>
                  </a:lnTo>
                  <a:lnTo>
                    <a:pt x="0" y="877824"/>
                  </a:lnTo>
                  <a:close/>
                </a:path>
              </a:pathLst>
            </a:custGeom>
            <a:blipFill>
              <a:blip r:embed="rId3">
                <a:alphaModFix amt="0"/>
              </a:blip>
              <a:stretch>
                <a:fillRect l="-78303" r="-78303"/>
              </a:stretch>
            </a:blipFill>
          </p:spPr>
          <p:txBody>
            <a:bodyPr/>
            <a:lstStyle/>
            <a:p>
              <a:endParaRPr lang="en-IN"/>
            </a:p>
          </p:txBody>
        </p:sp>
        <p:sp>
          <p:nvSpPr>
            <p:cNvPr id="64" name="TextBox 64"/>
            <p:cNvSpPr txBox="1"/>
            <p:nvPr/>
          </p:nvSpPr>
          <p:spPr>
            <a:xfrm>
              <a:off x="0" y="0"/>
              <a:ext cx="877824" cy="877824"/>
            </a:xfrm>
            <a:prstGeom prst="rect">
              <a:avLst/>
            </a:prstGeom>
          </p:spPr>
          <p:txBody>
            <a:bodyPr lIns="0" tIns="0" rIns="0" bIns="0" rtlCol="0" anchor="ctr"/>
            <a:lstStyle/>
            <a:p>
              <a:pPr algn="ctr">
                <a:lnSpc>
                  <a:spcPts val="2640"/>
                </a:lnSpc>
              </a:pPr>
              <a:r>
                <a:rPr lang="en-US" sz="2200" i="1" spc="109">
                  <a:solidFill>
                    <a:srgbClr val="7C898B"/>
                  </a:solidFill>
                  <a:latin typeface="Playfair Display Italics"/>
                  <a:ea typeface="Playfair Display Italics"/>
                  <a:cs typeface="Playfair Display Italics"/>
                  <a:sym typeface="Playfair Display Italics"/>
                </a:rPr>
                <a:t>B</a:t>
              </a:r>
            </a:p>
          </p:txBody>
        </p:sp>
      </p:grpSp>
      <p:grpSp>
        <p:nvGrpSpPr>
          <p:cNvPr id="65" name="Group 65"/>
          <p:cNvGrpSpPr/>
          <p:nvPr/>
        </p:nvGrpSpPr>
        <p:grpSpPr>
          <a:xfrm>
            <a:off x="12435840" y="4718304"/>
            <a:ext cx="1463040" cy="457200"/>
            <a:chOff x="0" y="0"/>
            <a:chExt cx="1950720" cy="609600"/>
          </a:xfrm>
        </p:grpSpPr>
        <p:sp>
          <p:nvSpPr>
            <p:cNvPr id="66" name="Freeform 66"/>
            <p:cNvSpPr/>
            <p:nvPr/>
          </p:nvSpPr>
          <p:spPr>
            <a:xfrm>
              <a:off x="0" y="0"/>
              <a:ext cx="1950720" cy="609600"/>
            </a:xfrm>
            <a:custGeom>
              <a:avLst/>
              <a:gdLst/>
              <a:ahLst/>
              <a:cxnLst/>
              <a:rect l="l" t="t" r="r" b="b"/>
              <a:pathLst>
                <a:path w="1950720" h="609600">
                  <a:moveTo>
                    <a:pt x="0" y="0"/>
                  </a:moveTo>
                  <a:lnTo>
                    <a:pt x="1950720" y="0"/>
                  </a:lnTo>
                  <a:lnTo>
                    <a:pt x="1950720" y="609600"/>
                  </a:lnTo>
                  <a:lnTo>
                    <a:pt x="0" y="609600"/>
                  </a:lnTo>
                  <a:close/>
                </a:path>
              </a:pathLst>
            </a:custGeom>
            <a:blipFill>
              <a:blip r:embed="rId3">
                <a:alphaModFix amt="0"/>
              </a:blip>
              <a:stretch>
                <a:fillRect t="-12352" b="-12352"/>
              </a:stretch>
            </a:blipFill>
          </p:spPr>
          <p:txBody>
            <a:bodyPr/>
            <a:lstStyle/>
            <a:p>
              <a:endParaRPr lang="en-IN"/>
            </a:p>
          </p:txBody>
        </p:sp>
        <p:sp>
          <p:nvSpPr>
            <p:cNvPr id="67" name="TextBox 67"/>
            <p:cNvSpPr txBox="1"/>
            <p:nvPr/>
          </p:nvSpPr>
          <p:spPr>
            <a:xfrm>
              <a:off x="0" y="0"/>
              <a:ext cx="1950720" cy="609600"/>
            </a:xfrm>
            <a:prstGeom prst="rect">
              <a:avLst/>
            </a:prstGeom>
          </p:spPr>
          <p:txBody>
            <a:bodyPr lIns="0" tIns="0" rIns="0" bIns="0" rtlCol="0" anchor="ctr"/>
            <a:lstStyle/>
            <a:p>
              <a:pPr algn="ctr">
                <a:lnSpc>
                  <a:spcPts val="2160"/>
                </a:lnSpc>
              </a:pPr>
              <a:r>
                <a:rPr lang="en-US" sz="1800" spc="36">
                  <a:solidFill>
                    <a:srgbClr val="FFFFFF"/>
                  </a:solidFill>
                  <a:latin typeface="Playfair Display"/>
                  <a:ea typeface="Playfair Display"/>
                  <a:cs typeface="Playfair Display"/>
                  <a:sym typeface="Playfair Display"/>
                </a:rPr>
                <a:t>[0.1, 0.9]</a:t>
              </a:r>
            </a:p>
          </p:txBody>
        </p:sp>
      </p:grpSp>
      <p:grpSp>
        <p:nvGrpSpPr>
          <p:cNvPr id="68" name="Group 68"/>
          <p:cNvGrpSpPr/>
          <p:nvPr/>
        </p:nvGrpSpPr>
        <p:grpSpPr>
          <a:xfrm>
            <a:off x="14597126" y="5321064"/>
            <a:ext cx="696468" cy="696468"/>
            <a:chOff x="0" y="0"/>
            <a:chExt cx="928624" cy="928624"/>
          </a:xfrm>
        </p:grpSpPr>
        <p:sp>
          <p:nvSpPr>
            <p:cNvPr id="69" name="Freeform 69"/>
            <p:cNvSpPr/>
            <p:nvPr/>
          </p:nvSpPr>
          <p:spPr>
            <a:xfrm>
              <a:off x="0" y="0"/>
              <a:ext cx="928624" cy="928624"/>
            </a:xfrm>
            <a:custGeom>
              <a:avLst/>
              <a:gdLst/>
              <a:ahLst/>
              <a:cxnLst/>
              <a:rect l="l" t="t" r="r" b="b"/>
              <a:pathLst>
                <a:path w="928624" h="928624">
                  <a:moveTo>
                    <a:pt x="0" y="464312"/>
                  </a:moveTo>
                  <a:cubicBezTo>
                    <a:pt x="0" y="207899"/>
                    <a:pt x="207899" y="0"/>
                    <a:pt x="464312" y="0"/>
                  </a:cubicBezTo>
                  <a:cubicBezTo>
                    <a:pt x="720725" y="0"/>
                    <a:pt x="928624" y="207899"/>
                    <a:pt x="928624" y="464312"/>
                  </a:cubicBezTo>
                  <a:cubicBezTo>
                    <a:pt x="928624" y="720725"/>
                    <a:pt x="720725" y="928624"/>
                    <a:pt x="464312" y="928624"/>
                  </a:cubicBezTo>
                  <a:cubicBezTo>
                    <a:pt x="207899" y="928624"/>
                    <a:pt x="0" y="720725"/>
                    <a:pt x="0" y="464312"/>
                  </a:cubicBezTo>
                  <a:close/>
                </a:path>
              </a:pathLst>
            </a:custGeom>
            <a:solidFill>
              <a:srgbClr val="FFFFFF"/>
            </a:solidFill>
            <a:ln w="38100" cap="sq">
              <a:solidFill>
                <a:srgbClr val="FFFFFF"/>
              </a:solidFill>
              <a:prstDash val="solid"/>
              <a:miter/>
            </a:ln>
          </p:spPr>
          <p:txBody>
            <a:bodyPr/>
            <a:lstStyle/>
            <a:p>
              <a:endParaRPr lang="en-IN"/>
            </a:p>
          </p:txBody>
        </p:sp>
      </p:grpSp>
      <p:grpSp>
        <p:nvGrpSpPr>
          <p:cNvPr id="70" name="Group 70"/>
          <p:cNvGrpSpPr/>
          <p:nvPr/>
        </p:nvGrpSpPr>
        <p:grpSpPr>
          <a:xfrm>
            <a:off x="14635226" y="5340114"/>
            <a:ext cx="658368" cy="658368"/>
            <a:chOff x="0" y="0"/>
            <a:chExt cx="877824" cy="877824"/>
          </a:xfrm>
        </p:grpSpPr>
        <p:sp>
          <p:nvSpPr>
            <p:cNvPr id="71" name="Freeform 71"/>
            <p:cNvSpPr/>
            <p:nvPr/>
          </p:nvSpPr>
          <p:spPr>
            <a:xfrm>
              <a:off x="0" y="0"/>
              <a:ext cx="877824" cy="877824"/>
            </a:xfrm>
            <a:custGeom>
              <a:avLst/>
              <a:gdLst/>
              <a:ahLst/>
              <a:cxnLst/>
              <a:rect l="l" t="t" r="r" b="b"/>
              <a:pathLst>
                <a:path w="877824" h="877824">
                  <a:moveTo>
                    <a:pt x="0" y="0"/>
                  </a:moveTo>
                  <a:lnTo>
                    <a:pt x="877824" y="0"/>
                  </a:lnTo>
                  <a:lnTo>
                    <a:pt x="877824" y="877824"/>
                  </a:lnTo>
                  <a:lnTo>
                    <a:pt x="0" y="877824"/>
                  </a:lnTo>
                  <a:close/>
                </a:path>
              </a:pathLst>
            </a:custGeom>
            <a:blipFill>
              <a:blip r:embed="rId3">
                <a:alphaModFix amt="0"/>
              </a:blip>
              <a:stretch>
                <a:fillRect l="-78303" r="-78303"/>
              </a:stretch>
            </a:blipFill>
          </p:spPr>
          <p:txBody>
            <a:bodyPr/>
            <a:lstStyle/>
            <a:p>
              <a:endParaRPr lang="en-IN"/>
            </a:p>
          </p:txBody>
        </p:sp>
        <p:sp>
          <p:nvSpPr>
            <p:cNvPr id="72" name="TextBox 72"/>
            <p:cNvSpPr txBox="1"/>
            <p:nvPr/>
          </p:nvSpPr>
          <p:spPr>
            <a:xfrm>
              <a:off x="0" y="0"/>
              <a:ext cx="877824" cy="877824"/>
            </a:xfrm>
            <a:prstGeom prst="rect">
              <a:avLst/>
            </a:prstGeom>
          </p:spPr>
          <p:txBody>
            <a:bodyPr lIns="0" tIns="0" rIns="0" bIns="0" rtlCol="0" anchor="ctr"/>
            <a:lstStyle/>
            <a:p>
              <a:pPr algn="ctr">
                <a:lnSpc>
                  <a:spcPts val="2640"/>
                </a:lnSpc>
              </a:pPr>
              <a:r>
                <a:rPr lang="en-US" sz="2200" i="1" spc="109">
                  <a:solidFill>
                    <a:srgbClr val="7C898B"/>
                  </a:solidFill>
                  <a:latin typeface="Playfair Display Italics"/>
                  <a:ea typeface="Playfair Display Italics"/>
                  <a:cs typeface="Playfair Display Italics"/>
                  <a:sym typeface="Playfair Display Italics"/>
                </a:rPr>
                <a:t>C</a:t>
              </a:r>
            </a:p>
          </p:txBody>
        </p:sp>
      </p:grpSp>
      <p:grpSp>
        <p:nvGrpSpPr>
          <p:cNvPr id="73" name="Group 73"/>
          <p:cNvGrpSpPr/>
          <p:nvPr/>
        </p:nvGrpSpPr>
        <p:grpSpPr>
          <a:xfrm>
            <a:off x="14264640" y="6059710"/>
            <a:ext cx="1463040" cy="944594"/>
            <a:chOff x="0" y="-649859"/>
            <a:chExt cx="1950720" cy="1259459"/>
          </a:xfrm>
        </p:grpSpPr>
        <p:sp>
          <p:nvSpPr>
            <p:cNvPr id="74" name="Freeform 74"/>
            <p:cNvSpPr/>
            <p:nvPr/>
          </p:nvSpPr>
          <p:spPr>
            <a:xfrm>
              <a:off x="0" y="0"/>
              <a:ext cx="1950720" cy="609600"/>
            </a:xfrm>
            <a:custGeom>
              <a:avLst/>
              <a:gdLst/>
              <a:ahLst/>
              <a:cxnLst/>
              <a:rect l="l" t="t" r="r" b="b"/>
              <a:pathLst>
                <a:path w="1950720" h="609600">
                  <a:moveTo>
                    <a:pt x="0" y="0"/>
                  </a:moveTo>
                  <a:lnTo>
                    <a:pt x="1950720" y="0"/>
                  </a:lnTo>
                  <a:lnTo>
                    <a:pt x="1950720" y="609600"/>
                  </a:lnTo>
                  <a:lnTo>
                    <a:pt x="0" y="609600"/>
                  </a:lnTo>
                  <a:close/>
                </a:path>
              </a:pathLst>
            </a:custGeom>
            <a:blipFill>
              <a:blip r:embed="rId3">
                <a:alphaModFix amt="0"/>
              </a:blip>
              <a:stretch>
                <a:fillRect t="-12352" b="-12352"/>
              </a:stretch>
            </a:blipFill>
          </p:spPr>
          <p:txBody>
            <a:bodyPr/>
            <a:lstStyle/>
            <a:p>
              <a:endParaRPr lang="en-IN"/>
            </a:p>
          </p:txBody>
        </p:sp>
        <p:sp>
          <p:nvSpPr>
            <p:cNvPr id="75" name="TextBox 75"/>
            <p:cNvSpPr txBox="1"/>
            <p:nvPr/>
          </p:nvSpPr>
          <p:spPr>
            <a:xfrm>
              <a:off x="0" y="-649859"/>
              <a:ext cx="1950720" cy="609600"/>
            </a:xfrm>
            <a:prstGeom prst="rect">
              <a:avLst/>
            </a:prstGeom>
          </p:spPr>
          <p:txBody>
            <a:bodyPr lIns="0" tIns="0" rIns="0" bIns="0" rtlCol="0" anchor="ctr"/>
            <a:lstStyle/>
            <a:p>
              <a:pPr algn="ctr">
                <a:lnSpc>
                  <a:spcPts val="2160"/>
                </a:lnSpc>
              </a:pPr>
              <a:r>
                <a:rPr lang="en-US" sz="1800" spc="36" dirty="0">
                  <a:solidFill>
                    <a:srgbClr val="FFFFFF"/>
                  </a:solidFill>
                  <a:latin typeface="Playfair Display"/>
                  <a:ea typeface="Playfair Display"/>
                  <a:cs typeface="Playfair Display"/>
                  <a:sym typeface="Playfair Display"/>
                </a:rPr>
                <a:t>[0.4, 0.7]</a:t>
              </a:r>
            </a:p>
          </p:txBody>
        </p:sp>
      </p:grpSp>
      <p:grpSp>
        <p:nvGrpSpPr>
          <p:cNvPr id="76" name="Group 76"/>
          <p:cNvGrpSpPr/>
          <p:nvPr/>
        </p:nvGrpSpPr>
        <p:grpSpPr>
          <a:xfrm>
            <a:off x="12940807" y="6545580"/>
            <a:ext cx="696468" cy="696468"/>
            <a:chOff x="0" y="0"/>
            <a:chExt cx="928624" cy="928624"/>
          </a:xfrm>
        </p:grpSpPr>
        <p:sp>
          <p:nvSpPr>
            <p:cNvPr id="77" name="Freeform 77"/>
            <p:cNvSpPr/>
            <p:nvPr/>
          </p:nvSpPr>
          <p:spPr>
            <a:xfrm>
              <a:off x="0" y="0"/>
              <a:ext cx="928624" cy="928624"/>
            </a:xfrm>
            <a:custGeom>
              <a:avLst/>
              <a:gdLst/>
              <a:ahLst/>
              <a:cxnLst/>
              <a:rect l="l" t="t" r="r" b="b"/>
              <a:pathLst>
                <a:path w="928624" h="928624">
                  <a:moveTo>
                    <a:pt x="0" y="464312"/>
                  </a:moveTo>
                  <a:cubicBezTo>
                    <a:pt x="0" y="207899"/>
                    <a:pt x="207899" y="0"/>
                    <a:pt x="464312" y="0"/>
                  </a:cubicBezTo>
                  <a:cubicBezTo>
                    <a:pt x="720725" y="0"/>
                    <a:pt x="928624" y="207899"/>
                    <a:pt x="928624" y="464312"/>
                  </a:cubicBezTo>
                  <a:cubicBezTo>
                    <a:pt x="928624" y="720725"/>
                    <a:pt x="720725" y="928624"/>
                    <a:pt x="464312" y="928624"/>
                  </a:cubicBezTo>
                  <a:cubicBezTo>
                    <a:pt x="207899" y="928624"/>
                    <a:pt x="0" y="720725"/>
                    <a:pt x="0" y="464312"/>
                  </a:cubicBezTo>
                  <a:close/>
                </a:path>
              </a:pathLst>
            </a:custGeom>
            <a:solidFill>
              <a:srgbClr val="FFFFFF"/>
            </a:solidFill>
            <a:ln w="38100" cap="sq">
              <a:solidFill>
                <a:srgbClr val="FFFFFF"/>
              </a:solidFill>
              <a:prstDash val="solid"/>
              <a:miter/>
            </a:ln>
          </p:spPr>
          <p:txBody>
            <a:bodyPr/>
            <a:lstStyle/>
            <a:p>
              <a:endParaRPr lang="en-IN"/>
            </a:p>
          </p:txBody>
        </p:sp>
      </p:grpSp>
      <p:grpSp>
        <p:nvGrpSpPr>
          <p:cNvPr id="78" name="Group 78"/>
          <p:cNvGrpSpPr/>
          <p:nvPr/>
        </p:nvGrpSpPr>
        <p:grpSpPr>
          <a:xfrm>
            <a:off x="12978907" y="6555232"/>
            <a:ext cx="658368" cy="658368"/>
            <a:chOff x="0" y="0"/>
            <a:chExt cx="877824" cy="877824"/>
          </a:xfrm>
        </p:grpSpPr>
        <p:sp>
          <p:nvSpPr>
            <p:cNvPr id="79" name="Freeform 79"/>
            <p:cNvSpPr/>
            <p:nvPr/>
          </p:nvSpPr>
          <p:spPr>
            <a:xfrm>
              <a:off x="0" y="0"/>
              <a:ext cx="877824" cy="877824"/>
            </a:xfrm>
            <a:custGeom>
              <a:avLst/>
              <a:gdLst/>
              <a:ahLst/>
              <a:cxnLst/>
              <a:rect l="l" t="t" r="r" b="b"/>
              <a:pathLst>
                <a:path w="877824" h="877824">
                  <a:moveTo>
                    <a:pt x="0" y="0"/>
                  </a:moveTo>
                  <a:lnTo>
                    <a:pt x="877824" y="0"/>
                  </a:lnTo>
                  <a:lnTo>
                    <a:pt x="877824" y="877824"/>
                  </a:lnTo>
                  <a:lnTo>
                    <a:pt x="0" y="877824"/>
                  </a:lnTo>
                  <a:close/>
                </a:path>
              </a:pathLst>
            </a:custGeom>
            <a:blipFill>
              <a:blip r:embed="rId3">
                <a:alphaModFix amt="0"/>
              </a:blip>
              <a:stretch>
                <a:fillRect l="-78303" r="-78303"/>
              </a:stretch>
            </a:blipFill>
          </p:spPr>
          <p:txBody>
            <a:bodyPr/>
            <a:lstStyle/>
            <a:p>
              <a:endParaRPr lang="en-IN"/>
            </a:p>
          </p:txBody>
        </p:sp>
        <p:sp>
          <p:nvSpPr>
            <p:cNvPr id="80" name="TextBox 80"/>
            <p:cNvSpPr txBox="1"/>
            <p:nvPr/>
          </p:nvSpPr>
          <p:spPr>
            <a:xfrm>
              <a:off x="0" y="0"/>
              <a:ext cx="877824" cy="877824"/>
            </a:xfrm>
            <a:prstGeom prst="rect">
              <a:avLst/>
            </a:prstGeom>
          </p:spPr>
          <p:txBody>
            <a:bodyPr lIns="0" tIns="0" rIns="0" bIns="0" rtlCol="0" anchor="ctr"/>
            <a:lstStyle/>
            <a:p>
              <a:pPr algn="ctr">
                <a:lnSpc>
                  <a:spcPts val="2640"/>
                </a:lnSpc>
              </a:pPr>
              <a:r>
                <a:rPr lang="en-US" sz="2200" i="1" spc="109">
                  <a:solidFill>
                    <a:srgbClr val="7C898B"/>
                  </a:solidFill>
                  <a:latin typeface="Playfair Display Italics"/>
                  <a:ea typeface="Playfair Display Italics"/>
                  <a:cs typeface="Playfair Display Italics"/>
                  <a:sym typeface="Playfair Display Italics"/>
                </a:rPr>
                <a:t>D</a:t>
              </a:r>
            </a:p>
          </p:txBody>
        </p:sp>
      </p:grpSp>
      <p:grpSp>
        <p:nvGrpSpPr>
          <p:cNvPr id="81" name="Group 81"/>
          <p:cNvGrpSpPr/>
          <p:nvPr/>
        </p:nvGrpSpPr>
        <p:grpSpPr>
          <a:xfrm>
            <a:off x="12576571" y="7256751"/>
            <a:ext cx="1614917" cy="659384"/>
            <a:chOff x="187641" y="-638765"/>
            <a:chExt cx="2153223" cy="879179"/>
          </a:xfrm>
        </p:grpSpPr>
        <p:sp>
          <p:nvSpPr>
            <p:cNvPr id="82" name="Freeform 82"/>
            <p:cNvSpPr/>
            <p:nvPr/>
          </p:nvSpPr>
          <p:spPr>
            <a:xfrm>
              <a:off x="390144" y="-369186"/>
              <a:ext cx="1950720" cy="609600"/>
            </a:xfrm>
            <a:custGeom>
              <a:avLst/>
              <a:gdLst/>
              <a:ahLst/>
              <a:cxnLst/>
              <a:rect l="l" t="t" r="r" b="b"/>
              <a:pathLst>
                <a:path w="1950720" h="609600">
                  <a:moveTo>
                    <a:pt x="0" y="0"/>
                  </a:moveTo>
                  <a:lnTo>
                    <a:pt x="1950720" y="0"/>
                  </a:lnTo>
                  <a:lnTo>
                    <a:pt x="1950720" y="609600"/>
                  </a:lnTo>
                  <a:lnTo>
                    <a:pt x="0" y="609600"/>
                  </a:lnTo>
                  <a:close/>
                </a:path>
              </a:pathLst>
            </a:custGeom>
            <a:blipFill>
              <a:blip r:embed="rId3">
                <a:alphaModFix amt="0"/>
              </a:blip>
              <a:stretch>
                <a:fillRect t="-12352" b="-12352"/>
              </a:stretch>
            </a:blipFill>
          </p:spPr>
          <p:txBody>
            <a:bodyPr/>
            <a:lstStyle/>
            <a:p>
              <a:endParaRPr lang="en-IN"/>
            </a:p>
          </p:txBody>
        </p:sp>
        <p:sp>
          <p:nvSpPr>
            <p:cNvPr id="83" name="TextBox 83"/>
            <p:cNvSpPr txBox="1"/>
            <p:nvPr/>
          </p:nvSpPr>
          <p:spPr>
            <a:xfrm>
              <a:off x="187641" y="-638765"/>
              <a:ext cx="1950720" cy="609600"/>
            </a:xfrm>
            <a:prstGeom prst="rect">
              <a:avLst/>
            </a:prstGeom>
          </p:spPr>
          <p:txBody>
            <a:bodyPr lIns="0" tIns="0" rIns="0" bIns="0" rtlCol="0" anchor="ctr"/>
            <a:lstStyle/>
            <a:p>
              <a:pPr algn="ctr">
                <a:lnSpc>
                  <a:spcPts val="2160"/>
                </a:lnSpc>
              </a:pPr>
              <a:r>
                <a:rPr lang="en-US" sz="1800" spc="36" dirty="0">
                  <a:solidFill>
                    <a:srgbClr val="FFFFFF"/>
                  </a:solidFill>
                  <a:latin typeface="Playfair Display"/>
                  <a:ea typeface="Playfair Display"/>
                  <a:cs typeface="Playfair Display"/>
                  <a:sym typeface="Playfair Display"/>
                </a:rPr>
                <a:t>[0.2, 0.7]</a:t>
              </a:r>
            </a:p>
          </p:txBody>
        </p:sp>
      </p:grpSp>
      <p:grpSp>
        <p:nvGrpSpPr>
          <p:cNvPr id="84" name="Group 84"/>
          <p:cNvGrpSpPr/>
          <p:nvPr/>
        </p:nvGrpSpPr>
        <p:grpSpPr>
          <a:xfrm>
            <a:off x="731520" y="8741664"/>
            <a:ext cx="16824960" cy="694944"/>
            <a:chOff x="0" y="0"/>
            <a:chExt cx="22433280" cy="926592"/>
          </a:xfrm>
        </p:grpSpPr>
        <p:sp>
          <p:nvSpPr>
            <p:cNvPr id="85" name="Freeform 85"/>
            <p:cNvSpPr/>
            <p:nvPr/>
          </p:nvSpPr>
          <p:spPr>
            <a:xfrm>
              <a:off x="0" y="0"/>
              <a:ext cx="22433280" cy="926592"/>
            </a:xfrm>
            <a:custGeom>
              <a:avLst/>
              <a:gdLst/>
              <a:ahLst/>
              <a:cxnLst/>
              <a:rect l="l" t="t" r="r" b="b"/>
              <a:pathLst>
                <a:path w="22433280" h="926592">
                  <a:moveTo>
                    <a:pt x="0" y="0"/>
                  </a:moveTo>
                  <a:lnTo>
                    <a:pt x="22433280" y="0"/>
                  </a:lnTo>
                  <a:lnTo>
                    <a:pt x="22433280" y="926592"/>
                  </a:lnTo>
                  <a:lnTo>
                    <a:pt x="0" y="926592"/>
                  </a:lnTo>
                  <a:close/>
                </a:path>
              </a:pathLst>
            </a:custGeom>
            <a:blipFill>
              <a:blip r:embed="rId3">
                <a:alphaModFix amt="0"/>
              </a:blip>
              <a:stretch>
                <a:fillRect t="-421743" b="-421743"/>
              </a:stretch>
            </a:blipFill>
          </p:spPr>
          <p:txBody>
            <a:bodyPr/>
            <a:lstStyle/>
            <a:p>
              <a:endParaRPr lang="en-IN"/>
            </a:p>
          </p:txBody>
        </p:sp>
        <p:sp>
          <p:nvSpPr>
            <p:cNvPr id="86" name="TextBox 86"/>
            <p:cNvSpPr txBox="1"/>
            <p:nvPr/>
          </p:nvSpPr>
          <p:spPr>
            <a:xfrm>
              <a:off x="0" y="0"/>
              <a:ext cx="22433280" cy="926592"/>
            </a:xfrm>
            <a:prstGeom prst="rect">
              <a:avLst/>
            </a:prstGeom>
          </p:spPr>
          <p:txBody>
            <a:bodyPr lIns="0" tIns="0" rIns="0" bIns="0" rtlCol="0" anchor="ctr"/>
            <a:lstStyle/>
            <a:p>
              <a:pPr algn="ctr">
                <a:lnSpc>
                  <a:spcPts val="2879"/>
                </a:lnSpc>
              </a:pPr>
              <a:r>
                <a:rPr lang="en-US" sz="2800" spc="48" dirty="0">
                  <a:latin typeface="Times New Roman" panose="02020603050405020304" pitchFamily="18" charset="0"/>
                  <a:ea typeface="Playfair Display"/>
                  <a:cs typeface="Times New Roman" panose="02020603050405020304" pitchFamily="18" charset="0"/>
                  <a:sym typeface="Playfair Display"/>
                </a:rPr>
                <a:t>Key Idea: Similar nodes in graph → Close vectors in embedding space</a:t>
              </a:r>
            </a:p>
          </p:txBody>
        </p:sp>
      </p:grpSp>
      <p:pic>
        <p:nvPicPr>
          <p:cNvPr id="90" name="Picture 89">
            <a:extLst>
              <a:ext uri="{FF2B5EF4-FFF2-40B4-BE49-F238E27FC236}">
                <a16:creationId xmlns:a16="http://schemas.microsoft.com/office/drawing/2014/main" id="{C0BE8D34-2B7C-2ECE-EB09-5AE3EA81B1F4}"/>
              </a:ext>
            </a:extLst>
          </p:cNvPr>
          <p:cNvPicPr>
            <a:picLocks noChangeAspect="1"/>
          </p:cNvPicPr>
          <p:nvPr/>
        </p:nvPicPr>
        <p:blipFill>
          <a:blip r:embed="rId4"/>
          <a:stretch>
            <a:fillRect/>
          </a:stretch>
        </p:blipFill>
        <p:spPr>
          <a:xfrm>
            <a:off x="1469604" y="3791170"/>
            <a:ext cx="5983995" cy="371159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53439"/>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0" y="0"/>
              <a:ext cx="24417910" cy="1789557"/>
            </a:xfrm>
            <a:custGeom>
              <a:avLst/>
              <a:gdLst/>
              <a:ahLst/>
              <a:cxnLst/>
              <a:rect l="l" t="t" r="r" b="b"/>
              <a:pathLst>
                <a:path w="24417910" h="1789557">
                  <a:moveTo>
                    <a:pt x="0" y="0"/>
                  </a:moveTo>
                  <a:lnTo>
                    <a:pt x="24417910" y="0"/>
                  </a:lnTo>
                  <a:lnTo>
                    <a:pt x="24417910" y="1789557"/>
                  </a:lnTo>
                  <a:lnTo>
                    <a:pt x="0" y="1789557"/>
                  </a:lnTo>
                  <a:close/>
                </a:path>
              </a:pathLst>
            </a:custGeom>
            <a:solidFill>
              <a:srgbClr val="FFFFFF"/>
            </a:solidFill>
            <a:ln w="25400" cap="sq">
              <a:solidFill>
                <a:srgbClr val="1A3461"/>
              </a:solidFill>
              <a:prstDash val="solid"/>
              <a:miter/>
            </a:ln>
          </p:spPr>
          <p:txBody>
            <a:bodyPr/>
            <a:lstStyle/>
            <a:p>
              <a:endParaRPr lang="en-IN"/>
            </a:p>
          </p:txBody>
        </p:sp>
      </p:grpSp>
      <p:grpSp>
        <p:nvGrpSpPr>
          <p:cNvPr id="4" name="Group 4"/>
          <p:cNvGrpSpPr/>
          <p:nvPr/>
        </p:nvGrpSpPr>
        <p:grpSpPr>
          <a:xfrm>
            <a:off x="731520" y="0"/>
            <a:ext cx="16824960" cy="1316736"/>
            <a:chOff x="0" y="0"/>
            <a:chExt cx="22433280" cy="1755648"/>
          </a:xfrm>
        </p:grpSpPr>
        <p:sp>
          <p:nvSpPr>
            <p:cNvPr id="5" name="Freeform 5"/>
            <p:cNvSpPr/>
            <p:nvPr/>
          </p:nvSpPr>
          <p:spPr>
            <a:xfrm>
              <a:off x="0" y="0"/>
              <a:ext cx="22433280" cy="1755648"/>
            </a:xfrm>
            <a:custGeom>
              <a:avLst/>
              <a:gdLst/>
              <a:ahLst/>
              <a:cxnLst/>
              <a:rect l="l" t="t" r="r" b="b"/>
              <a:pathLst>
                <a:path w="22433280" h="1755648">
                  <a:moveTo>
                    <a:pt x="0" y="0"/>
                  </a:moveTo>
                  <a:lnTo>
                    <a:pt x="22433280" y="0"/>
                  </a:lnTo>
                  <a:lnTo>
                    <a:pt x="22433280" y="1755648"/>
                  </a:lnTo>
                  <a:lnTo>
                    <a:pt x="0" y="1755648"/>
                  </a:lnTo>
                  <a:close/>
                </a:path>
              </a:pathLst>
            </a:custGeom>
            <a:blipFill>
              <a:blip r:embed="rId3">
                <a:alphaModFix amt="0"/>
              </a:blip>
              <a:stretch>
                <a:fillRect t="-198975" b="-198975"/>
              </a:stretch>
            </a:blipFill>
          </p:spPr>
          <p:txBody>
            <a:bodyPr/>
            <a:lstStyle/>
            <a:p>
              <a:endParaRPr lang="en-IN" dirty="0"/>
            </a:p>
          </p:txBody>
        </p:sp>
        <p:sp>
          <p:nvSpPr>
            <p:cNvPr id="6" name="TextBox 6"/>
            <p:cNvSpPr txBox="1"/>
            <p:nvPr/>
          </p:nvSpPr>
          <p:spPr>
            <a:xfrm>
              <a:off x="0" y="-9525"/>
              <a:ext cx="22433280" cy="1765173"/>
            </a:xfrm>
            <a:prstGeom prst="rect">
              <a:avLst/>
            </a:prstGeom>
          </p:spPr>
          <p:txBody>
            <a:bodyPr lIns="0" tIns="0" rIns="0" bIns="0" rtlCol="0" anchor="ctr"/>
            <a:lstStyle/>
            <a:p>
              <a:pPr algn="l">
                <a:lnSpc>
                  <a:spcPts val="4800"/>
                </a:lnSpc>
              </a:pPr>
              <a:r>
                <a:rPr lang="en-US" sz="4000" spc="560" dirty="0">
                  <a:latin typeface="Times New Roman" panose="02020603050405020304" pitchFamily="18" charset="0"/>
                  <a:ea typeface="Hammersmith One"/>
                  <a:cs typeface="Times New Roman" panose="02020603050405020304" pitchFamily="18" charset="0"/>
                  <a:sym typeface="Hammersmith One"/>
                </a:rPr>
                <a:t>The Encoder Decoder Framework </a:t>
              </a:r>
            </a:p>
          </p:txBody>
        </p:sp>
      </p:grpSp>
      <p:sp>
        <p:nvSpPr>
          <p:cNvPr id="8" name="Freeform 8"/>
          <p:cNvSpPr/>
          <p:nvPr/>
        </p:nvSpPr>
        <p:spPr>
          <a:xfrm>
            <a:off x="731520" y="73152"/>
            <a:ext cx="16459200" cy="402336"/>
          </a:xfrm>
          <a:custGeom>
            <a:avLst/>
            <a:gdLst/>
            <a:ahLst/>
            <a:cxnLst/>
            <a:rect l="l" t="t" r="r" b="b"/>
            <a:pathLst>
              <a:path w="21945600" h="536448">
                <a:moveTo>
                  <a:pt x="0" y="0"/>
                </a:moveTo>
                <a:lnTo>
                  <a:pt x="21945600" y="0"/>
                </a:lnTo>
                <a:lnTo>
                  <a:pt x="21945600" y="536448"/>
                </a:lnTo>
                <a:lnTo>
                  <a:pt x="0" y="536448"/>
                </a:lnTo>
                <a:close/>
              </a:path>
            </a:pathLst>
          </a:custGeom>
          <a:blipFill>
            <a:blip r:embed="rId3">
              <a:alphaModFix amt="0"/>
            </a:blip>
            <a:stretch>
              <a:fillRect t="-747115" b="-747115"/>
            </a:stretch>
          </a:blipFill>
        </p:spPr>
        <p:txBody>
          <a:bodyPr/>
          <a:lstStyle/>
          <a:p>
            <a:endParaRPr lang="en-IN"/>
          </a:p>
        </p:txBody>
      </p:sp>
      <p:grpSp>
        <p:nvGrpSpPr>
          <p:cNvPr id="10" name="Group 10"/>
          <p:cNvGrpSpPr/>
          <p:nvPr/>
        </p:nvGrpSpPr>
        <p:grpSpPr>
          <a:xfrm>
            <a:off x="731520" y="1499616"/>
            <a:ext cx="16824960" cy="731520"/>
            <a:chOff x="0" y="0"/>
            <a:chExt cx="22433280" cy="975360"/>
          </a:xfrm>
        </p:grpSpPr>
        <p:sp>
          <p:nvSpPr>
            <p:cNvPr id="11" name="Freeform 11"/>
            <p:cNvSpPr/>
            <p:nvPr/>
          </p:nvSpPr>
          <p:spPr>
            <a:xfrm>
              <a:off x="0" y="0"/>
              <a:ext cx="22433280" cy="975360"/>
            </a:xfrm>
            <a:custGeom>
              <a:avLst/>
              <a:gdLst/>
              <a:ahLst/>
              <a:cxnLst/>
              <a:rect l="l" t="t" r="r" b="b"/>
              <a:pathLst>
                <a:path w="22433280" h="975360">
                  <a:moveTo>
                    <a:pt x="0" y="0"/>
                  </a:moveTo>
                  <a:lnTo>
                    <a:pt x="22433280" y="0"/>
                  </a:lnTo>
                  <a:lnTo>
                    <a:pt x="22433280" y="975360"/>
                  </a:lnTo>
                  <a:lnTo>
                    <a:pt x="0" y="975360"/>
                  </a:lnTo>
                  <a:close/>
                </a:path>
              </a:pathLst>
            </a:custGeom>
            <a:blipFill>
              <a:blip r:embed="rId3">
                <a:alphaModFix amt="0"/>
              </a:blip>
              <a:stretch>
                <a:fillRect t="-398155" b="-398155"/>
              </a:stretch>
            </a:blipFill>
          </p:spPr>
          <p:txBody>
            <a:bodyPr/>
            <a:lstStyle/>
            <a:p>
              <a:endParaRPr lang="en-IN"/>
            </a:p>
          </p:txBody>
        </p:sp>
        <p:sp>
          <p:nvSpPr>
            <p:cNvPr id="12" name="TextBox 12"/>
            <p:cNvSpPr txBox="1"/>
            <p:nvPr/>
          </p:nvSpPr>
          <p:spPr>
            <a:xfrm>
              <a:off x="0" y="9525"/>
              <a:ext cx="22433280" cy="965835"/>
            </a:xfrm>
            <a:prstGeom prst="rect">
              <a:avLst/>
            </a:prstGeom>
          </p:spPr>
          <p:txBody>
            <a:bodyPr lIns="0" tIns="0" rIns="0" bIns="0" rtlCol="0" anchor="ctr"/>
            <a:lstStyle/>
            <a:p>
              <a:pPr algn="l">
                <a:lnSpc>
                  <a:spcPts val="3359"/>
                </a:lnSpc>
              </a:pPr>
              <a:r>
                <a:rPr lang="en-US" sz="2799" spc="55" dirty="0">
                  <a:solidFill>
                    <a:schemeClr val="bg1"/>
                  </a:solidFill>
                  <a:latin typeface="Times New Roman" panose="02020603050405020304" pitchFamily="18" charset="0"/>
                  <a:ea typeface="Playfair Display"/>
                  <a:cs typeface="Times New Roman" panose="02020603050405020304" pitchFamily="18" charset="0"/>
                  <a:sym typeface="Playfair Display"/>
                </a:rPr>
                <a:t>All node embedding methods in this chapter follow one unified framework:</a:t>
              </a:r>
            </a:p>
          </p:txBody>
        </p:sp>
      </p:grpSp>
      <p:grpSp>
        <p:nvGrpSpPr>
          <p:cNvPr id="13" name="Group 13"/>
          <p:cNvGrpSpPr/>
          <p:nvPr/>
        </p:nvGrpSpPr>
        <p:grpSpPr>
          <a:xfrm>
            <a:off x="444503" y="2456183"/>
            <a:ext cx="3225803" cy="2037083"/>
            <a:chOff x="0" y="0"/>
            <a:chExt cx="4301071" cy="2716111"/>
          </a:xfrm>
        </p:grpSpPr>
        <p:sp>
          <p:nvSpPr>
            <p:cNvPr id="14" name="Freeform 14"/>
            <p:cNvSpPr/>
            <p:nvPr/>
          </p:nvSpPr>
          <p:spPr>
            <a:xfrm>
              <a:off x="0" y="0"/>
              <a:ext cx="4300982" cy="2716022"/>
            </a:xfrm>
            <a:custGeom>
              <a:avLst/>
              <a:gdLst/>
              <a:ahLst/>
              <a:cxnLst/>
              <a:rect l="l" t="t" r="r" b="b"/>
              <a:pathLst>
                <a:path w="4300982" h="2716022">
                  <a:moveTo>
                    <a:pt x="0" y="246888"/>
                  </a:moveTo>
                  <a:cubicBezTo>
                    <a:pt x="0" y="110490"/>
                    <a:pt x="110490" y="0"/>
                    <a:pt x="246888" y="0"/>
                  </a:cubicBezTo>
                  <a:lnTo>
                    <a:pt x="4054094" y="0"/>
                  </a:lnTo>
                  <a:cubicBezTo>
                    <a:pt x="4190492" y="0"/>
                    <a:pt x="4300982" y="110490"/>
                    <a:pt x="4300982" y="246888"/>
                  </a:cubicBezTo>
                  <a:lnTo>
                    <a:pt x="4300982" y="2469134"/>
                  </a:lnTo>
                  <a:cubicBezTo>
                    <a:pt x="4300982" y="2605532"/>
                    <a:pt x="4190492" y="2716022"/>
                    <a:pt x="4054094" y="2716022"/>
                  </a:cubicBezTo>
                  <a:lnTo>
                    <a:pt x="246888" y="2716022"/>
                  </a:lnTo>
                  <a:cubicBezTo>
                    <a:pt x="110490" y="2716149"/>
                    <a:pt x="0" y="2605532"/>
                    <a:pt x="0" y="2469134"/>
                  </a:cubicBezTo>
                  <a:close/>
                </a:path>
              </a:pathLst>
            </a:custGeom>
            <a:solidFill>
              <a:srgbClr val="FFFFFF"/>
            </a:solidFill>
            <a:ln w="25400" cap="sq">
              <a:solidFill>
                <a:srgbClr val="0F1E3C"/>
              </a:solidFill>
              <a:prstDash val="solid"/>
              <a:miter/>
            </a:ln>
          </p:spPr>
          <p:txBody>
            <a:bodyPr/>
            <a:lstStyle/>
            <a:p>
              <a:endParaRPr lang="en-IN"/>
            </a:p>
          </p:txBody>
        </p:sp>
      </p:grpSp>
      <p:grpSp>
        <p:nvGrpSpPr>
          <p:cNvPr id="15" name="Group 15"/>
          <p:cNvGrpSpPr/>
          <p:nvPr/>
        </p:nvGrpSpPr>
        <p:grpSpPr>
          <a:xfrm>
            <a:off x="457200" y="2468880"/>
            <a:ext cx="3200400" cy="1005840"/>
            <a:chOff x="0" y="0"/>
            <a:chExt cx="4267200" cy="1341120"/>
          </a:xfrm>
        </p:grpSpPr>
        <p:sp>
          <p:nvSpPr>
            <p:cNvPr id="16" name="Freeform 16"/>
            <p:cNvSpPr/>
            <p:nvPr/>
          </p:nvSpPr>
          <p:spPr>
            <a:xfrm>
              <a:off x="0" y="0"/>
              <a:ext cx="4267200" cy="1341120"/>
            </a:xfrm>
            <a:custGeom>
              <a:avLst/>
              <a:gdLst/>
              <a:ahLst/>
              <a:cxnLst/>
              <a:rect l="l" t="t" r="r" b="b"/>
              <a:pathLst>
                <a:path w="4267200" h="1341120">
                  <a:moveTo>
                    <a:pt x="0" y="0"/>
                  </a:moveTo>
                  <a:lnTo>
                    <a:pt x="4267200" y="0"/>
                  </a:lnTo>
                  <a:lnTo>
                    <a:pt x="4267200" y="1341120"/>
                  </a:lnTo>
                  <a:lnTo>
                    <a:pt x="0" y="1341120"/>
                  </a:lnTo>
                  <a:close/>
                </a:path>
              </a:pathLst>
            </a:custGeom>
            <a:blipFill>
              <a:blip r:embed="rId3">
                <a:alphaModFix amt="0"/>
              </a:blip>
              <a:stretch>
                <a:fillRect t="-11997" b="-11997"/>
              </a:stretch>
            </a:blipFill>
          </p:spPr>
          <p:txBody>
            <a:bodyPr/>
            <a:lstStyle/>
            <a:p>
              <a:endParaRPr lang="en-IN"/>
            </a:p>
          </p:txBody>
        </p:sp>
        <p:sp>
          <p:nvSpPr>
            <p:cNvPr id="17" name="TextBox 17"/>
            <p:cNvSpPr txBox="1"/>
            <p:nvPr/>
          </p:nvSpPr>
          <p:spPr>
            <a:xfrm>
              <a:off x="0" y="0"/>
              <a:ext cx="4267200" cy="1341120"/>
            </a:xfrm>
            <a:prstGeom prst="rect">
              <a:avLst/>
            </a:prstGeom>
          </p:spPr>
          <p:txBody>
            <a:bodyPr lIns="0" tIns="0" rIns="0" bIns="0" rtlCol="0" anchor="ctr"/>
            <a:lstStyle/>
            <a:p>
              <a:pPr algn="ctr">
                <a:lnSpc>
                  <a:spcPts val="3120"/>
                </a:lnSpc>
              </a:pPr>
              <a:r>
                <a:rPr lang="en-US" sz="2600" spc="130" dirty="0">
                  <a:latin typeface="Times New Roman" panose="02020603050405020304" pitchFamily="18" charset="0"/>
                  <a:ea typeface="Playfair Display Italics"/>
                  <a:cs typeface="Times New Roman" panose="02020603050405020304" pitchFamily="18" charset="0"/>
                  <a:sym typeface="Playfair Display Italics"/>
                </a:rPr>
                <a:t>Graph G</a:t>
              </a:r>
            </a:p>
          </p:txBody>
        </p:sp>
      </p:grpSp>
      <p:grpSp>
        <p:nvGrpSpPr>
          <p:cNvPr id="18" name="Group 18"/>
          <p:cNvGrpSpPr/>
          <p:nvPr/>
        </p:nvGrpSpPr>
        <p:grpSpPr>
          <a:xfrm>
            <a:off x="457200" y="3474720"/>
            <a:ext cx="3200400" cy="1005840"/>
            <a:chOff x="0" y="0"/>
            <a:chExt cx="4267200" cy="1341120"/>
          </a:xfrm>
        </p:grpSpPr>
        <p:sp>
          <p:nvSpPr>
            <p:cNvPr id="19" name="Freeform 19"/>
            <p:cNvSpPr/>
            <p:nvPr/>
          </p:nvSpPr>
          <p:spPr>
            <a:xfrm>
              <a:off x="0" y="0"/>
              <a:ext cx="4267200" cy="1341120"/>
            </a:xfrm>
            <a:custGeom>
              <a:avLst/>
              <a:gdLst/>
              <a:ahLst/>
              <a:cxnLst/>
              <a:rect l="l" t="t" r="r" b="b"/>
              <a:pathLst>
                <a:path w="4267200" h="1341120">
                  <a:moveTo>
                    <a:pt x="0" y="0"/>
                  </a:moveTo>
                  <a:lnTo>
                    <a:pt x="4267200" y="0"/>
                  </a:lnTo>
                  <a:lnTo>
                    <a:pt x="4267200" y="1341120"/>
                  </a:lnTo>
                  <a:lnTo>
                    <a:pt x="0" y="1341120"/>
                  </a:lnTo>
                  <a:close/>
                </a:path>
              </a:pathLst>
            </a:custGeom>
            <a:blipFill>
              <a:blip r:embed="rId3">
                <a:alphaModFix amt="0"/>
              </a:blip>
              <a:stretch>
                <a:fillRect t="-11997" b="-11997"/>
              </a:stretch>
            </a:blipFill>
          </p:spPr>
          <p:txBody>
            <a:bodyPr/>
            <a:lstStyle/>
            <a:p>
              <a:endParaRPr lang="en-IN"/>
            </a:p>
          </p:txBody>
        </p:sp>
        <p:sp>
          <p:nvSpPr>
            <p:cNvPr id="20" name="TextBox 20"/>
            <p:cNvSpPr txBox="1"/>
            <p:nvPr/>
          </p:nvSpPr>
          <p:spPr>
            <a:xfrm>
              <a:off x="0" y="0"/>
              <a:ext cx="4267200" cy="1341120"/>
            </a:xfrm>
            <a:prstGeom prst="rect">
              <a:avLst/>
            </a:prstGeom>
          </p:spPr>
          <p:txBody>
            <a:bodyPr lIns="0" tIns="0" rIns="0" bIns="0" rtlCol="0" anchor="ctr"/>
            <a:lstStyle/>
            <a:p>
              <a:pPr algn="ctr">
                <a:lnSpc>
                  <a:spcPts val="2400"/>
                </a:lnSpc>
              </a:pPr>
              <a:r>
                <a:rPr lang="en-US" sz="2000" spc="40">
                  <a:solidFill>
                    <a:srgbClr val="253439"/>
                  </a:solidFill>
                  <a:latin typeface="Playfair Display"/>
                  <a:ea typeface="Playfair Display"/>
                  <a:cs typeface="Playfair Display"/>
                  <a:sym typeface="Playfair Display"/>
                </a:rPr>
                <a:t>Nodes, edges, adjacency matrix A</a:t>
              </a:r>
            </a:p>
          </p:txBody>
        </p:sp>
      </p:grpSp>
      <p:grpSp>
        <p:nvGrpSpPr>
          <p:cNvPr id="21" name="Group 21"/>
          <p:cNvGrpSpPr/>
          <p:nvPr/>
        </p:nvGrpSpPr>
        <p:grpSpPr>
          <a:xfrm>
            <a:off x="3632197" y="3449317"/>
            <a:ext cx="361693" cy="50797"/>
            <a:chOff x="0" y="0"/>
            <a:chExt cx="482257" cy="67729"/>
          </a:xfrm>
        </p:grpSpPr>
        <p:sp>
          <p:nvSpPr>
            <p:cNvPr id="22" name="Freeform 22"/>
            <p:cNvSpPr/>
            <p:nvPr/>
          </p:nvSpPr>
          <p:spPr>
            <a:xfrm>
              <a:off x="0" y="0"/>
              <a:ext cx="482219" cy="67691"/>
            </a:xfrm>
            <a:custGeom>
              <a:avLst/>
              <a:gdLst/>
              <a:ahLst/>
              <a:cxnLst/>
              <a:rect l="l" t="t" r="r" b="b"/>
              <a:pathLst>
                <a:path w="482219" h="67691">
                  <a:moveTo>
                    <a:pt x="0" y="0"/>
                  </a:moveTo>
                  <a:lnTo>
                    <a:pt x="482219" y="67691"/>
                  </a:lnTo>
                </a:path>
              </a:pathLst>
            </a:custGeom>
            <a:blipFill>
              <a:blip r:embed="rId3">
                <a:alphaModFix amt="0"/>
              </a:blip>
              <a:stretch>
                <a:fillRect t="-88790" r="-7" b="-88847"/>
              </a:stretch>
            </a:blipFill>
            <a:ln w="50800" cap="sq">
              <a:solidFill>
                <a:srgbClr val="4A6380"/>
              </a:solidFill>
              <a:prstDash val="solid"/>
              <a:miter/>
            </a:ln>
          </p:spPr>
          <p:txBody>
            <a:bodyPr/>
            <a:lstStyle/>
            <a:p>
              <a:endParaRPr lang="en-IN"/>
            </a:p>
          </p:txBody>
        </p:sp>
      </p:grpSp>
      <p:grpSp>
        <p:nvGrpSpPr>
          <p:cNvPr id="23" name="Group 23"/>
          <p:cNvGrpSpPr/>
          <p:nvPr/>
        </p:nvGrpSpPr>
        <p:grpSpPr>
          <a:xfrm>
            <a:off x="3955799" y="2456183"/>
            <a:ext cx="3225803" cy="2037083"/>
            <a:chOff x="0" y="0"/>
            <a:chExt cx="4301071" cy="2716111"/>
          </a:xfrm>
        </p:grpSpPr>
        <p:sp>
          <p:nvSpPr>
            <p:cNvPr id="24" name="Freeform 24"/>
            <p:cNvSpPr/>
            <p:nvPr/>
          </p:nvSpPr>
          <p:spPr>
            <a:xfrm>
              <a:off x="0" y="0"/>
              <a:ext cx="4300982" cy="2716022"/>
            </a:xfrm>
            <a:custGeom>
              <a:avLst/>
              <a:gdLst/>
              <a:ahLst/>
              <a:cxnLst/>
              <a:rect l="l" t="t" r="r" b="b"/>
              <a:pathLst>
                <a:path w="4300982" h="2716022">
                  <a:moveTo>
                    <a:pt x="0" y="246888"/>
                  </a:moveTo>
                  <a:cubicBezTo>
                    <a:pt x="0" y="110490"/>
                    <a:pt x="110490" y="0"/>
                    <a:pt x="246888" y="0"/>
                  </a:cubicBezTo>
                  <a:lnTo>
                    <a:pt x="4054094" y="0"/>
                  </a:lnTo>
                  <a:cubicBezTo>
                    <a:pt x="4190492" y="0"/>
                    <a:pt x="4300982" y="110490"/>
                    <a:pt x="4300982" y="246888"/>
                  </a:cubicBezTo>
                  <a:lnTo>
                    <a:pt x="4300982" y="2469134"/>
                  </a:lnTo>
                  <a:cubicBezTo>
                    <a:pt x="4300982" y="2605532"/>
                    <a:pt x="4190492" y="2716022"/>
                    <a:pt x="4054094" y="2716022"/>
                  </a:cubicBezTo>
                  <a:lnTo>
                    <a:pt x="246888" y="2716022"/>
                  </a:lnTo>
                  <a:cubicBezTo>
                    <a:pt x="110490" y="2716149"/>
                    <a:pt x="0" y="2605532"/>
                    <a:pt x="0" y="2469134"/>
                  </a:cubicBezTo>
                  <a:close/>
                </a:path>
              </a:pathLst>
            </a:custGeom>
            <a:solidFill>
              <a:srgbClr val="FFFFFF"/>
            </a:solidFill>
            <a:ln w="25400" cap="sq">
              <a:solidFill>
                <a:srgbClr val="1E5FA8"/>
              </a:solidFill>
              <a:prstDash val="solid"/>
              <a:miter/>
            </a:ln>
          </p:spPr>
          <p:txBody>
            <a:bodyPr/>
            <a:lstStyle/>
            <a:p>
              <a:endParaRPr lang="en-IN"/>
            </a:p>
          </p:txBody>
        </p:sp>
      </p:grpSp>
      <p:grpSp>
        <p:nvGrpSpPr>
          <p:cNvPr id="25" name="Group 25"/>
          <p:cNvGrpSpPr/>
          <p:nvPr/>
        </p:nvGrpSpPr>
        <p:grpSpPr>
          <a:xfrm>
            <a:off x="3968496" y="2468880"/>
            <a:ext cx="3200400" cy="1005840"/>
            <a:chOff x="0" y="0"/>
            <a:chExt cx="4267200" cy="1341120"/>
          </a:xfrm>
        </p:grpSpPr>
        <p:sp>
          <p:nvSpPr>
            <p:cNvPr id="26" name="Freeform 26"/>
            <p:cNvSpPr/>
            <p:nvPr/>
          </p:nvSpPr>
          <p:spPr>
            <a:xfrm>
              <a:off x="0" y="0"/>
              <a:ext cx="4267200" cy="1341120"/>
            </a:xfrm>
            <a:custGeom>
              <a:avLst/>
              <a:gdLst/>
              <a:ahLst/>
              <a:cxnLst/>
              <a:rect l="l" t="t" r="r" b="b"/>
              <a:pathLst>
                <a:path w="4267200" h="1341120">
                  <a:moveTo>
                    <a:pt x="0" y="0"/>
                  </a:moveTo>
                  <a:lnTo>
                    <a:pt x="4267200" y="0"/>
                  </a:lnTo>
                  <a:lnTo>
                    <a:pt x="4267200" y="1341120"/>
                  </a:lnTo>
                  <a:lnTo>
                    <a:pt x="0" y="1341120"/>
                  </a:lnTo>
                  <a:close/>
                </a:path>
              </a:pathLst>
            </a:custGeom>
            <a:blipFill>
              <a:blip r:embed="rId3">
                <a:alphaModFix amt="0"/>
              </a:blip>
              <a:stretch>
                <a:fillRect t="-11997" b="-11997"/>
              </a:stretch>
            </a:blipFill>
          </p:spPr>
          <p:txBody>
            <a:bodyPr/>
            <a:lstStyle/>
            <a:p>
              <a:endParaRPr lang="en-IN" dirty="0"/>
            </a:p>
          </p:txBody>
        </p:sp>
        <p:sp>
          <p:nvSpPr>
            <p:cNvPr id="27" name="TextBox 27"/>
            <p:cNvSpPr txBox="1"/>
            <p:nvPr/>
          </p:nvSpPr>
          <p:spPr>
            <a:xfrm>
              <a:off x="0" y="0"/>
              <a:ext cx="4267200" cy="1341120"/>
            </a:xfrm>
            <a:prstGeom prst="rect">
              <a:avLst/>
            </a:prstGeom>
          </p:spPr>
          <p:txBody>
            <a:bodyPr lIns="0" tIns="0" rIns="0" bIns="0" rtlCol="0" anchor="ctr"/>
            <a:lstStyle/>
            <a:p>
              <a:pPr algn="ctr">
                <a:lnSpc>
                  <a:spcPts val="3120"/>
                </a:lnSpc>
              </a:pPr>
              <a:r>
                <a:rPr lang="en-US" sz="2600" spc="130" dirty="0">
                  <a:latin typeface="Times New Roman" panose="02020603050405020304" pitchFamily="18" charset="0"/>
                  <a:ea typeface="Playfair Display Italics"/>
                  <a:cs typeface="Times New Roman" panose="02020603050405020304" pitchFamily="18" charset="0"/>
                  <a:sym typeface="Playfair Display Italics"/>
                </a:rPr>
                <a:t>ENCODER</a:t>
              </a:r>
            </a:p>
          </p:txBody>
        </p:sp>
      </p:grpSp>
      <p:grpSp>
        <p:nvGrpSpPr>
          <p:cNvPr id="28" name="Group 28"/>
          <p:cNvGrpSpPr/>
          <p:nvPr/>
        </p:nvGrpSpPr>
        <p:grpSpPr>
          <a:xfrm>
            <a:off x="3968496" y="3474720"/>
            <a:ext cx="3200400" cy="1005840"/>
            <a:chOff x="0" y="0"/>
            <a:chExt cx="4267200" cy="1341120"/>
          </a:xfrm>
        </p:grpSpPr>
        <p:sp>
          <p:nvSpPr>
            <p:cNvPr id="29" name="Freeform 29"/>
            <p:cNvSpPr/>
            <p:nvPr/>
          </p:nvSpPr>
          <p:spPr>
            <a:xfrm>
              <a:off x="0" y="0"/>
              <a:ext cx="4267200" cy="1341120"/>
            </a:xfrm>
            <a:custGeom>
              <a:avLst/>
              <a:gdLst/>
              <a:ahLst/>
              <a:cxnLst/>
              <a:rect l="l" t="t" r="r" b="b"/>
              <a:pathLst>
                <a:path w="4267200" h="1341120">
                  <a:moveTo>
                    <a:pt x="0" y="0"/>
                  </a:moveTo>
                  <a:lnTo>
                    <a:pt x="4267200" y="0"/>
                  </a:lnTo>
                  <a:lnTo>
                    <a:pt x="4267200" y="1341120"/>
                  </a:lnTo>
                  <a:lnTo>
                    <a:pt x="0" y="1341120"/>
                  </a:lnTo>
                  <a:close/>
                </a:path>
              </a:pathLst>
            </a:custGeom>
            <a:blipFill>
              <a:blip r:embed="rId3">
                <a:alphaModFix amt="0"/>
              </a:blip>
              <a:stretch>
                <a:fillRect t="-11997" b="-11997"/>
              </a:stretch>
            </a:blipFill>
          </p:spPr>
          <p:txBody>
            <a:bodyPr/>
            <a:lstStyle/>
            <a:p>
              <a:endParaRPr lang="en-IN" dirty="0"/>
            </a:p>
          </p:txBody>
        </p:sp>
        <p:sp>
          <p:nvSpPr>
            <p:cNvPr id="30" name="TextBox 30"/>
            <p:cNvSpPr txBox="1"/>
            <p:nvPr/>
          </p:nvSpPr>
          <p:spPr>
            <a:xfrm>
              <a:off x="0" y="0"/>
              <a:ext cx="4267200" cy="1341120"/>
            </a:xfrm>
            <a:prstGeom prst="rect">
              <a:avLst/>
            </a:prstGeom>
          </p:spPr>
          <p:txBody>
            <a:bodyPr lIns="0" tIns="0" rIns="0" bIns="0" rtlCol="0" anchor="ctr"/>
            <a:lstStyle/>
            <a:p>
              <a:pPr algn="ctr">
                <a:lnSpc>
                  <a:spcPts val="2400"/>
                </a:lnSpc>
              </a:pPr>
              <a:r>
                <a:rPr lang="en-US" sz="2000" spc="40">
                  <a:solidFill>
                    <a:srgbClr val="253439"/>
                  </a:solidFill>
                  <a:latin typeface="Playfair Display"/>
                  <a:ea typeface="Playfair Display"/>
                  <a:cs typeface="Playfair Display"/>
                  <a:sym typeface="Playfair Display"/>
                </a:rPr>
                <a:t>ENC : V → ℝᵈ</a:t>
              </a:r>
            </a:p>
          </p:txBody>
        </p:sp>
      </p:grpSp>
      <p:grpSp>
        <p:nvGrpSpPr>
          <p:cNvPr id="31" name="Group 31"/>
          <p:cNvGrpSpPr/>
          <p:nvPr/>
        </p:nvGrpSpPr>
        <p:grpSpPr>
          <a:xfrm>
            <a:off x="7143493" y="3449317"/>
            <a:ext cx="361693" cy="50797"/>
            <a:chOff x="0" y="0"/>
            <a:chExt cx="482257" cy="67729"/>
          </a:xfrm>
        </p:grpSpPr>
        <p:sp>
          <p:nvSpPr>
            <p:cNvPr id="32" name="Freeform 32"/>
            <p:cNvSpPr/>
            <p:nvPr/>
          </p:nvSpPr>
          <p:spPr>
            <a:xfrm>
              <a:off x="0" y="0"/>
              <a:ext cx="482219" cy="67691"/>
            </a:xfrm>
            <a:custGeom>
              <a:avLst/>
              <a:gdLst/>
              <a:ahLst/>
              <a:cxnLst/>
              <a:rect l="l" t="t" r="r" b="b"/>
              <a:pathLst>
                <a:path w="482219" h="67691">
                  <a:moveTo>
                    <a:pt x="0" y="0"/>
                  </a:moveTo>
                  <a:lnTo>
                    <a:pt x="482219" y="67691"/>
                  </a:lnTo>
                </a:path>
              </a:pathLst>
            </a:custGeom>
            <a:blipFill>
              <a:blip r:embed="rId3">
                <a:alphaModFix amt="0"/>
              </a:blip>
              <a:stretch>
                <a:fillRect t="-88790" r="-7" b="-88847"/>
              </a:stretch>
            </a:blipFill>
            <a:ln w="50800" cap="sq">
              <a:solidFill>
                <a:srgbClr val="4A6380"/>
              </a:solidFill>
              <a:prstDash val="solid"/>
              <a:miter/>
            </a:ln>
          </p:spPr>
          <p:txBody>
            <a:bodyPr/>
            <a:lstStyle/>
            <a:p>
              <a:endParaRPr lang="en-IN"/>
            </a:p>
          </p:txBody>
        </p:sp>
      </p:grpSp>
      <p:grpSp>
        <p:nvGrpSpPr>
          <p:cNvPr id="33" name="Group 33"/>
          <p:cNvGrpSpPr/>
          <p:nvPr/>
        </p:nvGrpSpPr>
        <p:grpSpPr>
          <a:xfrm>
            <a:off x="7467095" y="2456183"/>
            <a:ext cx="3225803" cy="2037083"/>
            <a:chOff x="0" y="0"/>
            <a:chExt cx="4301071" cy="2716111"/>
          </a:xfrm>
        </p:grpSpPr>
        <p:sp>
          <p:nvSpPr>
            <p:cNvPr id="34" name="Freeform 34"/>
            <p:cNvSpPr/>
            <p:nvPr/>
          </p:nvSpPr>
          <p:spPr>
            <a:xfrm>
              <a:off x="0" y="0"/>
              <a:ext cx="4300982" cy="2716022"/>
            </a:xfrm>
            <a:custGeom>
              <a:avLst/>
              <a:gdLst/>
              <a:ahLst/>
              <a:cxnLst/>
              <a:rect l="l" t="t" r="r" b="b"/>
              <a:pathLst>
                <a:path w="4300982" h="2716022">
                  <a:moveTo>
                    <a:pt x="0" y="246888"/>
                  </a:moveTo>
                  <a:cubicBezTo>
                    <a:pt x="0" y="110490"/>
                    <a:pt x="110490" y="0"/>
                    <a:pt x="246888" y="0"/>
                  </a:cubicBezTo>
                  <a:lnTo>
                    <a:pt x="4054094" y="0"/>
                  </a:lnTo>
                  <a:cubicBezTo>
                    <a:pt x="4190492" y="0"/>
                    <a:pt x="4300982" y="110490"/>
                    <a:pt x="4300982" y="246888"/>
                  </a:cubicBezTo>
                  <a:lnTo>
                    <a:pt x="4300982" y="2469134"/>
                  </a:lnTo>
                  <a:cubicBezTo>
                    <a:pt x="4300982" y="2605532"/>
                    <a:pt x="4190492" y="2716022"/>
                    <a:pt x="4054094" y="2716022"/>
                  </a:cubicBezTo>
                  <a:lnTo>
                    <a:pt x="246888" y="2716022"/>
                  </a:lnTo>
                  <a:cubicBezTo>
                    <a:pt x="110490" y="2716149"/>
                    <a:pt x="0" y="2605532"/>
                    <a:pt x="0" y="2469134"/>
                  </a:cubicBezTo>
                  <a:close/>
                </a:path>
              </a:pathLst>
            </a:custGeom>
            <a:solidFill>
              <a:srgbClr val="FFFFFF"/>
            </a:solidFill>
            <a:ln w="25400" cap="sq">
              <a:solidFill>
                <a:srgbClr val="1A3461"/>
              </a:solidFill>
              <a:prstDash val="solid"/>
              <a:miter/>
            </a:ln>
          </p:spPr>
          <p:txBody>
            <a:bodyPr/>
            <a:lstStyle/>
            <a:p>
              <a:endParaRPr lang="en-IN"/>
            </a:p>
          </p:txBody>
        </p:sp>
      </p:grpSp>
      <p:grpSp>
        <p:nvGrpSpPr>
          <p:cNvPr id="35" name="Group 35"/>
          <p:cNvGrpSpPr/>
          <p:nvPr/>
        </p:nvGrpSpPr>
        <p:grpSpPr>
          <a:xfrm>
            <a:off x="7479792" y="2468880"/>
            <a:ext cx="3200400" cy="1005840"/>
            <a:chOff x="0" y="0"/>
            <a:chExt cx="4267200" cy="1341120"/>
          </a:xfrm>
        </p:grpSpPr>
        <p:sp>
          <p:nvSpPr>
            <p:cNvPr id="36" name="Freeform 36"/>
            <p:cNvSpPr/>
            <p:nvPr/>
          </p:nvSpPr>
          <p:spPr>
            <a:xfrm>
              <a:off x="0" y="0"/>
              <a:ext cx="4267200" cy="1341120"/>
            </a:xfrm>
            <a:custGeom>
              <a:avLst/>
              <a:gdLst/>
              <a:ahLst/>
              <a:cxnLst/>
              <a:rect l="l" t="t" r="r" b="b"/>
              <a:pathLst>
                <a:path w="4267200" h="1341120">
                  <a:moveTo>
                    <a:pt x="0" y="0"/>
                  </a:moveTo>
                  <a:lnTo>
                    <a:pt x="4267200" y="0"/>
                  </a:lnTo>
                  <a:lnTo>
                    <a:pt x="4267200" y="1341120"/>
                  </a:lnTo>
                  <a:lnTo>
                    <a:pt x="0" y="1341120"/>
                  </a:lnTo>
                  <a:close/>
                </a:path>
              </a:pathLst>
            </a:custGeom>
            <a:blipFill>
              <a:blip r:embed="rId3">
                <a:alphaModFix amt="0"/>
              </a:blip>
              <a:stretch>
                <a:fillRect t="-11997" b="-11997"/>
              </a:stretch>
            </a:blipFill>
          </p:spPr>
          <p:txBody>
            <a:bodyPr/>
            <a:lstStyle/>
            <a:p>
              <a:endParaRPr lang="en-IN"/>
            </a:p>
          </p:txBody>
        </p:sp>
        <p:sp>
          <p:nvSpPr>
            <p:cNvPr id="37" name="TextBox 37"/>
            <p:cNvSpPr txBox="1"/>
            <p:nvPr/>
          </p:nvSpPr>
          <p:spPr>
            <a:xfrm>
              <a:off x="0" y="0"/>
              <a:ext cx="4267200" cy="1341120"/>
            </a:xfrm>
            <a:prstGeom prst="rect">
              <a:avLst/>
            </a:prstGeom>
          </p:spPr>
          <p:txBody>
            <a:bodyPr lIns="0" tIns="0" rIns="0" bIns="0" rtlCol="0" anchor="ctr"/>
            <a:lstStyle/>
            <a:p>
              <a:pPr algn="ctr">
                <a:lnSpc>
                  <a:spcPts val="3120"/>
                </a:lnSpc>
              </a:pPr>
              <a:r>
                <a:rPr lang="en-US" sz="2600" spc="130" dirty="0">
                  <a:latin typeface="Times New Roman" panose="02020603050405020304" pitchFamily="18" charset="0"/>
                  <a:ea typeface="Playfair Display Italics"/>
                  <a:cs typeface="Times New Roman" panose="02020603050405020304" pitchFamily="18" charset="0"/>
                  <a:sym typeface="Playfair Display Italics"/>
                </a:rPr>
                <a:t>Embeddings Z</a:t>
              </a:r>
            </a:p>
          </p:txBody>
        </p:sp>
      </p:grpSp>
      <p:grpSp>
        <p:nvGrpSpPr>
          <p:cNvPr id="38" name="Group 38"/>
          <p:cNvGrpSpPr/>
          <p:nvPr/>
        </p:nvGrpSpPr>
        <p:grpSpPr>
          <a:xfrm>
            <a:off x="7479792" y="3474720"/>
            <a:ext cx="3200400" cy="1005840"/>
            <a:chOff x="0" y="0"/>
            <a:chExt cx="4267200" cy="1341120"/>
          </a:xfrm>
        </p:grpSpPr>
        <p:sp>
          <p:nvSpPr>
            <p:cNvPr id="39" name="Freeform 39"/>
            <p:cNvSpPr/>
            <p:nvPr/>
          </p:nvSpPr>
          <p:spPr>
            <a:xfrm>
              <a:off x="0" y="0"/>
              <a:ext cx="4267200" cy="1341120"/>
            </a:xfrm>
            <a:custGeom>
              <a:avLst/>
              <a:gdLst/>
              <a:ahLst/>
              <a:cxnLst/>
              <a:rect l="l" t="t" r="r" b="b"/>
              <a:pathLst>
                <a:path w="4267200" h="1341120">
                  <a:moveTo>
                    <a:pt x="0" y="0"/>
                  </a:moveTo>
                  <a:lnTo>
                    <a:pt x="4267200" y="0"/>
                  </a:lnTo>
                  <a:lnTo>
                    <a:pt x="4267200" y="1341120"/>
                  </a:lnTo>
                  <a:lnTo>
                    <a:pt x="0" y="1341120"/>
                  </a:lnTo>
                  <a:close/>
                </a:path>
              </a:pathLst>
            </a:custGeom>
            <a:blipFill>
              <a:blip r:embed="rId3">
                <a:alphaModFix amt="0"/>
              </a:blip>
              <a:stretch>
                <a:fillRect t="-11997" b="-11997"/>
              </a:stretch>
            </a:blipFill>
          </p:spPr>
          <p:txBody>
            <a:bodyPr/>
            <a:lstStyle/>
            <a:p>
              <a:endParaRPr lang="en-IN"/>
            </a:p>
          </p:txBody>
        </p:sp>
        <p:sp>
          <p:nvSpPr>
            <p:cNvPr id="40" name="TextBox 40"/>
            <p:cNvSpPr txBox="1"/>
            <p:nvPr/>
          </p:nvSpPr>
          <p:spPr>
            <a:xfrm>
              <a:off x="0" y="0"/>
              <a:ext cx="4267200" cy="1341120"/>
            </a:xfrm>
            <a:prstGeom prst="rect">
              <a:avLst/>
            </a:prstGeom>
          </p:spPr>
          <p:txBody>
            <a:bodyPr lIns="0" tIns="0" rIns="0" bIns="0" rtlCol="0" anchor="ctr"/>
            <a:lstStyle/>
            <a:p>
              <a:pPr algn="ctr">
                <a:lnSpc>
                  <a:spcPts val="2400"/>
                </a:lnSpc>
              </a:pPr>
              <a:r>
                <a:rPr lang="en-US" sz="2000" spc="40">
                  <a:solidFill>
                    <a:srgbClr val="253439"/>
                  </a:solidFill>
                  <a:latin typeface="Playfair Display"/>
                  <a:ea typeface="Playfair Display"/>
                  <a:cs typeface="Playfair Display"/>
                  <a:sym typeface="Playfair Display"/>
                </a:rPr>
                <a:t>z_u, z_v ∈ ℝᵈ</a:t>
              </a:r>
            </a:p>
          </p:txBody>
        </p:sp>
      </p:grpSp>
      <p:grpSp>
        <p:nvGrpSpPr>
          <p:cNvPr id="41" name="Group 41"/>
          <p:cNvGrpSpPr/>
          <p:nvPr/>
        </p:nvGrpSpPr>
        <p:grpSpPr>
          <a:xfrm>
            <a:off x="10654789" y="3449317"/>
            <a:ext cx="361693" cy="50797"/>
            <a:chOff x="0" y="0"/>
            <a:chExt cx="482257" cy="67729"/>
          </a:xfrm>
        </p:grpSpPr>
        <p:sp>
          <p:nvSpPr>
            <p:cNvPr id="42" name="Freeform 42"/>
            <p:cNvSpPr/>
            <p:nvPr/>
          </p:nvSpPr>
          <p:spPr>
            <a:xfrm>
              <a:off x="0" y="0"/>
              <a:ext cx="482219" cy="67691"/>
            </a:xfrm>
            <a:custGeom>
              <a:avLst/>
              <a:gdLst/>
              <a:ahLst/>
              <a:cxnLst/>
              <a:rect l="l" t="t" r="r" b="b"/>
              <a:pathLst>
                <a:path w="482219" h="67691">
                  <a:moveTo>
                    <a:pt x="0" y="0"/>
                  </a:moveTo>
                  <a:lnTo>
                    <a:pt x="482219" y="67691"/>
                  </a:lnTo>
                </a:path>
              </a:pathLst>
            </a:custGeom>
            <a:blipFill>
              <a:blip r:embed="rId3">
                <a:alphaModFix amt="0"/>
              </a:blip>
              <a:stretch>
                <a:fillRect t="-88790" r="-7" b="-88847"/>
              </a:stretch>
            </a:blipFill>
            <a:ln w="50800" cap="sq">
              <a:solidFill>
                <a:srgbClr val="4A6380"/>
              </a:solidFill>
              <a:prstDash val="solid"/>
              <a:miter/>
            </a:ln>
          </p:spPr>
          <p:txBody>
            <a:bodyPr/>
            <a:lstStyle/>
            <a:p>
              <a:endParaRPr lang="en-IN"/>
            </a:p>
          </p:txBody>
        </p:sp>
      </p:grpSp>
      <p:grpSp>
        <p:nvGrpSpPr>
          <p:cNvPr id="43" name="Group 43"/>
          <p:cNvGrpSpPr/>
          <p:nvPr/>
        </p:nvGrpSpPr>
        <p:grpSpPr>
          <a:xfrm>
            <a:off x="10978391" y="2456183"/>
            <a:ext cx="3225803" cy="2037083"/>
            <a:chOff x="0" y="0"/>
            <a:chExt cx="4301071" cy="2716111"/>
          </a:xfrm>
        </p:grpSpPr>
        <p:sp>
          <p:nvSpPr>
            <p:cNvPr id="44" name="Freeform 44"/>
            <p:cNvSpPr/>
            <p:nvPr/>
          </p:nvSpPr>
          <p:spPr>
            <a:xfrm>
              <a:off x="0" y="0"/>
              <a:ext cx="4300982" cy="2716022"/>
            </a:xfrm>
            <a:custGeom>
              <a:avLst/>
              <a:gdLst/>
              <a:ahLst/>
              <a:cxnLst/>
              <a:rect l="l" t="t" r="r" b="b"/>
              <a:pathLst>
                <a:path w="4300982" h="2716022">
                  <a:moveTo>
                    <a:pt x="0" y="246888"/>
                  </a:moveTo>
                  <a:cubicBezTo>
                    <a:pt x="0" y="110490"/>
                    <a:pt x="110490" y="0"/>
                    <a:pt x="246888" y="0"/>
                  </a:cubicBezTo>
                  <a:lnTo>
                    <a:pt x="4054094" y="0"/>
                  </a:lnTo>
                  <a:cubicBezTo>
                    <a:pt x="4190492" y="0"/>
                    <a:pt x="4300982" y="110490"/>
                    <a:pt x="4300982" y="246888"/>
                  </a:cubicBezTo>
                  <a:lnTo>
                    <a:pt x="4300982" y="2469134"/>
                  </a:lnTo>
                  <a:cubicBezTo>
                    <a:pt x="4300982" y="2605532"/>
                    <a:pt x="4190492" y="2716022"/>
                    <a:pt x="4054094" y="2716022"/>
                  </a:cubicBezTo>
                  <a:lnTo>
                    <a:pt x="246888" y="2716022"/>
                  </a:lnTo>
                  <a:cubicBezTo>
                    <a:pt x="110490" y="2716149"/>
                    <a:pt x="0" y="2605532"/>
                    <a:pt x="0" y="2469134"/>
                  </a:cubicBezTo>
                  <a:close/>
                </a:path>
              </a:pathLst>
            </a:custGeom>
            <a:solidFill>
              <a:srgbClr val="FFFFFF"/>
            </a:solidFill>
            <a:ln w="25400" cap="sq">
              <a:solidFill>
                <a:srgbClr val="3A9BD5"/>
              </a:solidFill>
              <a:prstDash val="solid"/>
              <a:miter/>
            </a:ln>
          </p:spPr>
          <p:txBody>
            <a:bodyPr/>
            <a:lstStyle/>
            <a:p>
              <a:endParaRPr lang="en-IN"/>
            </a:p>
          </p:txBody>
        </p:sp>
      </p:grpSp>
      <p:grpSp>
        <p:nvGrpSpPr>
          <p:cNvPr id="45" name="Group 45"/>
          <p:cNvGrpSpPr/>
          <p:nvPr/>
        </p:nvGrpSpPr>
        <p:grpSpPr>
          <a:xfrm>
            <a:off x="10991088" y="2468880"/>
            <a:ext cx="3200400" cy="1005840"/>
            <a:chOff x="0" y="0"/>
            <a:chExt cx="4267200" cy="1341120"/>
          </a:xfrm>
        </p:grpSpPr>
        <p:sp>
          <p:nvSpPr>
            <p:cNvPr id="46" name="Freeform 46"/>
            <p:cNvSpPr/>
            <p:nvPr/>
          </p:nvSpPr>
          <p:spPr>
            <a:xfrm>
              <a:off x="0" y="0"/>
              <a:ext cx="4267200" cy="1341120"/>
            </a:xfrm>
            <a:custGeom>
              <a:avLst/>
              <a:gdLst/>
              <a:ahLst/>
              <a:cxnLst/>
              <a:rect l="l" t="t" r="r" b="b"/>
              <a:pathLst>
                <a:path w="4267200" h="1341120">
                  <a:moveTo>
                    <a:pt x="0" y="0"/>
                  </a:moveTo>
                  <a:lnTo>
                    <a:pt x="4267200" y="0"/>
                  </a:lnTo>
                  <a:lnTo>
                    <a:pt x="4267200" y="1341120"/>
                  </a:lnTo>
                  <a:lnTo>
                    <a:pt x="0" y="1341120"/>
                  </a:lnTo>
                  <a:close/>
                </a:path>
              </a:pathLst>
            </a:custGeom>
            <a:blipFill>
              <a:blip r:embed="rId3">
                <a:alphaModFix amt="0"/>
              </a:blip>
              <a:stretch>
                <a:fillRect t="-11997" b="-11997"/>
              </a:stretch>
            </a:blipFill>
          </p:spPr>
          <p:txBody>
            <a:bodyPr/>
            <a:lstStyle/>
            <a:p>
              <a:endParaRPr lang="en-IN"/>
            </a:p>
          </p:txBody>
        </p:sp>
        <p:sp>
          <p:nvSpPr>
            <p:cNvPr id="47" name="TextBox 47"/>
            <p:cNvSpPr txBox="1"/>
            <p:nvPr/>
          </p:nvSpPr>
          <p:spPr>
            <a:xfrm>
              <a:off x="0" y="0"/>
              <a:ext cx="4267200" cy="1341120"/>
            </a:xfrm>
            <a:prstGeom prst="rect">
              <a:avLst/>
            </a:prstGeom>
          </p:spPr>
          <p:txBody>
            <a:bodyPr lIns="0" tIns="0" rIns="0" bIns="0" rtlCol="0" anchor="ctr"/>
            <a:lstStyle/>
            <a:p>
              <a:pPr algn="ctr">
                <a:lnSpc>
                  <a:spcPts val="3120"/>
                </a:lnSpc>
              </a:pPr>
              <a:r>
                <a:rPr lang="en-US" sz="2600" spc="130" dirty="0">
                  <a:latin typeface="Times New Roman" panose="02020603050405020304" pitchFamily="18" charset="0"/>
                  <a:ea typeface="Playfair Display Italics"/>
                  <a:cs typeface="Times New Roman" panose="02020603050405020304" pitchFamily="18" charset="0"/>
                  <a:sym typeface="Playfair Display Italics"/>
                </a:rPr>
                <a:t>DECODER</a:t>
              </a:r>
            </a:p>
          </p:txBody>
        </p:sp>
      </p:grpSp>
      <p:grpSp>
        <p:nvGrpSpPr>
          <p:cNvPr id="48" name="Group 48"/>
          <p:cNvGrpSpPr/>
          <p:nvPr/>
        </p:nvGrpSpPr>
        <p:grpSpPr>
          <a:xfrm>
            <a:off x="10991088" y="3474720"/>
            <a:ext cx="3200400" cy="1005840"/>
            <a:chOff x="0" y="0"/>
            <a:chExt cx="4267200" cy="1341120"/>
          </a:xfrm>
        </p:grpSpPr>
        <p:sp>
          <p:nvSpPr>
            <p:cNvPr id="49" name="Freeform 49"/>
            <p:cNvSpPr/>
            <p:nvPr/>
          </p:nvSpPr>
          <p:spPr>
            <a:xfrm>
              <a:off x="0" y="0"/>
              <a:ext cx="4267200" cy="1341120"/>
            </a:xfrm>
            <a:custGeom>
              <a:avLst/>
              <a:gdLst/>
              <a:ahLst/>
              <a:cxnLst/>
              <a:rect l="l" t="t" r="r" b="b"/>
              <a:pathLst>
                <a:path w="4267200" h="1341120">
                  <a:moveTo>
                    <a:pt x="0" y="0"/>
                  </a:moveTo>
                  <a:lnTo>
                    <a:pt x="4267200" y="0"/>
                  </a:lnTo>
                  <a:lnTo>
                    <a:pt x="4267200" y="1341120"/>
                  </a:lnTo>
                  <a:lnTo>
                    <a:pt x="0" y="1341120"/>
                  </a:lnTo>
                  <a:close/>
                </a:path>
              </a:pathLst>
            </a:custGeom>
            <a:blipFill>
              <a:blip r:embed="rId3">
                <a:alphaModFix amt="0"/>
              </a:blip>
              <a:stretch>
                <a:fillRect t="-11997" b="-11997"/>
              </a:stretch>
            </a:blipFill>
          </p:spPr>
          <p:txBody>
            <a:bodyPr/>
            <a:lstStyle/>
            <a:p>
              <a:endParaRPr lang="en-IN"/>
            </a:p>
          </p:txBody>
        </p:sp>
        <p:sp>
          <p:nvSpPr>
            <p:cNvPr id="50" name="TextBox 50"/>
            <p:cNvSpPr txBox="1"/>
            <p:nvPr/>
          </p:nvSpPr>
          <p:spPr>
            <a:xfrm>
              <a:off x="0" y="0"/>
              <a:ext cx="4267200" cy="1341120"/>
            </a:xfrm>
            <a:prstGeom prst="rect">
              <a:avLst/>
            </a:prstGeom>
          </p:spPr>
          <p:txBody>
            <a:bodyPr lIns="0" tIns="0" rIns="0" bIns="0" rtlCol="0" anchor="ctr"/>
            <a:lstStyle/>
            <a:p>
              <a:pPr algn="ctr">
                <a:lnSpc>
                  <a:spcPts val="2400"/>
                </a:lnSpc>
              </a:pPr>
              <a:r>
                <a:rPr lang="en-US" sz="2000" spc="40">
                  <a:solidFill>
                    <a:srgbClr val="253439"/>
                  </a:solidFill>
                  <a:latin typeface="Playfair Display"/>
                  <a:ea typeface="Playfair Display"/>
                  <a:cs typeface="Playfair Display"/>
                  <a:sym typeface="Playfair Display"/>
                </a:rPr>
                <a:t>DEC : ℝᵈ × ℝᵈ → ℝ⁺</a:t>
              </a:r>
            </a:p>
          </p:txBody>
        </p:sp>
      </p:grpSp>
      <p:grpSp>
        <p:nvGrpSpPr>
          <p:cNvPr id="51" name="Group 51"/>
          <p:cNvGrpSpPr/>
          <p:nvPr/>
        </p:nvGrpSpPr>
        <p:grpSpPr>
          <a:xfrm>
            <a:off x="14166085" y="3449317"/>
            <a:ext cx="361693" cy="50797"/>
            <a:chOff x="0" y="0"/>
            <a:chExt cx="482257" cy="67729"/>
          </a:xfrm>
        </p:grpSpPr>
        <p:sp>
          <p:nvSpPr>
            <p:cNvPr id="52" name="Freeform 52"/>
            <p:cNvSpPr/>
            <p:nvPr/>
          </p:nvSpPr>
          <p:spPr>
            <a:xfrm>
              <a:off x="0" y="0"/>
              <a:ext cx="482219" cy="67691"/>
            </a:xfrm>
            <a:custGeom>
              <a:avLst/>
              <a:gdLst/>
              <a:ahLst/>
              <a:cxnLst/>
              <a:rect l="l" t="t" r="r" b="b"/>
              <a:pathLst>
                <a:path w="482219" h="67691">
                  <a:moveTo>
                    <a:pt x="0" y="0"/>
                  </a:moveTo>
                  <a:lnTo>
                    <a:pt x="482219" y="67691"/>
                  </a:lnTo>
                </a:path>
              </a:pathLst>
            </a:custGeom>
            <a:blipFill>
              <a:blip r:embed="rId3">
                <a:alphaModFix amt="0"/>
              </a:blip>
              <a:stretch>
                <a:fillRect t="-88790" r="-7" b="-88847"/>
              </a:stretch>
            </a:blipFill>
            <a:ln w="50800" cap="sq">
              <a:solidFill>
                <a:srgbClr val="4A6380"/>
              </a:solidFill>
              <a:prstDash val="solid"/>
              <a:miter/>
            </a:ln>
          </p:spPr>
          <p:txBody>
            <a:bodyPr/>
            <a:lstStyle/>
            <a:p>
              <a:endParaRPr lang="en-IN"/>
            </a:p>
          </p:txBody>
        </p:sp>
      </p:grpSp>
      <p:grpSp>
        <p:nvGrpSpPr>
          <p:cNvPr id="53" name="Group 53"/>
          <p:cNvGrpSpPr/>
          <p:nvPr/>
        </p:nvGrpSpPr>
        <p:grpSpPr>
          <a:xfrm>
            <a:off x="14489687" y="2456183"/>
            <a:ext cx="3225803" cy="2037083"/>
            <a:chOff x="0" y="0"/>
            <a:chExt cx="4301071" cy="2716111"/>
          </a:xfrm>
        </p:grpSpPr>
        <p:sp>
          <p:nvSpPr>
            <p:cNvPr id="54" name="Freeform 54"/>
            <p:cNvSpPr/>
            <p:nvPr/>
          </p:nvSpPr>
          <p:spPr>
            <a:xfrm>
              <a:off x="0" y="0"/>
              <a:ext cx="4300982" cy="2716022"/>
            </a:xfrm>
            <a:custGeom>
              <a:avLst/>
              <a:gdLst/>
              <a:ahLst/>
              <a:cxnLst/>
              <a:rect l="l" t="t" r="r" b="b"/>
              <a:pathLst>
                <a:path w="4300982" h="2716022">
                  <a:moveTo>
                    <a:pt x="0" y="246888"/>
                  </a:moveTo>
                  <a:cubicBezTo>
                    <a:pt x="0" y="110490"/>
                    <a:pt x="110490" y="0"/>
                    <a:pt x="246888" y="0"/>
                  </a:cubicBezTo>
                  <a:lnTo>
                    <a:pt x="4054094" y="0"/>
                  </a:lnTo>
                  <a:cubicBezTo>
                    <a:pt x="4190492" y="0"/>
                    <a:pt x="4300982" y="110490"/>
                    <a:pt x="4300982" y="246888"/>
                  </a:cubicBezTo>
                  <a:lnTo>
                    <a:pt x="4300982" y="2469134"/>
                  </a:lnTo>
                  <a:cubicBezTo>
                    <a:pt x="4300982" y="2605532"/>
                    <a:pt x="4190492" y="2716022"/>
                    <a:pt x="4054094" y="2716022"/>
                  </a:cubicBezTo>
                  <a:lnTo>
                    <a:pt x="246888" y="2716022"/>
                  </a:lnTo>
                  <a:cubicBezTo>
                    <a:pt x="110490" y="2716149"/>
                    <a:pt x="0" y="2605532"/>
                    <a:pt x="0" y="2469134"/>
                  </a:cubicBezTo>
                  <a:close/>
                </a:path>
              </a:pathLst>
            </a:custGeom>
            <a:solidFill>
              <a:srgbClr val="FFFFFF"/>
            </a:solidFill>
            <a:ln w="25400" cap="sq">
              <a:solidFill>
                <a:srgbClr val="2CB9A0"/>
              </a:solidFill>
              <a:prstDash val="solid"/>
              <a:miter/>
            </a:ln>
          </p:spPr>
          <p:txBody>
            <a:bodyPr/>
            <a:lstStyle/>
            <a:p>
              <a:endParaRPr lang="en-IN"/>
            </a:p>
          </p:txBody>
        </p:sp>
      </p:grpSp>
      <p:grpSp>
        <p:nvGrpSpPr>
          <p:cNvPr id="55" name="Group 55"/>
          <p:cNvGrpSpPr/>
          <p:nvPr/>
        </p:nvGrpSpPr>
        <p:grpSpPr>
          <a:xfrm>
            <a:off x="14502384" y="2468880"/>
            <a:ext cx="3200400" cy="1005840"/>
            <a:chOff x="0" y="0"/>
            <a:chExt cx="4267200" cy="1341120"/>
          </a:xfrm>
        </p:grpSpPr>
        <p:sp>
          <p:nvSpPr>
            <p:cNvPr id="56" name="Freeform 56"/>
            <p:cNvSpPr/>
            <p:nvPr/>
          </p:nvSpPr>
          <p:spPr>
            <a:xfrm>
              <a:off x="0" y="0"/>
              <a:ext cx="4267200" cy="1341120"/>
            </a:xfrm>
            <a:custGeom>
              <a:avLst/>
              <a:gdLst/>
              <a:ahLst/>
              <a:cxnLst/>
              <a:rect l="l" t="t" r="r" b="b"/>
              <a:pathLst>
                <a:path w="4267200" h="1341120">
                  <a:moveTo>
                    <a:pt x="0" y="0"/>
                  </a:moveTo>
                  <a:lnTo>
                    <a:pt x="4267200" y="0"/>
                  </a:lnTo>
                  <a:lnTo>
                    <a:pt x="4267200" y="1341120"/>
                  </a:lnTo>
                  <a:lnTo>
                    <a:pt x="0" y="1341120"/>
                  </a:lnTo>
                  <a:close/>
                </a:path>
              </a:pathLst>
            </a:custGeom>
            <a:blipFill>
              <a:blip r:embed="rId3">
                <a:alphaModFix amt="0"/>
              </a:blip>
              <a:stretch>
                <a:fillRect t="-11997" b="-11997"/>
              </a:stretch>
            </a:blipFill>
          </p:spPr>
          <p:txBody>
            <a:bodyPr/>
            <a:lstStyle/>
            <a:p>
              <a:endParaRPr lang="en-IN"/>
            </a:p>
          </p:txBody>
        </p:sp>
        <p:sp>
          <p:nvSpPr>
            <p:cNvPr id="57" name="TextBox 57"/>
            <p:cNvSpPr txBox="1"/>
            <p:nvPr/>
          </p:nvSpPr>
          <p:spPr>
            <a:xfrm>
              <a:off x="0" y="0"/>
              <a:ext cx="4267200" cy="1341120"/>
            </a:xfrm>
            <a:prstGeom prst="rect">
              <a:avLst/>
            </a:prstGeom>
          </p:spPr>
          <p:txBody>
            <a:bodyPr lIns="0" tIns="0" rIns="0" bIns="0" rtlCol="0" anchor="ctr"/>
            <a:lstStyle/>
            <a:p>
              <a:pPr algn="ctr">
                <a:lnSpc>
                  <a:spcPts val="3120"/>
                </a:lnSpc>
              </a:pPr>
              <a:r>
                <a:rPr lang="en-US" sz="2600" spc="130" dirty="0">
                  <a:latin typeface="Times New Roman" panose="02020603050405020304" pitchFamily="18" charset="0"/>
                  <a:ea typeface="Playfair Display Italics"/>
                  <a:cs typeface="Times New Roman" panose="02020603050405020304" pitchFamily="18" charset="0"/>
                  <a:sym typeface="Playfair Display Italics"/>
                </a:rPr>
                <a:t>Similarity Score</a:t>
              </a:r>
            </a:p>
          </p:txBody>
        </p:sp>
      </p:grpSp>
      <p:grpSp>
        <p:nvGrpSpPr>
          <p:cNvPr id="58" name="Group 58"/>
          <p:cNvGrpSpPr/>
          <p:nvPr/>
        </p:nvGrpSpPr>
        <p:grpSpPr>
          <a:xfrm>
            <a:off x="14502384" y="3474720"/>
            <a:ext cx="3200400" cy="1005840"/>
            <a:chOff x="0" y="0"/>
            <a:chExt cx="4267200" cy="1341120"/>
          </a:xfrm>
        </p:grpSpPr>
        <p:sp>
          <p:nvSpPr>
            <p:cNvPr id="59" name="Freeform 59"/>
            <p:cNvSpPr/>
            <p:nvPr/>
          </p:nvSpPr>
          <p:spPr>
            <a:xfrm>
              <a:off x="0" y="0"/>
              <a:ext cx="4267200" cy="1341120"/>
            </a:xfrm>
            <a:custGeom>
              <a:avLst/>
              <a:gdLst/>
              <a:ahLst/>
              <a:cxnLst/>
              <a:rect l="l" t="t" r="r" b="b"/>
              <a:pathLst>
                <a:path w="4267200" h="1341120">
                  <a:moveTo>
                    <a:pt x="0" y="0"/>
                  </a:moveTo>
                  <a:lnTo>
                    <a:pt x="4267200" y="0"/>
                  </a:lnTo>
                  <a:lnTo>
                    <a:pt x="4267200" y="1341120"/>
                  </a:lnTo>
                  <a:lnTo>
                    <a:pt x="0" y="1341120"/>
                  </a:lnTo>
                  <a:close/>
                </a:path>
              </a:pathLst>
            </a:custGeom>
            <a:blipFill>
              <a:blip r:embed="rId3">
                <a:alphaModFix amt="0"/>
              </a:blip>
              <a:stretch>
                <a:fillRect t="-11997" b="-11997"/>
              </a:stretch>
            </a:blipFill>
          </p:spPr>
          <p:txBody>
            <a:bodyPr/>
            <a:lstStyle/>
            <a:p>
              <a:endParaRPr lang="en-IN"/>
            </a:p>
          </p:txBody>
        </p:sp>
        <p:sp>
          <p:nvSpPr>
            <p:cNvPr id="60" name="TextBox 60"/>
            <p:cNvSpPr txBox="1"/>
            <p:nvPr/>
          </p:nvSpPr>
          <p:spPr>
            <a:xfrm>
              <a:off x="0" y="0"/>
              <a:ext cx="4267200" cy="1341120"/>
            </a:xfrm>
            <a:prstGeom prst="rect">
              <a:avLst/>
            </a:prstGeom>
          </p:spPr>
          <p:txBody>
            <a:bodyPr lIns="0" tIns="0" rIns="0" bIns="0" rtlCol="0" anchor="ctr"/>
            <a:lstStyle/>
            <a:p>
              <a:pPr algn="ctr">
                <a:lnSpc>
                  <a:spcPts val="2400"/>
                </a:lnSpc>
              </a:pPr>
              <a:r>
                <a:rPr lang="en-US" sz="2000" spc="40">
                  <a:solidFill>
                    <a:srgbClr val="253439"/>
                  </a:solidFill>
                  <a:latin typeface="Playfair Display"/>
                  <a:ea typeface="Playfair Display"/>
                  <a:cs typeface="Playfair Display"/>
                  <a:sym typeface="Playfair Display"/>
                </a:rPr>
                <a:t>DEC(z_u, z_v) ≈ S[u,v]</a:t>
              </a:r>
            </a:p>
          </p:txBody>
        </p:sp>
      </p:grpSp>
      <p:grpSp>
        <p:nvGrpSpPr>
          <p:cNvPr id="61" name="Group 61"/>
          <p:cNvGrpSpPr/>
          <p:nvPr/>
        </p:nvGrpSpPr>
        <p:grpSpPr>
          <a:xfrm>
            <a:off x="731520" y="4937760"/>
            <a:ext cx="16824960" cy="694944"/>
            <a:chOff x="0" y="0"/>
            <a:chExt cx="22433280" cy="926592"/>
          </a:xfrm>
        </p:grpSpPr>
        <p:sp>
          <p:nvSpPr>
            <p:cNvPr id="62" name="Freeform 62"/>
            <p:cNvSpPr/>
            <p:nvPr/>
          </p:nvSpPr>
          <p:spPr>
            <a:xfrm>
              <a:off x="0" y="0"/>
              <a:ext cx="22433280" cy="926592"/>
            </a:xfrm>
            <a:custGeom>
              <a:avLst/>
              <a:gdLst/>
              <a:ahLst/>
              <a:cxnLst/>
              <a:rect l="l" t="t" r="r" b="b"/>
              <a:pathLst>
                <a:path w="22433280" h="926592">
                  <a:moveTo>
                    <a:pt x="0" y="0"/>
                  </a:moveTo>
                  <a:lnTo>
                    <a:pt x="22433280" y="0"/>
                  </a:lnTo>
                  <a:lnTo>
                    <a:pt x="22433280" y="926592"/>
                  </a:lnTo>
                  <a:lnTo>
                    <a:pt x="0" y="926592"/>
                  </a:lnTo>
                  <a:close/>
                </a:path>
              </a:pathLst>
            </a:custGeom>
            <a:blipFill>
              <a:blip r:embed="rId3">
                <a:alphaModFix amt="0"/>
              </a:blip>
              <a:stretch>
                <a:fillRect t="-421743" b="-421743"/>
              </a:stretch>
            </a:blipFill>
          </p:spPr>
          <p:txBody>
            <a:bodyPr/>
            <a:lstStyle/>
            <a:p>
              <a:endParaRPr lang="en-IN"/>
            </a:p>
          </p:txBody>
        </p:sp>
        <p:sp>
          <p:nvSpPr>
            <p:cNvPr id="63" name="TextBox 63"/>
            <p:cNvSpPr txBox="1"/>
            <p:nvPr/>
          </p:nvSpPr>
          <p:spPr>
            <a:xfrm>
              <a:off x="0" y="9525"/>
              <a:ext cx="22433280" cy="917067"/>
            </a:xfrm>
            <a:prstGeom prst="rect">
              <a:avLst/>
            </a:prstGeom>
          </p:spPr>
          <p:txBody>
            <a:bodyPr lIns="0" tIns="0" rIns="0" bIns="0" rtlCol="0" anchor="ctr"/>
            <a:lstStyle/>
            <a:p>
              <a:pPr algn="l">
                <a:lnSpc>
                  <a:spcPts val="3359"/>
                </a:lnSpc>
              </a:pPr>
              <a:r>
                <a:rPr lang="en-US" sz="2799" spc="140" dirty="0">
                  <a:solidFill>
                    <a:srgbClr val="FFFFFF"/>
                  </a:solidFill>
                  <a:latin typeface="Times New Roman" panose="02020603050405020304" pitchFamily="18" charset="0"/>
                  <a:ea typeface="Playfair Display Italics"/>
                  <a:cs typeface="Times New Roman" panose="02020603050405020304" pitchFamily="18" charset="0"/>
                  <a:sym typeface="Playfair Display Italics"/>
                </a:rPr>
                <a:t>Methods differ along exactly 3 axes:</a:t>
              </a:r>
            </a:p>
          </p:txBody>
        </p:sp>
      </p:grpSp>
      <p:grpSp>
        <p:nvGrpSpPr>
          <p:cNvPr id="64" name="Group 64"/>
          <p:cNvGrpSpPr/>
          <p:nvPr/>
        </p:nvGrpSpPr>
        <p:grpSpPr>
          <a:xfrm>
            <a:off x="535943" y="5802887"/>
            <a:ext cx="5511803" cy="3591563"/>
            <a:chOff x="0" y="0"/>
            <a:chExt cx="7349071" cy="4788751"/>
          </a:xfrm>
        </p:grpSpPr>
        <p:sp>
          <p:nvSpPr>
            <p:cNvPr id="65" name="Freeform 65"/>
            <p:cNvSpPr/>
            <p:nvPr/>
          </p:nvSpPr>
          <p:spPr>
            <a:xfrm>
              <a:off x="0" y="0"/>
              <a:ext cx="7349110" cy="4788789"/>
            </a:xfrm>
            <a:custGeom>
              <a:avLst/>
              <a:gdLst/>
              <a:ahLst/>
              <a:cxnLst/>
              <a:rect l="l" t="t" r="r" b="b"/>
              <a:pathLst>
                <a:path w="7349110" h="4788789">
                  <a:moveTo>
                    <a:pt x="0" y="245618"/>
                  </a:moveTo>
                  <a:cubicBezTo>
                    <a:pt x="0" y="109982"/>
                    <a:pt x="109982" y="0"/>
                    <a:pt x="245618" y="0"/>
                  </a:cubicBezTo>
                  <a:lnTo>
                    <a:pt x="7103491" y="0"/>
                  </a:lnTo>
                  <a:cubicBezTo>
                    <a:pt x="7239127" y="0"/>
                    <a:pt x="7349110" y="109982"/>
                    <a:pt x="7349110" y="245618"/>
                  </a:cubicBezTo>
                  <a:lnTo>
                    <a:pt x="7349110" y="4543171"/>
                  </a:lnTo>
                  <a:cubicBezTo>
                    <a:pt x="7349110" y="4678807"/>
                    <a:pt x="7239127" y="4788789"/>
                    <a:pt x="7103491" y="4788789"/>
                  </a:cubicBezTo>
                  <a:lnTo>
                    <a:pt x="245618" y="4788789"/>
                  </a:lnTo>
                  <a:cubicBezTo>
                    <a:pt x="109982" y="4788789"/>
                    <a:pt x="0" y="4678807"/>
                    <a:pt x="0" y="4543171"/>
                  </a:cubicBezTo>
                  <a:close/>
                </a:path>
              </a:pathLst>
            </a:custGeom>
            <a:solidFill>
              <a:srgbClr val="7C898B"/>
            </a:solidFill>
            <a:ln w="25400" cap="sq">
              <a:solidFill>
                <a:srgbClr val="D8E8F8"/>
              </a:solidFill>
              <a:prstDash val="solid"/>
              <a:miter/>
            </a:ln>
          </p:spPr>
          <p:txBody>
            <a:bodyPr/>
            <a:lstStyle/>
            <a:p>
              <a:endParaRPr lang="en-IN"/>
            </a:p>
          </p:txBody>
        </p:sp>
      </p:grpSp>
      <p:grpSp>
        <p:nvGrpSpPr>
          <p:cNvPr id="66" name="Group 66"/>
          <p:cNvGrpSpPr/>
          <p:nvPr/>
        </p:nvGrpSpPr>
        <p:grpSpPr>
          <a:xfrm>
            <a:off x="938279" y="5949191"/>
            <a:ext cx="793499" cy="793499"/>
            <a:chOff x="0" y="0"/>
            <a:chExt cx="1057999" cy="1057999"/>
          </a:xfrm>
        </p:grpSpPr>
        <p:sp>
          <p:nvSpPr>
            <p:cNvPr id="67" name="Freeform 67"/>
            <p:cNvSpPr/>
            <p:nvPr/>
          </p:nvSpPr>
          <p:spPr>
            <a:xfrm>
              <a:off x="0" y="0"/>
              <a:ext cx="1058037" cy="1058037"/>
            </a:xfrm>
            <a:custGeom>
              <a:avLst/>
              <a:gdLst/>
              <a:ahLst/>
              <a:cxnLst/>
              <a:rect l="l" t="t" r="r" b="b"/>
              <a:pathLst>
                <a:path w="1058037" h="1058037">
                  <a:moveTo>
                    <a:pt x="0" y="528955"/>
                  </a:moveTo>
                  <a:cubicBezTo>
                    <a:pt x="0" y="236855"/>
                    <a:pt x="236855" y="0"/>
                    <a:pt x="528955" y="0"/>
                  </a:cubicBezTo>
                  <a:cubicBezTo>
                    <a:pt x="821055" y="0"/>
                    <a:pt x="1058037" y="236855"/>
                    <a:pt x="1058037" y="528955"/>
                  </a:cubicBezTo>
                  <a:cubicBezTo>
                    <a:pt x="1058037" y="821055"/>
                    <a:pt x="821182" y="1058037"/>
                    <a:pt x="528955" y="1058037"/>
                  </a:cubicBezTo>
                  <a:cubicBezTo>
                    <a:pt x="236728" y="1058037"/>
                    <a:pt x="0" y="821182"/>
                    <a:pt x="0" y="528955"/>
                  </a:cubicBezTo>
                  <a:close/>
                </a:path>
              </a:pathLst>
            </a:custGeom>
            <a:solidFill>
              <a:srgbClr val="FFFFFF"/>
            </a:solidFill>
            <a:ln w="25400" cap="sq">
              <a:solidFill>
                <a:srgbClr val="1E5FA8"/>
              </a:solidFill>
              <a:prstDash val="solid"/>
              <a:miter/>
            </a:ln>
          </p:spPr>
          <p:txBody>
            <a:bodyPr/>
            <a:lstStyle/>
            <a:p>
              <a:endParaRPr lang="en-IN"/>
            </a:p>
          </p:txBody>
        </p:sp>
      </p:grpSp>
      <p:grpSp>
        <p:nvGrpSpPr>
          <p:cNvPr id="68" name="Group 68"/>
          <p:cNvGrpSpPr/>
          <p:nvPr/>
        </p:nvGrpSpPr>
        <p:grpSpPr>
          <a:xfrm>
            <a:off x="950976" y="5961888"/>
            <a:ext cx="768096" cy="768096"/>
            <a:chOff x="0" y="0"/>
            <a:chExt cx="1024128" cy="1024128"/>
          </a:xfrm>
        </p:grpSpPr>
        <p:sp>
          <p:nvSpPr>
            <p:cNvPr id="69" name="Freeform 69"/>
            <p:cNvSpPr/>
            <p:nvPr/>
          </p:nvSpPr>
          <p:spPr>
            <a:xfrm>
              <a:off x="0" y="0"/>
              <a:ext cx="1024128" cy="1024128"/>
            </a:xfrm>
            <a:custGeom>
              <a:avLst/>
              <a:gdLst/>
              <a:ahLst/>
              <a:cxnLst/>
              <a:rect l="l" t="t" r="r" b="b"/>
              <a:pathLst>
                <a:path w="1024128" h="1024128">
                  <a:moveTo>
                    <a:pt x="0" y="0"/>
                  </a:moveTo>
                  <a:lnTo>
                    <a:pt x="1024128" y="0"/>
                  </a:lnTo>
                  <a:lnTo>
                    <a:pt x="1024128" y="1024128"/>
                  </a:lnTo>
                  <a:lnTo>
                    <a:pt x="0" y="1024128"/>
                  </a:lnTo>
                  <a:close/>
                </a:path>
              </a:pathLst>
            </a:custGeom>
            <a:blipFill>
              <a:blip r:embed="rId3">
                <a:alphaModFix amt="0"/>
              </a:blip>
              <a:stretch>
                <a:fillRect l="-78303" r="-78303"/>
              </a:stretch>
            </a:blipFill>
          </p:spPr>
          <p:txBody>
            <a:bodyPr/>
            <a:lstStyle/>
            <a:p>
              <a:endParaRPr lang="en-IN"/>
            </a:p>
          </p:txBody>
        </p:sp>
        <p:sp>
          <p:nvSpPr>
            <p:cNvPr id="70" name="TextBox 70"/>
            <p:cNvSpPr txBox="1"/>
            <p:nvPr/>
          </p:nvSpPr>
          <p:spPr>
            <a:xfrm>
              <a:off x="0" y="0"/>
              <a:ext cx="1024128" cy="1024128"/>
            </a:xfrm>
            <a:prstGeom prst="rect">
              <a:avLst/>
            </a:prstGeom>
          </p:spPr>
          <p:txBody>
            <a:bodyPr lIns="0" tIns="0" rIns="0" bIns="0" rtlCol="0" anchor="ctr"/>
            <a:lstStyle/>
            <a:p>
              <a:pPr algn="ctr">
                <a:lnSpc>
                  <a:spcPts val="3120"/>
                </a:lnSpc>
              </a:pPr>
              <a:r>
                <a:rPr lang="en-US" sz="2600" i="1" spc="130">
                  <a:solidFill>
                    <a:srgbClr val="7C898B"/>
                  </a:solidFill>
                  <a:latin typeface="Playfair Display Italics"/>
                  <a:ea typeface="Playfair Display Italics"/>
                  <a:cs typeface="Playfair Display Italics"/>
                  <a:sym typeface="Playfair Display Italics"/>
                </a:rPr>
                <a:t>1</a:t>
              </a:r>
            </a:p>
          </p:txBody>
        </p:sp>
      </p:grpSp>
      <p:grpSp>
        <p:nvGrpSpPr>
          <p:cNvPr id="71" name="Group 71"/>
          <p:cNvGrpSpPr/>
          <p:nvPr/>
        </p:nvGrpSpPr>
        <p:grpSpPr>
          <a:xfrm>
            <a:off x="2011680" y="5998464"/>
            <a:ext cx="3840480" cy="768096"/>
            <a:chOff x="0" y="0"/>
            <a:chExt cx="5120640" cy="1024128"/>
          </a:xfrm>
        </p:grpSpPr>
        <p:sp>
          <p:nvSpPr>
            <p:cNvPr id="72" name="Freeform 72"/>
            <p:cNvSpPr/>
            <p:nvPr/>
          </p:nvSpPr>
          <p:spPr>
            <a:xfrm>
              <a:off x="0" y="0"/>
              <a:ext cx="5120640" cy="1024128"/>
            </a:xfrm>
            <a:custGeom>
              <a:avLst/>
              <a:gdLst/>
              <a:ahLst/>
              <a:cxnLst/>
              <a:rect l="l" t="t" r="r" b="b"/>
              <a:pathLst>
                <a:path w="5120640" h="1024128">
                  <a:moveTo>
                    <a:pt x="0" y="0"/>
                  </a:moveTo>
                  <a:lnTo>
                    <a:pt x="5120640" y="0"/>
                  </a:lnTo>
                  <a:lnTo>
                    <a:pt x="5120640" y="1024128"/>
                  </a:lnTo>
                  <a:lnTo>
                    <a:pt x="0" y="1024128"/>
                  </a:lnTo>
                  <a:close/>
                </a:path>
              </a:pathLst>
            </a:custGeom>
            <a:blipFill>
              <a:blip r:embed="rId3">
                <a:alphaModFix amt="0"/>
              </a:blip>
              <a:stretch>
                <a:fillRect t="-47425" b="-47425"/>
              </a:stretch>
            </a:blipFill>
          </p:spPr>
          <p:txBody>
            <a:bodyPr/>
            <a:lstStyle/>
            <a:p>
              <a:endParaRPr lang="en-IN"/>
            </a:p>
          </p:txBody>
        </p:sp>
        <p:sp>
          <p:nvSpPr>
            <p:cNvPr id="73" name="TextBox 73"/>
            <p:cNvSpPr txBox="1"/>
            <p:nvPr/>
          </p:nvSpPr>
          <p:spPr>
            <a:xfrm>
              <a:off x="0" y="0"/>
              <a:ext cx="5120640" cy="1024128"/>
            </a:xfrm>
            <a:prstGeom prst="rect">
              <a:avLst/>
            </a:prstGeom>
          </p:spPr>
          <p:txBody>
            <a:bodyPr lIns="0" tIns="0" rIns="0" bIns="0" rtlCol="0" anchor="ctr"/>
            <a:lstStyle/>
            <a:p>
              <a:pPr algn="l">
                <a:lnSpc>
                  <a:spcPts val="3120"/>
                </a:lnSpc>
              </a:pPr>
              <a:r>
                <a:rPr lang="en-US" sz="2600" spc="130" dirty="0">
                  <a:solidFill>
                    <a:srgbClr val="FFFFFF"/>
                  </a:solidFill>
                  <a:latin typeface="Times New Roman" panose="02020603050405020304" pitchFamily="18" charset="0"/>
                  <a:ea typeface="Playfair Display Italics"/>
                  <a:cs typeface="Times New Roman" panose="02020603050405020304" pitchFamily="18" charset="0"/>
                  <a:sym typeface="Playfair Display Italics"/>
                </a:rPr>
                <a:t>Decoder Function</a:t>
              </a:r>
            </a:p>
          </p:txBody>
        </p:sp>
      </p:grpSp>
      <p:grpSp>
        <p:nvGrpSpPr>
          <p:cNvPr id="74" name="Group 74"/>
          <p:cNvGrpSpPr/>
          <p:nvPr/>
        </p:nvGrpSpPr>
        <p:grpSpPr>
          <a:xfrm>
            <a:off x="768096" y="6858000"/>
            <a:ext cx="5047488" cy="2286000"/>
            <a:chOff x="0" y="0"/>
            <a:chExt cx="6729984" cy="3048000"/>
          </a:xfrm>
        </p:grpSpPr>
        <p:sp>
          <p:nvSpPr>
            <p:cNvPr id="75" name="Freeform 75"/>
            <p:cNvSpPr/>
            <p:nvPr/>
          </p:nvSpPr>
          <p:spPr>
            <a:xfrm>
              <a:off x="0" y="0"/>
              <a:ext cx="6729984" cy="3048000"/>
            </a:xfrm>
            <a:custGeom>
              <a:avLst/>
              <a:gdLst/>
              <a:ahLst/>
              <a:cxnLst/>
              <a:rect l="l" t="t" r="r" b="b"/>
              <a:pathLst>
                <a:path w="6729984" h="3048000">
                  <a:moveTo>
                    <a:pt x="0" y="0"/>
                  </a:moveTo>
                  <a:lnTo>
                    <a:pt x="6729984" y="0"/>
                  </a:lnTo>
                  <a:lnTo>
                    <a:pt x="6729984" y="3048000"/>
                  </a:lnTo>
                  <a:lnTo>
                    <a:pt x="0" y="3048000"/>
                  </a:lnTo>
                  <a:close/>
                </a:path>
              </a:pathLst>
            </a:custGeom>
            <a:blipFill>
              <a:blip r:embed="rId3">
                <a:alphaModFix amt="0"/>
              </a:blip>
              <a:stretch>
                <a:fillRect l="-8108" r="-8108"/>
              </a:stretch>
            </a:blipFill>
          </p:spPr>
          <p:txBody>
            <a:bodyPr/>
            <a:lstStyle/>
            <a:p>
              <a:endParaRPr lang="en-IN"/>
            </a:p>
          </p:txBody>
        </p:sp>
        <p:sp>
          <p:nvSpPr>
            <p:cNvPr id="76" name="TextBox 76"/>
            <p:cNvSpPr txBox="1"/>
            <p:nvPr/>
          </p:nvSpPr>
          <p:spPr>
            <a:xfrm>
              <a:off x="0" y="0"/>
              <a:ext cx="6729984" cy="3048000"/>
            </a:xfrm>
            <a:prstGeom prst="rect">
              <a:avLst/>
            </a:prstGeom>
          </p:spPr>
          <p:txBody>
            <a:bodyPr lIns="0" tIns="0" rIns="0" bIns="0" rtlCol="0" anchor="ctr"/>
            <a:lstStyle/>
            <a:p>
              <a:pPr algn="l">
                <a:lnSpc>
                  <a:spcPts val="2879"/>
                </a:lnSpc>
              </a:pPr>
              <a:r>
                <a:rPr lang="en-US" sz="2400" spc="48" dirty="0">
                  <a:solidFill>
                    <a:srgbClr val="FFFFFF"/>
                  </a:solidFill>
                  <a:latin typeface="Playfair Display"/>
                  <a:ea typeface="Playfair Display"/>
                  <a:cs typeface="Playfair Display"/>
                  <a:sym typeface="Playfair Display"/>
                </a:rPr>
                <a:t>How similarity between embeddings is computed</a:t>
              </a:r>
            </a:p>
            <a:p>
              <a:pPr algn="l">
                <a:lnSpc>
                  <a:spcPts val="2879"/>
                </a:lnSpc>
              </a:pPr>
              <a:r>
                <a:rPr lang="en-US" sz="2400" spc="48" dirty="0">
                  <a:solidFill>
                    <a:srgbClr val="FFFFFF"/>
                  </a:solidFill>
                  <a:latin typeface="Playfair Display"/>
                  <a:ea typeface="Playfair Display"/>
                  <a:cs typeface="Playfair Display"/>
                  <a:sym typeface="Playfair Display"/>
                </a:rPr>
                <a:t>(distance / dot-product / softmax)</a:t>
              </a:r>
            </a:p>
          </p:txBody>
        </p:sp>
      </p:grpSp>
      <p:grpSp>
        <p:nvGrpSpPr>
          <p:cNvPr id="77" name="Group 77"/>
          <p:cNvGrpSpPr/>
          <p:nvPr/>
        </p:nvGrpSpPr>
        <p:grpSpPr>
          <a:xfrm>
            <a:off x="6388103" y="5802887"/>
            <a:ext cx="5511803" cy="3591563"/>
            <a:chOff x="0" y="0"/>
            <a:chExt cx="7349071" cy="4788751"/>
          </a:xfrm>
        </p:grpSpPr>
        <p:sp>
          <p:nvSpPr>
            <p:cNvPr id="78" name="Freeform 78"/>
            <p:cNvSpPr/>
            <p:nvPr/>
          </p:nvSpPr>
          <p:spPr>
            <a:xfrm>
              <a:off x="0" y="0"/>
              <a:ext cx="7349110" cy="4788789"/>
            </a:xfrm>
            <a:custGeom>
              <a:avLst/>
              <a:gdLst/>
              <a:ahLst/>
              <a:cxnLst/>
              <a:rect l="l" t="t" r="r" b="b"/>
              <a:pathLst>
                <a:path w="7349110" h="4788789">
                  <a:moveTo>
                    <a:pt x="0" y="245618"/>
                  </a:moveTo>
                  <a:cubicBezTo>
                    <a:pt x="0" y="109982"/>
                    <a:pt x="109982" y="0"/>
                    <a:pt x="245618" y="0"/>
                  </a:cubicBezTo>
                  <a:lnTo>
                    <a:pt x="7103491" y="0"/>
                  </a:lnTo>
                  <a:cubicBezTo>
                    <a:pt x="7239127" y="0"/>
                    <a:pt x="7349110" y="109982"/>
                    <a:pt x="7349110" y="245618"/>
                  </a:cubicBezTo>
                  <a:lnTo>
                    <a:pt x="7349110" y="4543171"/>
                  </a:lnTo>
                  <a:cubicBezTo>
                    <a:pt x="7349110" y="4678807"/>
                    <a:pt x="7239127" y="4788789"/>
                    <a:pt x="7103491" y="4788789"/>
                  </a:cubicBezTo>
                  <a:lnTo>
                    <a:pt x="245618" y="4788789"/>
                  </a:lnTo>
                  <a:cubicBezTo>
                    <a:pt x="109982" y="4788789"/>
                    <a:pt x="0" y="4678807"/>
                    <a:pt x="0" y="4543171"/>
                  </a:cubicBezTo>
                  <a:close/>
                </a:path>
              </a:pathLst>
            </a:custGeom>
            <a:solidFill>
              <a:srgbClr val="7C898B"/>
            </a:solidFill>
            <a:ln w="25400" cap="sq">
              <a:solidFill>
                <a:srgbClr val="D8E8F8"/>
              </a:solidFill>
              <a:prstDash val="solid"/>
              <a:miter/>
            </a:ln>
          </p:spPr>
          <p:txBody>
            <a:bodyPr/>
            <a:lstStyle/>
            <a:p>
              <a:endParaRPr lang="en-IN"/>
            </a:p>
          </p:txBody>
        </p:sp>
      </p:grpSp>
      <p:grpSp>
        <p:nvGrpSpPr>
          <p:cNvPr id="79" name="Group 79"/>
          <p:cNvGrpSpPr/>
          <p:nvPr/>
        </p:nvGrpSpPr>
        <p:grpSpPr>
          <a:xfrm>
            <a:off x="6790439" y="5949191"/>
            <a:ext cx="793499" cy="793499"/>
            <a:chOff x="0" y="0"/>
            <a:chExt cx="1057999" cy="1057999"/>
          </a:xfrm>
        </p:grpSpPr>
        <p:sp>
          <p:nvSpPr>
            <p:cNvPr id="80" name="Freeform 80"/>
            <p:cNvSpPr/>
            <p:nvPr/>
          </p:nvSpPr>
          <p:spPr>
            <a:xfrm>
              <a:off x="0" y="0"/>
              <a:ext cx="1058037" cy="1058037"/>
            </a:xfrm>
            <a:custGeom>
              <a:avLst/>
              <a:gdLst/>
              <a:ahLst/>
              <a:cxnLst/>
              <a:rect l="l" t="t" r="r" b="b"/>
              <a:pathLst>
                <a:path w="1058037" h="1058037">
                  <a:moveTo>
                    <a:pt x="0" y="528955"/>
                  </a:moveTo>
                  <a:cubicBezTo>
                    <a:pt x="0" y="236855"/>
                    <a:pt x="236855" y="0"/>
                    <a:pt x="528955" y="0"/>
                  </a:cubicBezTo>
                  <a:cubicBezTo>
                    <a:pt x="821055" y="0"/>
                    <a:pt x="1058037" y="236855"/>
                    <a:pt x="1058037" y="528955"/>
                  </a:cubicBezTo>
                  <a:cubicBezTo>
                    <a:pt x="1058037" y="821055"/>
                    <a:pt x="821182" y="1058037"/>
                    <a:pt x="528955" y="1058037"/>
                  </a:cubicBezTo>
                  <a:cubicBezTo>
                    <a:pt x="236728" y="1058037"/>
                    <a:pt x="0" y="821182"/>
                    <a:pt x="0" y="528955"/>
                  </a:cubicBezTo>
                  <a:close/>
                </a:path>
              </a:pathLst>
            </a:custGeom>
            <a:solidFill>
              <a:srgbClr val="FFFFFF"/>
            </a:solidFill>
            <a:ln w="25400" cap="sq">
              <a:solidFill>
                <a:srgbClr val="1E5FA8"/>
              </a:solidFill>
              <a:prstDash val="solid"/>
              <a:miter/>
            </a:ln>
          </p:spPr>
          <p:txBody>
            <a:bodyPr/>
            <a:lstStyle/>
            <a:p>
              <a:endParaRPr lang="en-IN"/>
            </a:p>
          </p:txBody>
        </p:sp>
      </p:grpSp>
      <p:grpSp>
        <p:nvGrpSpPr>
          <p:cNvPr id="81" name="Group 81"/>
          <p:cNvGrpSpPr/>
          <p:nvPr/>
        </p:nvGrpSpPr>
        <p:grpSpPr>
          <a:xfrm>
            <a:off x="6803136" y="5961888"/>
            <a:ext cx="768096" cy="768096"/>
            <a:chOff x="0" y="0"/>
            <a:chExt cx="1024128" cy="1024128"/>
          </a:xfrm>
        </p:grpSpPr>
        <p:sp>
          <p:nvSpPr>
            <p:cNvPr id="82" name="Freeform 82"/>
            <p:cNvSpPr/>
            <p:nvPr/>
          </p:nvSpPr>
          <p:spPr>
            <a:xfrm>
              <a:off x="0" y="0"/>
              <a:ext cx="1024128" cy="1024128"/>
            </a:xfrm>
            <a:custGeom>
              <a:avLst/>
              <a:gdLst/>
              <a:ahLst/>
              <a:cxnLst/>
              <a:rect l="l" t="t" r="r" b="b"/>
              <a:pathLst>
                <a:path w="1024128" h="1024128">
                  <a:moveTo>
                    <a:pt x="0" y="0"/>
                  </a:moveTo>
                  <a:lnTo>
                    <a:pt x="1024128" y="0"/>
                  </a:lnTo>
                  <a:lnTo>
                    <a:pt x="1024128" y="1024128"/>
                  </a:lnTo>
                  <a:lnTo>
                    <a:pt x="0" y="1024128"/>
                  </a:lnTo>
                  <a:close/>
                </a:path>
              </a:pathLst>
            </a:custGeom>
            <a:blipFill>
              <a:blip r:embed="rId3">
                <a:alphaModFix amt="0"/>
              </a:blip>
              <a:stretch>
                <a:fillRect l="-78303" r="-78303"/>
              </a:stretch>
            </a:blipFill>
          </p:spPr>
          <p:txBody>
            <a:bodyPr/>
            <a:lstStyle/>
            <a:p>
              <a:endParaRPr lang="en-IN"/>
            </a:p>
          </p:txBody>
        </p:sp>
        <p:sp>
          <p:nvSpPr>
            <p:cNvPr id="83" name="TextBox 83"/>
            <p:cNvSpPr txBox="1"/>
            <p:nvPr/>
          </p:nvSpPr>
          <p:spPr>
            <a:xfrm>
              <a:off x="0" y="0"/>
              <a:ext cx="1024128" cy="1024128"/>
            </a:xfrm>
            <a:prstGeom prst="rect">
              <a:avLst/>
            </a:prstGeom>
          </p:spPr>
          <p:txBody>
            <a:bodyPr lIns="0" tIns="0" rIns="0" bIns="0" rtlCol="0" anchor="ctr"/>
            <a:lstStyle/>
            <a:p>
              <a:pPr algn="ctr">
                <a:lnSpc>
                  <a:spcPts val="3120"/>
                </a:lnSpc>
              </a:pPr>
              <a:r>
                <a:rPr lang="en-US" sz="2600" i="1" spc="130">
                  <a:solidFill>
                    <a:srgbClr val="7C898B"/>
                  </a:solidFill>
                  <a:latin typeface="Playfair Display Italics"/>
                  <a:ea typeface="Playfair Display Italics"/>
                  <a:cs typeface="Playfair Display Italics"/>
                  <a:sym typeface="Playfair Display Italics"/>
                </a:rPr>
                <a:t>2</a:t>
              </a:r>
            </a:p>
          </p:txBody>
        </p:sp>
      </p:grpSp>
      <p:grpSp>
        <p:nvGrpSpPr>
          <p:cNvPr id="84" name="Group 84"/>
          <p:cNvGrpSpPr/>
          <p:nvPr/>
        </p:nvGrpSpPr>
        <p:grpSpPr>
          <a:xfrm>
            <a:off x="7863840" y="5998464"/>
            <a:ext cx="3840480" cy="768096"/>
            <a:chOff x="0" y="0"/>
            <a:chExt cx="5120640" cy="1024128"/>
          </a:xfrm>
        </p:grpSpPr>
        <p:sp>
          <p:nvSpPr>
            <p:cNvPr id="85" name="Freeform 85"/>
            <p:cNvSpPr/>
            <p:nvPr/>
          </p:nvSpPr>
          <p:spPr>
            <a:xfrm>
              <a:off x="0" y="0"/>
              <a:ext cx="5120640" cy="1024128"/>
            </a:xfrm>
            <a:custGeom>
              <a:avLst/>
              <a:gdLst/>
              <a:ahLst/>
              <a:cxnLst/>
              <a:rect l="l" t="t" r="r" b="b"/>
              <a:pathLst>
                <a:path w="5120640" h="1024128">
                  <a:moveTo>
                    <a:pt x="0" y="0"/>
                  </a:moveTo>
                  <a:lnTo>
                    <a:pt x="5120640" y="0"/>
                  </a:lnTo>
                  <a:lnTo>
                    <a:pt x="5120640" y="1024128"/>
                  </a:lnTo>
                  <a:lnTo>
                    <a:pt x="0" y="1024128"/>
                  </a:lnTo>
                  <a:close/>
                </a:path>
              </a:pathLst>
            </a:custGeom>
            <a:blipFill>
              <a:blip r:embed="rId3">
                <a:alphaModFix amt="0"/>
              </a:blip>
              <a:stretch>
                <a:fillRect t="-47425" b="-47425"/>
              </a:stretch>
            </a:blipFill>
          </p:spPr>
          <p:txBody>
            <a:bodyPr/>
            <a:lstStyle/>
            <a:p>
              <a:endParaRPr lang="en-IN"/>
            </a:p>
          </p:txBody>
        </p:sp>
        <p:sp>
          <p:nvSpPr>
            <p:cNvPr id="86" name="TextBox 86"/>
            <p:cNvSpPr txBox="1"/>
            <p:nvPr/>
          </p:nvSpPr>
          <p:spPr>
            <a:xfrm>
              <a:off x="0" y="0"/>
              <a:ext cx="5120640" cy="1024128"/>
            </a:xfrm>
            <a:prstGeom prst="rect">
              <a:avLst/>
            </a:prstGeom>
          </p:spPr>
          <p:txBody>
            <a:bodyPr lIns="0" tIns="0" rIns="0" bIns="0" rtlCol="0" anchor="ctr"/>
            <a:lstStyle/>
            <a:p>
              <a:pPr algn="l">
                <a:lnSpc>
                  <a:spcPts val="3120"/>
                </a:lnSpc>
              </a:pPr>
              <a:r>
                <a:rPr lang="en-US" sz="2600" spc="130" dirty="0">
                  <a:solidFill>
                    <a:srgbClr val="FFFFFF"/>
                  </a:solidFill>
                  <a:latin typeface="Times New Roman" panose="02020603050405020304" pitchFamily="18" charset="0"/>
                  <a:ea typeface="Playfair Display Italics"/>
                  <a:cs typeface="Times New Roman" panose="02020603050405020304" pitchFamily="18" charset="0"/>
                  <a:sym typeface="Playfair Display Italics"/>
                </a:rPr>
                <a:t>Similarity Measure S</a:t>
              </a:r>
            </a:p>
          </p:txBody>
        </p:sp>
      </p:grpSp>
      <p:grpSp>
        <p:nvGrpSpPr>
          <p:cNvPr id="87" name="Group 87"/>
          <p:cNvGrpSpPr/>
          <p:nvPr/>
        </p:nvGrpSpPr>
        <p:grpSpPr>
          <a:xfrm>
            <a:off x="6620256" y="6858000"/>
            <a:ext cx="5047488" cy="2286000"/>
            <a:chOff x="0" y="0"/>
            <a:chExt cx="6729984" cy="3048000"/>
          </a:xfrm>
        </p:grpSpPr>
        <p:sp>
          <p:nvSpPr>
            <p:cNvPr id="88" name="Freeform 88"/>
            <p:cNvSpPr/>
            <p:nvPr/>
          </p:nvSpPr>
          <p:spPr>
            <a:xfrm>
              <a:off x="0" y="0"/>
              <a:ext cx="6729984" cy="3048000"/>
            </a:xfrm>
            <a:custGeom>
              <a:avLst/>
              <a:gdLst/>
              <a:ahLst/>
              <a:cxnLst/>
              <a:rect l="l" t="t" r="r" b="b"/>
              <a:pathLst>
                <a:path w="6729984" h="3048000">
                  <a:moveTo>
                    <a:pt x="0" y="0"/>
                  </a:moveTo>
                  <a:lnTo>
                    <a:pt x="6729984" y="0"/>
                  </a:lnTo>
                  <a:lnTo>
                    <a:pt x="6729984" y="3048000"/>
                  </a:lnTo>
                  <a:lnTo>
                    <a:pt x="0" y="3048000"/>
                  </a:lnTo>
                  <a:close/>
                </a:path>
              </a:pathLst>
            </a:custGeom>
            <a:blipFill>
              <a:blip r:embed="rId3">
                <a:alphaModFix amt="0"/>
              </a:blip>
              <a:stretch>
                <a:fillRect l="-8108" r="-8108"/>
              </a:stretch>
            </a:blipFill>
          </p:spPr>
          <p:txBody>
            <a:bodyPr/>
            <a:lstStyle/>
            <a:p>
              <a:endParaRPr lang="en-IN"/>
            </a:p>
          </p:txBody>
        </p:sp>
        <p:sp>
          <p:nvSpPr>
            <p:cNvPr id="89" name="TextBox 89"/>
            <p:cNvSpPr txBox="1"/>
            <p:nvPr/>
          </p:nvSpPr>
          <p:spPr>
            <a:xfrm>
              <a:off x="0" y="0"/>
              <a:ext cx="6729984" cy="3048000"/>
            </a:xfrm>
            <a:prstGeom prst="rect">
              <a:avLst/>
            </a:prstGeom>
          </p:spPr>
          <p:txBody>
            <a:bodyPr lIns="0" tIns="0" rIns="0" bIns="0" rtlCol="0" anchor="ctr"/>
            <a:lstStyle/>
            <a:p>
              <a:pPr algn="l">
                <a:lnSpc>
                  <a:spcPts val="2879"/>
                </a:lnSpc>
              </a:pPr>
              <a:r>
                <a:rPr lang="en-US" sz="2400" spc="48">
                  <a:solidFill>
                    <a:srgbClr val="FFFFFF"/>
                  </a:solidFill>
                  <a:latin typeface="Playfair Display"/>
                  <a:ea typeface="Playfair Display"/>
                  <a:cs typeface="Playfair Display"/>
                  <a:sym typeface="Playfair Display"/>
                </a:rPr>
                <a:t>What "similar" means in the graph</a:t>
              </a:r>
            </a:p>
            <a:p>
              <a:pPr algn="l">
                <a:lnSpc>
                  <a:spcPts val="2879"/>
                </a:lnSpc>
              </a:pPr>
              <a:r>
                <a:rPr lang="en-US" sz="2400" spc="48">
                  <a:solidFill>
                    <a:srgbClr val="FFFFFF"/>
                  </a:solidFill>
                  <a:latin typeface="Playfair Display"/>
                  <a:ea typeface="Playfair Display"/>
                  <a:cs typeface="Playfair Display"/>
                  <a:sym typeface="Playfair Display"/>
                </a:rPr>
                <a:t>(adjacency / multi-hop / random walk probability)</a:t>
              </a:r>
            </a:p>
          </p:txBody>
        </p:sp>
      </p:grpSp>
      <p:grpSp>
        <p:nvGrpSpPr>
          <p:cNvPr id="90" name="Group 90"/>
          <p:cNvGrpSpPr/>
          <p:nvPr/>
        </p:nvGrpSpPr>
        <p:grpSpPr>
          <a:xfrm>
            <a:off x="12240263" y="5802887"/>
            <a:ext cx="5511803" cy="3591563"/>
            <a:chOff x="0" y="0"/>
            <a:chExt cx="7349071" cy="4788751"/>
          </a:xfrm>
        </p:grpSpPr>
        <p:sp>
          <p:nvSpPr>
            <p:cNvPr id="91" name="Freeform 91"/>
            <p:cNvSpPr/>
            <p:nvPr/>
          </p:nvSpPr>
          <p:spPr>
            <a:xfrm>
              <a:off x="0" y="0"/>
              <a:ext cx="7349110" cy="4788789"/>
            </a:xfrm>
            <a:custGeom>
              <a:avLst/>
              <a:gdLst/>
              <a:ahLst/>
              <a:cxnLst/>
              <a:rect l="l" t="t" r="r" b="b"/>
              <a:pathLst>
                <a:path w="7349110" h="4788789">
                  <a:moveTo>
                    <a:pt x="0" y="245618"/>
                  </a:moveTo>
                  <a:cubicBezTo>
                    <a:pt x="0" y="109982"/>
                    <a:pt x="109982" y="0"/>
                    <a:pt x="245618" y="0"/>
                  </a:cubicBezTo>
                  <a:lnTo>
                    <a:pt x="7103491" y="0"/>
                  </a:lnTo>
                  <a:cubicBezTo>
                    <a:pt x="7239127" y="0"/>
                    <a:pt x="7349110" y="109982"/>
                    <a:pt x="7349110" y="245618"/>
                  </a:cubicBezTo>
                  <a:lnTo>
                    <a:pt x="7349110" y="4543171"/>
                  </a:lnTo>
                  <a:cubicBezTo>
                    <a:pt x="7349110" y="4678807"/>
                    <a:pt x="7239127" y="4788789"/>
                    <a:pt x="7103491" y="4788789"/>
                  </a:cubicBezTo>
                  <a:lnTo>
                    <a:pt x="245618" y="4788789"/>
                  </a:lnTo>
                  <a:cubicBezTo>
                    <a:pt x="109982" y="4788789"/>
                    <a:pt x="0" y="4678807"/>
                    <a:pt x="0" y="4543171"/>
                  </a:cubicBezTo>
                  <a:close/>
                </a:path>
              </a:pathLst>
            </a:custGeom>
            <a:solidFill>
              <a:srgbClr val="7C898B"/>
            </a:solidFill>
            <a:ln w="25400" cap="sq">
              <a:solidFill>
                <a:srgbClr val="D8E8F8"/>
              </a:solidFill>
              <a:prstDash val="solid"/>
              <a:miter/>
            </a:ln>
          </p:spPr>
          <p:txBody>
            <a:bodyPr/>
            <a:lstStyle/>
            <a:p>
              <a:endParaRPr lang="en-IN"/>
            </a:p>
          </p:txBody>
        </p:sp>
      </p:grpSp>
      <p:grpSp>
        <p:nvGrpSpPr>
          <p:cNvPr id="92" name="Group 92"/>
          <p:cNvGrpSpPr/>
          <p:nvPr/>
        </p:nvGrpSpPr>
        <p:grpSpPr>
          <a:xfrm>
            <a:off x="12642599" y="5949191"/>
            <a:ext cx="793499" cy="793499"/>
            <a:chOff x="0" y="0"/>
            <a:chExt cx="1057999" cy="1057999"/>
          </a:xfrm>
        </p:grpSpPr>
        <p:sp>
          <p:nvSpPr>
            <p:cNvPr id="93" name="Freeform 93"/>
            <p:cNvSpPr/>
            <p:nvPr/>
          </p:nvSpPr>
          <p:spPr>
            <a:xfrm>
              <a:off x="0" y="0"/>
              <a:ext cx="1058037" cy="1058037"/>
            </a:xfrm>
            <a:custGeom>
              <a:avLst/>
              <a:gdLst/>
              <a:ahLst/>
              <a:cxnLst/>
              <a:rect l="l" t="t" r="r" b="b"/>
              <a:pathLst>
                <a:path w="1058037" h="1058037">
                  <a:moveTo>
                    <a:pt x="0" y="528955"/>
                  </a:moveTo>
                  <a:cubicBezTo>
                    <a:pt x="0" y="236855"/>
                    <a:pt x="236855" y="0"/>
                    <a:pt x="528955" y="0"/>
                  </a:cubicBezTo>
                  <a:cubicBezTo>
                    <a:pt x="821055" y="0"/>
                    <a:pt x="1058037" y="236855"/>
                    <a:pt x="1058037" y="528955"/>
                  </a:cubicBezTo>
                  <a:cubicBezTo>
                    <a:pt x="1058037" y="821055"/>
                    <a:pt x="821182" y="1058037"/>
                    <a:pt x="528955" y="1058037"/>
                  </a:cubicBezTo>
                  <a:cubicBezTo>
                    <a:pt x="236728" y="1058037"/>
                    <a:pt x="0" y="821182"/>
                    <a:pt x="0" y="528955"/>
                  </a:cubicBezTo>
                  <a:close/>
                </a:path>
              </a:pathLst>
            </a:custGeom>
            <a:solidFill>
              <a:srgbClr val="FFFFFF"/>
            </a:solidFill>
            <a:ln w="25400" cap="sq">
              <a:solidFill>
                <a:srgbClr val="1E5FA8"/>
              </a:solidFill>
              <a:prstDash val="solid"/>
              <a:miter/>
            </a:ln>
          </p:spPr>
          <p:txBody>
            <a:bodyPr/>
            <a:lstStyle/>
            <a:p>
              <a:endParaRPr lang="en-IN"/>
            </a:p>
          </p:txBody>
        </p:sp>
      </p:grpSp>
      <p:grpSp>
        <p:nvGrpSpPr>
          <p:cNvPr id="94" name="Group 94"/>
          <p:cNvGrpSpPr/>
          <p:nvPr/>
        </p:nvGrpSpPr>
        <p:grpSpPr>
          <a:xfrm>
            <a:off x="12655296" y="5961888"/>
            <a:ext cx="768096" cy="768096"/>
            <a:chOff x="0" y="0"/>
            <a:chExt cx="1024128" cy="1024128"/>
          </a:xfrm>
        </p:grpSpPr>
        <p:sp>
          <p:nvSpPr>
            <p:cNvPr id="95" name="Freeform 95"/>
            <p:cNvSpPr/>
            <p:nvPr/>
          </p:nvSpPr>
          <p:spPr>
            <a:xfrm>
              <a:off x="0" y="0"/>
              <a:ext cx="1024128" cy="1024128"/>
            </a:xfrm>
            <a:custGeom>
              <a:avLst/>
              <a:gdLst/>
              <a:ahLst/>
              <a:cxnLst/>
              <a:rect l="l" t="t" r="r" b="b"/>
              <a:pathLst>
                <a:path w="1024128" h="1024128">
                  <a:moveTo>
                    <a:pt x="0" y="0"/>
                  </a:moveTo>
                  <a:lnTo>
                    <a:pt x="1024128" y="0"/>
                  </a:lnTo>
                  <a:lnTo>
                    <a:pt x="1024128" y="1024128"/>
                  </a:lnTo>
                  <a:lnTo>
                    <a:pt x="0" y="1024128"/>
                  </a:lnTo>
                  <a:close/>
                </a:path>
              </a:pathLst>
            </a:custGeom>
            <a:blipFill>
              <a:blip r:embed="rId3">
                <a:alphaModFix amt="0"/>
              </a:blip>
              <a:stretch>
                <a:fillRect l="-78303" r="-78303"/>
              </a:stretch>
            </a:blipFill>
          </p:spPr>
          <p:txBody>
            <a:bodyPr/>
            <a:lstStyle/>
            <a:p>
              <a:endParaRPr lang="en-IN"/>
            </a:p>
          </p:txBody>
        </p:sp>
        <p:sp>
          <p:nvSpPr>
            <p:cNvPr id="96" name="TextBox 96"/>
            <p:cNvSpPr txBox="1"/>
            <p:nvPr/>
          </p:nvSpPr>
          <p:spPr>
            <a:xfrm>
              <a:off x="0" y="0"/>
              <a:ext cx="1024128" cy="1024128"/>
            </a:xfrm>
            <a:prstGeom prst="rect">
              <a:avLst/>
            </a:prstGeom>
          </p:spPr>
          <p:txBody>
            <a:bodyPr lIns="0" tIns="0" rIns="0" bIns="0" rtlCol="0" anchor="ctr"/>
            <a:lstStyle/>
            <a:p>
              <a:pPr algn="ctr">
                <a:lnSpc>
                  <a:spcPts val="3120"/>
                </a:lnSpc>
              </a:pPr>
              <a:r>
                <a:rPr lang="en-US" sz="2600" i="1" spc="130">
                  <a:solidFill>
                    <a:srgbClr val="7C898B"/>
                  </a:solidFill>
                  <a:latin typeface="Playfair Display Italics"/>
                  <a:ea typeface="Playfair Display Italics"/>
                  <a:cs typeface="Playfair Display Italics"/>
                  <a:sym typeface="Playfair Display Italics"/>
                </a:rPr>
                <a:t>3</a:t>
              </a:r>
            </a:p>
          </p:txBody>
        </p:sp>
      </p:grpSp>
      <p:grpSp>
        <p:nvGrpSpPr>
          <p:cNvPr id="97" name="Group 97"/>
          <p:cNvGrpSpPr/>
          <p:nvPr/>
        </p:nvGrpSpPr>
        <p:grpSpPr>
          <a:xfrm>
            <a:off x="13716000" y="5998464"/>
            <a:ext cx="3840480" cy="768096"/>
            <a:chOff x="0" y="0"/>
            <a:chExt cx="5120640" cy="1024128"/>
          </a:xfrm>
        </p:grpSpPr>
        <p:sp>
          <p:nvSpPr>
            <p:cNvPr id="98" name="Freeform 98"/>
            <p:cNvSpPr/>
            <p:nvPr/>
          </p:nvSpPr>
          <p:spPr>
            <a:xfrm>
              <a:off x="0" y="0"/>
              <a:ext cx="5120640" cy="1024128"/>
            </a:xfrm>
            <a:custGeom>
              <a:avLst/>
              <a:gdLst/>
              <a:ahLst/>
              <a:cxnLst/>
              <a:rect l="l" t="t" r="r" b="b"/>
              <a:pathLst>
                <a:path w="5120640" h="1024128">
                  <a:moveTo>
                    <a:pt x="0" y="0"/>
                  </a:moveTo>
                  <a:lnTo>
                    <a:pt x="5120640" y="0"/>
                  </a:lnTo>
                  <a:lnTo>
                    <a:pt x="5120640" y="1024128"/>
                  </a:lnTo>
                  <a:lnTo>
                    <a:pt x="0" y="1024128"/>
                  </a:lnTo>
                  <a:close/>
                </a:path>
              </a:pathLst>
            </a:custGeom>
            <a:blipFill>
              <a:blip r:embed="rId3">
                <a:alphaModFix amt="0"/>
              </a:blip>
              <a:stretch>
                <a:fillRect t="-47425" b="-47425"/>
              </a:stretch>
            </a:blipFill>
          </p:spPr>
          <p:txBody>
            <a:bodyPr/>
            <a:lstStyle/>
            <a:p>
              <a:endParaRPr lang="en-IN"/>
            </a:p>
          </p:txBody>
        </p:sp>
        <p:sp>
          <p:nvSpPr>
            <p:cNvPr id="99" name="TextBox 99"/>
            <p:cNvSpPr txBox="1"/>
            <p:nvPr/>
          </p:nvSpPr>
          <p:spPr>
            <a:xfrm>
              <a:off x="0" y="0"/>
              <a:ext cx="5120640" cy="1024128"/>
            </a:xfrm>
            <a:prstGeom prst="rect">
              <a:avLst/>
            </a:prstGeom>
          </p:spPr>
          <p:txBody>
            <a:bodyPr lIns="0" tIns="0" rIns="0" bIns="0" rtlCol="0" anchor="ctr"/>
            <a:lstStyle/>
            <a:p>
              <a:pPr algn="l">
                <a:lnSpc>
                  <a:spcPts val="3120"/>
                </a:lnSpc>
              </a:pPr>
              <a:r>
                <a:rPr lang="en-US" sz="2600" spc="130" dirty="0">
                  <a:solidFill>
                    <a:srgbClr val="FFFFFF"/>
                  </a:solidFill>
                  <a:latin typeface="Times New Roman" panose="02020603050405020304" pitchFamily="18" charset="0"/>
                  <a:ea typeface="Playfair Display Italics"/>
                  <a:cs typeface="Times New Roman" panose="02020603050405020304" pitchFamily="18" charset="0"/>
                  <a:sym typeface="Playfair Display Italics"/>
                </a:rPr>
                <a:t>Loss Function ℓ</a:t>
              </a:r>
            </a:p>
          </p:txBody>
        </p:sp>
      </p:grpSp>
      <p:grpSp>
        <p:nvGrpSpPr>
          <p:cNvPr id="100" name="Group 100"/>
          <p:cNvGrpSpPr/>
          <p:nvPr/>
        </p:nvGrpSpPr>
        <p:grpSpPr>
          <a:xfrm>
            <a:off x="12472416" y="6858000"/>
            <a:ext cx="5047488" cy="2286000"/>
            <a:chOff x="0" y="0"/>
            <a:chExt cx="6729984" cy="3048000"/>
          </a:xfrm>
        </p:grpSpPr>
        <p:sp>
          <p:nvSpPr>
            <p:cNvPr id="101" name="Freeform 101"/>
            <p:cNvSpPr/>
            <p:nvPr/>
          </p:nvSpPr>
          <p:spPr>
            <a:xfrm>
              <a:off x="0" y="0"/>
              <a:ext cx="6729984" cy="3048000"/>
            </a:xfrm>
            <a:custGeom>
              <a:avLst/>
              <a:gdLst/>
              <a:ahLst/>
              <a:cxnLst/>
              <a:rect l="l" t="t" r="r" b="b"/>
              <a:pathLst>
                <a:path w="6729984" h="3048000">
                  <a:moveTo>
                    <a:pt x="0" y="0"/>
                  </a:moveTo>
                  <a:lnTo>
                    <a:pt x="6729984" y="0"/>
                  </a:lnTo>
                  <a:lnTo>
                    <a:pt x="6729984" y="3048000"/>
                  </a:lnTo>
                  <a:lnTo>
                    <a:pt x="0" y="3048000"/>
                  </a:lnTo>
                  <a:close/>
                </a:path>
              </a:pathLst>
            </a:custGeom>
            <a:blipFill>
              <a:blip r:embed="rId3">
                <a:alphaModFix amt="0"/>
              </a:blip>
              <a:stretch>
                <a:fillRect l="-8108" r="-8108"/>
              </a:stretch>
            </a:blipFill>
          </p:spPr>
          <p:txBody>
            <a:bodyPr/>
            <a:lstStyle/>
            <a:p>
              <a:endParaRPr lang="en-IN"/>
            </a:p>
          </p:txBody>
        </p:sp>
        <p:sp>
          <p:nvSpPr>
            <p:cNvPr id="102" name="TextBox 102"/>
            <p:cNvSpPr txBox="1"/>
            <p:nvPr/>
          </p:nvSpPr>
          <p:spPr>
            <a:xfrm>
              <a:off x="0" y="0"/>
              <a:ext cx="6729984" cy="3048000"/>
            </a:xfrm>
            <a:prstGeom prst="rect">
              <a:avLst/>
            </a:prstGeom>
          </p:spPr>
          <p:txBody>
            <a:bodyPr lIns="0" tIns="0" rIns="0" bIns="0" rtlCol="0" anchor="ctr"/>
            <a:lstStyle/>
            <a:p>
              <a:pPr algn="l">
                <a:lnSpc>
                  <a:spcPts val="2879"/>
                </a:lnSpc>
              </a:pPr>
              <a:r>
                <a:rPr lang="en-US" sz="2400" spc="48">
                  <a:solidFill>
                    <a:srgbClr val="FFFFFF"/>
                  </a:solidFill>
                  <a:latin typeface="Playfair Display"/>
                  <a:ea typeface="Playfair Display"/>
                  <a:cs typeface="Playfair Display"/>
                  <a:sym typeface="Playfair Display"/>
                </a:rPr>
                <a:t>How prediction error is measured</a:t>
              </a:r>
            </a:p>
            <a:p>
              <a:pPr algn="l">
                <a:lnSpc>
                  <a:spcPts val="2879"/>
                </a:lnSpc>
              </a:pPr>
              <a:r>
                <a:rPr lang="en-US" sz="2400" spc="48">
                  <a:solidFill>
                    <a:srgbClr val="FFFFFF"/>
                  </a:solidFill>
                  <a:latin typeface="Playfair Display"/>
                  <a:ea typeface="Playfair Display"/>
                  <a:cs typeface="Playfair Display"/>
                  <a:sym typeface="Playfair Display"/>
                </a:rPr>
                <a:t>(MSE / cross-entropy / KL-divergence)</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53439"/>
        </a:solidFill>
        <a:effectLst/>
      </p:bgPr>
    </p:bg>
    <p:spTree>
      <p:nvGrpSpPr>
        <p:cNvPr id="1" name="">
          <a:extLst>
            <a:ext uri="{FF2B5EF4-FFF2-40B4-BE49-F238E27FC236}">
              <a16:creationId xmlns:a16="http://schemas.microsoft.com/office/drawing/2014/main" id="{21CC604D-17F2-5972-F83F-49FD045A2C4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8E21A7E-65CA-BFB3-7955-B346BB6BFC52}"/>
              </a:ext>
            </a:extLst>
          </p:cNvPr>
          <p:cNvGrpSpPr/>
          <p:nvPr/>
        </p:nvGrpSpPr>
        <p:grpSpPr>
          <a:xfrm>
            <a:off x="-12697" y="-12697"/>
            <a:ext cx="18313403" cy="1342139"/>
            <a:chOff x="0" y="0"/>
            <a:chExt cx="24417871" cy="1789519"/>
          </a:xfrm>
        </p:grpSpPr>
        <p:sp>
          <p:nvSpPr>
            <p:cNvPr id="3" name="Freeform 3">
              <a:extLst>
                <a:ext uri="{FF2B5EF4-FFF2-40B4-BE49-F238E27FC236}">
                  <a16:creationId xmlns:a16="http://schemas.microsoft.com/office/drawing/2014/main" id="{A232B719-6C16-49CF-4CB8-E82F88A7F91B}"/>
                </a:ext>
              </a:extLst>
            </p:cNvPr>
            <p:cNvSpPr/>
            <p:nvPr/>
          </p:nvSpPr>
          <p:spPr>
            <a:xfrm>
              <a:off x="0" y="0"/>
              <a:ext cx="24417910" cy="1789557"/>
            </a:xfrm>
            <a:custGeom>
              <a:avLst/>
              <a:gdLst/>
              <a:ahLst/>
              <a:cxnLst/>
              <a:rect l="l" t="t" r="r" b="b"/>
              <a:pathLst>
                <a:path w="24417910" h="1789557">
                  <a:moveTo>
                    <a:pt x="0" y="0"/>
                  </a:moveTo>
                  <a:lnTo>
                    <a:pt x="24417910" y="0"/>
                  </a:lnTo>
                  <a:lnTo>
                    <a:pt x="24417910" y="1789557"/>
                  </a:lnTo>
                  <a:lnTo>
                    <a:pt x="0" y="1789557"/>
                  </a:lnTo>
                  <a:close/>
                </a:path>
              </a:pathLst>
            </a:custGeom>
            <a:solidFill>
              <a:srgbClr val="FFFFFF"/>
            </a:solidFill>
            <a:ln w="25400" cap="sq">
              <a:solidFill>
                <a:srgbClr val="1A3461"/>
              </a:solidFill>
              <a:prstDash val="solid"/>
              <a:miter/>
            </a:ln>
          </p:spPr>
          <p:txBody>
            <a:bodyPr/>
            <a:lstStyle/>
            <a:p>
              <a:endParaRPr lang="en-IN"/>
            </a:p>
          </p:txBody>
        </p:sp>
      </p:grpSp>
      <p:grpSp>
        <p:nvGrpSpPr>
          <p:cNvPr id="4" name="Group 4">
            <a:extLst>
              <a:ext uri="{FF2B5EF4-FFF2-40B4-BE49-F238E27FC236}">
                <a16:creationId xmlns:a16="http://schemas.microsoft.com/office/drawing/2014/main" id="{13EE91B4-0988-2C66-A6D1-9B7D13F46B30}"/>
              </a:ext>
            </a:extLst>
          </p:cNvPr>
          <p:cNvGrpSpPr/>
          <p:nvPr/>
        </p:nvGrpSpPr>
        <p:grpSpPr>
          <a:xfrm>
            <a:off x="731520" y="0"/>
            <a:ext cx="16824960" cy="1316736"/>
            <a:chOff x="0" y="0"/>
            <a:chExt cx="22433280" cy="1755648"/>
          </a:xfrm>
        </p:grpSpPr>
        <p:sp>
          <p:nvSpPr>
            <p:cNvPr id="5" name="Freeform 5">
              <a:extLst>
                <a:ext uri="{FF2B5EF4-FFF2-40B4-BE49-F238E27FC236}">
                  <a16:creationId xmlns:a16="http://schemas.microsoft.com/office/drawing/2014/main" id="{F769703E-7438-6F3B-A68E-286CC57B4EE2}"/>
                </a:ext>
              </a:extLst>
            </p:cNvPr>
            <p:cNvSpPr/>
            <p:nvPr/>
          </p:nvSpPr>
          <p:spPr>
            <a:xfrm>
              <a:off x="0" y="0"/>
              <a:ext cx="22433280" cy="1755648"/>
            </a:xfrm>
            <a:custGeom>
              <a:avLst/>
              <a:gdLst/>
              <a:ahLst/>
              <a:cxnLst/>
              <a:rect l="l" t="t" r="r" b="b"/>
              <a:pathLst>
                <a:path w="22433280" h="1755648">
                  <a:moveTo>
                    <a:pt x="0" y="0"/>
                  </a:moveTo>
                  <a:lnTo>
                    <a:pt x="22433280" y="0"/>
                  </a:lnTo>
                  <a:lnTo>
                    <a:pt x="22433280" y="1755648"/>
                  </a:lnTo>
                  <a:lnTo>
                    <a:pt x="0" y="1755648"/>
                  </a:lnTo>
                  <a:close/>
                </a:path>
              </a:pathLst>
            </a:custGeom>
            <a:blipFill>
              <a:blip r:embed="rId3">
                <a:alphaModFix amt="0"/>
              </a:blip>
              <a:stretch>
                <a:fillRect t="-198975" b="-198975"/>
              </a:stretch>
            </a:blipFill>
          </p:spPr>
          <p:txBody>
            <a:bodyPr/>
            <a:lstStyle/>
            <a:p>
              <a:endParaRPr lang="en-IN" dirty="0"/>
            </a:p>
          </p:txBody>
        </p:sp>
        <p:sp>
          <p:nvSpPr>
            <p:cNvPr id="6" name="TextBox 6">
              <a:extLst>
                <a:ext uri="{FF2B5EF4-FFF2-40B4-BE49-F238E27FC236}">
                  <a16:creationId xmlns:a16="http://schemas.microsoft.com/office/drawing/2014/main" id="{91BA0829-99AF-6663-6E95-2305C58139C0}"/>
                </a:ext>
              </a:extLst>
            </p:cNvPr>
            <p:cNvSpPr txBox="1"/>
            <p:nvPr/>
          </p:nvSpPr>
          <p:spPr>
            <a:xfrm>
              <a:off x="0" y="-9525"/>
              <a:ext cx="22433280" cy="1765173"/>
            </a:xfrm>
            <a:prstGeom prst="rect">
              <a:avLst/>
            </a:prstGeom>
          </p:spPr>
          <p:txBody>
            <a:bodyPr lIns="0" tIns="0" rIns="0" bIns="0" rtlCol="0" anchor="ctr"/>
            <a:lstStyle/>
            <a:p>
              <a:pPr algn="l">
                <a:lnSpc>
                  <a:spcPts val="4800"/>
                </a:lnSpc>
              </a:pPr>
              <a:r>
                <a:rPr lang="en-US" sz="4000" spc="560" dirty="0">
                  <a:latin typeface="Times New Roman" panose="02020603050405020304" pitchFamily="18" charset="0"/>
                  <a:ea typeface="Hammersmith One"/>
                  <a:cs typeface="Times New Roman" panose="02020603050405020304" pitchFamily="18" charset="0"/>
                  <a:sym typeface="Hammersmith One"/>
                </a:rPr>
                <a:t>The Encoder Decoder Framework </a:t>
              </a:r>
            </a:p>
          </p:txBody>
        </p:sp>
      </p:grpSp>
      <p:sp>
        <p:nvSpPr>
          <p:cNvPr id="8" name="Freeform 8">
            <a:extLst>
              <a:ext uri="{FF2B5EF4-FFF2-40B4-BE49-F238E27FC236}">
                <a16:creationId xmlns:a16="http://schemas.microsoft.com/office/drawing/2014/main" id="{D2C3632E-7E28-AF43-50EB-D358BF3E5EDF}"/>
              </a:ext>
            </a:extLst>
          </p:cNvPr>
          <p:cNvSpPr/>
          <p:nvPr/>
        </p:nvSpPr>
        <p:spPr>
          <a:xfrm>
            <a:off x="731520" y="73152"/>
            <a:ext cx="16459200" cy="402336"/>
          </a:xfrm>
          <a:custGeom>
            <a:avLst/>
            <a:gdLst/>
            <a:ahLst/>
            <a:cxnLst/>
            <a:rect l="l" t="t" r="r" b="b"/>
            <a:pathLst>
              <a:path w="21945600" h="536448">
                <a:moveTo>
                  <a:pt x="0" y="0"/>
                </a:moveTo>
                <a:lnTo>
                  <a:pt x="21945600" y="0"/>
                </a:lnTo>
                <a:lnTo>
                  <a:pt x="21945600" y="536448"/>
                </a:lnTo>
                <a:lnTo>
                  <a:pt x="0" y="536448"/>
                </a:lnTo>
                <a:close/>
              </a:path>
            </a:pathLst>
          </a:custGeom>
          <a:blipFill>
            <a:blip r:embed="rId3">
              <a:alphaModFix amt="0"/>
            </a:blip>
            <a:stretch>
              <a:fillRect t="-747115" b="-747115"/>
            </a:stretch>
          </a:blipFill>
        </p:spPr>
        <p:txBody>
          <a:bodyPr/>
          <a:lstStyle/>
          <a:p>
            <a:endParaRPr lang="en-IN"/>
          </a:p>
        </p:txBody>
      </p:sp>
      <p:sp>
        <p:nvSpPr>
          <p:cNvPr id="11" name="Freeform 11">
            <a:extLst>
              <a:ext uri="{FF2B5EF4-FFF2-40B4-BE49-F238E27FC236}">
                <a16:creationId xmlns:a16="http://schemas.microsoft.com/office/drawing/2014/main" id="{8683CCFB-EE8C-876E-ECDE-7E3545667811}"/>
              </a:ext>
            </a:extLst>
          </p:cNvPr>
          <p:cNvSpPr/>
          <p:nvPr/>
        </p:nvSpPr>
        <p:spPr>
          <a:xfrm>
            <a:off x="731520" y="1499616"/>
            <a:ext cx="16824960" cy="731520"/>
          </a:xfrm>
          <a:custGeom>
            <a:avLst/>
            <a:gdLst/>
            <a:ahLst/>
            <a:cxnLst/>
            <a:rect l="l" t="t" r="r" b="b"/>
            <a:pathLst>
              <a:path w="22433280" h="975360">
                <a:moveTo>
                  <a:pt x="0" y="0"/>
                </a:moveTo>
                <a:lnTo>
                  <a:pt x="22433280" y="0"/>
                </a:lnTo>
                <a:lnTo>
                  <a:pt x="22433280" y="975360"/>
                </a:lnTo>
                <a:lnTo>
                  <a:pt x="0" y="975360"/>
                </a:lnTo>
                <a:close/>
              </a:path>
            </a:pathLst>
          </a:custGeom>
          <a:blipFill>
            <a:blip r:embed="rId3">
              <a:alphaModFix amt="0"/>
            </a:blip>
            <a:stretch>
              <a:fillRect t="-398155" b="-398155"/>
            </a:stretch>
          </a:blipFill>
        </p:spPr>
        <p:txBody>
          <a:bodyPr/>
          <a:lstStyle/>
          <a:p>
            <a:endParaRPr lang="en-IN"/>
          </a:p>
        </p:txBody>
      </p:sp>
      <p:grpSp>
        <p:nvGrpSpPr>
          <p:cNvPr id="7" name="Group 10">
            <a:extLst>
              <a:ext uri="{FF2B5EF4-FFF2-40B4-BE49-F238E27FC236}">
                <a16:creationId xmlns:a16="http://schemas.microsoft.com/office/drawing/2014/main" id="{2A0BD98C-E291-7E53-E5AC-7476481A1605}"/>
              </a:ext>
            </a:extLst>
          </p:cNvPr>
          <p:cNvGrpSpPr/>
          <p:nvPr/>
        </p:nvGrpSpPr>
        <p:grpSpPr>
          <a:xfrm>
            <a:off x="304801" y="1499616"/>
            <a:ext cx="17754600" cy="8714232"/>
            <a:chOff x="0" y="0"/>
            <a:chExt cx="10762742" cy="4910582"/>
          </a:xfrm>
        </p:grpSpPr>
        <p:sp>
          <p:nvSpPr>
            <p:cNvPr id="9" name="Freeform 11">
              <a:extLst>
                <a:ext uri="{FF2B5EF4-FFF2-40B4-BE49-F238E27FC236}">
                  <a16:creationId xmlns:a16="http://schemas.microsoft.com/office/drawing/2014/main" id="{677350ED-4244-0ADD-1450-886D8F69E31B}"/>
                </a:ext>
              </a:extLst>
            </p:cNvPr>
            <p:cNvSpPr/>
            <p:nvPr/>
          </p:nvSpPr>
          <p:spPr>
            <a:xfrm>
              <a:off x="0" y="0"/>
              <a:ext cx="10762742" cy="4910582"/>
            </a:xfrm>
            <a:custGeom>
              <a:avLst/>
              <a:gdLst/>
              <a:ahLst/>
              <a:cxnLst/>
              <a:rect l="l" t="t" r="r" b="b"/>
              <a:pathLst>
                <a:path w="10762742" h="4910582">
                  <a:moveTo>
                    <a:pt x="0" y="245491"/>
                  </a:moveTo>
                  <a:cubicBezTo>
                    <a:pt x="0" y="109982"/>
                    <a:pt x="109982" y="0"/>
                    <a:pt x="245491" y="0"/>
                  </a:cubicBezTo>
                  <a:lnTo>
                    <a:pt x="10517251" y="0"/>
                  </a:lnTo>
                  <a:cubicBezTo>
                    <a:pt x="10652887" y="0"/>
                    <a:pt x="10762742" y="109982"/>
                    <a:pt x="10762742" y="245491"/>
                  </a:cubicBezTo>
                  <a:lnTo>
                    <a:pt x="10762742" y="4665091"/>
                  </a:lnTo>
                  <a:cubicBezTo>
                    <a:pt x="10762742" y="4800727"/>
                    <a:pt x="10652760" y="4910582"/>
                    <a:pt x="10517251" y="4910582"/>
                  </a:cubicBezTo>
                  <a:lnTo>
                    <a:pt x="245491" y="4910582"/>
                  </a:lnTo>
                  <a:cubicBezTo>
                    <a:pt x="109982" y="4910709"/>
                    <a:pt x="0" y="4800727"/>
                    <a:pt x="0" y="4665091"/>
                  </a:cubicBezTo>
                  <a:close/>
                </a:path>
              </a:pathLst>
            </a:custGeom>
            <a:solidFill>
              <a:srgbClr val="FFFFFF"/>
            </a:solidFill>
            <a:ln w="25400" cap="sq">
              <a:solidFill>
                <a:srgbClr val="D8E8F8"/>
              </a:solidFill>
              <a:prstDash val="solid"/>
              <a:miter/>
            </a:ln>
          </p:spPr>
          <p:txBody>
            <a:bodyPr/>
            <a:lstStyle/>
            <a:p>
              <a:endParaRPr lang="en-IN" dirty="0"/>
            </a:p>
          </p:txBody>
        </p:sp>
      </p:grpSp>
      <p:sp>
        <p:nvSpPr>
          <p:cNvPr id="106" name="TextBox 105">
            <a:extLst>
              <a:ext uri="{FF2B5EF4-FFF2-40B4-BE49-F238E27FC236}">
                <a16:creationId xmlns:a16="http://schemas.microsoft.com/office/drawing/2014/main" id="{5C7E1209-650C-F4FD-5F0A-9F322B2D8C3B}"/>
              </a:ext>
            </a:extLst>
          </p:cNvPr>
          <p:cNvSpPr txBox="1"/>
          <p:nvPr/>
        </p:nvSpPr>
        <p:spPr>
          <a:xfrm>
            <a:off x="990600" y="1865376"/>
            <a:ext cx="16200120" cy="8217634"/>
          </a:xfrm>
          <a:prstGeom prst="rect">
            <a:avLst/>
          </a:prstGeom>
          <a:noFill/>
        </p:spPr>
        <p:txBody>
          <a:bodyPr wrap="square">
            <a:spAutoFit/>
          </a:bodyPr>
          <a:lstStyle/>
          <a:p>
            <a:pPr algn="just">
              <a:buNone/>
            </a:pPr>
            <a:r>
              <a:rPr lang="en-IN" sz="2400" b="1" dirty="0">
                <a:latin typeface="Times New Roman" panose="02020603050405020304" pitchFamily="18" charset="0"/>
                <a:cs typeface="Times New Roman" panose="02020603050405020304" pitchFamily="18" charset="0"/>
              </a:rPr>
              <a:t>1. Graph G (The Input Data)</a:t>
            </a:r>
          </a:p>
          <a:p>
            <a:pPr marL="800100" lvl="1" indent="-342900" algn="just">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Represents the network structure as </a:t>
            </a:r>
            <a:r>
              <a:rPr lang="en-IN" sz="2400" b="1" dirty="0">
                <a:latin typeface="Times New Roman" panose="02020603050405020304" pitchFamily="18" charset="0"/>
                <a:cs typeface="Times New Roman" panose="02020603050405020304" pitchFamily="18" charset="0"/>
              </a:rPr>
              <a:t>G = (V, E)</a:t>
            </a:r>
            <a:r>
              <a:rPr lang="en-IN" sz="2400" dirty="0">
                <a:latin typeface="Times New Roman" panose="02020603050405020304" pitchFamily="18" charset="0"/>
                <a:cs typeface="Times New Roman" panose="02020603050405020304" pitchFamily="18" charset="0"/>
              </a:rPr>
              <a:t>, where </a:t>
            </a:r>
            <a:r>
              <a:rPr lang="en-IN" sz="2400" b="1" dirty="0">
                <a:latin typeface="Times New Roman" panose="02020603050405020304" pitchFamily="18" charset="0"/>
                <a:cs typeface="Times New Roman" panose="02020603050405020304" pitchFamily="18" charset="0"/>
              </a:rPr>
              <a:t>V</a:t>
            </a:r>
            <a:r>
              <a:rPr lang="en-IN" sz="2400" dirty="0">
                <a:latin typeface="Times New Roman" panose="02020603050405020304" pitchFamily="18" charset="0"/>
                <a:cs typeface="Times New Roman" panose="02020603050405020304" pitchFamily="18" charset="0"/>
              </a:rPr>
              <a:t> is the set of nodes and </a:t>
            </a:r>
            <a:r>
              <a:rPr lang="en-IN" sz="2400" b="1" dirty="0">
                <a:latin typeface="Times New Roman" panose="02020603050405020304" pitchFamily="18" charset="0"/>
                <a:cs typeface="Times New Roman" panose="02020603050405020304" pitchFamily="18" charset="0"/>
              </a:rPr>
              <a:t>E</a:t>
            </a:r>
            <a:r>
              <a:rPr lang="en-IN" sz="2400" dirty="0">
                <a:latin typeface="Times New Roman" panose="02020603050405020304" pitchFamily="18" charset="0"/>
                <a:cs typeface="Times New Roman" panose="02020603050405020304" pitchFamily="18" charset="0"/>
              </a:rPr>
              <a:t> is the set of edges.</a:t>
            </a:r>
          </a:p>
          <a:p>
            <a:pPr marL="800100" lvl="1" indent="-342900" algn="just">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It is stored as an adjacency matrix </a:t>
            </a:r>
            <a:r>
              <a:rPr lang="en-IN" sz="2400" b="1" dirty="0">
                <a:latin typeface="Times New Roman" panose="02020603050405020304" pitchFamily="18" charset="0"/>
                <a:cs typeface="Times New Roman" panose="02020603050405020304" pitchFamily="18" charset="0"/>
              </a:rPr>
              <a:t>A</a:t>
            </a:r>
            <a:r>
              <a:rPr lang="en-IN" sz="2400" dirty="0">
                <a:latin typeface="Times New Roman" panose="02020603050405020304" pitchFamily="18" charset="0"/>
                <a:cs typeface="Times New Roman" panose="02020603050405020304" pitchFamily="18" charset="0"/>
              </a:rPr>
              <a:t>, where entry </a:t>
            </a:r>
            <a:r>
              <a:rPr lang="en-IN" sz="2400" b="1" dirty="0">
                <a:latin typeface="Times New Roman" panose="02020603050405020304" pitchFamily="18" charset="0"/>
                <a:cs typeface="Times New Roman" panose="02020603050405020304" pitchFamily="18" charset="0"/>
              </a:rPr>
              <a:t>A[u, v]</a:t>
            </a:r>
            <a:r>
              <a:rPr lang="en-IN" sz="2400" dirty="0">
                <a:latin typeface="Times New Roman" panose="02020603050405020304" pitchFamily="18" charset="0"/>
                <a:cs typeface="Times New Roman" panose="02020603050405020304" pitchFamily="18" charset="0"/>
              </a:rPr>
              <a:t> indicates a direct connection or edge weight between nodes </a:t>
            </a:r>
            <a:r>
              <a:rPr lang="en-IN" sz="2400" b="1" dirty="0">
                <a:latin typeface="Times New Roman" panose="02020603050405020304" pitchFamily="18" charset="0"/>
                <a:cs typeface="Times New Roman" panose="02020603050405020304" pitchFamily="18" charset="0"/>
              </a:rPr>
              <a:t>u</a:t>
            </a:r>
            <a:r>
              <a:rPr lang="en-IN" sz="2400" dirty="0">
                <a:latin typeface="Times New Roman" panose="02020603050405020304" pitchFamily="18" charset="0"/>
                <a:cs typeface="Times New Roman" panose="02020603050405020304" pitchFamily="18" charset="0"/>
              </a:rPr>
              <a:t> and </a:t>
            </a:r>
            <a:r>
              <a:rPr lang="en-IN" sz="2400" b="1" dirty="0">
                <a:latin typeface="Times New Roman" panose="02020603050405020304" pitchFamily="18" charset="0"/>
                <a:cs typeface="Times New Roman" panose="02020603050405020304" pitchFamily="18" charset="0"/>
              </a:rPr>
              <a:t>v</a:t>
            </a:r>
            <a:r>
              <a:rPr lang="en-IN" sz="2400" dirty="0">
                <a:latin typeface="Times New Roman" panose="02020603050405020304" pitchFamily="18" charset="0"/>
                <a:cs typeface="Times New Roman" panose="02020603050405020304" pitchFamily="18" charset="0"/>
              </a:rPr>
              <a:t>.</a:t>
            </a:r>
          </a:p>
          <a:p>
            <a:pPr algn="just">
              <a:buNone/>
            </a:pPr>
            <a:r>
              <a:rPr lang="en-IN" sz="2400" b="1" dirty="0">
                <a:latin typeface="Times New Roman" panose="02020603050405020304" pitchFamily="18" charset="0"/>
                <a:cs typeface="Times New Roman" panose="02020603050405020304" pitchFamily="18" charset="0"/>
              </a:rPr>
              <a:t>2. ENCODER (The Mapping Function)</a:t>
            </a:r>
          </a:p>
          <a:p>
            <a:pPr marL="800100" lvl="1" indent="-342900" algn="just">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A function with the signature: </a:t>
            </a:r>
            <a:r>
              <a:rPr lang="en-IN" sz="2400" b="1" dirty="0">
                <a:latin typeface="Times New Roman" panose="02020603050405020304" pitchFamily="18" charset="0"/>
                <a:cs typeface="Times New Roman" panose="02020603050405020304" pitchFamily="18" charset="0"/>
              </a:rPr>
              <a:t>ENC : V → R^d</a:t>
            </a:r>
            <a:endParaRPr lang="en-IN" sz="2400" dirty="0">
              <a:latin typeface="Times New Roman" panose="02020603050405020304" pitchFamily="18" charset="0"/>
              <a:cs typeface="Times New Roman" panose="02020603050405020304" pitchFamily="18" charset="0"/>
            </a:endParaRPr>
          </a:p>
          <a:p>
            <a:pPr marL="800100" lvl="1" indent="-342900" algn="just">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It takes a discrete node ID from the graph and maps it into a low-dimensional space.</a:t>
            </a:r>
          </a:p>
          <a:p>
            <a:pPr marL="800100" lvl="1" indent="-342900" algn="just">
              <a:buFont typeface="Wingdings" panose="05000000000000000000" pitchFamily="2" charset="2"/>
              <a:buChar char="§"/>
            </a:pPr>
            <a:r>
              <a:rPr lang="en-IN" sz="2400" b="1" dirty="0">
                <a:latin typeface="Times New Roman" panose="02020603050405020304" pitchFamily="18" charset="0"/>
                <a:cs typeface="Times New Roman" panose="02020603050405020304" pitchFamily="18" charset="0"/>
              </a:rPr>
              <a:t>Shallow Paradigm:</a:t>
            </a:r>
            <a:r>
              <a:rPr lang="en-IN" sz="2400" dirty="0">
                <a:latin typeface="Times New Roman" panose="02020603050405020304" pitchFamily="18" charset="0"/>
                <a:cs typeface="Times New Roman" panose="02020603050405020304" pitchFamily="18" charset="0"/>
              </a:rPr>
              <a:t> In methods like DeepWalk and node2vec, the encoder is simply a direct lookup table pointing to a row in a coordinate matrix: </a:t>
            </a:r>
            <a:r>
              <a:rPr lang="en-IN" sz="2400" b="1" dirty="0">
                <a:latin typeface="Times New Roman" panose="02020603050405020304" pitchFamily="18" charset="0"/>
                <a:cs typeface="Times New Roman" panose="02020603050405020304" pitchFamily="18" charset="0"/>
              </a:rPr>
              <a:t>ENC(v) = Z[v]</a:t>
            </a:r>
            <a:r>
              <a:rPr lang="en-IN" sz="2400" dirty="0">
                <a:latin typeface="Times New Roman" panose="02020603050405020304" pitchFamily="18" charset="0"/>
                <a:cs typeface="Times New Roman" panose="02020603050405020304" pitchFamily="18" charset="0"/>
              </a:rPr>
              <a:t>.</a:t>
            </a:r>
          </a:p>
          <a:p>
            <a:pPr algn="just">
              <a:buNone/>
            </a:pPr>
            <a:r>
              <a:rPr lang="en-IN" sz="2400" b="1" dirty="0">
                <a:latin typeface="Times New Roman" panose="02020603050405020304" pitchFamily="18" charset="0"/>
                <a:cs typeface="Times New Roman" panose="02020603050405020304" pitchFamily="18" charset="0"/>
              </a:rPr>
              <a:t>3. Embeddings Z (The Latent Space)</a:t>
            </a:r>
          </a:p>
          <a:p>
            <a:pPr marL="800100" lvl="1" indent="-342900" algn="just">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Consists of dense vectors </a:t>
            </a:r>
            <a:r>
              <a:rPr lang="en-IN" sz="2400" b="1" dirty="0">
                <a:latin typeface="Times New Roman" panose="02020603050405020304" pitchFamily="18" charset="0"/>
                <a:cs typeface="Times New Roman" panose="02020603050405020304" pitchFamily="18" charset="0"/>
              </a:rPr>
              <a:t>z_u, z_v ∈ R^d</a:t>
            </a:r>
            <a:r>
              <a:rPr lang="en-IN" sz="2400" dirty="0">
                <a:latin typeface="Times New Roman" panose="02020603050405020304" pitchFamily="18" charset="0"/>
                <a:cs typeface="Times New Roman" panose="02020603050405020304" pitchFamily="18" charset="0"/>
              </a:rPr>
              <a:t>, where the embedding size </a:t>
            </a:r>
            <a:r>
              <a:rPr lang="en-IN" sz="2400" b="1" dirty="0">
                <a:latin typeface="Times New Roman" panose="02020603050405020304" pitchFamily="18" charset="0"/>
                <a:cs typeface="Times New Roman" panose="02020603050405020304" pitchFamily="18" charset="0"/>
              </a:rPr>
              <a:t>d</a:t>
            </a:r>
            <a:r>
              <a:rPr lang="en-IN" sz="2400" dirty="0">
                <a:latin typeface="Times New Roman" panose="02020603050405020304" pitchFamily="18" charset="0"/>
                <a:cs typeface="Times New Roman" panose="02020603050405020304" pitchFamily="18" charset="0"/>
              </a:rPr>
              <a:t> is much smaller than the total number of nodes </a:t>
            </a:r>
          </a:p>
          <a:p>
            <a:pPr lvl="1" algn="just"/>
            <a:r>
              <a:rPr lang="en-IN" sz="2400" dirty="0">
                <a:latin typeface="Times New Roman" panose="02020603050405020304" pitchFamily="18" charset="0"/>
                <a:cs typeface="Times New Roman" panose="02020603050405020304" pitchFamily="18" charset="0"/>
              </a:rPr>
              <a:t>(</a:t>
            </a:r>
            <a:r>
              <a:rPr lang="en-IN" sz="2400" b="1" dirty="0">
                <a:latin typeface="Times New Roman" panose="02020603050405020304" pitchFamily="18" charset="0"/>
                <a:cs typeface="Times New Roman" panose="02020603050405020304" pitchFamily="18" charset="0"/>
              </a:rPr>
              <a:t>d ≪ |V|</a:t>
            </a:r>
            <a:r>
              <a:rPr lang="en-IN" sz="2400" dirty="0">
                <a:latin typeface="Times New Roman" panose="02020603050405020304" pitchFamily="18" charset="0"/>
                <a:cs typeface="Times New Roman" panose="02020603050405020304" pitchFamily="18" charset="0"/>
              </a:rPr>
              <a:t>).</a:t>
            </a:r>
          </a:p>
          <a:p>
            <a:pPr marL="800100" lvl="1" indent="-342900" algn="just">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Stored globally as a massive parameter matrix </a:t>
            </a:r>
            <a:r>
              <a:rPr lang="en-IN" sz="2400" b="1" dirty="0">
                <a:latin typeface="Times New Roman" panose="02020603050405020304" pitchFamily="18" charset="0"/>
                <a:cs typeface="Times New Roman" panose="02020603050405020304" pitchFamily="18" charset="0"/>
              </a:rPr>
              <a:t>Z</a:t>
            </a:r>
            <a:r>
              <a:rPr lang="en-IN" sz="2400" dirty="0">
                <a:latin typeface="Times New Roman" panose="02020603050405020304" pitchFamily="18" charset="0"/>
                <a:cs typeface="Times New Roman" panose="02020603050405020304" pitchFamily="18" charset="0"/>
              </a:rPr>
              <a:t>, which acts as the learned geometric map of the network.</a:t>
            </a:r>
          </a:p>
          <a:p>
            <a:pPr algn="just">
              <a:buNone/>
            </a:pPr>
            <a:r>
              <a:rPr lang="en-IN" sz="2400" b="1" dirty="0">
                <a:latin typeface="Times New Roman" panose="02020603050405020304" pitchFamily="18" charset="0"/>
                <a:cs typeface="Times New Roman" panose="02020603050405020304" pitchFamily="18" charset="0"/>
              </a:rPr>
              <a:t>4. DECODER (The Reconstruction Engine)</a:t>
            </a:r>
          </a:p>
          <a:p>
            <a:pPr marL="800100" lvl="1" indent="-342900" algn="just">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A function with the signature: </a:t>
            </a:r>
            <a:r>
              <a:rPr lang="en-IN" sz="2400" b="1" dirty="0">
                <a:latin typeface="Times New Roman" panose="02020603050405020304" pitchFamily="18" charset="0"/>
                <a:cs typeface="Times New Roman" panose="02020603050405020304" pitchFamily="18" charset="0"/>
              </a:rPr>
              <a:t>DEC : R^d × R^d → R⁺</a:t>
            </a:r>
            <a:endParaRPr lang="en-IN" sz="2400" dirty="0">
              <a:latin typeface="Times New Roman" panose="02020603050405020304" pitchFamily="18" charset="0"/>
              <a:cs typeface="Times New Roman" panose="02020603050405020304" pitchFamily="18" charset="0"/>
            </a:endParaRPr>
          </a:p>
          <a:p>
            <a:pPr marL="800100" lvl="1" indent="-342900" algn="just">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It accepts a pair of embedding vectors (</a:t>
            </a:r>
            <a:r>
              <a:rPr lang="en-IN" sz="2400" b="1" dirty="0">
                <a:latin typeface="Times New Roman" panose="02020603050405020304" pitchFamily="18" charset="0"/>
                <a:cs typeface="Times New Roman" panose="02020603050405020304" pitchFamily="18" charset="0"/>
              </a:rPr>
              <a:t>z_u, z_v</a:t>
            </a:r>
            <a:r>
              <a:rPr lang="en-IN" sz="2400" dirty="0">
                <a:latin typeface="Times New Roman" panose="02020603050405020304" pitchFamily="18" charset="0"/>
                <a:cs typeface="Times New Roman" panose="02020603050405020304" pitchFamily="18" charset="0"/>
              </a:rPr>
              <a:t>) and processes them to predict a structural relationship from the original graph.</a:t>
            </a:r>
          </a:p>
          <a:p>
            <a:pPr marL="800100" lvl="1" indent="-342900" algn="just">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It can compute similarities using dot products (</a:t>
            </a:r>
            <a:r>
              <a:rPr lang="en-IN" sz="2400" b="1" dirty="0">
                <a:latin typeface="Times New Roman" panose="02020603050405020304" pitchFamily="18" charset="0"/>
                <a:cs typeface="Times New Roman" panose="02020603050405020304" pitchFamily="18" charset="0"/>
              </a:rPr>
              <a:t>z_uᵀ z_v</a:t>
            </a:r>
            <a:r>
              <a:rPr lang="en-IN" sz="2400" dirty="0">
                <a:latin typeface="Times New Roman" panose="02020603050405020304" pitchFamily="18" charset="0"/>
                <a:cs typeface="Times New Roman" panose="02020603050405020304" pitchFamily="18" charset="0"/>
              </a:rPr>
              <a:t>), Euclidean distances, or Softmax probabilities.</a:t>
            </a:r>
          </a:p>
          <a:p>
            <a:pPr algn="just">
              <a:buNone/>
            </a:pPr>
            <a:r>
              <a:rPr lang="en-IN" sz="2400" b="1" dirty="0">
                <a:latin typeface="Times New Roman" panose="02020603050405020304" pitchFamily="18" charset="0"/>
                <a:cs typeface="Times New Roman" panose="02020603050405020304" pitchFamily="18" charset="0"/>
              </a:rPr>
              <a:t>5. Similarity Score (The Optimization Goal)</a:t>
            </a:r>
          </a:p>
          <a:p>
            <a:pPr marL="800100" lvl="1" indent="-342900" algn="just">
              <a:buFont typeface="Wingdings" panose="05000000000000000000" pitchFamily="2" charset="2"/>
              <a:buChar char="§"/>
            </a:pPr>
            <a:r>
              <a:rPr lang="en-IN" sz="2400" b="1" dirty="0">
                <a:latin typeface="Times New Roman" panose="02020603050405020304" pitchFamily="18" charset="0"/>
                <a:cs typeface="Times New Roman" panose="02020603050405020304" pitchFamily="18" charset="0"/>
              </a:rPr>
              <a:t>The Core Objective:</a:t>
            </a: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DEC(z_u, z_v) ≈ S[u, v]</a:t>
            </a:r>
            <a:endParaRPr lang="en-IN" sz="2400" dirty="0">
              <a:latin typeface="Times New Roman" panose="02020603050405020304" pitchFamily="18" charset="0"/>
              <a:cs typeface="Times New Roman" panose="02020603050405020304" pitchFamily="18" charset="0"/>
            </a:endParaRPr>
          </a:p>
          <a:p>
            <a:pPr marL="800100" lvl="1" indent="-342900" algn="just">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It forces the decoder's predicted score to match the true graph similarity matrix </a:t>
            </a:r>
            <a:r>
              <a:rPr lang="en-IN" sz="2400" b="1" dirty="0">
                <a:latin typeface="Times New Roman" panose="02020603050405020304" pitchFamily="18" charset="0"/>
                <a:cs typeface="Times New Roman" panose="02020603050405020304" pitchFamily="18" charset="0"/>
              </a:rPr>
              <a:t>S[u, v]</a:t>
            </a:r>
            <a:r>
              <a:rPr lang="en-IN" sz="2400" dirty="0">
                <a:latin typeface="Times New Roman" panose="02020603050405020304" pitchFamily="18" charset="0"/>
                <a:cs typeface="Times New Roman" panose="02020603050405020304" pitchFamily="18" charset="0"/>
              </a:rPr>
              <a:t>.</a:t>
            </a:r>
          </a:p>
          <a:p>
            <a:pPr marL="800100" lvl="1" indent="-342900" algn="just">
              <a:buFont typeface="Wingdings" panose="05000000000000000000" pitchFamily="2" charset="2"/>
              <a:buChar char="§"/>
            </a:pPr>
            <a:r>
              <a:rPr lang="en-IN" sz="2400" b="1" dirty="0">
                <a:latin typeface="Times New Roman" panose="02020603050405020304" pitchFamily="18" charset="0"/>
                <a:cs typeface="Times New Roman" panose="02020603050405020304" pitchFamily="18" charset="0"/>
              </a:rPr>
              <a:t>S</a:t>
            </a:r>
            <a:r>
              <a:rPr lang="en-IN" sz="2400" dirty="0">
                <a:latin typeface="Times New Roman" panose="02020603050405020304" pitchFamily="18" charset="0"/>
                <a:cs typeface="Times New Roman" panose="02020603050405020304" pitchFamily="18" charset="0"/>
              </a:rPr>
              <a:t> can represent immediate direct neighbors (</a:t>
            </a:r>
            <a:r>
              <a:rPr lang="en-IN" sz="2400" b="1" dirty="0">
                <a:latin typeface="Times New Roman" panose="02020603050405020304" pitchFamily="18" charset="0"/>
                <a:cs typeface="Times New Roman" panose="02020603050405020304" pitchFamily="18" charset="0"/>
              </a:rPr>
              <a:t>A</a:t>
            </a:r>
            <a:r>
              <a:rPr lang="en-IN" sz="2400" dirty="0">
                <a:latin typeface="Times New Roman" panose="02020603050405020304" pitchFamily="18" charset="0"/>
                <a:cs typeface="Times New Roman" panose="02020603050405020304" pitchFamily="18" charset="0"/>
              </a:rPr>
              <a:t>), multi-hop paths (</a:t>
            </a:r>
            <a:r>
              <a:rPr lang="en-IN" sz="2400" b="1" dirty="0">
                <a:latin typeface="Times New Roman" panose="02020603050405020304" pitchFamily="18" charset="0"/>
                <a:cs typeface="Times New Roman" panose="02020603050405020304" pitchFamily="18" charset="0"/>
              </a:rPr>
              <a:t>A²</a:t>
            </a:r>
            <a:r>
              <a:rPr lang="en-IN" sz="2400" dirty="0">
                <a:latin typeface="Times New Roman" panose="02020603050405020304" pitchFamily="18" charset="0"/>
                <a:cs typeface="Times New Roman" panose="02020603050405020304" pitchFamily="18" charset="0"/>
              </a:rPr>
              <a:t>), or random walk probabilities.</a:t>
            </a:r>
          </a:p>
        </p:txBody>
      </p:sp>
    </p:spTree>
    <p:extLst>
      <p:ext uri="{BB962C8B-B14F-4D97-AF65-F5344CB8AC3E}">
        <p14:creationId xmlns:p14="http://schemas.microsoft.com/office/powerpoint/2010/main" val="15791433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53439"/>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0" y="0"/>
              <a:ext cx="24417910" cy="1789557"/>
            </a:xfrm>
            <a:custGeom>
              <a:avLst/>
              <a:gdLst/>
              <a:ahLst/>
              <a:cxnLst/>
              <a:rect l="l" t="t" r="r" b="b"/>
              <a:pathLst>
                <a:path w="24417910" h="1789557">
                  <a:moveTo>
                    <a:pt x="0" y="0"/>
                  </a:moveTo>
                  <a:lnTo>
                    <a:pt x="24417910" y="0"/>
                  </a:lnTo>
                  <a:lnTo>
                    <a:pt x="24417910" y="1789557"/>
                  </a:lnTo>
                  <a:lnTo>
                    <a:pt x="0" y="1789557"/>
                  </a:lnTo>
                  <a:close/>
                </a:path>
              </a:pathLst>
            </a:custGeom>
            <a:solidFill>
              <a:srgbClr val="FFFFFF"/>
            </a:solidFill>
            <a:ln w="25400" cap="sq">
              <a:solidFill>
                <a:srgbClr val="1A3461"/>
              </a:solidFill>
              <a:prstDash val="solid"/>
              <a:miter/>
            </a:ln>
          </p:spPr>
          <p:txBody>
            <a:bodyPr/>
            <a:lstStyle/>
            <a:p>
              <a:endParaRPr lang="en-IN"/>
            </a:p>
          </p:txBody>
        </p:sp>
      </p:grpSp>
      <p:grpSp>
        <p:nvGrpSpPr>
          <p:cNvPr id="4" name="Group 4"/>
          <p:cNvGrpSpPr/>
          <p:nvPr/>
        </p:nvGrpSpPr>
        <p:grpSpPr>
          <a:xfrm>
            <a:off x="731520" y="-7144"/>
            <a:ext cx="16824960" cy="1323880"/>
            <a:chOff x="0" y="-9525"/>
            <a:chExt cx="22433280" cy="1765173"/>
          </a:xfrm>
        </p:grpSpPr>
        <p:sp>
          <p:nvSpPr>
            <p:cNvPr id="5" name="Freeform 5"/>
            <p:cNvSpPr/>
            <p:nvPr/>
          </p:nvSpPr>
          <p:spPr>
            <a:xfrm>
              <a:off x="0" y="0"/>
              <a:ext cx="22433280" cy="1755648"/>
            </a:xfrm>
            <a:custGeom>
              <a:avLst/>
              <a:gdLst/>
              <a:ahLst/>
              <a:cxnLst/>
              <a:rect l="l" t="t" r="r" b="b"/>
              <a:pathLst>
                <a:path w="22433280" h="1755648">
                  <a:moveTo>
                    <a:pt x="0" y="0"/>
                  </a:moveTo>
                  <a:lnTo>
                    <a:pt x="22433280" y="0"/>
                  </a:lnTo>
                  <a:lnTo>
                    <a:pt x="22433280" y="1755648"/>
                  </a:lnTo>
                  <a:lnTo>
                    <a:pt x="0" y="1755648"/>
                  </a:lnTo>
                  <a:close/>
                </a:path>
              </a:pathLst>
            </a:custGeom>
            <a:blipFill>
              <a:blip r:embed="rId3">
                <a:alphaModFix amt="0"/>
              </a:blip>
              <a:stretch>
                <a:fillRect t="-198975" b="-198975"/>
              </a:stretch>
            </a:blipFill>
          </p:spPr>
          <p:txBody>
            <a:bodyPr/>
            <a:lstStyle/>
            <a:p>
              <a:endParaRPr lang="en-IN"/>
            </a:p>
          </p:txBody>
        </p:sp>
        <p:sp>
          <p:nvSpPr>
            <p:cNvPr id="6" name="TextBox 6"/>
            <p:cNvSpPr txBox="1"/>
            <p:nvPr/>
          </p:nvSpPr>
          <p:spPr>
            <a:xfrm>
              <a:off x="0" y="-9525"/>
              <a:ext cx="22433280" cy="1765173"/>
            </a:xfrm>
            <a:prstGeom prst="rect">
              <a:avLst/>
            </a:prstGeom>
          </p:spPr>
          <p:txBody>
            <a:bodyPr lIns="0" tIns="0" rIns="0" bIns="0" rtlCol="0" anchor="ctr"/>
            <a:lstStyle/>
            <a:p>
              <a:pPr algn="l">
                <a:lnSpc>
                  <a:spcPts val="4800"/>
                </a:lnSpc>
              </a:pPr>
              <a:r>
                <a:rPr lang="en-US" sz="4000" spc="560" dirty="0">
                  <a:latin typeface="Times New Roman" panose="02020603050405020304" pitchFamily="18" charset="0"/>
                  <a:ea typeface="Hammersmith One"/>
                  <a:cs typeface="Times New Roman" panose="02020603050405020304" pitchFamily="18" charset="0"/>
                  <a:sym typeface="Hammersmith One"/>
                </a:rPr>
                <a:t>Shallow Embeddings &amp; Z Matrix</a:t>
              </a:r>
            </a:p>
          </p:txBody>
        </p:sp>
      </p:grpSp>
      <p:sp>
        <p:nvSpPr>
          <p:cNvPr id="8" name="Freeform 8"/>
          <p:cNvSpPr/>
          <p:nvPr/>
        </p:nvSpPr>
        <p:spPr>
          <a:xfrm>
            <a:off x="731520" y="73152"/>
            <a:ext cx="16459200" cy="402336"/>
          </a:xfrm>
          <a:custGeom>
            <a:avLst/>
            <a:gdLst/>
            <a:ahLst/>
            <a:cxnLst/>
            <a:rect l="l" t="t" r="r" b="b"/>
            <a:pathLst>
              <a:path w="21945600" h="536448">
                <a:moveTo>
                  <a:pt x="0" y="0"/>
                </a:moveTo>
                <a:lnTo>
                  <a:pt x="21945600" y="0"/>
                </a:lnTo>
                <a:lnTo>
                  <a:pt x="21945600" y="536448"/>
                </a:lnTo>
                <a:lnTo>
                  <a:pt x="0" y="536448"/>
                </a:lnTo>
                <a:close/>
              </a:path>
            </a:pathLst>
          </a:custGeom>
          <a:blipFill>
            <a:blip r:embed="rId3">
              <a:alphaModFix amt="0"/>
            </a:blip>
            <a:stretch>
              <a:fillRect t="-747115" b="-747115"/>
            </a:stretch>
          </a:blipFill>
        </p:spPr>
        <p:txBody>
          <a:bodyPr/>
          <a:lstStyle/>
          <a:p>
            <a:endParaRPr lang="en-IN"/>
          </a:p>
        </p:txBody>
      </p:sp>
      <p:grpSp>
        <p:nvGrpSpPr>
          <p:cNvPr id="10" name="Group 10"/>
          <p:cNvGrpSpPr/>
          <p:nvPr/>
        </p:nvGrpSpPr>
        <p:grpSpPr>
          <a:xfrm>
            <a:off x="535943" y="1541783"/>
            <a:ext cx="8255003" cy="7889243"/>
            <a:chOff x="0" y="0"/>
            <a:chExt cx="11006671" cy="10518991"/>
          </a:xfrm>
        </p:grpSpPr>
        <p:sp>
          <p:nvSpPr>
            <p:cNvPr id="11" name="Freeform 11"/>
            <p:cNvSpPr/>
            <p:nvPr/>
          </p:nvSpPr>
          <p:spPr>
            <a:xfrm>
              <a:off x="0" y="0"/>
              <a:ext cx="11006710" cy="10519029"/>
            </a:xfrm>
            <a:custGeom>
              <a:avLst/>
              <a:gdLst/>
              <a:ahLst/>
              <a:cxnLst/>
              <a:rect l="l" t="t" r="r" b="b"/>
              <a:pathLst>
                <a:path w="11006710" h="10519029">
                  <a:moveTo>
                    <a:pt x="0" y="244729"/>
                  </a:moveTo>
                  <a:cubicBezTo>
                    <a:pt x="0" y="109601"/>
                    <a:pt x="109601" y="0"/>
                    <a:pt x="244729" y="0"/>
                  </a:cubicBezTo>
                  <a:lnTo>
                    <a:pt x="10761980" y="0"/>
                  </a:lnTo>
                  <a:cubicBezTo>
                    <a:pt x="10897108" y="0"/>
                    <a:pt x="11006710" y="109601"/>
                    <a:pt x="11006710" y="244729"/>
                  </a:cubicBezTo>
                  <a:lnTo>
                    <a:pt x="11006710" y="10274300"/>
                  </a:lnTo>
                  <a:cubicBezTo>
                    <a:pt x="11006710" y="10409428"/>
                    <a:pt x="10897108" y="10519029"/>
                    <a:pt x="10761980" y="10519029"/>
                  </a:cubicBezTo>
                  <a:lnTo>
                    <a:pt x="244729" y="10519029"/>
                  </a:lnTo>
                  <a:cubicBezTo>
                    <a:pt x="109601" y="10519029"/>
                    <a:pt x="0" y="10409428"/>
                    <a:pt x="0" y="10274300"/>
                  </a:cubicBezTo>
                  <a:close/>
                </a:path>
              </a:pathLst>
            </a:custGeom>
            <a:solidFill>
              <a:srgbClr val="B29E84"/>
            </a:solidFill>
            <a:ln w="25400" cap="sq">
              <a:solidFill>
                <a:srgbClr val="D8E8F8"/>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12" name="Group 12"/>
          <p:cNvGrpSpPr/>
          <p:nvPr/>
        </p:nvGrpSpPr>
        <p:grpSpPr>
          <a:xfrm>
            <a:off x="914400" y="1645920"/>
            <a:ext cx="7498080" cy="694944"/>
            <a:chOff x="0" y="0"/>
            <a:chExt cx="9997440" cy="926592"/>
          </a:xfrm>
        </p:grpSpPr>
        <p:sp>
          <p:nvSpPr>
            <p:cNvPr id="13" name="Freeform 13"/>
            <p:cNvSpPr/>
            <p:nvPr/>
          </p:nvSpPr>
          <p:spPr>
            <a:xfrm>
              <a:off x="0" y="0"/>
              <a:ext cx="9997440" cy="926592"/>
            </a:xfrm>
            <a:custGeom>
              <a:avLst/>
              <a:gdLst/>
              <a:ahLst/>
              <a:cxnLst/>
              <a:rect l="l" t="t" r="r" b="b"/>
              <a:pathLst>
                <a:path w="9997440" h="926592">
                  <a:moveTo>
                    <a:pt x="0" y="0"/>
                  </a:moveTo>
                  <a:lnTo>
                    <a:pt x="9997440" y="0"/>
                  </a:lnTo>
                  <a:lnTo>
                    <a:pt x="9997440" y="926592"/>
                  </a:lnTo>
                  <a:lnTo>
                    <a:pt x="0" y="926592"/>
                  </a:lnTo>
                  <a:close/>
                </a:path>
              </a:pathLst>
            </a:custGeom>
            <a:blipFill>
              <a:blip r:embed="rId3">
                <a:alphaModFix amt="0"/>
              </a:blip>
              <a:stretch>
                <a:fillRect t="-160233" b="-160233"/>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14" name="TextBox 14"/>
            <p:cNvSpPr txBox="1"/>
            <p:nvPr/>
          </p:nvSpPr>
          <p:spPr>
            <a:xfrm>
              <a:off x="0" y="0"/>
              <a:ext cx="9997440" cy="926592"/>
            </a:xfrm>
            <a:prstGeom prst="rect">
              <a:avLst/>
            </a:prstGeom>
          </p:spPr>
          <p:txBody>
            <a:bodyPr lIns="0" tIns="0" rIns="0" bIns="0" rtlCol="0" anchor="ctr"/>
            <a:lstStyle/>
            <a:p>
              <a:pPr algn="l">
                <a:lnSpc>
                  <a:spcPts val="3600"/>
                </a:lnSpc>
              </a:pPr>
              <a:r>
                <a:rPr lang="en-US" sz="3000" spc="150" dirty="0">
                  <a:solidFill>
                    <a:srgbClr val="FFFFFF"/>
                  </a:solidFill>
                  <a:latin typeface="Times New Roman" panose="02020603050405020304" pitchFamily="18" charset="0"/>
                  <a:ea typeface="Playfair Display Italics"/>
                  <a:cs typeface="Times New Roman" panose="02020603050405020304" pitchFamily="18" charset="0"/>
                  <a:sym typeface="Playfair Display Italics"/>
                </a:rPr>
                <a:t>Shallow Embedding Encoder</a:t>
              </a:r>
            </a:p>
          </p:txBody>
        </p:sp>
      </p:grpSp>
      <p:grpSp>
        <p:nvGrpSpPr>
          <p:cNvPr id="15" name="Group 15"/>
          <p:cNvGrpSpPr/>
          <p:nvPr/>
        </p:nvGrpSpPr>
        <p:grpSpPr>
          <a:xfrm>
            <a:off x="914400" y="2468880"/>
            <a:ext cx="7498080" cy="4040632"/>
            <a:chOff x="0" y="0"/>
            <a:chExt cx="9997440" cy="5387509"/>
          </a:xfrm>
        </p:grpSpPr>
        <p:sp>
          <p:nvSpPr>
            <p:cNvPr id="16" name="Freeform 16"/>
            <p:cNvSpPr/>
            <p:nvPr/>
          </p:nvSpPr>
          <p:spPr>
            <a:xfrm>
              <a:off x="0" y="0"/>
              <a:ext cx="9997440" cy="5387510"/>
            </a:xfrm>
            <a:custGeom>
              <a:avLst/>
              <a:gdLst/>
              <a:ahLst/>
              <a:cxnLst/>
              <a:rect l="l" t="t" r="r" b="b"/>
              <a:pathLst>
                <a:path w="9997440" h="5387510">
                  <a:moveTo>
                    <a:pt x="0" y="0"/>
                  </a:moveTo>
                  <a:lnTo>
                    <a:pt x="9997440" y="0"/>
                  </a:lnTo>
                  <a:lnTo>
                    <a:pt x="9997440" y="5387510"/>
                  </a:lnTo>
                  <a:lnTo>
                    <a:pt x="0" y="5387510"/>
                  </a:lnTo>
                  <a:close/>
                </a:path>
              </a:pathLst>
            </a:custGeom>
            <a:blipFill>
              <a:blip r:embed="rId3">
                <a:alphaModFix amt="0"/>
              </a:blip>
              <a:stretch>
                <a:fillRect t="-2212" b="29897"/>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17" name="TextBox 17"/>
            <p:cNvSpPr txBox="1"/>
            <p:nvPr/>
          </p:nvSpPr>
          <p:spPr>
            <a:xfrm>
              <a:off x="0" y="0"/>
              <a:ext cx="9997440" cy="5387509"/>
            </a:xfrm>
            <a:prstGeom prst="rect">
              <a:avLst/>
            </a:prstGeom>
          </p:spPr>
          <p:txBody>
            <a:bodyPr lIns="0" tIns="0" rIns="0" bIns="0" rtlCol="0" anchor="ctr"/>
            <a:lstStyle/>
            <a:p>
              <a:pPr algn="l">
                <a:lnSpc>
                  <a:spcPts val="3120"/>
                </a:lnSpc>
              </a:pPr>
              <a:r>
                <a:rPr lang="en-US" sz="2600" spc="52" dirty="0">
                  <a:solidFill>
                    <a:srgbClr val="FFFFFF"/>
                  </a:solidFill>
                  <a:latin typeface="Times New Roman" panose="02020603050405020304" pitchFamily="18" charset="0"/>
                  <a:ea typeface="Playfair Display"/>
                  <a:cs typeface="Times New Roman" panose="02020603050405020304" pitchFamily="18" charset="0"/>
                  <a:sym typeface="Playfair Display"/>
                </a:rPr>
                <a:t>No neural network is used.</a:t>
              </a:r>
            </a:p>
            <a:p>
              <a:pPr algn="l">
                <a:lnSpc>
                  <a:spcPts val="3120"/>
                </a:lnSpc>
              </a:pPr>
              <a:endParaRPr lang="en-US" sz="2600" spc="52" dirty="0">
                <a:solidFill>
                  <a:srgbClr val="FFFFFF"/>
                </a:solidFill>
                <a:latin typeface="Times New Roman" panose="02020603050405020304" pitchFamily="18" charset="0"/>
                <a:ea typeface="Playfair Display"/>
                <a:cs typeface="Times New Roman" panose="02020603050405020304" pitchFamily="18" charset="0"/>
                <a:sym typeface="Playfair Display"/>
              </a:endParaRPr>
            </a:p>
            <a:p>
              <a:pPr algn="l">
                <a:lnSpc>
                  <a:spcPts val="3120"/>
                </a:lnSpc>
              </a:pPr>
              <a:r>
                <a:rPr lang="en-US" sz="2600" spc="52" dirty="0">
                  <a:solidFill>
                    <a:srgbClr val="FFFFFF"/>
                  </a:solidFill>
                  <a:latin typeface="Times New Roman" panose="02020603050405020304" pitchFamily="18" charset="0"/>
                  <a:ea typeface="Playfair Display"/>
                  <a:cs typeface="Times New Roman" panose="02020603050405020304" pitchFamily="18" charset="0"/>
                  <a:sym typeface="Playfair Display"/>
                </a:rPr>
                <a:t>The encoder is simply a lookup table.</a:t>
              </a:r>
            </a:p>
            <a:p>
              <a:pPr algn="l">
                <a:lnSpc>
                  <a:spcPts val="3120"/>
                </a:lnSpc>
              </a:pPr>
              <a:endParaRPr lang="en-US" sz="2600" spc="52" dirty="0">
                <a:solidFill>
                  <a:srgbClr val="FFFFFF"/>
                </a:solidFill>
                <a:latin typeface="Times New Roman" panose="02020603050405020304" pitchFamily="18" charset="0"/>
                <a:ea typeface="Playfair Display"/>
                <a:cs typeface="Times New Roman" panose="02020603050405020304" pitchFamily="18" charset="0"/>
                <a:sym typeface="Playfair Display"/>
              </a:endParaRPr>
            </a:p>
            <a:p>
              <a:pPr algn="l">
                <a:lnSpc>
                  <a:spcPts val="3120"/>
                </a:lnSpc>
              </a:pPr>
              <a:r>
                <a:rPr lang="en-US" sz="2600" spc="52" dirty="0">
                  <a:solidFill>
                    <a:srgbClr val="FFFFFF"/>
                  </a:solidFill>
                  <a:latin typeface="Times New Roman" panose="02020603050405020304" pitchFamily="18" charset="0"/>
                  <a:ea typeface="Playfair Display"/>
                  <a:cs typeface="Times New Roman" panose="02020603050405020304" pitchFamily="18" charset="0"/>
                  <a:sym typeface="Playfair Display"/>
                </a:rPr>
                <a:t>For every node v, one unique vector row is stored in matrix Z.</a:t>
              </a:r>
            </a:p>
            <a:p>
              <a:pPr algn="l">
                <a:lnSpc>
                  <a:spcPts val="3120"/>
                </a:lnSpc>
              </a:pPr>
              <a:endParaRPr lang="en-US" sz="2600" spc="52" dirty="0">
                <a:solidFill>
                  <a:srgbClr val="FFFFFF"/>
                </a:solidFill>
                <a:latin typeface="Times New Roman" panose="02020603050405020304" pitchFamily="18" charset="0"/>
                <a:ea typeface="Playfair Display"/>
                <a:cs typeface="Times New Roman" panose="02020603050405020304" pitchFamily="18" charset="0"/>
                <a:sym typeface="Playfair Display"/>
              </a:endParaRPr>
            </a:p>
            <a:p>
              <a:pPr algn="l">
                <a:lnSpc>
                  <a:spcPts val="3120"/>
                </a:lnSpc>
              </a:pPr>
              <a:endParaRPr lang="en-US" sz="2600" spc="52" dirty="0">
                <a:solidFill>
                  <a:srgbClr val="FFFFFF"/>
                </a:solidFill>
                <a:latin typeface="Times New Roman" panose="02020603050405020304" pitchFamily="18" charset="0"/>
                <a:ea typeface="Playfair Display"/>
                <a:cs typeface="Times New Roman" panose="02020603050405020304" pitchFamily="18" charset="0"/>
                <a:sym typeface="Playfair Display"/>
              </a:endParaRPr>
            </a:p>
            <a:p>
              <a:pPr algn="l">
                <a:lnSpc>
                  <a:spcPts val="3120"/>
                </a:lnSpc>
              </a:pPr>
              <a:r>
                <a:rPr lang="en-US" sz="2600" spc="52" dirty="0">
                  <a:solidFill>
                    <a:srgbClr val="FFFFFF"/>
                  </a:solidFill>
                  <a:latin typeface="Times New Roman" panose="02020603050405020304" pitchFamily="18" charset="0"/>
                  <a:ea typeface="Playfair Display"/>
                  <a:cs typeface="Times New Roman" panose="02020603050405020304" pitchFamily="18" charset="0"/>
                  <a:sym typeface="Playfair Display"/>
                </a:rPr>
                <a:t>Getting the embedding = reading that row.</a:t>
              </a:r>
            </a:p>
          </p:txBody>
        </p:sp>
      </p:grpSp>
      <p:grpSp>
        <p:nvGrpSpPr>
          <p:cNvPr id="18" name="Group 18"/>
          <p:cNvGrpSpPr/>
          <p:nvPr/>
        </p:nvGrpSpPr>
        <p:grpSpPr>
          <a:xfrm>
            <a:off x="899160" y="5324856"/>
            <a:ext cx="7345680" cy="944880"/>
            <a:chOff x="0" y="0"/>
            <a:chExt cx="9794240" cy="1259840"/>
          </a:xfrm>
        </p:grpSpPr>
        <p:sp>
          <p:nvSpPr>
            <p:cNvPr id="19" name="Freeform 19"/>
            <p:cNvSpPr/>
            <p:nvPr/>
          </p:nvSpPr>
          <p:spPr>
            <a:xfrm>
              <a:off x="0" y="0"/>
              <a:ext cx="9794240" cy="1259840"/>
            </a:xfrm>
            <a:custGeom>
              <a:avLst/>
              <a:gdLst/>
              <a:ahLst/>
              <a:cxnLst/>
              <a:rect l="l" t="t" r="r" b="b"/>
              <a:pathLst>
                <a:path w="9794240" h="1259840">
                  <a:moveTo>
                    <a:pt x="0" y="176403"/>
                  </a:moveTo>
                  <a:cubicBezTo>
                    <a:pt x="0" y="78994"/>
                    <a:pt x="78994" y="0"/>
                    <a:pt x="176403" y="0"/>
                  </a:cubicBezTo>
                  <a:lnTo>
                    <a:pt x="9617837" y="0"/>
                  </a:lnTo>
                  <a:cubicBezTo>
                    <a:pt x="9715246" y="0"/>
                    <a:pt x="9794240" y="78994"/>
                    <a:pt x="9794240" y="176403"/>
                  </a:cubicBezTo>
                  <a:lnTo>
                    <a:pt x="9794240" y="1083437"/>
                  </a:lnTo>
                  <a:cubicBezTo>
                    <a:pt x="9794240" y="1180846"/>
                    <a:pt x="9715246" y="1259840"/>
                    <a:pt x="9617837" y="1259840"/>
                  </a:cubicBezTo>
                  <a:lnTo>
                    <a:pt x="176403" y="1259840"/>
                  </a:lnTo>
                  <a:cubicBezTo>
                    <a:pt x="78994" y="1259840"/>
                    <a:pt x="0" y="1180846"/>
                    <a:pt x="0" y="1083437"/>
                  </a:cubicBezTo>
                  <a:close/>
                </a:path>
              </a:pathLst>
            </a:custGeom>
            <a:solidFill>
              <a:srgbClr val="253439"/>
            </a:solidFill>
            <a:ln w="30480" cap="sq">
              <a:solidFill>
                <a:srgbClr val="C8DDF5"/>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20" name="Group 20"/>
          <p:cNvGrpSpPr/>
          <p:nvPr/>
        </p:nvGrpSpPr>
        <p:grpSpPr>
          <a:xfrm>
            <a:off x="1133856" y="5340096"/>
            <a:ext cx="6876288" cy="914400"/>
            <a:chOff x="0" y="0"/>
            <a:chExt cx="9168384" cy="1219200"/>
          </a:xfrm>
        </p:grpSpPr>
        <p:sp>
          <p:nvSpPr>
            <p:cNvPr id="21" name="Freeform 21"/>
            <p:cNvSpPr/>
            <p:nvPr/>
          </p:nvSpPr>
          <p:spPr>
            <a:xfrm>
              <a:off x="0" y="0"/>
              <a:ext cx="9168384" cy="1219200"/>
            </a:xfrm>
            <a:custGeom>
              <a:avLst/>
              <a:gdLst/>
              <a:ahLst/>
              <a:cxnLst/>
              <a:rect l="l" t="t" r="r" b="b"/>
              <a:pathLst>
                <a:path w="9168384" h="1219200">
                  <a:moveTo>
                    <a:pt x="0" y="0"/>
                  </a:moveTo>
                  <a:lnTo>
                    <a:pt x="9168384" y="0"/>
                  </a:lnTo>
                  <a:lnTo>
                    <a:pt x="9168384" y="1219200"/>
                  </a:lnTo>
                  <a:lnTo>
                    <a:pt x="0" y="1219200"/>
                  </a:lnTo>
                  <a:close/>
                </a:path>
              </a:pathLst>
            </a:custGeom>
            <a:blipFill>
              <a:blip r:embed="rId3">
                <a:alphaModFix amt="0"/>
              </a:blip>
              <a:stretch>
                <a:fillRect t="-96527" b="-96527"/>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22" name="TextBox 22"/>
            <p:cNvSpPr txBox="1"/>
            <p:nvPr/>
          </p:nvSpPr>
          <p:spPr>
            <a:xfrm>
              <a:off x="0" y="0"/>
              <a:ext cx="9168384" cy="1219200"/>
            </a:xfrm>
            <a:prstGeom prst="rect">
              <a:avLst/>
            </a:prstGeom>
          </p:spPr>
          <p:txBody>
            <a:bodyPr lIns="0" tIns="0" rIns="0" bIns="0" rtlCol="0" anchor="ctr"/>
            <a:lstStyle/>
            <a:p>
              <a:pPr algn="l">
                <a:lnSpc>
                  <a:spcPts val="3120"/>
                </a:lnSpc>
              </a:pPr>
              <a:r>
                <a:rPr lang="en-US" sz="2600" i="1" spc="130">
                  <a:solidFill>
                    <a:srgbClr val="FFFFFF"/>
                  </a:solidFill>
                  <a:latin typeface="Times New Roman" panose="02020603050405020304" pitchFamily="18" charset="0"/>
                  <a:ea typeface="Playfair Display Italics"/>
                  <a:cs typeface="Times New Roman" panose="02020603050405020304" pitchFamily="18" charset="0"/>
                  <a:sym typeface="Playfair Display Italics"/>
                </a:rPr>
                <a:t>ENC(v) = Z[v]</a:t>
              </a:r>
            </a:p>
          </p:txBody>
        </p:sp>
      </p:grpSp>
      <p:grpSp>
        <p:nvGrpSpPr>
          <p:cNvPr id="23" name="Group 23"/>
          <p:cNvGrpSpPr/>
          <p:nvPr/>
        </p:nvGrpSpPr>
        <p:grpSpPr>
          <a:xfrm>
            <a:off x="914400" y="6364224"/>
            <a:ext cx="7498080" cy="848868"/>
            <a:chOff x="0" y="0"/>
            <a:chExt cx="9997440" cy="1131824"/>
          </a:xfrm>
        </p:grpSpPr>
        <p:sp>
          <p:nvSpPr>
            <p:cNvPr id="24" name="Freeform 24"/>
            <p:cNvSpPr/>
            <p:nvPr/>
          </p:nvSpPr>
          <p:spPr>
            <a:xfrm>
              <a:off x="0" y="0"/>
              <a:ext cx="9997440" cy="1131824"/>
            </a:xfrm>
            <a:custGeom>
              <a:avLst/>
              <a:gdLst/>
              <a:ahLst/>
              <a:cxnLst/>
              <a:rect l="l" t="t" r="r" b="b"/>
              <a:pathLst>
                <a:path w="9997440" h="1131824">
                  <a:moveTo>
                    <a:pt x="0" y="0"/>
                  </a:moveTo>
                  <a:lnTo>
                    <a:pt x="9997440" y="0"/>
                  </a:lnTo>
                  <a:lnTo>
                    <a:pt x="9997440" y="1131824"/>
                  </a:lnTo>
                  <a:lnTo>
                    <a:pt x="0" y="1131824"/>
                  </a:lnTo>
                  <a:close/>
                </a:path>
              </a:pathLst>
            </a:custGeom>
            <a:blipFill>
              <a:blip r:embed="rId3">
                <a:alphaModFix amt="0"/>
              </a:blip>
              <a:stretch>
                <a:fillRect t="-134410" b="-109813"/>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25" name="TextBox 25"/>
            <p:cNvSpPr txBox="1"/>
            <p:nvPr/>
          </p:nvSpPr>
          <p:spPr>
            <a:xfrm>
              <a:off x="0" y="0"/>
              <a:ext cx="9997440" cy="1131824"/>
            </a:xfrm>
            <a:prstGeom prst="rect">
              <a:avLst/>
            </a:prstGeom>
          </p:spPr>
          <p:txBody>
            <a:bodyPr lIns="0" tIns="0" rIns="0" bIns="0" rtlCol="0" anchor="ctr"/>
            <a:lstStyle/>
            <a:p>
              <a:pPr algn="l">
                <a:lnSpc>
                  <a:spcPts val="2879"/>
                </a:lnSpc>
              </a:pPr>
              <a:r>
                <a:rPr lang="en-US" sz="2400" spc="48">
                  <a:solidFill>
                    <a:srgbClr val="253439"/>
                  </a:solidFill>
                  <a:latin typeface="Times New Roman" panose="02020603050405020304" pitchFamily="18" charset="0"/>
                  <a:ea typeface="Playfair Display"/>
                  <a:cs typeface="Times New Roman" panose="02020603050405020304" pitchFamily="18" charset="0"/>
                  <a:sym typeface="Playfair Display"/>
                </a:rPr>
                <a:t>Z ∈ ℝ|V|×d  — rows = nodes, cols = embedding dimensions</a:t>
              </a:r>
            </a:p>
          </p:txBody>
        </p:sp>
      </p:grpSp>
      <p:grpSp>
        <p:nvGrpSpPr>
          <p:cNvPr id="26" name="Group 26"/>
          <p:cNvGrpSpPr/>
          <p:nvPr/>
        </p:nvGrpSpPr>
        <p:grpSpPr>
          <a:xfrm>
            <a:off x="914400" y="7132320"/>
            <a:ext cx="7498080" cy="640080"/>
            <a:chOff x="0" y="0"/>
            <a:chExt cx="9997440" cy="853440"/>
          </a:xfrm>
        </p:grpSpPr>
        <p:sp>
          <p:nvSpPr>
            <p:cNvPr id="27" name="Freeform 27"/>
            <p:cNvSpPr/>
            <p:nvPr/>
          </p:nvSpPr>
          <p:spPr>
            <a:xfrm>
              <a:off x="0" y="0"/>
              <a:ext cx="9997440" cy="853440"/>
            </a:xfrm>
            <a:custGeom>
              <a:avLst/>
              <a:gdLst/>
              <a:ahLst/>
              <a:cxnLst/>
              <a:rect l="l" t="t" r="r" b="b"/>
              <a:pathLst>
                <a:path w="9997440" h="853440">
                  <a:moveTo>
                    <a:pt x="0" y="0"/>
                  </a:moveTo>
                  <a:lnTo>
                    <a:pt x="9997440" y="0"/>
                  </a:lnTo>
                  <a:lnTo>
                    <a:pt x="9997440" y="853440"/>
                  </a:lnTo>
                  <a:lnTo>
                    <a:pt x="0" y="853440"/>
                  </a:lnTo>
                  <a:close/>
                </a:path>
              </a:pathLst>
            </a:custGeom>
            <a:blipFill>
              <a:blip r:embed="rId3">
                <a:alphaModFix amt="0"/>
              </a:blip>
              <a:stretch>
                <a:fillRect t="-178253" b="-178253"/>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28" name="TextBox 28"/>
            <p:cNvSpPr txBox="1"/>
            <p:nvPr/>
          </p:nvSpPr>
          <p:spPr>
            <a:xfrm>
              <a:off x="0" y="0"/>
              <a:ext cx="9997440" cy="853440"/>
            </a:xfrm>
            <a:prstGeom prst="rect">
              <a:avLst/>
            </a:prstGeom>
          </p:spPr>
          <p:txBody>
            <a:bodyPr lIns="0" tIns="0" rIns="0" bIns="0" rtlCol="0" anchor="ctr"/>
            <a:lstStyle/>
            <a:p>
              <a:pPr algn="l">
                <a:lnSpc>
                  <a:spcPts val="3120"/>
                </a:lnSpc>
              </a:pPr>
              <a:r>
                <a:rPr lang="en-US" sz="2600" i="1" spc="130">
                  <a:solidFill>
                    <a:srgbClr val="FFFFFF"/>
                  </a:solidFill>
                  <a:latin typeface="Times New Roman" panose="02020603050405020304" pitchFamily="18" charset="0"/>
                  <a:ea typeface="Playfair Display Italics"/>
                  <a:cs typeface="Times New Roman" panose="02020603050405020304" pitchFamily="18" charset="0"/>
                  <a:sym typeface="Playfair Display Italics"/>
                </a:rPr>
                <a:t>Example  (d = 2):</a:t>
              </a:r>
            </a:p>
          </p:txBody>
        </p:sp>
      </p:grpSp>
      <p:graphicFrame>
        <p:nvGraphicFramePr>
          <p:cNvPr id="29" name="Table 29"/>
          <p:cNvGraphicFramePr>
            <a:graphicFrameLocks noGrp="1"/>
          </p:cNvGraphicFramePr>
          <p:nvPr/>
        </p:nvGraphicFramePr>
        <p:xfrm>
          <a:off x="914400" y="7863840"/>
          <a:ext cx="6934200" cy="2148332"/>
        </p:xfrm>
        <a:graphic>
          <a:graphicData uri="http://schemas.openxmlformats.org/drawingml/2006/table">
            <a:tbl>
              <a:tblPr/>
              <a:tblGrid>
                <a:gridCol w="2311400">
                  <a:extLst>
                    <a:ext uri="{9D8B030D-6E8A-4147-A177-3AD203B41FA5}">
                      <a16:colId xmlns:a16="http://schemas.microsoft.com/office/drawing/2014/main" val="20000"/>
                    </a:ext>
                  </a:extLst>
                </a:gridCol>
                <a:gridCol w="2311400">
                  <a:extLst>
                    <a:ext uri="{9D8B030D-6E8A-4147-A177-3AD203B41FA5}">
                      <a16:colId xmlns:a16="http://schemas.microsoft.com/office/drawing/2014/main" val="20001"/>
                    </a:ext>
                  </a:extLst>
                </a:gridCol>
                <a:gridCol w="2311400">
                  <a:extLst>
                    <a:ext uri="{9D8B030D-6E8A-4147-A177-3AD203B41FA5}">
                      <a16:colId xmlns:a16="http://schemas.microsoft.com/office/drawing/2014/main" val="20002"/>
                    </a:ext>
                  </a:extLst>
                </a:gridCol>
              </a:tblGrid>
              <a:tr h="508000">
                <a:tc>
                  <a:txBody>
                    <a:bodyPr/>
                    <a:lstStyle/>
                    <a:p>
                      <a:pPr algn="ctr">
                        <a:lnSpc>
                          <a:spcPts val="2879"/>
                        </a:lnSpc>
                        <a:defRPr/>
                      </a:pPr>
                      <a:r>
                        <a:rPr lang="en-US" sz="2400" i="1" spc="120">
                          <a:solidFill>
                            <a:srgbClr val="7C898B"/>
                          </a:solidFill>
                          <a:latin typeface="Playfair Display Italics"/>
                          <a:ea typeface="Playfair Display Italics"/>
                          <a:cs typeface="Playfair Display Italics"/>
                          <a:sym typeface="Playfair Display Italics"/>
                        </a:rPr>
                        <a:t>Node</a:t>
                      </a:r>
                      <a:endParaRPr lang="en-US" sz="1100"/>
                    </a:p>
                  </a:txBody>
                  <a:tcPr marT="91440" marB="91440">
                    <a:lnL w="12700" cap="flat" cmpd="sng" algn="ctr">
                      <a:solidFill>
                        <a:srgbClr val="C8DDF5"/>
                      </a:solidFill>
                      <a:prstDash val="solid"/>
                      <a:round/>
                      <a:headEnd type="none" w="med" len="med"/>
                      <a:tailEnd type="none" w="med" len="med"/>
                    </a:lnL>
                    <a:lnR w="12700" cap="flat" cmpd="sng" algn="ctr">
                      <a:solidFill>
                        <a:srgbClr val="C8DDF5"/>
                      </a:solidFill>
                      <a:prstDash val="solid"/>
                      <a:round/>
                      <a:headEnd type="none" w="med" len="med"/>
                      <a:tailEnd type="none" w="med" len="med"/>
                    </a:lnR>
                    <a:lnT w="12700" cap="flat" cmpd="sng" algn="ctr">
                      <a:solidFill>
                        <a:srgbClr val="C8DDF5"/>
                      </a:solidFill>
                      <a:prstDash val="solid"/>
                      <a:round/>
                      <a:headEnd type="none" w="med" len="med"/>
                      <a:tailEnd type="none" w="med" len="med"/>
                    </a:lnT>
                    <a:lnB w="12700" cap="flat" cmpd="sng" algn="ctr">
                      <a:solidFill>
                        <a:srgbClr val="C8DDF5"/>
                      </a:solidFill>
                      <a:prstDash val="solid"/>
                      <a:round/>
                      <a:headEnd type="none" w="med" len="med"/>
                      <a:tailEnd type="none" w="med" len="med"/>
                    </a:lnB>
                    <a:solidFill>
                      <a:srgbClr val="FFFFFF"/>
                    </a:solidFill>
                  </a:tcPr>
                </a:tc>
                <a:tc>
                  <a:txBody>
                    <a:bodyPr/>
                    <a:lstStyle/>
                    <a:p>
                      <a:pPr algn="ctr">
                        <a:lnSpc>
                          <a:spcPts val="2879"/>
                        </a:lnSpc>
                        <a:defRPr/>
                      </a:pPr>
                      <a:r>
                        <a:rPr lang="en-US" sz="2400" i="1" spc="120">
                          <a:solidFill>
                            <a:srgbClr val="7C898B"/>
                          </a:solidFill>
                          <a:latin typeface="Playfair Display Italics"/>
                          <a:ea typeface="Playfair Display Italics"/>
                          <a:cs typeface="Playfair Display Italics"/>
                          <a:sym typeface="Playfair Display Italics"/>
                        </a:rPr>
                        <a:t>dim₁</a:t>
                      </a:r>
                      <a:endParaRPr lang="en-US" sz="1100"/>
                    </a:p>
                  </a:txBody>
                  <a:tcPr marT="91440" marB="91440">
                    <a:lnL w="12700" cap="flat" cmpd="sng" algn="ctr">
                      <a:solidFill>
                        <a:srgbClr val="C8DDF5"/>
                      </a:solidFill>
                      <a:prstDash val="solid"/>
                      <a:round/>
                      <a:headEnd type="none" w="med" len="med"/>
                      <a:tailEnd type="none" w="med" len="med"/>
                    </a:lnL>
                    <a:lnR w="12700" cap="flat" cmpd="sng" algn="ctr">
                      <a:solidFill>
                        <a:srgbClr val="C8DDF5"/>
                      </a:solidFill>
                      <a:prstDash val="solid"/>
                      <a:round/>
                      <a:headEnd type="none" w="med" len="med"/>
                      <a:tailEnd type="none" w="med" len="med"/>
                    </a:lnR>
                    <a:lnT w="12700" cap="flat" cmpd="sng" algn="ctr">
                      <a:solidFill>
                        <a:srgbClr val="C8DDF5"/>
                      </a:solidFill>
                      <a:prstDash val="solid"/>
                      <a:round/>
                      <a:headEnd type="none" w="med" len="med"/>
                      <a:tailEnd type="none" w="med" len="med"/>
                    </a:lnT>
                    <a:lnB w="12700" cap="flat" cmpd="sng" algn="ctr">
                      <a:solidFill>
                        <a:srgbClr val="C8DDF5"/>
                      </a:solidFill>
                      <a:prstDash val="solid"/>
                      <a:round/>
                      <a:headEnd type="none" w="med" len="med"/>
                      <a:tailEnd type="none" w="med" len="med"/>
                    </a:lnB>
                    <a:solidFill>
                      <a:srgbClr val="FFFFFF"/>
                    </a:solidFill>
                  </a:tcPr>
                </a:tc>
                <a:tc>
                  <a:txBody>
                    <a:bodyPr/>
                    <a:lstStyle/>
                    <a:p>
                      <a:pPr algn="ctr">
                        <a:lnSpc>
                          <a:spcPts val="2879"/>
                        </a:lnSpc>
                        <a:defRPr/>
                      </a:pPr>
                      <a:r>
                        <a:rPr lang="en-US" sz="2400" i="1" spc="120">
                          <a:solidFill>
                            <a:srgbClr val="7C898B"/>
                          </a:solidFill>
                          <a:latin typeface="Playfair Display Italics"/>
                          <a:ea typeface="Playfair Display Italics"/>
                          <a:cs typeface="Playfair Display Italics"/>
                          <a:sym typeface="Playfair Display Italics"/>
                        </a:rPr>
                        <a:t>dim₂</a:t>
                      </a:r>
                      <a:endParaRPr lang="en-US" sz="1100"/>
                    </a:p>
                  </a:txBody>
                  <a:tcPr marT="91440" marB="91440">
                    <a:lnL w="12700" cap="flat" cmpd="sng" algn="ctr">
                      <a:solidFill>
                        <a:srgbClr val="C8DDF5"/>
                      </a:solidFill>
                      <a:prstDash val="solid"/>
                      <a:round/>
                      <a:headEnd type="none" w="med" len="med"/>
                      <a:tailEnd type="none" w="med" len="med"/>
                    </a:lnL>
                    <a:lnR w="12700" cap="flat" cmpd="sng" algn="ctr">
                      <a:solidFill>
                        <a:srgbClr val="C8DDF5"/>
                      </a:solidFill>
                      <a:prstDash val="solid"/>
                      <a:round/>
                      <a:headEnd type="none" w="med" len="med"/>
                      <a:tailEnd type="none" w="med" len="med"/>
                    </a:lnR>
                    <a:lnT w="12700" cap="flat" cmpd="sng" algn="ctr">
                      <a:solidFill>
                        <a:srgbClr val="C8DDF5"/>
                      </a:solidFill>
                      <a:prstDash val="solid"/>
                      <a:round/>
                      <a:headEnd type="none" w="med" len="med"/>
                      <a:tailEnd type="none" w="med" len="med"/>
                    </a:lnT>
                    <a:lnB w="12700" cap="flat" cmpd="sng" algn="ctr">
                      <a:solidFill>
                        <a:srgbClr val="C8DDF5"/>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08000">
                <a:tc>
                  <a:txBody>
                    <a:bodyPr/>
                    <a:lstStyle/>
                    <a:p>
                      <a:pPr algn="ctr">
                        <a:lnSpc>
                          <a:spcPts val="2879"/>
                        </a:lnSpc>
                        <a:defRPr/>
                      </a:pPr>
                      <a:r>
                        <a:rPr lang="en-US" sz="2400" i="1" spc="120">
                          <a:solidFill>
                            <a:srgbClr val="FFFFFF"/>
                          </a:solidFill>
                          <a:latin typeface="Playfair Display Italics"/>
                          <a:ea typeface="Playfair Display Italics"/>
                          <a:cs typeface="Playfair Display Italics"/>
                          <a:sym typeface="Playfair Display Italics"/>
                        </a:rPr>
                        <a:t>A</a:t>
                      </a:r>
                      <a:endParaRPr lang="en-US" sz="1100"/>
                    </a:p>
                  </a:txBody>
                  <a:tcPr marT="91440" marB="91440">
                    <a:lnL w="12700" cap="flat" cmpd="sng" algn="ctr">
                      <a:solidFill>
                        <a:srgbClr val="C8DDF5"/>
                      </a:solidFill>
                      <a:prstDash val="solid"/>
                      <a:round/>
                      <a:headEnd type="none" w="med" len="med"/>
                      <a:tailEnd type="none" w="med" len="med"/>
                    </a:lnL>
                    <a:lnR w="12700" cap="flat" cmpd="sng" algn="ctr">
                      <a:solidFill>
                        <a:srgbClr val="C8DDF5"/>
                      </a:solidFill>
                      <a:prstDash val="solid"/>
                      <a:round/>
                      <a:headEnd type="none" w="med" len="med"/>
                      <a:tailEnd type="none" w="med" len="med"/>
                    </a:lnR>
                    <a:lnT w="12700" cap="flat" cmpd="sng" algn="ctr">
                      <a:solidFill>
                        <a:srgbClr val="C8DDF5"/>
                      </a:solidFill>
                      <a:prstDash val="solid"/>
                      <a:round/>
                      <a:headEnd type="none" w="med" len="med"/>
                      <a:tailEnd type="none" w="med" len="med"/>
                    </a:lnT>
                    <a:lnB w="12700" cap="flat" cmpd="sng" algn="ctr">
                      <a:solidFill>
                        <a:srgbClr val="C8DDF5"/>
                      </a:solidFill>
                      <a:prstDash val="solid"/>
                      <a:round/>
                      <a:headEnd type="none" w="med" len="med"/>
                      <a:tailEnd type="none" w="med" len="med"/>
                    </a:lnB>
                    <a:solidFill>
                      <a:srgbClr val="B29E84"/>
                    </a:solidFill>
                  </a:tcPr>
                </a:tc>
                <a:tc>
                  <a:txBody>
                    <a:bodyPr/>
                    <a:lstStyle/>
                    <a:p>
                      <a:pPr algn="ctr">
                        <a:lnSpc>
                          <a:spcPts val="2879"/>
                        </a:lnSpc>
                        <a:defRPr/>
                      </a:pPr>
                      <a:r>
                        <a:rPr lang="en-US" sz="2400" spc="48">
                          <a:solidFill>
                            <a:srgbClr val="FFFFFF"/>
                          </a:solidFill>
                          <a:latin typeface="Playfair Display"/>
                          <a:ea typeface="Playfair Display"/>
                          <a:cs typeface="Playfair Display"/>
                          <a:sym typeface="Playfair Display"/>
                        </a:rPr>
                        <a:t>0.2</a:t>
                      </a:r>
                      <a:endParaRPr lang="en-US" sz="1100"/>
                    </a:p>
                  </a:txBody>
                  <a:tcPr marT="91440" marB="91440">
                    <a:lnL w="12700" cap="flat" cmpd="sng" algn="ctr">
                      <a:solidFill>
                        <a:srgbClr val="C8DDF5"/>
                      </a:solidFill>
                      <a:prstDash val="solid"/>
                      <a:round/>
                      <a:headEnd type="none" w="med" len="med"/>
                      <a:tailEnd type="none" w="med" len="med"/>
                    </a:lnL>
                    <a:lnR w="12700" cap="flat" cmpd="sng" algn="ctr">
                      <a:solidFill>
                        <a:srgbClr val="C8DDF5"/>
                      </a:solidFill>
                      <a:prstDash val="solid"/>
                      <a:round/>
                      <a:headEnd type="none" w="med" len="med"/>
                      <a:tailEnd type="none" w="med" len="med"/>
                    </a:lnR>
                    <a:lnT w="12700" cap="flat" cmpd="sng" algn="ctr">
                      <a:solidFill>
                        <a:srgbClr val="C8DDF5"/>
                      </a:solidFill>
                      <a:prstDash val="solid"/>
                      <a:round/>
                      <a:headEnd type="none" w="med" len="med"/>
                      <a:tailEnd type="none" w="med" len="med"/>
                    </a:lnT>
                    <a:lnB w="12700" cap="flat" cmpd="sng" algn="ctr">
                      <a:solidFill>
                        <a:srgbClr val="C8DDF5"/>
                      </a:solidFill>
                      <a:prstDash val="solid"/>
                      <a:round/>
                      <a:headEnd type="none" w="med" len="med"/>
                      <a:tailEnd type="none" w="med" len="med"/>
                    </a:lnB>
                    <a:solidFill>
                      <a:srgbClr val="B29E84"/>
                    </a:solidFill>
                  </a:tcPr>
                </a:tc>
                <a:tc>
                  <a:txBody>
                    <a:bodyPr/>
                    <a:lstStyle/>
                    <a:p>
                      <a:pPr algn="ctr">
                        <a:lnSpc>
                          <a:spcPts val="2879"/>
                        </a:lnSpc>
                        <a:defRPr/>
                      </a:pPr>
                      <a:r>
                        <a:rPr lang="en-US" sz="2400" spc="48">
                          <a:solidFill>
                            <a:srgbClr val="FFFFFF"/>
                          </a:solidFill>
                          <a:latin typeface="Playfair Display"/>
                          <a:ea typeface="Playfair Display"/>
                          <a:cs typeface="Playfair Display"/>
                          <a:sym typeface="Playfair Display"/>
                        </a:rPr>
                        <a:t>0.8</a:t>
                      </a:r>
                      <a:endParaRPr lang="en-US" sz="1100"/>
                    </a:p>
                  </a:txBody>
                  <a:tcPr marT="91440" marB="91440">
                    <a:lnL w="12700" cap="flat" cmpd="sng" algn="ctr">
                      <a:solidFill>
                        <a:srgbClr val="C8DDF5"/>
                      </a:solidFill>
                      <a:prstDash val="solid"/>
                      <a:round/>
                      <a:headEnd type="none" w="med" len="med"/>
                      <a:tailEnd type="none" w="med" len="med"/>
                    </a:lnL>
                    <a:lnR w="12700" cap="flat" cmpd="sng" algn="ctr">
                      <a:solidFill>
                        <a:srgbClr val="C8DDF5"/>
                      </a:solidFill>
                      <a:prstDash val="solid"/>
                      <a:round/>
                      <a:headEnd type="none" w="med" len="med"/>
                      <a:tailEnd type="none" w="med" len="med"/>
                    </a:lnR>
                    <a:lnT w="12700" cap="flat" cmpd="sng" algn="ctr">
                      <a:solidFill>
                        <a:srgbClr val="C8DDF5"/>
                      </a:solidFill>
                      <a:prstDash val="solid"/>
                      <a:round/>
                      <a:headEnd type="none" w="med" len="med"/>
                      <a:tailEnd type="none" w="med" len="med"/>
                    </a:lnT>
                    <a:lnB w="12700" cap="flat" cmpd="sng" algn="ctr">
                      <a:solidFill>
                        <a:srgbClr val="C8DDF5"/>
                      </a:solidFill>
                      <a:prstDash val="solid"/>
                      <a:round/>
                      <a:headEnd type="none" w="med" len="med"/>
                      <a:tailEnd type="none" w="med" len="med"/>
                    </a:lnB>
                    <a:solidFill>
                      <a:srgbClr val="B29E84"/>
                    </a:solidFill>
                  </a:tcPr>
                </a:tc>
                <a:extLst>
                  <a:ext uri="{0D108BD9-81ED-4DB2-BD59-A6C34878D82A}">
                    <a16:rowId xmlns:a16="http://schemas.microsoft.com/office/drawing/2014/main" val="10001"/>
                  </a:ext>
                </a:extLst>
              </a:tr>
              <a:tr h="508000">
                <a:tc>
                  <a:txBody>
                    <a:bodyPr/>
                    <a:lstStyle/>
                    <a:p>
                      <a:pPr algn="ctr">
                        <a:lnSpc>
                          <a:spcPts val="2879"/>
                        </a:lnSpc>
                        <a:defRPr/>
                      </a:pPr>
                      <a:r>
                        <a:rPr lang="en-US" sz="2400" i="1" spc="120">
                          <a:solidFill>
                            <a:srgbClr val="FFFFFF"/>
                          </a:solidFill>
                          <a:latin typeface="Playfair Display Italics"/>
                          <a:ea typeface="Playfair Display Italics"/>
                          <a:cs typeface="Playfair Display Italics"/>
                          <a:sym typeface="Playfair Display Italics"/>
                        </a:rPr>
                        <a:t>B</a:t>
                      </a:r>
                      <a:endParaRPr lang="en-US" sz="1100"/>
                    </a:p>
                  </a:txBody>
                  <a:tcPr marT="91440" marB="91440">
                    <a:lnL w="12700" cap="flat" cmpd="sng" algn="ctr">
                      <a:solidFill>
                        <a:srgbClr val="C8DDF5"/>
                      </a:solidFill>
                      <a:prstDash val="solid"/>
                      <a:round/>
                      <a:headEnd type="none" w="med" len="med"/>
                      <a:tailEnd type="none" w="med" len="med"/>
                    </a:lnL>
                    <a:lnR w="12700" cap="flat" cmpd="sng" algn="ctr">
                      <a:solidFill>
                        <a:srgbClr val="C8DDF5"/>
                      </a:solidFill>
                      <a:prstDash val="solid"/>
                      <a:round/>
                      <a:headEnd type="none" w="med" len="med"/>
                      <a:tailEnd type="none" w="med" len="med"/>
                    </a:lnR>
                    <a:lnT w="12700" cap="flat" cmpd="sng" algn="ctr">
                      <a:solidFill>
                        <a:srgbClr val="C8DDF5"/>
                      </a:solidFill>
                      <a:prstDash val="solid"/>
                      <a:round/>
                      <a:headEnd type="none" w="med" len="med"/>
                      <a:tailEnd type="none" w="med" len="med"/>
                    </a:lnT>
                    <a:lnB w="12700" cap="flat" cmpd="sng" algn="ctr">
                      <a:solidFill>
                        <a:srgbClr val="C8DDF5"/>
                      </a:solidFill>
                      <a:prstDash val="solid"/>
                      <a:round/>
                      <a:headEnd type="none" w="med" len="med"/>
                      <a:tailEnd type="none" w="med" len="med"/>
                    </a:lnB>
                    <a:solidFill>
                      <a:srgbClr val="253439"/>
                    </a:solidFill>
                  </a:tcPr>
                </a:tc>
                <a:tc>
                  <a:txBody>
                    <a:bodyPr/>
                    <a:lstStyle/>
                    <a:p>
                      <a:pPr algn="ctr">
                        <a:lnSpc>
                          <a:spcPts val="2879"/>
                        </a:lnSpc>
                        <a:defRPr/>
                      </a:pPr>
                      <a:r>
                        <a:rPr lang="en-US" sz="2400" spc="48">
                          <a:solidFill>
                            <a:srgbClr val="FFFFFF"/>
                          </a:solidFill>
                          <a:latin typeface="Playfair Display"/>
                          <a:ea typeface="Playfair Display"/>
                          <a:cs typeface="Playfair Display"/>
                          <a:sym typeface="Playfair Display"/>
                        </a:rPr>
                        <a:t>0.9</a:t>
                      </a:r>
                      <a:endParaRPr lang="en-US" sz="1100"/>
                    </a:p>
                  </a:txBody>
                  <a:tcPr marT="91440" marB="91440">
                    <a:lnL w="12700" cap="flat" cmpd="sng" algn="ctr">
                      <a:solidFill>
                        <a:srgbClr val="C8DDF5"/>
                      </a:solidFill>
                      <a:prstDash val="solid"/>
                      <a:round/>
                      <a:headEnd type="none" w="med" len="med"/>
                      <a:tailEnd type="none" w="med" len="med"/>
                    </a:lnL>
                    <a:lnR w="12700" cap="flat" cmpd="sng" algn="ctr">
                      <a:solidFill>
                        <a:srgbClr val="C8DDF5"/>
                      </a:solidFill>
                      <a:prstDash val="solid"/>
                      <a:round/>
                      <a:headEnd type="none" w="med" len="med"/>
                      <a:tailEnd type="none" w="med" len="med"/>
                    </a:lnR>
                    <a:lnT w="12700" cap="flat" cmpd="sng" algn="ctr">
                      <a:solidFill>
                        <a:srgbClr val="C8DDF5"/>
                      </a:solidFill>
                      <a:prstDash val="solid"/>
                      <a:round/>
                      <a:headEnd type="none" w="med" len="med"/>
                      <a:tailEnd type="none" w="med" len="med"/>
                    </a:lnT>
                    <a:lnB w="12700" cap="flat" cmpd="sng" algn="ctr">
                      <a:solidFill>
                        <a:srgbClr val="C8DDF5"/>
                      </a:solidFill>
                      <a:prstDash val="solid"/>
                      <a:round/>
                      <a:headEnd type="none" w="med" len="med"/>
                      <a:tailEnd type="none" w="med" len="med"/>
                    </a:lnB>
                    <a:solidFill>
                      <a:srgbClr val="253439"/>
                    </a:solidFill>
                  </a:tcPr>
                </a:tc>
                <a:tc>
                  <a:txBody>
                    <a:bodyPr/>
                    <a:lstStyle/>
                    <a:p>
                      <a:pPr algn="ctr">
                        <a:lnSpc>
                          <a:spcPts val="2879"/>
                        </a:lnSpc>
                        <a:defRPr/>
                      </a:pPr>
                      <a:r>
                        <a:rPr lang="en-US" sz="2400" spc="48">
                          <a:solidFill>
                            <a:srgbClr val="FFFFFF"/>
                          </a:solidFill>
                          <a:latin typeface="Playfair Display"/>
                          <a:ea typeface="Playfair Display"/>
                          <a:cs typeface="Playfair Display"/>
                          <a:sym typeface="Playfair Display"/>
                        </a:rPr>
                        <a:t>0.3</a:t>
                      </a:r>
                      <a:endParaRPr lang="en-US" sz="1100"/>
                    </a:p>
                  </a:txBody>
                  <a:tcPr marT="91440" marB="91440">
                    <a:lnL w="12700" cap="flat" cmpd="sng" algn="ctr">
                      <a:solidFill>
                        <a:srgbClr val="C8DDF5"/>
                      </a:solidFill>
                      <a:prstDash val="solid"/>
                      <a:round/>
                      <a:headEnd type="none" w="med" len="med"/>
                      <a:tailEnd type="none" w="med" len="med"/>
                    </a:lnL>
                    <a:lnR w="12700" cap="flat" cmpd="sng" algn="ctr">
                      <a:solidFill>
                        <a:srgbClr val="C8DDF5"/>
                      </a:solidFill>
                      <a:prstDash val="solid"/>
                      <a:round/>
                      <a:headEnd type="none" w="med" len="med"/>
                      <a:tailEnd type="none" w="med" len="med"/>
                    </a:lnR>
                    <a:lnT w="12700" cap="flat" cmpd="sng" algn="ctr">
                      <a:solidFill>
                        <a:srgbClr val="C8DDF5"/>
                      </a:solidFill>
                      <a:prstDash val="solid"/>
                      <a:round/>
                      <a:headEnd type="none" w="med" len="med"/>
                      <a:tailEnd type="none" w="med" len="med"/>
                    </a:lnT>
                    <a:lnB w="12700" cap="flat" cmpd="sng" algn="ctr">
                      <a:solidFill>
                        <a:srgbClr val="C8DDF5"/>
                      </a:solidFill>
                      <a:prstDash val="solid"/>
                      <a:round/>
                      <a:headEnd type="none" w="med" len="med"/>
                      <a:tailEnd type="none" w="med" len="med"/>
                    </a:lnB>
                    <a:solidFill>
                      <a:srgbClr val="253439"/>
                    </a:solidFill>
                  </a:tcPr>
                </a:tc>
                <a:extLst>
                  <a:ext uri="{0D108BD9-81ED-4DB2-BD59-A6C34878D82A}">
                    <a16:rowId xmlns:a16="http://schemas.microsoft.com/office/drawing/2014/main" val="10002"/>
                  </a:ext>
                </a:extLst>
              </a:tr>
              <a:tr h="508000">
                <a:tc>
                  <a:txBody>
                    <a:bodyPr/>
                    <a:lstStyle/>
                    <a:p>
                      <a:pPr algn="ctr">
                        <a:lnSpc>
                          <a:spcPts val="2879"/>
                        </a:lnSpc>
                        <a:defRPr/>
                      </a:pPr>
                      <a:r>
                        <a:rPr lang="en-US" sz="2400" i="1" spc="120">
                          <a:solidFill>
                            <a:srgbClr val="FFFFFF"/>
                          </a:solidFill>
                          <a:latin typeface="Playfair Display Italics"/>
                          <a:ea typeface="Playfair Display Italics"/>
                          <a:cs typeface="Playfair Display Italics"/>
                          <a:sym typeface="Playfair Display Italics"/>
                        </a:rPr>
                        <a:t>C</a:t>
                      </a:r>
                      <a:endParaRPr lang="en-US" sz="1100"/>
                    </a:p>
                  </a:txBody>
                  <a:tcPr marT="91440" marB="91440">
                    <a:lnL w="12700" cap="flat" cmpd="sng" algn="ctr">
                      <a:solidFill>
                        <a:srgbClr val="C8DDF5"/>
                      </a:solidFill>
                      <a:prstDash val="solid"/>
                      <a:round/>
                      <a:headEnd type="none" w="med" len="med"/>
                      <a:tailEnd type="none" w="med" len="med"/>
                    </a:lnL>
                    <a:lnR w="12700" cap="flat" cmpd="sng" algn="ctr">
                      <a:solidFill>
                        <a:srgbClr val="C8DDF5"/>
                      </a:solidFill>
                      <a:prstDash val="solid"/>
                      <a:round/>
                      <a:headEnd type="none" w="med" len="med"/>
                      <a:tailEnd type="none" w="med" len="med"/>
                    </a:lnR>
                    <a:lnT w="12700" cap="flat" cmpd="sng" algn="ctr">
                      <a:solidFill>
                        <a:srgbClr val="C8DDF5"/>
                      </a:solidFill>
                      <a:prstDash val="solid"/>
                      <a:round/>
                      <a:headEnd type="none" w="med" len="med"/>
                      <a:tailEnd type="none" w="med" len="med"/>
                    </a:lnT>
                    <a:lnB w="12700" cap="flat" cmpd="sng" algn="ctr">
                      <a:solidFill>
                        <a:srgbClr val="C8DDF5"/>
                      </a:solidFill>
                      <a:prstDash val="solid"/>
                      <a:round/>
                      <a:headEnd type="none" w="med" len="med"/>
                      <a:tailEnd type="none" w="med" len="med"/>
                    </a:lnB>
                    <a:solidFill>
                      <a:srgbClr val="B29E84"/>
                    </a:solidFill>
                  </a:tcPr>
                </a:tc>
                <a:tc>
                  <a:txBody>
                    <a:bodyPr/>
                    <a:lstStyle/>
                    <a:p>
                      <a:pPr algn="ctr">
                        <a:lnSpc>
                          <a:spcPts val="2879"/>
                        </a:lnSpc>
                        <a:defRPr/>
                      </a:pPr>
                      <a:r>
                        <a:rPr lang="en-US" sz="2400" spc="48">
                          <a:solidFill>
                            <a:srgbClr val="FFFFFF"/>
                          </a:solidFill>
                          <a:latin typeface="Playfair Display"/>
                          <a:ea typeface="Playfair Display"/>
                          <a:cs typeface="Playfair Display"/>
                          <a:sym typeface="Playfair Display"/>
                        </a:rPr>
                        <a:t>0.1</a:t>
                      </a:r>
                      <a:endParaRPr lang="en-US" sz="1100"/>
                    </a:p>
                  </a:txBody>
                  <a:tcPr marT="91440" marB="91440">
                    <a:lnL w="12700" cap="flat" cmpd="sng" algn="ctr">
                      <a:solidFill>
                        <a:srgbClr val="C8DDF5"/>
                      </a:solidFill>
                      <a:prstDash val="solid"/>
                      <a:round/>
                      <a:headEnd type="none" w="med" len="med"/>
                      <a:tailEnd type="none" w="med" len="med"/>
                    </a:lnL>
                    <a:lnR w="12700" cap="flat" cmpd="sng" algn="ctr">
                      <a:solidFill>
                        <a:srgbClr val="C8DDF5"/>
                      </a:solidFill>
                      <a:prstDash val="solid"/>
                      <a:round/>
                      <a:headEnd type="none" w="med" len="med"/>
                      <a:tailEnd type="none" w="med" len="med"/>
                    </a:lnR>
                    <a:lnT w="12700" cap="flat" cmpd="sng" algn="ctr">
                      <a:solidFill>
                        <a:srgbClr val="C8DDF5"/>
                      </a:solidFill>
                      <a:prstDash val="solid"/>
                      <a:round/>
                      <a:headEnd type="none" w="med" len="med"/>
                      <a:tailEnd type="none" w="med" len="med"/>
                    </a:lnT>
                    <a:lnB w="12700" cap="flat" cmpd="sng" algn="ctr">
                      <a:solidFill>
                        <a:srgbClr val="C8DDF5"/>
                      </a:solidFill>
                      <a:prstDash val="solid"/>
                      <a:round/>
                      <a:headEnd type="none" w="med" len="med"/>
                      <a:tailEnd type="none" w="med" len="med"/>
                    </a:lnB>
                    <a:solidFill>
                      <a:srgbClr val="B29E84"/>
                    </a:solidFill>
                  </a:tcPr>
                </a:tc>
                <a:tc>
                  <a:txBody>
                    <a:bodyPr/>
                    <a:lstStyle/>
                    <a:p>
                      <a:pPr algn="ctr">
                        <a:lnSpc>
                          <a:spcPts val="2879"/>
                        </a:lnSpc>
                        <a:defRPr/>
                      </a:pPr>
                      <a:r>
                        <a:rPr lang="en-US" sz="2400" spc="48">
                          <a:solidFill>
                            <a:srgbClr val="FFFFFF"/>
                          </a:solidFill>
                          <a:latin typeface="Playfair Display"/>
                          <a:ea typeface="Playfair Display"/>
                          <a:cs typeface="Playfair Display"/>
                          <a:sym typeface="Playfair Display"/>
                        </a:rPr>
                        <a:t>0.7</a:t>
                      </a:r>
                      <a:endParaRPr lang="en-US" sz="1100"/>
                    </a:p>
                  </a:txBody>
                  <a:tcPr marT="91440" marB="91440">
                    <a:lnL w="12700" cap="flat" cmpd="sng" algn="ctr">
                      <a:solidFill>
                        <a:srgbClr val="C8DDF5"/>
                      </a:solidFill>
                      <a:prstDash val="solid"/>
                      <a:round/>
                      <a:headEnd type="none" w="med" len="med"/>
                      <a:tailEnd type="none" w="med" len="med"/>
                    </a:lnL>
                    <a:lnR w="12700" cap="flat" cmpd="sng" algn="ctr">
                      <a:solidFill>
                        <a:srgbClr val="C8DDF5"/>
                      </a:solidFill>
                      <a:prstDash val="solid"/>
                      <a:round/>
                      <a:headEnd type="none" w="med" len="med"/>
                      <a:tailEnd type="none" w="med" len="med"/>
                    </a:lnR>
                    <a:lnT w="12700" cap="flat" cmpd="sng" algn="ctr">
                      <a:solidFill>
                        <a:srgbClr val="C8DDF5"/>
                      </a:solidFill>
                      <a:prstDash val="solid"/>
                      <a:round/>
                      <a:headEnd type="none" w="med" len="med"/>
                      <a:tailEnd type="none" w="med" len="med"/>
                    </a:lnT>
                    <a:lnB w="12700" cap="flat" cmpd="sng" algn="ctr">
                      <a:solidFill>
                        <a:srgbClr val="C8DDF5"/>
                      </a:solidFill>
                      <a:prstDash val="solid"/>
                      <a:round/>
                      <a:headEnd type="none" w="med" len="med"/>
                      <a:tailEnd type="none" w="med" len="med"/>
                    </a:lnB>
                    <a:solidFill>
                      <a:srgbClr val="B29E84"/>
                    </a:solidFill>
                  </a:tcPr>
                </a:tc>
                <a:extLst>
                  <a:ext uri="{0D108BD9-81ED-4DB2-BD59-A6C34878D82A}">
                    <a16:rowId xmlns:a16="http://schemas.microsoft.com/office/drawing/2014/main" val="10003"/>
                  </a:ext>
                </a:extLst>
              </a:tr>
            </a:tbl>
          </a:graphicData>
        </a:graphic>
      </p:graphicFrame>
      <p:grpSp>
        <p:nvGrpSpPr>
          <p:cNvPr id="30" name="Group 30"/>
          <p:cNvGrpSpPr/>
          <p:nvPr/>
        </p:nvGrpSpPr>
        <p:grpSpPr>
          <a:xfrm>
            <a:off x="9314183" y="1541783"/>
            <a:ext cx="8255003" cy="7889243"/>
            <a:chOff x="0" y="0"/>
            <a:chExt cx="11006671" cy="10518991"/>
          </a:xfrm>
        </p:grpSpPr>
        <p:sp>
          <p:nvSpPr>
            <p:cNvPr id="31" name="Freeform 31"/>
            <p:cNvSpPr/>
            <p:nvPr/>
          </p:nvSpPr>
          <p:spPr>
            <a:xfrm>
              <a:off x="0" y="0"/>
              <a:ext cx="11006710" cy="10519029"/>
            </a:xfrm>
            <a:custGeom>
              <a:avLst/>
              <a:gdLst/>
              <a:ahLst/>
              <a:cxnLst/>
              <a:rect l="l" t="t" r="r" b="b"/>
              <a:pathLst>
                <a:path w="11006710" h="10519029">
                  <a:moveTo>
                    <a:pt x="0" y="244729"/>
                  </a:moveTo>
                  <a:cubicBezTo>
                    <a:pt x="0" y="109601"/>
                    <a:pt x="109601" y="0"/>
                    <a:pt x="244729" y="0"/>
                  </a:cubicBezTo>
                  <a:lnTo>
                    <a:pt x="10761980" y="0"/>
                  </a:lnTo>
                  <a:cubicBezTo>
                    <a:pt x="10897108" y="0"/>
                    <a:pt x="11006710" y="109601"/>
                    <a:pt x="11006710" y="244729"/>
                  </a:cubicBezTo>
                  <a:lnTo>
                    <a:pt x="11006710" y="10274300"/>
                  </a:lnTo>
                  <a:cubicBezTo>
                    <a:pt x="11006710" y="10409428"/>
                    <a:pt x="10897108" y="10519029"/>
                    <a:pt x="10761980" y="10519029"/>
                  </a:cubicBezTo>
                  <a:lnTo>
                    <a:pt x="244729" y="10519029"/>
                  </a:lnTo>
                  <a:cubicBezTo>
                    <a:pt x="109601" y="10519029"/>
                    <a:pt x="0" y="10409428"/>
                    <a:pt x="0" y="10274300"/>
                  </a:cubicBezTo>
                  <a:close/>
                </a:path>
              </a:pathLst>
            </a:custGeom>
            <a:solidFill>
              <a:srgbClr val="B29E84"/>
            </a:solidFill>
            <a:ln w="25400" cap="sq">
              <a:solidFill>
                <a:srgbClr val="D8E8F8"/>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32" name="Group 32"/>
          <p:cNvGrpSpPr/>
          <p:nvPr/>
        </p:nvGrpSpPr>
        <p:grpSpPr>
          <a:xfrm>
            <a:off x="9692640" y="1645920"/>
            <a:ext cx="7498080" cy="694944"/>
            <a:chOff x="0" y="0"/>
            <a:chExt cx="9997440" cy="926592"/>
          </a:xfrm>
        </p:grpSpPr>
        <p:sp>
          <p:nvSpPr>
            <p:cNvPr id="33" name="Freeform 33"/>
            <p:cNvSpPr/>
            <p:nvPr/>
          </p:nvSpPr>
          <p:spPr>
            <a:xfrm>
              <a:off x="0" y="0"/>
              <a:ext cx="9997440" cy="926592"/>
            </a:xfrm>
            <a:custGeom>
              <a:avLst/>
              <a:gdLst/>
              <a:ahLst/>
              <a:cxnLst/>
              <a:rect l="l" t="t" r="r" b="b"/>
              <a:pathLst>
                <a:path w="9997440" h="926592">
                  <a:moveTo>
                    <a:pt x="0" y="0"/>
                  </a:moveTo>
                  <a:lnTo>
                    <a:pt x="9997440" y="0"/>
                  </a:lnTo>
                  <a:lnTo>
                    <a:pt x="9997440" y="926592"/>
                  </a:lnTo>
                  <a:lnTo>
                    <a:pt x="0" y="926592"/>
                  </a:lnTo>
                  <a:close/>
                </a:path>
              </a:pathLst>
            </a:custGeom>
            <a:blipFill>
              <a:blip r:embed="rId3">
                <a:alphaModFix amt="0"/>
              </a:blip>
              <a:stretch>
                <a:fillRect t="-160233" b="-160233"/>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34" name="TextBox 34"/>
            <p:cNvSpPr txBox="1"/>
            <p:nvPr/>
          </p:nvSpPr>
          <p:spPr>
            <a:xfrm>
              <a:off x="0" y="0"/>
              <a:ext cx="9997440" cy="926592"/>
            </a:xfrm>
            <a:prstGeom prst="rect">
              <a:avLst/>
            </a:prstGeom>
          </p:spPr>
          <p:txBody>
            <a:bodyPr lIns="0" tIns="0" rIns="0" bIns="0" rtlCol="0" anchor="ctr"/>
            <a:lstStyle/>
            <a:p>
              <a:pPr algn="l">
                <a:lnSpc>
                  <a:spcPts val="3600"/>
                </a:lnSpc>
              </a:pPr>
              <a:r>
                <a:rPr lang="en-US" sz="3000" spc="150" dirty="0">
                  <a:solidFill>
                    <a:srgbClr val="253439"/>
                  </a:solidFill>
                  <a:latin typeface="Times New Roman" panose="02020603050405020304" pitchFamily="18" charset="0"/>
                  <a:ea typeface="Playfair Display Italics"/>
                  <a:cs typeface="Times New Roman" panose="02020603050405020304" pitchFamily="18" charset="0"/>
                  <a:sym typeface="Playfair Display Italics"/>
                </a:rPr>
                <a:t>Key Properties</a:t>
              </a:r>
            </a:p>
          </p:txBody>
        </p:sp>
      </p:grpSp>
      <p:grpSp>
        <p:nvGrpSpPr>
          <p:cNvPr id="35" name="Group 35"/>
          <p:cNvGrpSpPr/>
          <p:nvPr/>
        </p:nvGrpSpPr>
        <p:grpSpPr>
          <a:xfrm>
            <a:off x="9588503" y="2456183"/>
            <a:ext cx="7523483" cy="1268987"/>
            <a:chOff x="0" y="0"/>
            <a:chExt cx="10031311" cy="1691983"/>
          </a:xfrm>
        </p:grpSpPr>
        <p:sp>
          <p:nvSpPr>
            <p:cNvPr id="36" name="Freeform 36"/>
            <p:cNvSpPr/>
            <p:nvPr/>
          </p:nvSpPr>
          <p:spPr>
            <a:xfrm>
              <a:off x="0" y="0"/>
              <a:ext cx="10031223" cy="1691894"/>
            </a:xfrm>
            <a:custGeom>
              <a:avLst/>
              <a:gdLst/>
              <a:ahLst/>
              <a:cxnLst/>
              <a:rect l="l" t="t" r="r" b="b"/>
              <a:pathLst>
                <a:path w="10031223" h="1691894">
                  <a:moveTo>
                    <a:pt x="0" y="248793"/>
                  </a:moveTo>
                  <a:cubicBezTo>
                    <a:pt x="0" y="111379"/>
                    <a:pt x="111379" y="0"/>
                    <a:pt x="248793" y="0"/>
                  </a:cubicBezTo>
                  <a:lnTo>
                    <a:pt x="9782429" y="0"/>
                  </a:lnTo>
                  <a:cubicBezTo>
                    <a:pt x="9919843" y="0"/>
                    <a:pt x="10031223" y="111379"/>
                    <a:pt x="10031223" y="248793"/>
                  </a:cubicBezTo>
                  <a:lnTo>
                    <a:pt x="10031223" y="1443101"/>
                  </a:lnTo>
                  <a:cubicBezTo>
                    <a:pt x="10031223" y="1580515"/>
                    <a:pt x="9919843" y="1691894"/>
                    <a:pt x="9782429" y="1691894"/>
                  </a:cubicBezTo>
                  <a:lnTo>
                    <a:pt x="248793" y="1691894"/>
                  </a:lnTo>
                  <a:cubicBezTo>
                    <a:pt x="111379" y="1692021"/>
                    <a:pt x="0" y="1580515"/>
                    <a:pt x="0" y="1443101"/>
                  </a:cubicBezTo>
                  <a:close/>
                </a:path>
              </a:pathLst>
            </a:custGeom>
            <a:solidFill>
              <a:srgbClr val="253439"/>
            </a:solidFill>
            <a:ln w="25400" cap="sq">
              <a:solidFill>
                <a:srgbClr val="D8E8F8"/>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37" name="Group 37"/>
          <p:cNvGrpSpPr/>
          <p:nvPr/>
        </p:nvGrpSpPr>
        <p:grpSpPr>
          <a:xfrm>
            <a:off x="9875520" y="2468880"/>
            <a:ext cx="2377440" cy="1243584"/>
            <a:chOff x="0" y="0"/>
            <a:chExt cx="3169920" cy="1658112"/>
          </a:xfrm>
        </p:grpSpPr>
        <p:sp>
          <p:nvSpPr>
            <p:cNvPr id="38" name="Freeform 38"/>
            <p:cNvSpPr/>
            <p:nvPr/>
          </p:nvSpPr>
          <p:spPr>
            <a:xfrm>
              <a:off x="0" y="0"/>
              <a:ext cx="3169920" cy="1658112"/>
            </a:xfrm>
            <a:custGeom>
              <a:avLst/>
              <a:gdLst/>
              <a:ahLst/>
              <a:cxnLst/>
              <a:rect l="l" t="t" r="r" b="b"/>
              <a:pathLst>
                <a:path w="3169920" h="1658112">
                  <a:moveTo>
                    <a:pt x="0" y="0"/>
                  </a:moveTo>
                  <a:lnTo>
                    <a:pt x="3169920" y="0"/>
                  </a:lnTo>
                  <a:lnTo>
                    <a:pt x="3169920" y="1658112"/>
                  </a:lnTo>
                  <a:lnTo>
                    <a:pt x="0" y="1658112"/>
                  </a:lnTo>
                  <a:close/>
                </a:path>
              </a:pathLst>
            </a:custGeom>
            <a:blipFill>
              <a:blip r:embed="rId3">
                <a:alphaModFix amt="0"/>
              </a:blip>
              <a:stretch>
                <a:fillRect l="-17112" r="-17112"/>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39" name="TextBox 39"/>
            <p:cNvSpPr txBox="1"/>
            <p:nvPr/>
          </p:nvSpPr>
          <p:spPr>
            <a:xfrm>
              <a:off x="0" y="0"/>
              <a:ext cx="3169920" cy="1658112"/>
            </a:xfrm>
            <a:prstGeom prst="rect">
              <a:avLst/>
            </a:prstGeom>
          </p:spPr>
          <p:txBody>
            <a:bodyPr lIns="0" tIns="0" rIns="0" bIns="0" rtlCol="0" anchor="ctr"/>
            <a:lstStyle/>
            <a:p>
              <a:pPr algn="l">
                <a:lnSpc>
                  <a:spcPts val="2879"/>
                </a:lnSpc>
              </a:pPr>
              <a:r>
                <a:rPr lang="en-US" sz="2400" spc="120" dirty="0">
                  <a:solidFill>
                    <a:srgbClr val="FFFFFF"/>
                  </a:solidFill>
                  <a:latin typeface="Times New Roman" panose="02020603050405020304" pitchFamily="18" charset="0"/>
                  <a:ea typeface="Playfair Display Italics"/>
                  <a:cs typeface="Times New Roman" panose="02020603050405020304" pitchFamily="18" charset="0"/>
                  <a:sym typeface="Playfair Display Italics"/>
                </a:rPr>
                <a:t>Transductive</a:t>
              </a:r>
            </a:p>
          </p:txBody>
        </p:sp>
      </p:grpSp>
      <p:grpSp>
        <p:nvGrpSpPr>
          <p:cNvPr id="40" name="Group 40"/>
          <p:cNvGrpSpPr/>
          <p:nvPr/>
        </p:nvGrpSpPr>
        <p:grpSpPr>
          <a:xfrm>
            <a:off x="12344400" y="2468880"/>
            <a:ext cx="4572000" cy="1243584"/>
            <a:chOff x="0" y="0"/>
            <a:chExt cx="6096000" cy="1658112"/>
          </a:xfrm>
        </p:grpSpPr>
        <p:sp>
          <p:nvSpPr>
            <p:cNvPr id="41" name="Freeform 41"/>
            <p:cNvSpPr/>
            <p:nvPr/>
          </p:nvSpPr>
          <p:spPr>
            <a:xfrm>
              <a:off x="0" y="0"/>
              <a:ext cx="6096000" cy="1658112"/>
            </a:xfrm>
            <a:custGeom>
              <a:avLst/>
              <a:gdLst/>
              <a:ahLst/>
              <a:cxnLst/>
              <a:rect l="l" t="t" r="r" b="b"/>
              <a:pathLst>
                <a:path w="6096000" h="1658112">
                  <a:moveTo>
                    <a:pt x="0" y="0"/>
                  </a:moveTo>
                  <a:lnTo>
                    <a:pt x="6096000" y="0"/>
                  </a:lnTo>
                  <a:lnTo>
                    <a:pt x="6096000" y="1658112"/>
                  </a:lnTo>
                  <a:lnTo>
                    <a:pt x="0" y="1658112"/>
                  </a:lnTo>
                  <a:close/>
                </a:path>
              </a:pathLst>
            </a:custGeom>
            <a:blipFill>
              <a:blip r:embed="rId3">
                <a:alphaModFix amt="0"/>
              </a:blip>
              <a:stretch>
                <a:fillRect t="-21636" b="-21636"/>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42" name="TextBox 42"/>
            <p:cNvSpPr txBox="1"/>
            <p:nvPr/>
          </p:nvSpPr>
          <p:spPr>
            <a:xfrm>
              <a:off x="0" y="0"/>
              <a:ext cx="6096000" cy="1658112"/>
            </a:xfrm>
            <a:prstGeom prst="rect">
              <a:avLst/>
            </a:prstGeom>
          </p:spPr>
          <p:txBody>
            <a:bodyPr lIns="0" tIns="0" rIns="0" bIns="0" rtlCol="0" anchor="ctr"/>
            <a:lstStyle/>
            <a:p>
              <a:pPr algn="l">
                <a:lnSpc>
                  <a:spcPts val="2879"/>
                </a:lnSpc>
              </a:pPr>
              <a:r>
                <a:rPr lang="en-US" sz="2400" spc="48">
                  <a:solidFill>
                    <a:srgbClr val="FFFFFF"/>
                  </a:solidFill>
                  <a:latin typeface="Times New Roman" panose="02020603050405020304" pitchFamily="18" charset="0"/>
                  <a:ea typeface="Playfair Display"/>
                  <a:cs typeface="Times New Roman" panose="02020603050405020304" pitchFamily="18" charset="0"/>
                  <a:sym typeface="Playfair Display"/>
                </a:rPr>
                <a:t>Each node gets its own unique vector — no sharing</a:t>
              </a:r>
            </a:p>
          </p:txBody>
        </p:sp>
      </p:grpSp>
      <p:grpSp>
        <p:nvGrpSpPr>
          <p:cNvPr id="43" name="Group 43"/>
          <p:cNvGrpSpPr/>
          <p:nvPr/>
        </p:nvGrpSpPr>
        <p:grpSpPr>
          <a:xfrm>
            <a:off x="9588503" y="3882647"/>
            <a:ext cx="7523483" cy="1268987"/>
            <a:chOff x="0" y="0"/>
            <a:chExt cx="10031311" cy="1691983"/>
          </a:xfrm>
        </p:grpSpPr>
        <p:sp>
          <p:nvSpPr>
            <p:cNvPr id="44" name="Freeform 44"/>
            <p:cNvSpPr/>
            <p:nvPr/>
          </p:nvSpPr>
          <p:spPr>
            <a:xfrm>
              <a:off x="0" y="0"/>
              <a:ext cx="10031223" cy="1691894"/>
            </a:xfrm>
            <a:custGeom>
              <a:avLst/>
              <a:gdLst/>
              <a:ahLst/>
              <a:cxnLst/>
              <a:rect l="l" t="t" r="r" b="b"/>
              <a:pathLst>
                <a:path w="10031223" h="1691894">
                  <a:moveTo>
                    <a:pt x="0" y="248793"/>
                  </a:moveTo>
                  <a:cubicBezTo>
                    <a:pt x="0" y="111379"/>
                    <a:pt x="111379" y="0"/>
                    <a:pt x="248793" y="0"/>
                  </a:cubicBezTo>
                  <a:lnTo>
                    <a:pt x="9782429" y="0"/>
                  </a:lnTo>
                  <a:cubicBezTo>
                    <a:pt x="9919843" y="0"/>
                    <a:pt x="10031223" y="111379"/>
                    <a:pt x="10031223" y="248793"/>
                  </a:cubicBezTo>
                  <a:lnTo>
                    <a:pt x="10031223" y="1443101"/>
                  </a:lnTo>
                  <a:cubicBezTo>
                    <a:pt x="10031223" y="1580515"/>
                    <a:pt x="9919843" y="1691894"/>
                    <a:pt x="9782429" y="1691894"/>
                  </a:cubicBezTo>
                  <a:lnTo>
                    <a:pt x="248793" y="1691894"/>
                  </a:lnTo>
                  <a:cubicBezTo>
                    <a:pt x="111379" y="1692021"/>
                    <a:pt x="0" y="1580515"/>
                    <a:pt x="0" y="1443101"/>
                  </a:cubicBezTo>
                  <a:close/>
                </a:path>
              </a:pathLst>
            </a:custGeom>
            <a:solidFill>
              <a:srgbClr val="253439"/>
            </a:solidFill>
            <a:ln w="25400" cap="sq">
              <a:solidFill>
                <a:srgbClr val="D8E8F8"/>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45" name="Group 45"/>
          <p:cNvGrpSpPr/>
          <p:nvPr/>
        </p:nvGrpSpPr>
        <p:grpSpPr>
          <a:xfrm>
            <a:off x="9875520" y="3895344"/>
            <a:ext cx="2377440" cy="1243584"/>
            <a:chOff x="0" y="0"/>
            <a:chExt cx="3169920" cy="1658112"/>
          </a:xfrm>
        </p:grpSpPr>
        <p:sp>
          <p:nvSpPr>
            <p:cNvPr id="46" name="Freeform 46"/>
            <p:cNvSpPr/>
            <p:nvPr/>
          </p:nvSpPr>
          <p:spPr>
            <a:xfrm>
              <a:off x="0" y="0"/>
              <a:ext cx="3169920" cy="1658112"/>
            </a:xfrm>
            <a:custGeom>
              <a:avLst/>
              <a:gdLst/>
              <a:ahLst/>
              <a:cxnLst/>
              <a:rect l="l" t="t" r="r" b="b"/>
              <a:pathLst>
                <a:path w="3169920" h="1658112">
                  <a:moveTo>
                    <a:pt x="0" y="0"/>
                  </a:moveTo>
                  <a:lnTo>
                    <a:pt x="3169920" y="0"/>
                  </a:lnTo>
                  <a:lnTo>
                    <a:pt x="3169920" y="1658112"/>
                  </a:lnTo>
                  <a:lnTo>
                    <a:pt x="0" y="1658112"/>
                  </a:lnTo>
                  <a:close/>
                </a:path>
              </a:pathLst>
            </a:custGeom>
            <a:blipFill>
              <a:blip r:embed="rId3">
                <a:alphaModFix amt="0"/>
              </a:blip>
              <a:stretch>
                <a:fillRect l="-17112" r="-17112"/>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47" name="TextBox 47"/>
            <p:cNvSpPr txBox="1"/>
            <p:nvPr/>
          </p:nvSpPr>
          <p:spPr>
            <a:xfrm>
              <a:off x="0" y="0"/>
              <a:ext cx="3169920" cy="1658112"/>
            </a:xfrm>
            <a:prstGeom prst="rect">
              <a:avLst/>
            </a:prstGeom>
          </p:spPr>
          <p:txBody>
            <a:bodyPr lIns="0" tIns="0" rIns="0" bIns="0" rtlCol="0" anchor="ctr"/>
            <a:lstStyle/>
            <a:p>
              <a:pPr algn="l">
                <a:lnSpc>
                  <a:spcPts val="2879"/>
                </a:lnSpc>
              </a:pPr>
              <a:r>
                <a:rPr lang="en-US" sz="2400" spc="120" dirty="0">
                  <a:solidFill>
                    <a:srgbClr val="FFFFFF"/>
                  </a:solidFill>
                  <a:latin typeface="Times New Roman" panose="02020603050405020304" pitchFamily="18" charset="0"/>
                  <a:ea typeface="Playfair Display Italics"/>
                  <a:cs typeface="Times New Roman" panose="02020603050405020304" pitchFamily="18" charset="0"/>
                  <a:sym typeface="Playfair Display Italics"/>
                </a:rPr>
                <a:t>Unsupervised</a:t>
              </a:r>
            </a:p>
          </p:txBody>
        </p:sp>
      </p:grpSp>
      <p:grpSp>
        <p:nvGrpSpPr>
          <p:cNvPr id="48" name="Group 48"/>
          <p:cNvGrpSpPr/>
          <p:nvPr/>
        </p:nvGrpSpPr>
        <p:grpSpPr>
          <a:xfrm>
            <a:off x="12344400" y="3895344"/>
            <a:ext cx="4572000" cy="1243584"/>
            <a:chOff x="0" y="0"/>
            <a:chExt cx="6096000" cy="1658112"/>
          </a:xfrm>
        </p:grpSpPr>
        <p:sp>
          <p:nvSpPr>
            <p:cNvPr id="49" name="Freeform 49"/>
            <p:cNvSpPr/>
            <p:nvPr/>
          </p:nvSpPr>
          <p:spPr>
            <a:xfrm>
              <a:off x="0" y="0"/>
              <a:ext cx="6096000" cy="1658112"/>
            </a:xfrm>
            <a:custGeom>
              <a:avLst/>
              <a:gdLst/>
              <a:ahLst/>
              <a:cxnLst/>
              <a:rect l="l" t="t" r="r" b="b"/>
              <a:pathLst>
                <a:path w="6096000" h="1658112">
                  <a:moveTo>
                    <a:pt x="0" y="0"/>
                  </a:moveTo>
                  <a:lnTo>
                    <a:pt x="6096000" y="0"/>
                  </a:lnTo>
                  <a:lnTo>
                    <a:pt x="6096000" y="1658112"/>
                  </a:lnTo>
                  <a:lnTo>
                    <a:pt x="0" y="1658112"/>
                  </a:lnTo>
                  <a:close/>
                </a:path>
              </a:pathLst>
            </a:custGeom>
            <a:blipFill>
              <a:blip r:embed="rId3">
                <a:alphaModFix amt="0"/>
              </a:blip>
              <a:stretch>
                <a:fillRect t="-21636" b="-21636"/>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50" name="TextBox 50"/>
            <p:cNvSpPr txBox="1"/>
            <p:nvPr/>
          </p:nvSpPr>
          <p:spPr>
            <a:xfrm>
              <a:off x="0" y="0"/>
              <a:ext cx="6096000" cy="1658112"/>
            </a:xfrm>
            <a:prstGeom prst="rect">
              <a:avLst/>
            </a:prstGeom>
          </p:spPr>
          <p:txBody>
            <a:bodyPr lIns="0" tIns="0" rIns="0" bIns="0" rtlCol="0" anchor="ctr"/>
            <a:lstStyle/>
            <a:p>
              <a:pPr algn="l">
                <a:lnSpc>
                  <a:spcPts val="2879"/>
                </a:lnSpc>
              </a:pPr>
              <a:r>
                <a:rPr lang="en-US" sz="2400" spc="48">
                  <a:solidFill>
                    <a:srgbClr val="FFFFFF"/>
                  </a:solidFill>
                  <a:latin typeface="Times New Roman" panose="02020603050405020304" pitchFamily="18" charset="0"/>
                  <a:ea typeface="Playfair Display"/>
                  <a:cs typeface="Times New Roman" panose="02020603050405020304" pitchFamily="18" charset="0"/>
                  <a:sym typeface="Playfair Display"/>
                </a:rPr>
                <a:t>No labels needed — pure structure drives learning</a:t>
              </a:r>
            </a:p>
          </p:txBody>
        </p:sp>
      </p:grpSp>
      <p:grpSp>
        <p:nvGrpSpPr>
          <p:cNvPr id="51" name="Group 51"/>
          <p:cNvGrpSpPr/>
          <p:nvPr/>
        </p:nvGrpSpPr>
        <p:grpSpPr>
          <a:xfrm>
            <a:off x="9588503" y="5309111"/>
            <a:ext cx="7523483" cy="1268987"/>
            <a:chOff x="0" y="0"/>
            <a:chExt cx="10031311" cy="1691983"/>
          </a:xfrm>
        </p:grpSpPr>
        <p:sp>
          <p:nvSpPr>
            <p:cNvPr id="52" name="Freeform 52"/>
            <p:cNvSpPr/>
            <p:nvPr/>
          </p:nvSpPr>
          <p:spPr>
            <a:xfrm>
              <a:off x="0" y="0"/>
              <a:ext cx="10031223" cy="1691894"/>
            </a:xfrm>
            <a:custGeom>
              <a:avLst/>
              <a:gdLst/>
              <a:ahLst/>
              <a:cxnLst/>
              <a:rect l="l" t="t" r="r" b="b"/>
              <a:pathLst>
                <a:path w="10031223" h="1691894">
                  <a:moveTo>
                    <a:pt x="0" y="248793"/>
                  </a:moveTo>
                  <a:cubicBezTo>
                    <a:pt x="0" y="111379"/>
                    <a:pt x="111379" y="0"/>
                    <a:pt x="248793" y="0"/>
                  </a:cubicBezTo>
                  <a:lnTo>
                    <a:pt x="9782429" y="0"/>
                  </a:lnTo>
                  <a:cubicBezTo>
                    <a:pt x="9919843" y="0"/>
                    <a:pt x="10031223" y="111379"/>
                    <a:pt x="10031223" y="248793"/>
                  </a:cubicBezTo>
                  <a:lnTo>
                    <a:pt x="10031223" y="1443101"/>
                  </a:lnTo>
                  <a:cubicBezTo>
                    <a:pt x="10031223" y="1580515"/>
                    <a:pt x="9919843" y="1691894"/>
                    <a:pt x="9782429" y="1691894"/>
                  </a:cubicBezTo>
                  <a:lnTo>
                    <a:pt x="248793" y="1691894"/>
                  </a:lnTo>
                  <a:cubicBezTo>
                    <a:pt x="111379" y="1692021"/>
                    <a:pt x="0" y="1580515"/>
                    <a:pt x="0" y="1443101"/>
                  </a:cubicBezTo>
                  <a:close/>
                </a:path>
              </a:pathLst>
            </a:custGeom>
            <a:solidFill>
              <a:srgbClr val="253439"/>
            </a:solidFill>
            <a:ln w="25400" cap="sq">
              <a:solidFill>
                <a:srgbClr val="D8E8F8"/>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53" name="Group 53"/>
          <p:cNvGrpSpPr/>
          <p:nvPr/>
        </p:nvGrpSpPr>
        <p:grpSpPr>
          <a:xfrm>
            <a:off x="9875520" y="5321808"/>
            <a:ext cx="2377440" cy="1243584"/>
            <a:chOff x="0" y="0"/>
            <a:chExt cx="3169920" cy="1658112"/>
          </a:xfrm>
        </p:grpSpPr>
        <p:sp>
          <p:nvSpPr>
            <p:cNvPr id="54" name="Freeform 54"/>
            <p:cNvSpPr/>
            <p:nvPr/>
          </p:nvSpPr>
          <p:spPr>
            <a:xfrm>
              <a:off x="0" y="0"/>
              <a:ext cx="3169920" cy="1658112"/>
            </a:xfrm>
            <a:custGeom>
              <a:avLst/>
              <a:gdLst/>
              <a:ahLst/>
              <a:cxnLst/>
              <a:rect l="l" t="t" r="r" b="b"/>
              <a:pathLst>
                <a:path w="3169920" h="1658112">
                  <a:moveTo>
                    <a:pt x="0" y="0"/>
                  </a:moveTo>
                  <a:lnTo>
                    <a:pt x="3169920" y="0"/>
                  </a:lnTo>
                  <a:lnTo>
                    <a:pt x="3169920" y="1658112"/>
                  </a:lnTo>
                  <a:lnTo>
                    <a:pt x="0" y="1658112"/>
                  </a:lnTo>
                  <a:close/>
                </a:path>
              </a:pathLst>
            </a:custGeom>
            <a:blipFill>
              <a:blip r:embed="rId3">
                <a:alphaModFix amt="0"/>
              </a:blip>
              <a:stretch>
                <a:fillRect l="-17112" r="-17112"/>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55" name="TextBox 55"/>
            <p:cNvSpPr txBox="1"/>
            <p:nvPr/>
          </p:nvSpPr>
          <p:spPr>
            <a:xfrm>
              <a:off x="0" y="0"/>
              <a:ext cx="3169920" cy="1658112"/>
            </a:xfrm>
            <a:prstGeom prst="rect">
              <a:avLst/>
            </a:prstGeom>
          </p:spPr>
          <p:txBody>
            <a:bodyPr lIns="0" tIns="0" rIns="0" bIns="0" rtlCol="0" anchor="ctr"/>
            <a:lstStyle/>
            <a:p>
              <a:pPr algn="l">
                <a:lnSpc>
                  <a:spcPts val="2879"/>
                </a:lnSpc>
              </a:pPr>
              <a:r>
                <a:rPr lang="en-US" sz="2400" spc="120" dirty="0">
                  <a:solidFill>
                    <a:srgbClr val="FFFFFF"/>
                  </a:solidFill>
                  <a:latin typeface="Times New Roman" panose="02020603050405020304" pitchFamily="18" charset="0"/>
                  <a:ea typeface="Playfair Display Italics"/>
                  <a:cs typeface="Times New Roman" panose="02020603050405020304" pitchFamily="18" charset="0"/>
                  <a:sym typeface="Playfair Display Italics"/>
                </a:rPr>
                <a:t>Task-free</a:t>
              </a:r>
            </a:p>
          </p:txBody>
        </p:sp>
      </p:grpSp>
      <p:grpSp>
        <p:nvGrpSpPr>
          <p:cNvPr id="56" name="Group 56"/>
          <p:cNvGrpSpPr/>
          <p:nvPr/>
        </p:nvGrpSpPr>
        <p:grpSpPr>
          <a:xfrm>
            <a:off x="12344400" y="5321808"/>
            <a:ext cx="4572000" cy="1243584"/>
            <a:chOff x="0" y="0"/>
            <a:chExt cx="6096000" cy="1658112"/>
          </a:xfrm>
        </p:grpSpPr>
        <p:sp>
          <p:nvSpPr>
            <p:cNvPr id="57" name="Freeform 57"/>
            <p:cNvSpPr/>
            <p:nvPr/>
          </p:nvSpPr>
          <p:spPr>
            <a:xfrm>
              <a:off x="0" y="0"/>
              <a:ext cx="6096000" cy="1658112"/>
            </a:xfrm>
            <a:custGeom>
              <a:avLst/>
              <a:gdLst/>
              <a:ahLst/>
              <a:cxnLst/>
              <a:rect l="l" t="t" r="r" b="b"/>
              <a:pathLst>
                <a:path w="6096000" h="1658112">
                  <a:moveTo>
                    <a:pt x="0" y="0"/>
                  </a:moveTo>
                  <a:lnTo>
                    <a:pt x="6096000" y="0"/>
                  </a:lnTo>
                  <a:lnTo>
                    <a:pt x="6096000" y="1658112"/>
                  </a:lnTo>
                  <a:lnTo>
                    <a:pt x="0" y="1658112"/>
                  </a:lnTo>
                  <a:close/>
                </a:path>
              </a:pathLst>
            </a:custGeom>
            <a:blipFill>
              <a:blip r:embed="rId3">
                <a:alphaModFix amt="0"/>
              </a:blip>
              <a:stretch>
                <a:fillRect t="-21636" b="-21636"/>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58" name="TextBox 58"/>
            <p:cNvSpPr txBox="1"/>
            <p:nvPr/>
          </p:nvSpPr>
          <p:spPr>
            <a:xfrm>
              <a:off x="0" y="0"/>
              <a:ext cx="6096000" cy="1658112"/>
            </a:xfrm>
            <a:prstGeom prst="rect">
              <a:avLst/>
            </a:prstGeom>
          </p:spPr>
          <p:txBody>
            <a:bodyPr lIns="0" tIns="0" rIns="0" bIns="0" rtlCol="0" anchor="ctr"/>
            <a:lstStyle/>
            <a:p>
              <a:pPr algn="l">
                <a:lnSpc>
                  <a:spcPts val="2879"/>
                </a:lnSpc>
              </a:pPr>
              <a:r>
                <a:rPr lang="en-US" sz="2400" spc="48">
                  <a:solidFill>
                    <a:srgbClr val="FFFFFF"/>
                  </a:solidFill>
                  <a:latin typeface="Times New Roman" panose="02020603050405020304" pitchFamily="18" charset="0"/>
                  <a:ea typeface="Playfair Display"/>
                  <a:cs typeface="Times New Roman" panose="02020603050405020304" pitchFamily="18" charset="0"/>
                  <a:sym typeface="Playfair Display"/>
                </a:rPr>
                <a:t>Embeddings learned once, used for many tasks</a:t>
              </a:r>
            </a:p>
          </p:txBody>
        </p:sp>
      </p:grpSp>
      <p:grpSp>
        <p:nvGrpSpPr>
          <p:cNvPr id="59" name="Group 59"/>
          <p:cNvGrpSpPr/>
          <p:nvPr/>
        </p:nvGrpSpPr>
        <p:grpSpPr>
          <a:xfrm>
            <a:off x="9588503" y="6735575"/>
            <a:ext cx="7523483" cy="1268987"/>
            <a:chOff x="0" y="0"/>
            <a:chExt cx="10031311" cy="1691983"/>
          </a:xfrm>
        </p:grpSpPr>
        <p:sp>
          <p:nvSpPr>
            <p:cNvPr id="60" name="Freeform 60"/>
            <p:cNvSpPr/>
            <p:nvPr/>
          </p:nvSpPr>
          <p:spPr>
            <a:xfrm>
              <a:off x="0" y="0"/>
              <a:ext cx="10031223" cy="1691894"/>
            </a:xfrm>
            <a:custGeom>
              <a:avLst/>
              <a:gdLst/>
              <a:ahLst/>
              <a:cxnLst/>
              <a:rect l="l" t="t" r="r" b="b"/>
              <a:pathLst>
                <a:path w="10031223" h="1691894">
                  <a:moveTo>
                    <a:pt x="0" y="248793"/>
                  </a:moveTo>
                  <a:cubicBezTo>
                    <a:pt x="0" y="111379"/>
                    <a:pt x="111379" y="0"/>
                    <a:pt x="248793" y="0"/>
                  </a:cubicBezTo>
                  <a:lnTo>
                    <a:pt x="9782429" y="0"/>
                  </a:lnTo>
                  <a:cubicBezTo>
                    <a:pt x="9919843" y="0"/>
                    <a:pt x="10031223" y="111379"/>
                    <a:pt x="10031223" y="248793"/>
                  </a:cubicBezTo>
                  <a:lnTo>
                    <a:pt x="10031223" y="1443101"/>
                  </a:lnTo>
                  <a:cubicBezTo>
                    <a:pt x="10031223" y="1580515"/>
                    <a:pt x="9919843" y="1691894"/>
                    <a:pt x="9782429" y="1691894"/>
                  </a:cubicBezTo>
                  <a:lnTo>
                    <a:pt x="248793" y="1691894"/>
                  </a:lnTo>
                  <a:cubicBezTo>
                    <a:pt x="111379" y="1692021"/>
                    <a:pt x="0" y="1580515"/>
                    <a:pt x="0" y="1443101"/>
                  </a:cubicBezTo>
                  <a:close/>
                </a:path>
              </a:pathLst>
            </a:custGeom>
            <a:solidFill>
              <a:srgbClr val="253439"/>
            </a:solidFill>
            <a:ln w="25400" cap="sq">
              <a:solidFill>
                <a:srgbClr val="D8E8F8"/>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61" name="Group 61"/>
          <p:cNvGrpSpPr/>
          <p:nvPr/>
        </p:nvGrpSpPr>
        <p:grpSpPr>
          <a:xfrm>
            <a:off x="9875520" y="6748272"/>
            <a:ext cx="2377440" cy="1243584"/>
            <a:chOff x="0" y="0"/>
            <a:chExt cx="3169920" cy="1658112"/>
          </a:xfrm>
        </p:grpSpPr>
        <p:sp>
          <p:nvSpPr>
            <p:cNvPr id="62" name="Freeform 62"/>
            <p:cNvSpPr/>
            <p:nvPr/>
          </p:nvSpPr>
          <p:spPr>
            <a:xfrm>
              <a:off x="0" y="0"/>
              <a:ext cx="3169920" cy="1658112"/>
            </a:xfrm>
            <a:custGeom>
              <a:avLst/>
              <a:gdLst/>
              <a:ahLst/>
              <a:cxnLst/>
              <a:rect l="l" t="t" r="r" b="b"/>
              <a:pathLst>
                <a:path w="3169920" h="1658112">
                  <a:moveTo>
                    <a:pt x="0" y="0"/>
                  </a:moveTo>
                  <a:lnTo>
                    <a:pt x="3169920" y="0"/>
                  </a:lnTo>
                  <a:lnTo>
                    <a:pt x="3169920" y="1658112"/>
                  </a:lnTo>
                  <a:lnTo>
                    <a:pt x="0" y="1658112"/>
                  </a:lnTo>
                  <a:close/>
                </a:path>
              </a:pathLst>
            </a:custGeom>
            <a:blipFill>
              <a:blip r:embed="rId3">
                <a:alphaModFix amt="0"/>
              </a:blip>
              <a:stretch>
                <a:fillRect l="-17112" r="-17112"/>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63" name="TextBox 63"/>
            <p:cNvSpPr txBox="1"/>
            <p:nvPr/>
          </p:nvSpPr>
          <p:spPr>
            <a:xfrm>
              <a:off x="0" y="0"/>
              <a:ext cx="3169920" cy="1658112"/>
            </a:xfrm>
            <a:prstGeom prst="rect">
              <a:avLst/>
            </a:prstGeom>
          </p:spPr>
          <p:txBody>
            <a:bodyPr lIns="0" tIns="0" rIns="0" bIns="0" rtlCol="0" anchor="ctr"/>
            <a:lstStyle/>
            <a:p>
              <a:pPr algn="l">
                <a:lnSpc>
                  <a:spcPts val="2879"/>
                </a:lnSpc>
              </a:pPr>
              <a:r>
                <a:rPr lang="en-US" sz="2400" spc="120" dirty="0">
                  <a:solidFill>
                    <a:srgbClr val="FFFFFF"/>
                  </a:solidFill>
                  <a:latin typeface="Times New Roman" panose="02020603050405020304" pitchFamily="18" charset="0"/>
                  <a:ea typeface="Playfair Display Italics"/>
                  <a:cs typeface="Times New Roman" panose="02020603050405020304" pitchFamily="18" charset="0"/>
                  <a:sym typeface="Playfair Display Italics"/>
                </a:rPr>
                <a:t>O(|V|)</a:t>
              </a:r>
            </a:p>
          </p:txBody>
        </p:sp>
      </p:grpSp>
      <p:grpSp>
        <p:nvGrpSpPr>
          <p:cNvPr id="64" name="Group 64"/>
          <p:cNvGrpSpPr/>
          <p:nvPr/>
        </p:nvGrpSpPr>
        <p:grpSpPr>
          <a:xfrm>
            <a:off x="12344400" y="6748272"/>
            <a:ext cx="4572000" cy="1243584"/>
            <a:chOff x="0" y="0"/>
            <a:chExt cx="6096000" cy="1658112"/>
          </a:xfrm>
        </p:grpSpPr>
        <p:sp>
          <p:nvSpPr>
            <p:cNvPr id="65" name="Freeform 65"/>
            <p:cNvSpPr/>
            <p:nvPr/>
          </p:nvSpPr>
          <p:spPr>
            <a:xfrm>
              <a:off x="0" y="0"/>
              <a:ext cx="6096000" cy="1658112"/>
            </a:xfrm>
            <a:custGeom>
              <a:avLst/>
              <a:gdLst/>
              <a:ahLst/>
              <a:cxnLst/>
              <a:rect l="l" t="t" r="r" b="b"/>
              <a:pathLst>
                <a:path w="6096000" h="1658112">
                  <a:moveTo>
                    <a:pt x="0" y="0"/>
                  </a:moveTo>
                  <a:lnTo>
                    <a:pt x="6096000" y="0"/>
                  </a:lnTo>
                  <a:lnTo>
                    <a:pt x="6096000" y="1658112"/>
                  </a:lnTo>
                  <a:lnTo>
                    <a:pt x="0" y="1658112"/>
                  </a:lnTo>
                  <a:close/>
                </a:path>
              </a:pathLst>
            </a:custGeom>
            <a:blipFill>
              <a:blip r:embed="rId3">
                <a:alphaModFix amt="0"/>
              </a:blip>
              <a:stretch>
                <a:fillRect t="-21636" b="-21636"/>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66" name="TextBox 66"/>
            <p:cNvSpPr txBox="1"/>
            <p:nvPr/>
          </p:nvSpPr>
          <p:spPr>
            <a:xfrm>
              <a:off x="0" y="0"/>
              <a:ext cx="6096000" cy="1658112"/>
            </a:xfrm>
            <a:prstGeom prst="rect">
              <a:avLst/>
            </a:prstGeom>
          </p:spPr>
          <p:txBody>
            <a:bodyPr lIns="0" tIns="0" rIns="0" bIns="0" rtlCol="0" anchor="ctr"/>
            <a:lstStyle/>
            <a:p>
              <a:pPr algn="l">
                <a:lnSpc>
                  <a:spcPts val="2879"/>
                </a:lnSpc>
              </a:pPr>
              <a:r>
                <a:rPr lang="en-US" sz="2400" spc="48">
                  <a:solidFill>
                    <a:srgbClr val="FFFFFF"/>
                  </a:solidFill>
                  <a:latin typeface="Times New Roman" panose="02020603050405020304" pitchFamily="18" charset="0"/>
                  <a:ea typeface="Playfair Display"/>
                  <a:cs typeface="Times New Roman" panose="02020603050405020304" pitchFamily="18" charset="0"/>
                  <a:sym typeface="Playfair Display"/>
                </a:rPr>
                <a:t>Parameter count grows with number of nodes</a:t>
              </a:r>
            </a:p>
          </p:txBody>
        </p:sp>
      </p:grpSp>
      <p:grpSp>
        <p:nvGrpSpPr>
          <p:cNvPr id="67" name="Group 67"/>
          <p:cNvGrpSpPr/>
          <p:nvPr/>
        </p:nvGrpSpPr>
        <p:grpSpPr>
          <a:xfrm>
            <a:off x="9601200" y="8266176"/>
            <a:ext cx="7680960" cy="914400"/>
            <a:chOff x="0" y="0"/>
            <a:chExt cx="10241280" cy="1219200"/>
          </a:xfrm>
        </p:grpSpPr>
        <p:sp>
          <p:nvSpPr>
            <p:cNvPr id="68" name="Freeform 68"/>
            <p:cNvSpPr/>
            <p:nvPr/>
          </p:nvSpPr>
          <p:spPr>
            <a:xfrm>
              <a:off x="0" y="0"/>
              <a:ext cx="10241280" cy="1219200"/>
            </a:xfrm>
            <a:custGeom>
              <a:avLst/>
              <a:gdLst/>
              <a:ahLst/>
              <a:cxnLst/>
              <a:rect l="l" t="t" r="r" b="b"/>
              <a:pathLst>
                <a:path w="10241280" h="1219200">
                  <a:moveTo>
                    <a:pt x="0" y="0"/>
                  </a:moveTo>
                  <a:lnTo>
                    <a:pt x="10241280" y="0"/>
                  </a:lnTo>
                  <a:lnTo>
                    <a:pt x="10241280" y="1219200"/>
                  </a:lnTo>
                  <a:lnTo>
                    <a:pt x="0" y="1219200"/>
                  </a:lnTo>
                  <a:close/>
                </a:path>
              </a:pathLst>
            </a:custGeom>
            <a:blipFill>
              <a:blip r:embed="rId3">
                <a:alphaModFix amt="0"/>
              </a:blip>
              <a:stretch>
                <a:fillRect t="-113674" b="-113674"/>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69" name="TextBox 69"/>
            <p:cNvSpPr txBox="1"/>
            <p:nvPr/>
          </p:nvSpPr>
          <p:spPr>
            <a:xfrm>
              <a:off x="0" y="0"/>
              <a:ext cx="10241280" cy="1219200"/>
            </a:xfrm>
            <a:prstGeom prst="rect">
              <a:avLst/>
            </a:prstGeom>
          </p:spPr>
          <p:txBody>
            <a:bodyPr lIns="0" tIns="0" rIns="0" bIns="0" rtlCol="0" anchor="ctr"/>
            <a:lstStyle/>
            <a:p>
              <a:pPr algn="l">
                <a:lnSpc>
                  <a:spcPts val="2640"/>
                </a:lnSpc>
              </a:pPr>
              <a:r>
                <a:rPr lang="en-US" sz="2200" spc="43">
                  <a:solidFill>
                    <a:srgbClr val="253439"/>
                  </a:solidFill>
                  <a:latin typeface="Times New Roman" panose="02020603050405020304" pitchFamily="18" charset="0"/>
                  <a:ea typeface="Playfair Display"/>
                  <a:cs typeface="Times New Roman" panose="02020603050405020304" pitchFamily="18" charset="0"/>
                  <a:sym typeface="Playfair Display"/>
                </a:rPr>
                <a:t>Methods in this chapter: DeepWalk, node2vec, Laplacian Eigenmaps, GF, GraRep, HOPE</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53439"/>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0" y="0"/>
              <a:ext cx="24417910" cy="1789557"/>
            </a:xfrm>
            <a:custGeom>
              <a:avLst/>
              <a:gdLst/>
              <a:ahLst/>
              <a:cxnLst/>
              <a:rect l="l" t="t" r="r" b="b"/>
              <a:pathLst>
                <a:path w="24417910" h="1789557">
                  <a:moveTo>
                    <a:pt x="0" y="0"/>
                  </a:moveTo>
                  <a:lnTo>
                    <a:pt x="24417910" y="0"/>
                  </a:lnTo>
                  <a:lnTo>
                    <a:pt x="24417910" y="1789557"/>
                  </a:lnTo>
                  <a:lnTo>
                    <a:pt x="0" y="1789557"/>
                  </a:lnTo>
                  <a:close/>
                </a:path>
              </a:pathLst>
            </a:custGeom>
            <a:solidFill>
              <a:srgbClr val="FFFFFF"/>
            </a:solidFill>
            <a:ln w="25400" cap="sq">
              <a:solidFill>
                <a:srgbClr val="1A3461"/>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4" name="Group 4"/>
          <p:cNvGrpSpPr/>
          <p:nvPr/>
        </p:nvGrpSpPr>
        <p:grpSpPr>
          <a:xfrm>
            <a:off x="731520" y="0"/>
            <a:ext cx="16824960" cy="1316736"/>
            <a:chOff x="0" y="0"/>
            <a:chExt cx="22433280" cy="1755648"/>
          </a:xfrm>
        </p:grpSpPr>
        <p:sp>
          <p:nvSpPr>
            <p:cNvPr id="5" name="Freeform 5"/>
            <p:cNvSpPr/>
            <p:nvPr/>
          </p:nvSpPr>
          <p:spPr>
            <a:xfrm>
              <a:off x="0" y="0"/>
              <a:ext cx="22433280" cy="1755648"/>
            </a:xfrm>
            <a:custGeom>
              <a:avLst/>
              <a:gdLst/>
              <a:ahLst/>
              <a:cxnLst/>
              <a:rect l="l" t="t" r="r" b="b"/>
              <a:pathLst>
                <a:path w="22433280" h="1755648">
                  <a:moveTo>
                    <a:pt x="0" y="0"/>
                  </a:moveTo>
                  <a:lnTo>
                    <a:pt x="22433280" y="0"/>
                  </a:lnTo>
                  <a:lnTo>
                    <a:pt x="22433280" y="1755648"/>
                  </a:lnTo>
                  <a:lnTo>
                    <a:pt x="0" y="1755648"/>
                  </a:lnTo>
                  <a:close/>
                </a:path>
              </a:pathLst>
            </a:custGeom>
            <a:blipFill>
              <a:blip r:embed="rId3">
                <a:alphaModFix amt="0"/>
              </a:blip>
              <a:stretch>
                <a:fillRect t="-198975" b="-198975"/>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6" name="TextBox 6"/>
            <p:cNvSpPr txBox="1"/>
            <p:nvPr/>
          </p:nvSpPr>
          <p:spPr>
            <a:xfrm>
              <a:off x="0" y="-9525"/>
              <a:ext cx="22433280" cy="1765173"/>
            </a:xfrm>
            <a:prstGeom prst="rect">
              <a:avLst/>
            </a:prstGeom>
          </p:spPr>
          <p:txBody>
            <a:bodyPr lIns="0" tIns="0" rIns="0" bIns="0" rtlCol="0" anchor="ctr"/>
            <a:lstStyle/>
            <a:p>
              <a:pPr algn="l">
                <a:lnSpc>
                  <a:spcPts val="4800"/>
                </a:lnSpc>
              </a:pPr>
              <a:r>
                <a:rPr lang="en-US" sz="4000" spc="560" dirty="0">
                  <a:solidFill>
                    <a:srgbClr val="253439"/>
                  </a:solidFill>
                  <a:latin typeface="Times New Roman" panose="02020603050405020304" pitchFamily="18" charset="0"/>
                  <a:ea typeface="Hammersmith One"/>
                  <a:cs typeface="Times New Roman" panose="02020603050405020304" pitchFamily="18" charset="0"/>
                  <a:sym typeface="Hammersmith One"/>
                </a:rPr>
                <a:t>Factorization-Based Methods — Table 3.1</a:t>
              </a:r>
            </a:p>
          </p:txBody>
        </p:sp>
      </p:grpSp>
      <p:grpSp>
        <p:nvGrpSpPr>
          <p:cNvPr id="7" name="Group 7"/>
          <p:cNvGrpSpPr/>
          <p:nvPr/>
        </p:nvGrpSpPr>
        <p:grpSpPr>
          <a:xfrm>
            <a:off x="731520" y="73152"/>
            <a:ext cx="16459200" cy="402336"/>
            <a:chOff x="0" y="0"/>
            <a:chExt cx="21945600" cy="536448"/>
          </a:xfrm>
        </p:grpSpPr>
        <p:sp>
          <p:nvSpPr>
            <p:cNvPr id="8" name="Freeform 8"/>
            <p:cNvSpPr/>
            <p:nvPr/>
          </p:nvSpPr>
          <p:spPr>
            <a:xfrm>
              <a:off x="0" y="0"/>
              <a:ext cx="21945600" cy="536448"/>
            </a:xfrm>
            <a:custGeom>
              <a:avLst/>
              <a:gdLst/>
              <a:ahLst/>
              <a:cxnLst/>
              <a:rect l="l" t="t" r="r" b="b"/>
              <a:pathLst>
                <a:path w="21945600" h="536448">
                  <a:moveTo>
                    <a:pt x="0" y="0"/>
                  </a:moveTo>
                  <a:lnTo>
                    <a:pt x="21945600" y="0"/>
                  </a:lnTo>
                  <a:lnTo>
                    <a:pt x="21945600" y="536448"/>
                  </a:lnTo>
                  <a:lnTo>
                    <a:pt x="0" y="536448"/>
                  </a:lnTo>
                  <a:close/>
                </a:path>
              </a:pathLst>
            </a:custGeom>
            <a:blipFill>
              <a:blip r:embed="rId3">
                <a:alphaModFix amt="0"/>
              </a:blip>
              <a:stretch>
                <a:fillRect t="-747115" b="-747115"/>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9" name="TextBox 9"/>
            <p:cNvSpPr txBox="1"/>
            <p:nvPr/>
          </p:nvSpPr>
          <p:spPr>
            <a:xfrm>
              <a:off x="0" y="0"/>
              <a:ext cx="21945600" cy="536448"/>
            </a:xfrm>
            <a:prstGeom prst="rect">
              <a:avLst/>
            </a:prstGeom>
          </p:spPr>
          <p:txBody>
            <a:bodyPr lIns="0" tIns="0" rIns="0" bIns="0" rtlCol="0" anchor="ctr"/>
            <a:lstStyle/>
            <a:p>
              <a:pPr algn="l">
                <a:lnSpc>
                  <a:spcPts val="2160"/>
                </a:lnSpc>
              </a:pPr>
              <a:r>
                <a:rPr lang="en-US" sz="1800" spc="36">
                  <a:solidFill>
                    <a:srgbClr val="B29E84"/>
                  </a:solidFill>
                  <a:latin typeface="Times New Roman" panose="02020603050405020304" pitchFamily="18" charset="0"/>
                  <a:ea typeface="Playfair Display"/>
                  <a:cs typeface="Times New Roman" panose="02020603050405020304" pitchFamily="18" charset="0"/>
                  <a:sym typeface="Playfair Display"/>
                </a:rPr>
                <a:t>SECTION 3.2</a:t>
              </a:r>
            </a:p>
          </p:txBody>
        </p:sp>
      </p:grpSp>
      <p:grpSp>
        <p:nvGrpSpPr>
          <p:cNvPr id="10" name="Group 10"/>
          <p:cNvGrpSpPr/>
          <p:nvPr/>
        </p:nvGrpSpPr>
        <p:grpSpPr>
          <a:xfrm>
            <a:off x="731520" y="1499616"/>
            <a:ext cx="16824960" cy="916432"/>
            <a:chOff x="0" y="0"/>
            <a:chExt cx="22433280" cy="1221909"/>
          </a:xfrm>
        </p:grpSpPr>
        <p:sp>
          <p:nvSpPr>
            <p:cNvPr id="11" name="Freeform 11"/>
            <p:cNvSpPr/>
            <p:nvPr/>
          </p:nvSpPr>
          <p:spPr>
            <a:xfrm>
              <a:off x="0" y="0"/>
              <a:ext cx="22433280" cy="1221909"/>
            </a:xfrm>
            <a:custGeom>
              <a:avLst/>
              <a:gdLst/>
              <a:ahLst/>
              <a:cxnLst/>
              <a:rect l="l" t="t" r="r" b="b"/>
              <a:pathLst>
                <a:path w="22433280" h="1221909">
                  <a:moveTo>
                    <a:pt x="0" y="0"/>
                  </a:moveTo>
                  <a:lnTo>
                    <a:pt x="22433280" y="0"/>
                  </a:lnTo>
                  <a:lnTo>
                    <a:pt x="22433280" y="1221909"/>
                  </a:lnTo>
                  <a:lnTo>
                    <a:pt x="0" y="1221909"/>
                  </a:lnTo>
                  <a:close/>
                </a:path>
              </a:pathLst>
            </a:custGeom>
            <a:blipFill>
              <a:blip r:embed="rId3">
                <a:alphaModFix amt="0"/>
              </a:blip>
              <a:stretch>
                <a:fillRect t="-317818" b="-297641"/>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12" name="TextBox 12"/>
            <p:cNvSpPr txBox="1"/>
            <p:nvPr/>
          </p:nvSpPr>
          <p:spPr>
            <a:xfrm>
              <a:off x="0" y="0"/>
              <a:ext cx="22433280" cy="1221909"/>
            </a:xfrm>
            <a:prstGeom prst="rect">
              <a:avLst/>
            </a:prstGeom>
          </p:spPr>
          <p:txBody>
            <a:bodyPr lIns="0" tIns="0" rIns="0" bIns="0" rtlCol="0" anchor="ctr"/>
            <a:lstStyle/>
            <a:p>
              <a:pPr algn="l">
                <a:lnSpc>
                  <a:spcPts val="3120"/>
                </a:lnSpc>
              </a:pPr>
              <a:r>
                <a:rPr lang="en-US" sz="2600" spc="52">
                  <a:solidFill>
                    <a:srgbClr val="FFFFFF"/>
                  </a:solidFill>
                  <a:latin typeface="Times New Roman" panose="02020603050405020304" pitchFamily="18" charset="0"/>
                  <a:ea typeface="Playfair Display"/>
                  <a:cs typeface="Times New Roman" panose="02020603050405020304" pitchFamily="18" charset="0"/>
                  <a:sym typeface="Playfair Display"/>
                </a:rPr>
                <a:t>All shallow methods share the same encoder. They differ only in decoder, similarity measure S, and loss function.</a:t>
              </a:r>
            </a:p>
          </p:txBody>
        </p:sp>
      </p:grpSp>
      <p:graphicFrame>
        <p:nvGraphicFramePr>
          <p:cNvPr id="13" name="Table 13"/>
          <p:cNvGraphicFramePr>
            <a:graphicFrameLocks noGrp="1"/>
          </p:cNvGraphicFramePr>
          <p:nvPr>
            <p:extLst>
              <p:ext uri="{D42A27DB-BD31-4B8C-83A1-F6EECF244321}">
                <p14:modId xmlns:p14="http://schemas.microsoft.com/office/powerpoint/2010/main" val="1277475086"/>
              </p:ext>
            </p:extLst>
          </p:nvPr>
        </p:nvGraphicFramePr>
        <p:xfrm>
          <a:off x="548640" y="2468880"/>
          <a:ext cx="17170400" cy="6934200"/>
        </p:xfrm>
        <a:graphic>
          <a:graphicData uri="http://schemas.openxmlformats.org/drawingml/2006/table">
            <a:tbl>
              <a:tblPr/>
              <a:tblGrid>
                <a:gridCol w="4292600">
                  <a:extLst>
                    <a:ext uri="{9D8B030D-6E8A-4147-A177-3AD203B41FA5}">
                      <a16:colId xmlns:a16="http://schemas.microsoft.com/office/drawing/2014/main" val="20000"/>
                    </a:ext>
                  </a:extLst>
                </a:gridCol>
                <a:gridCol w="4292600">
                  <a:extLst>
                    <a:ext uri="{9D8B030D-6E8A-4147-A177-3AD203B41FA5}">
                      <a16:colId xmlns:a16="http://schemas.microsoft.com/office/drawing/2014/main" val="20001"/>
                    </a:ext>
                  </a:extLst>
                </a:gridCol>
                <a:gridCol w="4292600">
                  <a:extLst>
                    <a:ext uri="{9D8B030D-6E8A-4147-A177-3AD203B41FA5}">
                      <a16:colId xmlns:a16="http://schemas.microsoft.com/office/drawing/2014/main" val="20002"/>
                    </a:ext>
                  </a:extLst>
                </a:gridCol>
                <a:gridCol w="4292600">
                  <a:extLst>
                    <a:ext uri="{9D8B030D-6E8A-4147-A177-3AD203B41FA5}">
                      <a16:colId xmlns:a16="http://schemas.microsoft.com/office/drawing/2014/main" val="20003"/>
                    </a:ext>
                  </a:extLst>
                </a:gridCol>
              </a:tblGrid>
              <a:tr h="990600">
                <a:tc>
                  <a:txBody>
                    <a:bodyPr/>
                    <a:lstStyle/>
                    <a:p>
                      <a:pPr algn="ctr">
                        <a:lnSpc>
                          <a:spcPts val="2640"/>
                        </a:lnSpc>
                        <a:defRPr/>
                      </a:pPr>
                      <a:r>
                        <a:rPr lang="en-US" sz="2200" spc="43">
                          <a:solidFill>
                            <a:srgbClr val="253439"/>
                          </a:solidFill>
                          <a:latin typeface="Playfair Display"/>
                          <a:ea typeface="Playfair Display"/>
                          <a:cs typeface="Playfair Display"/>
                          <a:sym typeface="Playfair Display"/>
                        </a:rPr>
                        <a:t>Method</a:t>
                      </a:r>
                      <a:endParaRPr lang="en-US" sz="1100"/>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tc>
                  <a:txBody>
                    <a:bodyPr/>
                    <a:lstStyle/>
                    <a:p>
                      <a:pPr algn="ctr">
                        <a:lnSpc>
                          <a:spcPts val="2640"/>
                        </a:lnSpc>
                        <a:defRPr/>
                      </a:pPr>
                      <a:r>
                        <a:rPr lang="en-US" sz="2200" spc="43">
                          <a:solidFill>
                            <a:srgbClr val="253439"/>
                          </a:solidFill>
                          <a:latin typeface="Playfair Display"/>
                          <a:ea typeface="Playfair Display"/>
                          <a:cs typeface="Playfair Display"/>
                          <a:sym typeface="Playfair Display"/>
                        </a:rPr>
                        <a:t>Decoder  DEC(zᵤ, z_v)</a:t>
                      </a:r>
                      <a:endParaRPr lang="en-US" sz="1100"/>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tc>
                  <a:txBody>
                    <a:bodyPr/>
                    <a:lstStyle/>
                    <a:p>
                      <a:pPr algn="ctr">
                        <a:lnSpc>
                          <a:spcPts val="2640"/>
                        </a:lnSpc>
                        <a:defRPr/>
                      </a:pPr>
                      <a:r>
                        <a:rPr lang="en-US" sz="2200" spc="43">
                          <a:solidFill>
                            <a:srgbClr val="253439"/>
                          </a:solidFill>
                          <a:latin typeface="Playfair Display"/>
                          <a:ea typeface="Playfair Display"/>
                          <a:cs typeface="Playfair Display"/>
                          <a:sym typeface="Playfair Display"/>
                        </a:rPr>
                        <a:t>Similarity  S[u,v]</a:t>
                      </a:r>
                      <a:endParaRPr lang="en-US" sz="1100"/>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tc>
                  <a:txBody>
                    <a:bodyPr/>
                    <a:lstStyle/>
                    <a:p>
                      <a:pPr algn="ctr">
                        <a:lnSpc>
                          <a:spcPts val="2640"/>
                        </a:lnSpc>
                        <a:defRPr/>
                      </a:pPr>
                      <a:r>
                        <a:rPr lang="en-US" sz="2200" spc="43">
                          <a:solidFill>
                            <a:srgbClr val="253439"/>
                          </a:solidFill>
                          <a:latin typeface="Playfair Display"/>
                          <a:ea typeface="Playfair Display"/>
                          <a:cs typeface="Playfair Display"/>
                          <a:sym typeface="Playfair Display"/>
                        </a:rPr>
                        <a:t>Loss Function</a:t>
                      </a:r>
                      <a:endParaRPr lang="en-US" sz="1100"/>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990600">
                <a:tc>
                  <a:txBody>
                    <a:bodyPr/>
                    <a:lstStyle/>
                    <a:p>
                      <a:pPr algn="ctr">
                        <a:lnSpc>
                          <a:spcPts val="2520"/>
                        </a:lnSpc>
                        <a:defRPr/>
                      </a:pPr>
                      <a:r>
                        <a:rPr lang="en-US" sz="2100" i="1" spc="105">
                          <a:solidFill>
                            <a:srgbClr val="FFFFFF"/>
                          </a:solidFill>
                          <a:latin typeface="Playfair Display Italics"/>
                          <a:ea typeface="Playfair Display Italics"/>
                          <a:cs typeface="Playfair Display Italics"/>
                          <a:sym typeface="Playfair Display Italics"/>
                        </a:rPr>
                        <a:t>Laplacian</a:t>
                      </a:r>
                      <a:endParaRPr lang="en-US" sz="1100"/>
                    </a:p>
                    <a:p>
                      <a:pPr algn="ctr">
                        <a:lnSpc>
                          <a:spcPts val="2520"/>
                        </a:lnSpc>
                      </a:pPr>
                      <a:r>
                        <a:rPr lang="en-US" sz="2100" i="1" spc="105">
                          <a:solidFill>
                            <a:srgbClr val="FFFFFF"/>
                          </a:solidFill>
                          <a:latin typeface="Playfair Display Italics"/>
                          <a:ea typeface="Playfair Display Italics"/>
                          <a:cs typeface="Playfair Display Italics"/>
                          <a:sym typeface="Playfair Display Italics"/>
                        </a:rPr>
                        <a:t>Eigenmaps</a:t>
                      </a: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B29E84"/>
                    </a:solidFill>
                  </a:tcPr>
                </a:tc>
                <a:tc>
                  <a:txBody>
                    <a:bodyPr/>
                    <a:lstStyle/>
                    <a:p>
                      <a:pPr algn="ctr">
                        <a:lnSpc>
                          <a:spcPts val="2520"/>
                        </a:lnSpc>
                        <a:defRPr/>
                      </a:pPr>
                      <a:r>
                        <a:rPr lang="en-US" sz="2100" spc="42" dirty="0">
                          <a:solidFill>
                            <a:srgbClr val="FFFFFF"/>
                          </a:solidFill>
                          <a:latin typeface="Playfair Display"/>
                          <a:ea typeface="Playfair Display"/>
                          <a:cs typeface="Playfair Display"/>
                          <a:sym typeface="Playfair Display"/>
                        </a:rPr>
                        <a:t>||zᵤ − z_v||²</a:t>
                      </a:r>
                      <a:endParaRPr lang="en-US" sz="1100" dirty="0"/>
                    </a:p>
                    <a:p>
                      <a:pPr algn="ctr">
                        <a:lnSpc>
                          <a:spcPts val="2520"/>
                        </a:lnSpc>
                      </a:pPr>
                      <a:r>
                        <a:rPr lang="en-US" sz="2100" spc="42" dirty="0">
                          <a:solidFill>
                            <a:srgbClr val="FFFFFF"/>
                          </a:solidFill>
                          <a:latin typeface="Playfair Display"/>
                          <a:ea typeface="Playfair Display"/>
                          <a:cs typeface="Playfair Display"/>
                          <a:sym typeface="Playfair Display"/>
                        </a:rPr>
                        <a:t>(Euclidean dist.)</a:t>
                      </a: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B29E84"/>
                    </a:solidFill>
                  </a:tcPr>
                </a:tc>
                <a:tc>
                  <a:txBody>
                    <a:bodyPr/>
                    <a:lstStyle/>
                    <a:p>
                      <a:pPr algn="ctr">
                        <a:lnSpc>
                          <a:spcPts val="2520"/>
                        </a:lnSpc>
                        <a:defRPr/>
                      </a:pPr>
                      <a:r>
                        <a:rPr lang="en-US" sz="2100" spc="42">
                          <a:solidFill>
                            <a:srgbClr val="FFFFFF"/>
                          </a:solidFill>
                          <a:latin typeface="Playfair Display"/>
                          <a:ea typeface="Playfair Display"/>
                          <a:cs typeface="Playfair Display"/>
                          <a:sym typeface="Playfair Display"/>
                        </a:rPr>
                        <a:t>General</a:t>
                      </a:r>
                      <a:endParaRPr lang="en-US" sz="1100"/>
                    </a:p>
                    <a:p>
                      <a:pPr algn="ctr">
                        <a:lnSpc>
                          <a:spcPts val="2520"/>
                        </a:lnSpc>
                      </a:pPr>
                      <a:r>
                        <a:rPr lang="en-US" sz="2100" spc="42">
                          <a:solidFill>
                            <a:srgbClr val="FFFFFF"/>
                          </a:solidFill>
                          <a:latin typeface="Playfair Display"/>
                          <a:ea typeface="Playfair Display"/>
                          <a:cs typeface="Playfair Display"/>
                          <a:sym typeface="Playfair Display"/>
                        </a:rPr>
                        <a:t>similarity</a:t>
                      </a: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B29E84"/>
                    </a:solidFill>
                  </a:tcPr>
                </a:tc>
                <a:tc>
                  <a:txBody>
                    <a:bodyPr/>
                    <a:lstStyle/>
                    <a:p>
                      <a:pPr algn="ctr">
                        <a:lnSpc>
                          <a:spcPts val="2520"/>
                        </a:lnSpc>
                        <a:defRPr/>
                      </a:pPr>
                      <a:r>
                        <a:rPr lang="en-US" sz="2100" spc="42">
                          <a:solidFill>
                            <a:srgbClr val="FFFFFF"/>
                          </a:solidFill>
                          <a:latin typeface="Playfair Display"/>
                          <a:ea typeface="Playfair Display"/>
                          <a:cs typeface="Playfair Display"/>
                          <a:sym typeface="Playfair Display"/>
                        </a:rPr>
                        <a:t>Σ DEC · S[u,v]</a:t>
                      </a:r>
                      <a:endParaRPr lang="en-US" sz="1100"/>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B29E84"/>
                    </a:solidFill>
                  </a:tcPr>
                </a:tc>
                <a:extLst>
                  <a:ext uri="{0D108BD9-81ED-4DB2-BD59-A6C34878D82A}">
                    <a16:rowId xmlns:a16="http://schemas.microsoft.com/office/drawing/2014/main" val="10001"/>
                  </a:ext>
                </a:extLst>
              </a:tr>
              <a:tr h="990600">
                <a:tc>
                  <a:txBody>
                    <a:bodyPr/>
                    <a:lstStyle/>
                    <a:p>
                      <a:pPr algn="ctr">
                        <a:lnSpc>
                          <a:spcPts val="2520"/>
                        </a:lnSpc>
                        <a:defRPr/>
                      </a:pPr>
                      <a:r>
                        <a:rPr lang="en-US" sz="2100" i="1" spc="105" dirty="0">
                          <a:solidFill>
                            <a:srgbClr val="FFFFFF"/>
                          </a:solidFill>
                          <a:latin typeface="Playfair Display Italics"/>
                          <a:ea typeface="Playfair Display Italics"/>
                          <a:cs typeface="Playfair Display Italics"/>
                          <a:sym typeface="Playfair Display Italics"/>
                        </a:rPr>
                        <a:t>Graph</a:t>
                      </a:r>
                      <a:endParaRPr lang="en-US" sz="1100" dirty="0"/>
                    </a:p>
                    <a:p>
                      <a:pPr algn="ctr">
                        <a:lnSpc>
                          <a:spcPts val="2520"/>
                        </a:lnSpc>
                      </a:pPr>
                      <a:r>
                        <a:rPr lang="en-US" sz="2100" i="1" spc="105" dirty="0">
                          <a:solidFill>
                            <a:srgbClr val="FFFFFF"/>
                          </a:solidFill>
                          <a:latin typeface="Playfair Display Italics"/>
                          <a:ea typeface="Playfair Display Italics"/>
                          <a:cs typeface="Playfair Display Italics"/>
                          <a:sym typeface="Playfair Display Italics"/>
                        </a:rPr>
                        <a:t>Factorization</a:t>
                      </a: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253439"/>
                    </a:solidFill>
                  </a:tcPr>
                </a:tc>
                <a:tc>
                  <a:txBody>
                    <a:bodyPr/>
                    <a:lstStyle/>
                    <a:p>
                      <a:pPr algn="ctr">
                        <a:lnSpc>
                          <a:spcPts val="2520"/>
                        </a:lnSpc>
                        <a:defRPr/>
                      </a:pPr>
                      <a:r>
                        <a:rPr lang="en-US" sz="2100" spc="42">
                          <a:solidFill>
                            <a:srgbClr val="FFFFFF"/>
                          </a:solidFill>
                          <a:latin typeface="Playfair Display"/>
                          <a:ea typeface="Playfair Display"/>
                          <a:cs typeface="Playfair Display"/>
                          <a:sym typeface="Playfair Display"/>
                        </a:rPr>
                        <a:t>zᵤᵀ z_v</a:t>
                      </a:r>
                      <a:endParaRPr lang="en-US" sz="1100"/>
                    </a:p>
                    <a:p>
                      <a:pPr algn="ctr">
                        <a:lnSpc>
                          <a:spcPts val="2520"/>
                        </a:lnSpc>
                      </a:pPr>
                      <a:r>
                        <a:rPr lang="en-US" sz="2100" spc="42">
                          <a:solidFill>
                            <a:srgbClr val="FFFFFF"/>
                          </a:solidFill>
                          <a:latin typeface="Playfair Display"/>
                          <a:ea typeface="Playfair Display"/>
                          <a:cs typeface="Playfair Display"/>
                          <a:sym typeface="Playfair Display"/>
                        </a:rPr>
                        <a:t>(dot product)</a:t>
                      </a: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253439"/>
                    </a:solidFill>
                  </a:tcPr>
                </a:tc>
                <a:tc>
                  <a:txBody>
                    <a:bodyPr/>
                    <a:lstStyle/>
                    <a:p>
                      <a:pPr algn="ctr">
                        <a:lnSpc>
                          <a:spcPts val="2520"/>
                        </a:lnSpc>
                        <a:defRPr/>
                      </a:pPr>
                      <a:r>
                        <a:rPr lang="en-US" sz="2100" spc="42">
                          <a:solidFill>
                            <a:srgbClr val="FFFFFF"/>
                          </a:solidFill>
                          <a:latin typeface="Playfair Display"/>
                          <a:ea typeface="Playfair Display"/>
                          <a:cs typeface="Playfair Display"/>
                          <a:sym typeface="Playfair Display"/>
                        </a:rPr>
                        <a:t>A[u,v]</a:t>
                      </a:r>
                      <a:endParaRPr lang="en-US" sz="1100"/>
                    </a:p>
                    <a:p>
                      <a:pPr algn="ctr">
                        <a:lnSpc>
                          <a:spcPts val="2520"/>
                        </a:lnSpc>
                      </a:pPr>
                      <a:r>
                        <a:rPr lang="en-US" sz="2100" spc="42">
                          <a:solidFill>
                            <a:srgbClr val="FFFFFF"/>
                          </a:solidFill>
                          <a:latin typeface="Playfair Display"/>
                          <a:ea typeface="Playfair Display"/>
                          <a:cs typeface="Playfair Display"/>
                          <a:sym typeface="Playfair Display"/>
                        </a:rPr>
                        <a:t>(adjacency)</a:t>
                      </a: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253439"/>
                    </a:solidFill>
                  </a:tcPr>
                </a:tc>
                <a:tc>
                  <a:txBody>
                    <a:bodyPr/>
                    <a:lstStyle/>
                    <a:p>
                      <a:pPr algn="ctr">
                        <a:lnSpc>
                          <a:spcPts val="2520"/>
                        </a:lnSpc>
                        <a:defRPr/>
                      </a:pPr>
                      <a:r>
                        <a:rPr lang="en-US" sz="2100" spc="42">
                          <a:solidFill>
                            <a:srgbClr val="FFFFFF"/>
                          </a:solidFill>
                          <a:latin typeface="Playfair Display"/>
                          <a:ea typeface="Playfair Display"/>
                          <a:cs typeface="Playfair Display"/>
                          <a:sym typeface="Playfair Display"/>
                        </a:rPr>
                        <a:t>Σ ||DEC − S||²</a:t>
                      </a:r>
                      <a:endParaRPr lang="en-US" sz="1100"/>
                    </a:p>
                    <a:p>
                      <a:pPr algn="ctr">
                        <a:lnSpc>
                          <a:spcPts val="2520"/>
                        </a:lnSpc>
                      </a:pPr>
                      <a:r>
                        <a:rPr lang="en-US" sz="2100" spc="42">
                          <a:solidFill>
                            <a:srgbClr val="FFFFFF"/>
                          </a:solidFill>
                          <a:latin typeface="Playfair Display"/>
                          <a:ea typeface="Playfair Display"/>
                          <a:cs typeface="Playfair Display"/>
                          <a:sym typeface="Playfair Display"/>
                        </a:rPr>
                        <a:t>(MSE)</a:t>
                      </a: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253439"/>
                    </a:solidFill>
                  </a:tcPr>
                </a:tc>
                <a:extLst>
                  <a:ext uri="{0D108BD9-81ED-4DB2-BD59-A6C34878D82A}">
                    <a16:rowId xmlns:a16="http://schemas.microsoft.com/office/drawing/2014/main" val="10002"/>
                  </a:ext>
                </a:extLst>
              </a:tr>
              <a:tr h="990600">
                <a:tc>
                  <a:txBody>
                    <a:bodyPr/>
                    <a:lstStyle/>
                    <a:p>
                      <a:pPr algn="ctr">
                        <a:lnSpc>
                          <a:spcPts val="2520"/>
                        </a:lnSpc>
                        <a:defRPr/>
                      </a:pPr>
                      <a:r>
                        <a:rPr lang="en-US" sz="2100" i="1" spc="105">
                          <a:solidFill>
                            <a:srgbClr val="FFFFFF"/>
                          </a:solidFill>
                          <a:latin typeface="Playfair Display Italics"/>
                          <a:ea typeface="Playfair Display Italics"/>
                          <a:cs typeface="Playfair Display Italics"/>
                          <a:sym typeface="Playfair Display Italics"/>
                        </a:rPr>
                        <a:t>GraRep</a:t>
                      </a:r>
                      <a:endParaRPr lang="en-US" sz="1100"/>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B29E84"/>
                    </a:solidFill>
                  </a:tcPr>
                </a:tc>
                <a:tc>
                  <a:txBody>
                    <a:bodyPr/>
                    <a:lstStyle/>
                    <a:p>
                      <a:pPr algn="ctr">
                        <a:lnSpc>
                          <a:spcPts val="2520"/>
                        </a:lnSpc>
                        <a:defRPr/>
                      </a:pPr>
                      <a:r>
                        <a:rPr lang="en-US" sz="2100" spc="42">
                          <a:solidFill>
                            <a:srgbClr val="FFFFFF"/>
                          </a:solidFill>
                          <a:latin typeface="Playfair Display"/>
                          <a:ea typeface="Playfair Display"/>
                          <a:cs typeface="Playfair Display"/>
                          <a:sym typeface="Playfair Display"/>
                        </a:rPr>
                        <a:t>zᵤᵀ z_v</a:t>
                      </a:r>
                      <a:endParaRPr lang="en-US" sz="1100"/>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B29E84"/>
                    </a:solidFill>
                  </a:tcPr>
                </a:tc>
                <a:tc>
                  <a:txBody>
                    <a:bodyPr/>
                    <a:lstStyle/>
                    <a:p>
                      <a:pPr algn="ctr">
                        <a:lnSpc>
                          <a:spcPts val="2520"/>
                        </a:lnSpc>
                        <a:defRPr/>
                      </a:pPr>
                      <a:r>
                        <a:rPr lang="en-US" sz="2100" spc="42">
                          <a:solidFill>
                            <a:srgbClr val="FFFFFF"/>
                          </a:solidFill>
                          <a:latin typeface="Playfair Display"/>
                          <a:ea typeface="Playfair Display"/>
                          <a:cs typeface="Playfair Display"/>
                          <a:sym typeface="Playfair Display"/>
                        </a:rPr>
                        <a:t>A, A², A³...</a:t>
                      </a:r>
                      <a:endParaRPr lang="en-US" sz="1100"/>
                    </a:p>
                    <a:p>
                      <a:pPr algn="ctr">
                        <a:lnSpc>
                          <a:spcPts val="2520"/>
                        </a:lnSpc>
                      </a:pPr>
                      <a:r>
                        <a:rPr lang="en-US" sz="2100" spc="42">
                          <a:solidFill>
                            <a:srgbClr val="FFFFFF"/>
                          </a:solidFill>
                          <a:latin typeface="Playfair Display"/>
                          <a:ea typeface="Playfair Display"/>
                          <a:cs typeface="Playfair Display"/>
                          <a:sym typeface="Playfair Display"/>
                        </a:rPr>
                        <a:t>(multi-hop)</a:t>
                      </a: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B29E84"/>
                    </a:solidFill>
                  </a:tcPr>
                </a:tc>
                <a:tc>
                  <a:txBody>
                    <a:bodyPr/>
                    <a:lstStyle/>
                    <a:p>
                      <a:pPr algn="ctr">
                        <a:lnSpc>
                          <a:spcPts val="2520"/>
                        </a:lnSpc>
                        <a:defRPr/>
                      </a:pPr>
                      <a:r>
                        <a:rPr lang="en-US" sz="2100" spc="42">
                          <a:solidFill>
                            <a:srgbClr val="FFFFFF"/>
                          </a:solidFill>
                          <a:latin typeface="Playfair Display"/>
                          <a:ea typeface="Playfair Display"/>
                          <a:cs typeface="Playfair Display"/>
                          <a:sym typeface="Playfair Display"/>
                        </a:rPr>
                        <a:t>Σ ||DEC − S||²</a:t>
                      </a:r>
                      <a:endParaRPr lang="en-US" sz="1100"/>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B29E84"/>
                    </a:solidFill>
                  </a:tcPr>
                </a:tc>
                <a:extLst>
                  <a:ext uri="{0D108BD9-81ED-4DB2-BD59-A6C34878D82A}">
                    <a16:rowId xmlns:a16="http://schemas.microsoft.com/office/drawing/2014/main" val="10003"/>
                  </a:ext>
                </a:extLst>
              </a:tr>
              <a:tr h="990600">
                <a:tc>
                  <a:txBody>
                    <a:bodyPr/>
                    <a:lstStyle/>
                    <a:p>
                      <a:pPr algn="ctr">
                        <a:lnSpc>
                          <a:spcPts val="2520"/>
                        </a:lnSpc>
                        <a:defRPr/>
                      </a:pPr>
                      <a:r>
                        <a:rPr lang="en-US" sz="2100" i="1" spc="105">
                          <a:solidFill>
                            <a:srgbClr val="FFFFFF"/>
                          </a:solidFill>
                          <a:latin typeface="Playfair Display Italics"/>
                          <a:ea typeface="Playfair Display Italics"/>
                          <a:cs typeface="Playfair Display Italics"/>
                          <a:sym typeface="Playfair Display Italics"/>
                        </a:rPr>
                        <a:t>HOPE</a:t>
                      </a:r>
                      <a:endParaRPr lang="en-US" sz="1100"/>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253439"/>
                    </a:solidFill>
                  </a:tcPr>
                </a:tc>
                <a:tc>
                  <a:txBody>
                    <a:bodyPr/>
                    <a:lstStyle/>
                    <a:p>
                      <a:pPr algn="ctr">
                        <a:lnSpc>
                          <a:spcPts val="2520"/>
                        </a:lnSpc>
                        <a:defRPr/>
                      </a:pPr>
                      <a:r>
                        <a:rPr lang="en-US" sz="2100" spc="42">
                          <a:solidFill>
                            <a:srgbClr val="FFFFFF"/>
                          </a:solidFill>
                          <a:latin typeface="Playfair Display"/>
                          <a:ea typeface="Playfair Display"/>
                          <a:cs typeface="Playfair Display"/>
                          <a:sym typeface="Playfair Display"/>
                        </a:rPr>
                        <a:t>zᵤᵀ z_v</a:t>
                      </a:r>
                      <a:endParaRPr lang="en-US" sz="1100"/>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253439"/>
                    </a:solidFill>
                  </a:tcPr>
                </a:tc>
                <a:tc>
                  <a:txBody>
                    <a:bodyPr/>
                    <a:lstStyle/>
                    <a:p>
                      <a:pPr algn="ctr">
                        <a:lnSpc>
                          <a:spcPts val="2520"/>
                        </a:lnSpc>
                        <a:defRPr/>
                      </a:pPr>
                      <a:r>
                        <a:rPr lang="en-US" sz="2100" spc="42">
                          <a:solidFill>
                            <a:srgbClr val="FFFFFF"/>
                          </a:solidFill>
                          <a:latin typeface="Playfair Display"/>
                          <a:ea typeface="Playfair Display"/>
                          <a:cs typeface="Playfair Display"/>
                          <a:sym typeface="Playfair Display"/>
                        </a:rPr>
                        <a:t>General overlap</a:t>
                      </a:r>
                      <a:endParaRPr lang="en-US" sz="1100"/>
                    </a:p>
                    <a:p>
                      <a:pPr algn="ctr">
                        <a:lnSpc>
                          <a:spcPts val="2520"/>
                        </a:lnSpc>
                      </a:pPr>
                      <a:r>
                        <a:rPr lang="en-US" sz="2100" spc="42">
                          <a:solidFill>
                            <a:srgbClr val="FFFFFF"/>
                          </a:solidFill>
                          <a:latin typeface="Playfair Display"/>
                          <a:ea typeface="Playfair Display"/>
                          <a:cs typeface="Playfair Display"/>
                          <a:sym typeface="Playfair Display"/>
                        </a:rPr>
                        <a:t>measures</a:t>
                      </a: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253439"/>
                    </a:solidFill>
                  </a:tcPr>
                </a:tc>
                <a:tc>
                  <a:txBody>
                    <a:bodyPr/>
                    <a:lstStyle/>
                    <a:p>
                      <a:pPr algn="ctr">
                        <a:lnSpc>
                          <a:spcPts val="2520"/>
                        </a:lnSpc>
                        <a:defRPr/>
                      </a:pPr>
                      <a:r>
                        <a:rPr lang="en-US" sz="2100" spc="42">
                          <a:solidFill>
                            <a:srgbClr val="FFFFFF"/>
                          </a:solidFill>
                          <a:latin typeface="Playfair Display"/>
                          <a:ea typeface="Playfair Display"/>
                          <a:cs typeface="Playfair Display"/>
                          <a:sym typeface="Playfair Display"/>
                        </a:rPr>
                        <a:t>Σ ||DEC − S||²</a:t>
                      </a:r>
                      <a:endParaRPr lang="en-US" sz="1100"/>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253439"/>
                    </a:solidFill>
                  </a:tcPr>
                </a:tc>
                <a:extLst>
                  <a:ext uri="{0D108BD9-81ED-4DB2-BD59-A6C34878D82A}">
                    <a16:rowId xmlns:a16="http://schemas.microsoft.com/office/drawing/2014/main" val="10004"/>
                  </a:ext>
                </a:extLst>
              </a:tr>
              <a:tr h="990600">
                <a:tc>
                  <a:txBody>
                    <a:bodyPr/>
                    <a:lstStyle/>
                    <a:p>
                      <a:pPr algn="ctr">
                        <a:lnSpc>
                          <a:spcPts val="2520"/>
                        </a:lnSpc>
                        <a:defRPr/>
                      </a:pPr>
                      <a:r>
                        <a:rPr lang="en-US" sz="2100" i="1" spc="105">
                          <a:solidFill>
                            <a:srgbClr val="FFFFFF"/>
                          </a:solidFill>
                          <a:latin typeface="Playfair Display Italics"/>
                          <a:ea typeface="Playfair Display Italics"/>
                          <a:cs typeface="Playfair Display Italics"/>
                          <a:sym typeface="Playfair Display Italics"/>
                        </a:rPr>
                        <a:t>DeepWalk</a:t>
                      </a:r>
                      <a:endParaRPr lang="en-US" sz="1100"/>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B29E84"/>
                    </a:solidFill>
                  </a:tcPr>
                </a:tc>
                <a:tc>
                  <a:txBody>
                    <a:bodyPr/>
                    <a:lstStyle/>
                    <a:p>
                      <a:pPr algn="ctr">
                        <a:lnSpc>
                          <a:spcPts val="2520"/>
                        </a:lnSpc>
                        <a:defRPr/>
                      </a:pPr>
                      <a:r>
                        <a:rPr lang="en-US" sz="2100" spc="42" dirty="0">
                          <a:solidFill>
                            <a:srgbClr val="FFFFFF"/>
                          </a:solidFill>
                          <a:latin typeface="Playfair Display"/>
                          <a:ea typeface="Playfair Display"/>
                          <a:cs typeface="Playfair Display"/>
                          <a:sym typeface="Playfair Display"/>
                        </a:rPr>
                        <a:t>Softmax(</a:t>
                      </a:r>
                      <a:endParaRPr lang="en-US" sz="1100" dirty="0"/>
                    </a:p>
                    <a:p>
                      <a:pPr algn="ctr">
                        <a:lnSpc>
                          <a:spcPts val="2520"/>
                        </a:lnSpc>
                      </a:pPr>
                      <a:r>
                        <a:rPr lang="en-US" sz="2100" spc="42" dirty="0">
                          <a:solidFill>
                            <a:srgbClr val="FFFFFF"/>
                          </a:solidFill>
                          <a:latin typeface="Playfair Display"/>
                          <a:ea typeface="Playfair Display"/>
                          <a:cs typeface="Playfair Display"/>
                          <a:sym typeface="Playfair Display"/>
                        </a:rPr>
                        <a:t>zᵤᵀ z_v)</a:t>
                      </a: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B29E84"/>
                    </a:solidFill>
                  </a:tcPr>
                </a:tc>
                <a:tc>
                  <a:txBody>
                    <a:bodyPr/>
                    <a:lstStyle/>
                    <a:p>
                      <a:pPr algn="ctr">
                        <a:lnSpc>
                          <a:spcPts val="2520"/>
                        </a:lnSpc>
                        <a:defRPr/>
                      </a:pPr>
                      <a:r>
                        <a:rPr lang="en-US" sz="2100" spc="42">
                          <a:solidFill>
                            <a:srgbClr val="FFFFFF"/>
                          </a:solidFill>
                          <a:latin typeface="Playfair Display"/>
                          <a:ea typeface="Playfair Display"/>
                          <a:cs typeface="Playfair Display"/>
                          <a:sym typeface="Playfair Display"/>
                        </a:rPr>
                        <a:t>p_G(v|u)</a:t>
                      </a:r>
                      <a:endParaRPr lang="en-US" sz="1100"/>
                    </a:p>
                    <a:p>
                      <a:pPr algn="ctr">
                        <a:lnSpc>
                          <a:spcPts val="2520"/>
                        </a:lnSpc>
                      </a:pPr>
                      <a:r>
                        <a:rPr lang="en-US" sz="2100" spc="42">
                          <a:solidFill>
                            <a:srgbClr val="FFFFFF"/>
                          </a:solidFill>
                          <a:latin typeface="Playfair Display"/>
                          <a:ea typeface="Playfair Display"/>
                          <a:cs typeface="Playfair Display"/>
                          <a:sym typeface="Playfair Display"/>
                        </a:rPr>
                        <a:t>uniform walk</a:t>
                      </a: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B29E84"/>
                    </a:solidFill>
                  </a:tcPr>
                </a:tc>
                <a:tc>
                  <a:txBody>
                    <a:bodyPr/>
                    <a:lstStyle/>
                    <a:p>
                      <a:pPr algn="ctr">
                        <a:lnSpc>
                          <a:spcPts val="2520"/>
                        </a:lnSpc>
                        <a:defRPr/>
                      </a:pPr>
                      <a:r>
                        <a:rPr lang="en-US" sz="2100" spc="42">
                          <a:solidFill>
                            <a:srgbClr val="FFFFFF"/>
                          </a:solidFill>
                          <a:latin typeface="Playfair Display"/>
                          <a:ea typeface="Playfair Display"/>
                          <a:cs typeface="Playfair Display"/>
                          <a:sym typeface="Playfair Display"/>
                        </a:rPr>
                        <a:t>−Σ S·log(DEC)</a:t>
                      </a:r>
                      <a:endParaRPr lang="en-US" sz="1100"/>
                    </a:p>
                    <a:p>
                      <a:pPr algn="ctr">
                        <a:lnSpc>
                          <a:spcPts val="2520"/>
                        </a:lnSpc>
                      </a:pPr>
                      <a:r>
                        <a:rPr lang="en-US" sz="2100" spc="42">
                          <a:solidFill>
                            <a:srgbClr val="FFFFFF"/>
                          </a:solidFill>
                          <a:latin typeface="Playfair Display"/>
                          <a:ea typeface="Playfair Display"/>
                          <a:cs typeface="Playfair Display"/>
                          <a:sym typeface="Playfair Display"/>
                        </a:rPr>
                        <a:t>cross-entropy</a:t>
                      </a: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B29E84"/>
                    </a:solidFill>
                  </a:tcPr>
                </a:tc>
                <a:extLst>
                  <a:ext uri="{0D108BD9-81ED-4DB2-BD59-A6C34878D82A}">
                    <a16:rowId xmlns:a16="http://schemas.microsoft.com/office/drawing/2014/main" val="10005"/>
                  </a:ext>
                </a:extLst>
              </a:tr>
              <a:tr h="990600">
                <a:tc>
                  <a:txBody>
                    <a:bodyPr/>
                    <a:lstStyle/>
                    <a:p>
                      <a:pPr algn="ctr">
                        <a:lnSpc>
                          <a:spcPts val="2520"/>
                        </a:lnSpc>
                        <a:defRPr/>
                      </a:pPr>
                      <a:r>
                        <a:rPr lang="en-US" sz="2100" i="1" spc="105">
                          <a:solidFill>
                            <a:srgbClr val="FFFFFF"/>
                          </a:solidFill>
                          <a:latin typeface="Playfair Display Italics"/>
                          <a:ea typeface="Playfair Display Italics"/>
                          <a:cs typeface="Playfair Display Italics"/>
                          <a:sym typeface="Playfair Display Italics"/>
                        </a:rPr>
                        <a:t>node2vec</a:t>
                      </a:r>
                      <a:endParaRPr lang="en-US" sz="1100"/>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B29E84"/>
                    </a:solidFill>
                  </a:tcPr>
                </a:tc>
                <a:tc>
                  <a:txBody>
                    <a:bodyPr/>
                    <a:lstStyle/>
                    <a:p>
                      <a:pPr algn="ctr">
                        <a:lnSpc>
                          <a:spcPts val="2520"/>
                        </a:lnSpc>
                        <a:defRPr/>
                      </a:pPr>
                      <a:r>
                        <a:rPr lang="en-US" sz="2100" spc="42">
                          <a:solidFill>
                            <a:srgbClr val="FFFFFF"/>
                          </a:solidFill>
                          <a:latin typeface="Playfair Display"/>
                          <a:ea typeface="Playfair Display"/>
                          <a:cs typeface="Playfair Display"/>
                          <a:sym typeface="Playfair Display"/>
                        </a:rPr>
                        <a:t>Sigmoid(</a:t>
                      </a:r>
                      <a:endParaRPr lang="en-US" sz="1100"/>
                    </a:p>
                    <a:p>
                      <a:pPr algn="ctr">
                        <a:lnSpc>
                          <a:spcPts val="2520"/>
                        </a:lnSpc>
                      </a:pPr>
                      <a:r>
                        <a:rPr lang="en-US" sz="2100" spc="42">
                          <a:solidFill>
                            <a:srgbClr val="FFFFFF"/>
                          </a:solidFill>
                          <a:latin typeface="Playfair Display"/>
                          <a:ea typeface="Playfair Display"/>
                          <a:cs typeface="Playfair Display"/>
                          <a:sym typeface="Playfair Display"/>
                        </a:rPr>
                        <a:t>zᵤᵀ z_v)</a:t>
                      </a: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B29E84"/>
                    </a:solidFill>
                  </a:tcPr>
                </a:tc>
                <a:tc>
                  <a:txBody>
                    <a:bodyPr/>
                    <a:lstStyle/>
                    <a:p>
                      <a:pPr algn="ctr">
                        <a:lnSpc>
                          <a:spcPts val="2520"/>
                        </a:lnSpc>
                        <a:defRPr/>
                      </a:pPr>
                      <a:r>
                        <a:rPr lang="en-US" sz="2100" spc="42">
                          <a:solidFill>
                            <a:srgbClr val="FFFFFF"/>
                          </a:solidFill>
                          <a:latin typeface="Playfair Display"/>
                          <a:ea typeface="Playfair Display"/>
                          <a:cs typeface="Playfair Display"/>
                          <a:sym typeface="Playfair Display"/>
                        </a:rPr>
                        <a:t>p_G(v|u)</a:t>
                      </a:r>
                      <a:endParaRPr lang="en-US" sz="1100"/>
                    </a:p>
                    <a:p>
                      <a:pPr algn="ctr">
                        <a:lnSpc>
                          <a:spcPts val="2520"/>
                        </a:lnSpc>
                      </a:pPr>
                      <a:r>
                        <a:rPr lang="en-US" sz="2100" spc="42">
                          <a:solidFill>
                            <a:srgbClr val="FFFFFF"/>
                          </a:solidFill>
                          <a:latin typeface="Playfair Display"/>
                          <a:ea typeface="Playfair Display"/>
                          <a:cs typeface="Playfair Display"/>
                          <a:sym typeface="Playfair Display"/>
                        </a:rPr>
                        <a:t>biased walk</a:t>
                      </a: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B29E84"/>
                    </a:solidFill>
                  </a:tcPr>
                </a:tc>
                <a:tc>
                  <a:txBody>
                    <a:bodyPr/>
                    <a:lstStyle/>
                    <a:p>
                      <a:pPr algn="ctr">
                        <a:lnSpc>
                          <a:spcPts val="2520"/>
                        </a:lnSpc>
                        <a:defRPr/>
                      </a:pPr>
                      <a:r>
                        <a:rPr lang="en-US" sz="2100" spc="42" dirty="0">
                          <a:solidFill>
                            <a:srgbClr val="FFFFFF"/>
                          </a:solidFill>
                          <a:latin typeface="Playfair Display"/>
                          <a:ea typeface="Playfair Display"/>
                          <a:cs typeface="Playfair Display"/>
                          <a:sym typeface="Playfair Display"/>
                        </a:rPr>
                        <a:t>Negative</a:t>
                      </a:r>
                      <a:endParaRPr lang="en-US" sz="1100" dirty="0"/>
                    </a:p>
                    <a:p>
                      <a:pPr algn="ctr">
                        <a:lnSpc>
                          <a:spcPts val="2520"/>
                        </a:lnSpc>
                      </a:pPr>
                      <a:r>
                        <a:rPr lang="en-US" sz="2100" spc="42" dirty="0">
                          <a:solidFill>
                            <a:srgbClr val="FFFFFF"/>
                          </a:solidFill>
                          <a:latin typeface="Playfair Display"/>
                          <a:ea typeface="Playfair Display"/>
                          <a:cs typeface="Playfair Display"/>
                          <a:sym typeface="Playfair Display"/>
                        </a:rPr>
                        <a:t>Sampling loss</a:t>
                      </a: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B29E84"/>
                    </a:solidFill>
                  </a:tcPr>
                </a:tc>
                <a:extLst>
                  <a:ext uri="{0D108BD9-81ED-4DB2-BD59-A6C34878D82A}">
                    <a16:rowId xmlns:a16="http://schemas.microsoft.com/office/drawing/2014/main" val="10006"/>
                  </a:ext>
                </a:extLst>
              </a:tr>
            </a:tbl>
          </a:graphicData>
        </a:graphic>
      </p:graphicFrame>
      <p:grpSp>
        <p:nvGrpSpPr>
          <p:cNvPr id="14" name="Group 14"/>
          <p:cNvGrpSpPr/>
          <p:nvPr/>
        </p:nvGrpSpPr>
        <p:grpSpPr>
          <a:xfrm>
            <a:off x="731520" y="9656064"/>
            <a:ext cx="16824960" cy="548640"/>
            <a:chOff x="0" y="0"/>
            <a:chExt cx="22433280" cy="731520"/>
          </a:xfrm>
        </p:grpSpPr>
        <p:sp>
          <p:nvSpPr>
            <p:cNvPr id="15" name="Freeform 15"/>
            <p:cNvSpPr/>
            <p:nvPr/>
          </p:nvSpPr>
          <p:spPr>
            <a:xfrm>
              <a:off x="0" y="0"/>
              <a:ext cx="22433280" cy="731520"/>
            </a:xfrm>
            <a:custGeom>
              <a:avLst/>
              <a:gdLst/>
              <a:ahLst/>
              <a:cxnLst/>
              <a:rect l="l" t="t" r="r" b="b"/>
              <a:pathLst>
                <a:path w="22433280" h="731520">
                  <a:moveTo>
                    <a:pt x="0" y="0"/>
                  </a:moveTo>
                  <a:lnTo>
                    <a:pt x="22433280" y="0"/>
                  </a:lnTo>
                  <a:lnTo>
                    <a:pt x="22433280" y="731520"/>
                  </a:lnTo>
                  <a:lnTo>
                    <a:pt x="0" y="731520"/>
                  </a:lnTo>
                  <a:close/>
                </a:path>
              </a:pathLst>
            </a:custGeom>
            <a:blipFill>
              <a:blip r:embed="rId3">
                <a:alphaModFix amt="0"/>
              </a:blip>
              <a:stretch>
                <a:fillRect t="-547541" b="-547541"/>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16" name="TextBox 16"/>
            <p:cNvSpPr txBox="1"/>
            <p:nvPr/>
          </p:nvSpPr>
          <p:spPr>
            <a:xfrm>
              <a:off x="0" y="0"/>
              <a:ext cx="22433280" cy="731520"/>
            </a:xfrm>
            <a:prstGeom prst="rect">
              <a:avLst/>
            </a:prstGeom>
          </p:spPr>
          <p:txBody>
            <a:bodyPr lIns="0" tIns="0" rIns="0" bIns="0" rtlCol="0" anchor="ctr"/>
            <a:lstStyle/>
            <a:p>
              <a:pPr algn="ctr">
                <a:lnSpc>
                  <a:spcPts val="2640"/>
                </a:lnSpc>
              </a:pPr>
              <a:r>
                <a:rPr lang="en-US" sz="2200" spc="43">
                  <a:solidFill>
                    <a:srgbClr val="B29E84"/>
                  </a:solidFill>
                  <a:latin typeface="Times New Roman" panose="02020603050405020304" pitchFamily="18" charset="0"/>
                  <a:ea typeface="Playfair Display"/>
                  <a:cs typeface="Times New Roman" panose="02020603050405020304" pitchFamily="18" charset="0"/>
                  <a:sym typeface="Playfair Display"/>
                </a:rPr>
                <a:t>Random walk methods (DeepWalk, node2vec) use stochastic similarity — others use deterministic S.</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53439"/>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0" y="0"/>
              <a:ext cx="24417910" cy="1789557"/>
            </a:xfrm>
            <a:custGeom>
              <a:avLst/>
              <a:gdLst/>
              <a:ahLst/>
              <a:cxnLst/>
              <a:rect l="l" t="t" r="r" b="b"/>
              <a:pathLst>
                <a:path w="24417910" h="1789557">
                  <a:moveTo>
                    <a:pt x="0" y="0"/>
                  </a:moveTo>
                  <a:lnTo>
                    <a:pt x="24417910" y="0"/>
                  </a:lnTo>
                  <a:lnTo>
                    <a:pt x="24417910" y="1789557"/>
                  </a:lnTo>
                  <a:lnTo>
                    <a:pt x="0" y="1789557"/>
                  </a:lnTo>
                  <a:close/>
                </a:path>
              </a:pathLst>
            </a:custGeom>
            <a:solidFill>
              <a:srgbClr val="FFFFFF"/>
            </a:solidFill>
            <a:ln w="25400" cap="sq">
              <a:solidFill>
                <a:srgbClr val="1A3461"/>
              </a:solidFill>
              <a:prstDash val="solid"/>
              <a:miter/>
            </a:ln>
          </p:spPr>
          <p:txBody>
            <a:bodyPr/>
            <a:lstStyle/>
            <a:p>
              <a:endParaRPr lang="en-IN"/>
            </a:p>
          </p:txBody>
        </p:sp>
      </p:grpSp>
      <p:grpSp>
        <p:nvGrpSpPr>
          <p:cNvPr id="4" name="Group 4"/>
          <p:cNvGrpSpPr/>
          <p:nvPr/>
        </p:nvGrpSpPr>
        <p:grpSpPr>
          <a:xfrm>
            <a:off x="731520" y="0"/>
            <a:ext cx="16824960" cy="1316736"/>
            <a:chOff x="0" y="0"/>
            <a:chExt cx="22433280" cy="1755648"/>
          </a:xfrm>
        </p:grpSpPr>
        <p:sp>
          <p:nvSpPr>
            <p:cNvPr id="5" name="Freeform 5"/>
            <p:cNvSpPr/>
            <p:nvPr/>
          </p:nvSpPr>
          <p:spPr>
            <a:xfrm>
              <a:off x="0" y="0"/>
              <a:ext cx="22433280" cy="1755648"/>
            </a:xfrm>
            <a:custGeom>
              <a:avLst/>
              <a:gdLst/>
              <a:ahLst/>
              <a:cxnLst/>
              <a:rect l="l" t="t" r="r" b="b"/>
              <a:pathLst>
                <a:path w="22433280" h="1755648">
                  <a:moveTo>
                    <a:pt x="0" y="0"/>
                  </a:moveTo>
                  <a:lnTo>
                    <a:pt x="22433280" y="0"/>
                  </a:lnTo>
                  <a:lnTo>
                    <a:pt x="22433280" y="1755648"/>
                  </a:lnTo>
                  <a:lnTo>
                    <a:pt x="0" y="1755648"/>
                  </a:lnTo>
                  <a:close/>
                </a:path>
              </a:pathLst>
            </a:custGeom>
            <a:blipFill>
              <a:blip r:embed="rId3">
                <a:alphaModFix amt="0"/>
              </a:blip>
              <a:stretch>
                <a:fillRect t="-198975" b="-198975"/>
              </a:stretch>
            </a:blipFill>
          </p:spPr>
          <p:txBody>
            <a:bodyPr/>
            <a:lstStyle/>
            <a:p>
              <a:endParaRPr lang="en-IN"/>
            </a:p>
          </p:txBody>
        </p:sp>
        <p:sp>
          <p:nvSpPr>
            <p:cNvPr id="6" name="TextBox 6"/>
            <p:cNvSpPr txBox="1"/>
            <p:nvPr/>
          </p:nvSpPr>
          <p:spPr>
            <a:xfrm>
              <a:off x="0" y="-9525"/>
              <a:ext cx="22433280" cy="1765173"/>
            </a:xfrm>
            <a:prstGeom prst="rect">
              <a:avLst/>
            </a:prstGeom>
          </p:spPr>
          <p:txBody>
            <a:bodyPr lIns="0" tIns="0" rIns="0" bIns="0" rtlCol="0" anchor="ctr"/>
            <a:lstStyle/>
            <a:p>
              <a:pPr algn="l">
                <a:lnSpc>
                  <a:spcPts val="4800"/>
                </a:lnSpc>
              </a:pPr>
              <a:r>
                <a:rPr lang="en-US" sz="4000" spc="560" dirty="0">
                  <a:latin typeface="Times New Roman" panose="02020603050405020304" pitchFamily="18" charset="0"/>
                  <a:ea typeface="Hammersmith One"/>
                  <a:cs typeface="Times New Roman" panose="02020603050405020304" pitchFamily="18" charset="0"/>
                  <a:sym typeface="Hammersmith One"/>
                </a:rPr>
                <a:t>Laplacian Eigenmaps – The Spectral Connection</a:t>
              </a:r>
            </a:p>
          </p:txBody>
        </p:sp>
      </p:grpSp>
      <p:sp>
        <p:nvSpPr>
          <p:cNvPr id="8" name="Freeform 8"/>
          <p:cNvSpPr/>
          <p:nvPr/>
        </p:nvSpPr>
        <p:spPr>
          <a:xfrm>
            <a:off x="731520" y="73152"/>
            <a:ext cx="16459200" cy="402336"/>
          </a:xfrm>
          <a:custGeom>
            <a:avLst/>
            <a:gdLst/>
            <a:ahLst/>
            <a:cxnLst/>
            <a:rect l="l" t="t" r="r" b="b"/>
            <a:pathLst>
              <a:path w="21945600" h="536448">
                <a:moveTo>
                  <a:pt x="0" y="0"/>
                </a:moveTo>
                <a:lnTo>
                  <a:pt x="21945600" y="0"/>
                </a:lnTo>
                <a:lnTo>
                  <a:pt x="21945600" y="536448"/>
                </a:lnTo>
                <a:lnTo>
                  <a:pt x="0" y="536448"/>
                </a:lnTo>
                <a:close/>
              </a:path>
            </a:pathLst>
          </a:custGeom>
          <a:blipFill>
            <a:blip r:embed="rId3">
              <a:alphaModFix amt="0"/>
            </a:blip>
            <a:stretch>
              <a:fillRect t="-747115" b="-747115"/>
            </a:stretch>
          </a:blipFill>
        </p:spPr>
        <p:txBody>
          <a:bodyPr/>
          <a:lstStyle/>
          <a:p>
            <a:endParaRPr lang="en-IN"/>
          </a:p>
        </p:txBody>
      </p:sp>
      <p:grpSp>
        <p:nvGrpSpPr>
          <p:cNvPr id="10" name="Group 10"/>
          <p:cNvGrpSpPr/>
          <p:nvPr/>
        </p:nvGrpSpPr>
        <p:grpSpPr>
          <a:xfrm>
            <a:off x="535943" y="1541783"/>
            <a:ext cx="10815323" cy="7889243"/>
            <a:chOff x="0" y="0"/>
            <a:chExt cx="14420431" cy="10518991"/>
          </a:xfrm>
        </p:grpSpPr>
        <p:sp>
          <p:nvSpPr>
            <p:cNvPr id="11" name="Freeform 11"/>
            <p:cNvSpPr/>
            <p:nvPr/>
          </p:nvSpPr>
          <p:spPr>
            <a:xfrm>
              <a:off x="0" y="0"/>
              <a:ext cx="14420469" cy="10519029"/>
            </a:xfrm>
            <a:custGeom>
              <a:avLst/>
              <a:gdLst/>
              <a:ahLst/>
              <a:cxnLst/>
              <a:rect l="l" t="t" r="r" b="b"/>
              <a:pathLst>
                <a:path w="14420469" h="10519029">
                  <a:moveTo>
                    <a:pt x="0" y="244729"/>
                  </a:moveTo>
                  <a:cubicBezTo>
                    <a:pt x="0" y="109601"/>
                    <a:pt x="109601" y="0"/>
                    <a:pt x="244729" y="0"/>
                  </a:cubicBezTo>
                  <a:lnTo>
                    <a:pt x="14175739" y="0"/>
                  </a:lnTo>
                  <a:cubicBezTo>
                    <a:pt x="14310868" y="0"/>
                    <a:pt x="14420469" y="109601"/>
                    <a:pt x="14420469" y="244729"/>
                  </a:cubicBezTo>
                  <a:lnTo>
                    <a:pt x="14420469" y="10274300"/>
                  </a:lnTo>
                  <a:cubicBezTo>
                    <a:pt x="14420469" y="10409428"/>
                    <a:pt x="14310868" y="10519029"/>
                    <a:pt x="14175739" y="10519029"/>
                  </a:cubicBezTo>
                  <a:lnTo>
                    <a:pt x="244729" y="10519029"/>
                  </a:lnTo>
                  <a:cubicBezTo>
                    <a:pt x="109601" y="10519029"/>
                    <a:pt x="0" y="10409428"/>
                    <a:pt x="0" y="10274300"/>
                  </a:cubicBezTo>
                  <a:close/>
                </a:path>
              </a:pathLst>
            </a:custGeom>
            <a:solidFill>
              <a:srgbClr val="FFFFFF"/>
            </a:solidFill>
            <a:ln w="25400" cap="sq">
              <a:solidFill>
                <a:srgbClr val="D8E8F8"/>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12" name="Group 12"/>
          <p:cNvGrpSpPr/>
          <p:nvPr/>
        </p:nvGrpSpPr>
        <p:grpSpPr>
          <a:xfrm>
            <a:off x="914400" y="1645920"/>
            <a:ext cx="10058400" cy="694944"/>
            <a:chOff x="0" y="0"/>
            <a:chExt cx="13411200" cy="926592"/>
          </a:xfrm>
        </p:grpSpPr>
        <p:sp>
          <p:nvSpPr>
            <p:cNvPr id="13" name="Freeform 13"/>
            <p:cNvSpPr/>
            <p:nvPr/>
          </p:nvSpPr>
          <p:spPr>
            <a:xfrm>
              <a:off x="0" y="0"/>
              <a:ext cx="13411200" cy="926592"/>
            </a:xfrm>
            <a:custGeom>
              <a:avLst/>
              <a:gdLst/>
              <a:ahLst/>
              <a:cxnLst/>
              <a:rect l="l" t="t" r="r" b="b"/>
              <a:pathLst>
                <a:path w="13411200" h="926592">
                  <a:moveTo>
                    <a:pt x="0" y="0"/>
                  </a:moveTo>
                  <a:lnTo>
                    <a:pt x="13411200" y="0"/>
                  </a:lnTo>
                  <a:lnTo>
                    <a:pt x="13411200" y="926592"/>
                  </a:lnTo>
                  <a:lnTo>
                    <a:pt x="0" y="926592"/>
                  </a:lnTo>
                  <a:close/>
                </a:path>
              </a:pathLst>
            </a:custGeom>
            <a:blipFill>
              <a:blip r:embed="rId3">
                <a:alphaModFix amt="0"/>
              </a:blip>
              <a:stretch>
                <a:fillRect t="-232020" b="-232020"/>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14" name="TextBox 14"/>
            <p:cNvSpPr txBox="1"/>
            <p:nvPr/>
          </p:nvSpPr>
          <p:spPr>
            <a:xfrm>
              <a:off x="0" y="0"/>
              <a:ext cx="13411200" cy="926592"/>
            </a:xfrm>
            <a:prstGeom prst="rect">
              <a:avLst/>
            </a:prstGeom>
          </p:spPr>
          <p:txBody>
            <a:bodyPr lIns="0" tIns="0" rIns="0" bIns="0" rtlCol="0" anchor="ctr"/>
            <a:lstStyle/>
            <a:p>
              <a:pPr algn="l">
                <a:lnSpc>
                  <a:spcPts val="3600"/>
                </a:lnSpc>
              </a:pPr>
              <a:r>
                <a:rPr lang="en-US" sz="3000" i="1" spc="150">
                  <a:latin typeface="Times New Roman" panose="02020603050405020304" pitchFamily="18" charset="0"/>
                  <a:ea typeface="Playfair Display Italics"/>
                  <a:cs typeface="Times New Roman" panose="02020603050405020304" pitchFamily="18" charset="0"/>
                  <a:sym typeface="Playfair Display Italics"/>
                </a:rPr>
                <a:t>Core Idea</a:t>
              </a:r>
            </a:p>
          </p:txBody>
        </p:sp>
      </p:grpSp>
      <p:grpSp>
        <p:nvGrpSpPr>
          <p:cNvPr id="15" name="Group 15"/>
          <p:cNvGrpSpPr/>
          <p:nvPr/>
        </p:nvGrpSpPr>
        <p:grpSpPr>
          <a:xfrm>
            <a:off x="914400" y="2414016"/>
            <a:ext cx="10058400" cy="731520"/>
            <a:chOff x="0" y="0"/>
            <a:chExt cx="13411200" cy="975360"/>
          </a:xfrm>
        </p:grpSpPr>
        <p:sp>
          <p:nvSpPr>
            <p:cNvPr id="16" name="Freeform 16"/>
            <p:cNvSpPr/>
            <p:nvPr/>
          </p:nvSpPr>
          <p:spPr>
            <a:xfrm>
              <a:off x="0" y="0"/>
              <a:ext cx="13411200" cy="975360"/>
            </a:xfrm>
            <a:custGeom>
              <a:avLst/>
              <a:gdLst/>
              <a:ahLst/>
              <a:cxnLst/>
              <a:rect l="l" t="t" r="r" b="b"/>
              <a:pathLst>
                <a:path w="13411200" h="975360">
                  <a:moveTo>
                    <a:pt x="0" y="0"/>
                  </a:moveTo>
                  <a:lnTo>
                    <a:pt x="13411200" y="0"/>
                  </a:lnTo>
                  <a:lnTo>
                    <a:pt x="13411200" y="975360"/>
                  </a:lnTo>
                  <a:lnTo>
                    <a:pt x="0" y="975360"/>
                  </a:lnTo>
                  <a:close/>
                </a:path>
              </a:pathLst>
            </a:custGeom>
            <a:blipFill>
              <a:blip r:embed="rId3">
                <a:alphaModFix amt="0"/>
              </a:blip>
              <a:stretch>
                <a:fillRect t="-217919" b="-217919"/>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17" name="TextBox 17"/>
            <p:cNvSpPr txBox="1"/>
            <p:nvPr/>
          </p:nvSpPr>
          <p:spPr>
            <a:xfrm>
              <a:off x="0" y="0"/>
              <a:ext cx="13411200" cy="975360"/>
            </a:xfrm>
            <a:prstGeom prst="rect">
              <a:avLst/>
            </a:prstGeom>
          </p:spPr>
          <p:txBody>
            <a:bodyPr lIns="0" tIns="0" rIns="0" bIns="0" rtlCol="0" anchor="ctr"/>
            <a:lstStyle/>
            <a:p>
              <a:pPr algn="l">
                <a:lnSpc>
                  <a:spcPts val="3120"/>
                </a:lnSpc>
              </a:pPr>
              <a:r>
                <a:rPr lang="en-US" sz="2600" spc="52">
                  <a:latin typeface="Times New Roman" panose="02020603050405020304" pitchFamily="18" charset="0"/>
                  <a:ea typeface="Playfair Display"/>
                  <a:cs typeface="Times New Roman" panose="02020603050405020304" pitchFamily="18" charset="0"/>
                  <a:sym typeface="Playfair Display"/>
                </a:rPr>
                <a:t>Push embeddings of similar nodes close together in ℝᵈ space.</a:t>
              </a:r>
            </a:p>
          </p:txBody>
        </p:sp>
      </p:grpSp>
      <p:grpSp>
        <p:nvGrpSpPr>
          <p:cNvPr id="18" name="Group 18"/>
          <p:cNvGrpSpPr/>
          <p:nvPr/>
        </p:nvGrpSpPr>
        <p:grpSpPr>
          <a:xfrm>
            <a:off x="899160" y="3240024"/>
            <a:ext cx="10088880" cy="908304"/>
            <a:chOff x="0" y="0"/>
            <a:chExt cx="13451840" cy="1211072"/>
          </a:xfrm>
        </p:grpSpPr>
        <p:sp>
          <p:nvSpPr>
            <p:cNvPr id="19" name="Freeform 19"/>
            <p:cNvSpPr/>
            <p:nvPr/>
          </p:nvSpPr>
          <p:spPr>
            <a:xfrm>
              <a:off x="0" y="0"/>
              <a:ext cx="13451841" cy="1211072"/>
            </a:xfrm>
            <a:custGeom>
              <a:avLst/>
              <a:gdLst/>
              <a:ahLst/>
              <a:cxnLst/>
              <a:rect l="l" t="t" r="r" b="b"/>
              <a:pathLst>
                <a:path w="13451841" h="1211072">
                  <a:moveTo>
                    <a:pt x="0" y="176657"/>
                  </a:moveTo>
                  <a:cubicBezTo>
                    <a:pt x="0" y="79121"/>
                    <a:pt x="79121" y="0"/>
                    <a:pt x="176657" y="0"/>
                  </a:cubicBezTo>
                  <a:lnTo>
                    <a:pt x="13275183" y="0"/>
                  </a:lnTo>
                  <a:cubicBezTo>
                    <a:pt x="13372720" y="0"/>
                    <a:pt x="13451841" y="79121"/>
                    <a:pt x="13451841" y="176657"/>
                  </a:cubicBezTo>
                  <a:lnTo>
                    <a:pt x="13451841" y="1034415"/>
                  </a:lnTo>
                  <a:cubicBezTo>
                    <a:pt x="13451841" y="1131951"/>
                    <a:pt x="13372720" y="1211072"/>
                    <a:pt x="13275183" y="1211072"/>
                  </a:cubicBezTo>
                  <a:lnTo>
                    <a:pt x="176657" y="1211072"/>
                  </a:lnTo>
                  <a:cubicBezTo>
                    <a:pt x="79121" y="1211072"/>
                    <a:pt x="0" y="1131951"/>
                    <a:pt x="0" y="1034415"/>
                  </a:cubicBezTo>
                  <a:close/>
                </a:path>
              </a:pathLst>
            </a:custGeom>
            <a:solidFill>
              <a:srgbClr val="423E3A"/>
            </a:solidFill>
            <a:ln w="30480" cap="sq">
              <a:solidFill>
                <a:srgbClr val="C8DDF5"/>
              </a:solidFill>
              <a:prstDash val="solid"/>
              <a:miter/>
            </a:ln>
          </p:spPr>
          <p:txBody>
            <a:bodyPr/>
            <a:lstStyle/>
            <a:p>
              <a:endParaRPr lang="en-IN">
                <a:solidFill>
                  <a:schemeClr val="bg1"/>
                </a:solidFill>
                <a:latin typeface="Times New Roman" panose="02020603050405020304" pitchFamily="18" charset="0"/>
                <a:cs typeface="Times New Roman" panose="02020603050405020304" pitchFamily="18" charset="0"/>
              </a:endParaRPr>
            </a:p>
          </p:txBody>
        </p:sp>
      </p:grpSp>
      <p:grpSp>
        <p:nvGrpSpPr>
          <p:cNvPr id="20" name="Group 20"/>
          <p:cNvGrpSpPr/>
          <p:nvPr/>
        </p:nvGrpSpPr>
        <p:grpSpPr>
          <a:xfrm>
            <a:off x="1133856" y="3255264"/>
            <a:ext cx="9619488" cy="877824"/>
            <a:chOff x="0" y="0"/>
            <a:chExt cx="12825984" cy="1170432"/>
          </a:xfrm>
        </p:grpSpPr>
        <p:sp>
          <p:nvSpPr>
            <p:cNvPr id="21" name="Freeform 21"/>
            <p:cNvSpPr/>
            <p:nvPr/>
          </p:nvSpPr>
          <p:spPr>
            <a:xfrm>
              <a:off x="0" y="0"/>
              <a:ext cx="12825984" cy="1170432"/>
            </a:xfrm>
            <a:custGeom>
              <a:avLst/>
              <a:gdLst/>
              <a:ahLst/>
              <a:cxnLst/>
              <a:rect l="l" t="t" r="r" b="b"/>
              <a:pathLst>
                <a:path w="12825984" h="1170432">
                  <a:moveTo>
                    <a:pt x="0" y="0"/>
                  </a:moveTo>
                  <a:lnTo>
                    <a:pt x="12825984" y="0"/>
                  </a:lnTo>
                  <a:lnTo>
                    <a:pt x="12825984" y="1170432"/>
                  </a:lnTo>
                  <a:lnTo>
                    <a:pt x="0" y="1170432"/>
                  </a:lnTo>
                  <a:close/>
                </a:path>
              </a:pathLst>
            </a:custGeom>
            <a:blipFill>
              <a:blip r:embed="rId3">
                <a:alphaModFix amt="0"/>
              </a:blip>
              <a:stretch>
                <a:fillRect t="-163523" b="-163523"/>
              </a:stretch>
            </a:blipFill>
          </p:spPr>
          <p:txBody>
            <a:bodyPr/>
            <a:lstStyle/>
            <a:p>
              <a:endParaRPr lang="en-IN">
                <a:solidFill>
                  <a:schemeClr val="bg1"/>
                </a:solidFill>
                <a:latin typeface="Times New Roman" panose="02020603050405020304" pitchFamily="18" charset="0"/>
                <a:cs typeface="Times New Roman" panose="02020603050405020304" pitchFamily="18" charset="0"/>
              </a:endParaRPr>
            </a:p>
          </p:txBody>
        </p:sp>
        <p:sp>
          <p:nvSpPr>
            <p:cNvPr id="22" name="TextBox 22"/>
            <p:cNvSpPr txBox="1"/>
            <p:nvPr/>
          </p:nvSpPr>
          <p:spPr>
            <a:xfrm>
              <a:off x="0" y="0"/>
              <a:ext cx="12825984" cy="1170432"/>
            </a:xfrm>
            <a:prstGeom prst="rect">
              <a:avLst/>
            </a:prstGeom>
          </p:spPr>
          <p:txBody>
            <a:bodyPr lIns="0" tIns="0" rIns="0" bIns="0" rtlCol="0" anchor="ctr"/>
            <a:lstStyle/>
            <a:p>
              <a:pPr algn="l">
                <a:lnSpc>
                  <a:spcPts val="3120"/>
                </a:lnSpc>
              </a:pPr>
              <a:r>
                <a:rPr lang="en-US" sz="2600" i="1" spc="130">
                  <a:solidFill>
                    <a:schemeClr val="bg1"/>
                  </a:solidFill>
                  <a:latin typeface="Times New Roman" panose="02020603050405020304" pitchFamily="18" charset="0"/>
                  <a:ea typeface="Playfair Display Italics"/>
                  <a:cs typeface="Times New Roman" panose="02020603050405020304" pitchFamily="18" charset="0"/>
                  <a:sym typeface="Playfair Display Italics"/>
                </a:rPr>
                <a:t>DEC(zᵤ, z_v) = ||zᵤ − z_v||²</a:t>
              </a:r>
            </a:p>
          </p:txBody>
        </p:sp>
      </p:grpSp>
      <p:grpSp>
        <p:nvGrpSpPr>
          <p:cNvPr id="23" name="Group 23"/>
          <p:cNvGrpSpPr/>
          <p:nvPr/>
        </p:nvGrpSpPr>
        <p:grpSpPr>
          <a:xfrm>
            <a:off x="899160" y="4245864"/>
            <a:ext cx="10088880" cy="908304"/>
            <a:chOff x="0" y="0"/>
            <a:chExt cx="13451840" cy="1211072"/>
          </a:xfrm>
        </p:grpSpPr>
        <p:sp>
          <p:nvSpPr>
            <p:cNvPr id="24" name="Freeform 24"/>
            <p:cNvSpPr/>
            <p:nvPr/>
          </p:nvSpPr>
          <p:spPr>
            <a:xfrm>
              <a:off x="0" y="0"/>
              <a:ext cx="13451841" cy="1211072"/>
            </a:xfrm>
            <a:custGeom>
              <a:avLst/>
              <a:gdLst/>
              <a:ahLst/>
              <a:cxnLst/>
              <a:rect l="l" t="t" r="r" b="b"/>
              <a:pathLst>
                <a:path w="13451841" h="1211072">
                  <a:moveTo>
                    <a:pt x="0" y="176657"/>
                  </a:moveTo>
                  <a:cubicBezTo>
                    <a:pt x="0" y="79121"/>
                    <a:pt x="79121" y="0"/>
                    <a:pt x="176657" y="0"/>
                  </a:cubicBezTo>
                  <a:lnTo>
                    <a:pt x="13275183" y="0"/>
                  </a:lnTo>
                  <a:cubicBezTo>
                    <a:pt x="13372720" y="0"/>
                    <a:pt x="13451841" y="79121"/>
                    <a:pt x="13451841" y="176657"/>
                  </a:cubicBezTo>
                  <a:lnTo>
                    <a:pt x="13451841" y="1034415"/>
                  </a:lnTo>
                  <a:cubicBezTo>
                    <a:pt x="13451841" y="1131951"/>
                    <a:pt x="13372720" y="1211072"/>
                    <a:pt x="13275183" y="1211072"/>
                  </a:cubicBezTo>
                  <a:lnTo>
                    <a:pt x="176657" y="1211072"/>
                  </a:lnTo>
                  <a:cubicBezTo>
                    <a:pt x="79121" y="1211072"/>
                    <a:pt x="0" y="1131951"/>
                    <a:pt x="0" y="1034415"/>
                  </a:cubicBezTo>
                  <a:close/>
                </a:path>
              </a:pathLst>
            </a:custGeom>
            <a:solidFill>
              <a:srgbClr val="423E3A"/>
            </a:solidFill>
            <a:ln w="30480" cap="sq">
              <a:solidFill>
                <a:srgbClr val="C8DDF5"/>
              </a:solidFill>
              <a:prstDash val="solid"/>
              <a:miter/>
            </a:ln>
          </p:spPr>
          <p:txBody>
            <a:bodyPr/>
            <a:lstStyle/>
            <a:p>
              <a:endParaRPr lang="en-IN">
                <a:solidFill>
                  <a:schemeClr val="bg1"/>
                </a:solidFill>
                <a:latin typeface="Times New Roman" panose="02020603050405020304" pitchFamily="18" charset="0"/>
                <a:cs typeface="Times New Roman" panose="02020603050405020304" pitchFamily="18" charset="0"/>
              </a:endParaRPr>
            </a:p>
          </p:txBody>
        </p:sp>
      </p:grpSp>
      <p:grpSp>
        <p:nvGrpSpPr>
          <p:cNvPr id="25" name="Group 25"/>
          <p:cNvGrpSpPr/>
          <p:nvPr/>
        </p:nvGrpSpPr>
        <p:grpSpPr>
          <a:xfrm>
            <a:off x="1133856" y="4261104"/>
            <a:ext cx="9619488" cy="877824"/>
            <a:chOff x="0" y="0"/>
            <a:chExt cx="12825984" cy="1170432"/>
          </a:xfrm>
        </p:grpSpPr>
        <p:sp>
          <p:nvSpPr>
            <p:cNvPr id="26" name="Freeform 26"/>
            <p:cNvSpPr/>
            <p:nvPr/>
          </p:nvSpPr>
          <p:spPr>
            <a:xfrm>
              <a:off x="0" y="0"/>
              <a:ext cx="12825984" cy="1170432"/>
            </a:xfrm>
            <a:custGeom>
              <a:avLst/>
              <a:gdLst/>
              <a:ahLst/>
              <a:cxnLst/>
              <a:rect l="l" t="t" r="r" b="b"/>
              <a:pathLst>
                <a:path w="12825984" h="1170432">
                  <a:moveTo>
                    <a:pt x="0" y="0"/>
                  </a:moveTo>
                  <a:lnTo>
                    <a:pt x="12825984" y="0"/>
                  </a:lnTo>
                  <a:lnTo>
                    <a:pt x="12825984" y="1170432"/>
                  </a:lnTo>
                  <a:lnTo>
                    <a:pt x="0" y="1170432"/>
                  </a:lnTo>
                  <a:close/>
                </a:path>
              </a:pathLst>
            </a:custGeom>
            <a:blipFill>
              <a:blip r:embed="rId3">
                <a:alphaModFix amt="0"/>
              </a:blip>
              <a:stretch>
                <a:fillRect t="-163523" b="-163523"/>
              </a:stretch>
            </a:blipFill>
          </p:spPr>
          <p:txBody>
            <a:bodyPr/>
            <a:lstStyle/>
            <a:p>
              <a:endParaRPr lang="en-IN">
                <a:solidFill>
                  <a:schemeClr val="bg1"/>
                </a:solidFill>
                <a:latin typeface="Times New Roman" panose="02020603050405020304" pitchFamily="18" charset="0"/>
                <a:cs typeface="Times New Roman" panose="02020603050405020304" pitchFamily="18" charset="0"/>
              </a:endParaRPr>
            </a:p>
          </p:txBody>
        </p:sp>
        <p:sp>
          <p:nvSpPr>
            <p:cNvPr id="27" name="TextBox 27"/>
            <p:cNvSpPr txBox="1"/>
            <p:nvPr/>
          </p:nvSpPr>
          <p:spPr>
            <a:xfrm>
              <a:off x="0" y="0"/>
              <a:ext cx="12825984" cy="1170432"/>
            </a:xfrm>
            <a:prstGeom prst="rect">
              <a:avLst/>
            </a:prstGeom>
          </p:spPr>
          <p:txBody>
            <a:bodyPr lIns="0" tIns="0" rIns="0" bIns="0" rtlCol="0" anchor="ctr"/>
            <a:lstStyle/>
            <a:p>
              <a:pPr algn="l">
                <a:lnSpc>
                  <a:spcPts val="3120"/>
                </a:lnSpc>
              </a:pPr>
              <a:r>
                <a:rPr lang="en-US" sz="2600" i="1" spc="130">
                  <a:solidFill>
                    <a:schemeClr val="bg1"/>
                  </a:solidFill>
                  <a:latin typeface="Times New Roman" panose="02020603050405020304" pitchFamily="18" charset="0"/>
                  <a:ea typeface="Playfair Display Italics"/>
                  <a:cs typeface="Times New Roman" panose="02020603050405020304" pitchFamily="18" charset="0"/>
                  <a:sym typeface="Playfair Display Italics"/>
                </a:rPr>
                <a:t>L = Σ ||zᵤ − z_v||² · S[u,v]</a:t>
              </a:r>
            </a:p>
          </p:txBody>
        </p:sp>
      </p:grpSp>
      <p:grpSp>
        <p:nvGrpSpPr>
          <p:cNvPr id="28" name="Group 28"/>
          <p:cNvGrpSpPr/>
          <p:nvPr/>
        </p:nvGrpSpPr>
        <p:grpSpPr>
          <a:xfrm>
            <a:off x="914400" y="5303520"/>
            <a:ext cx="10058400" cy="1306957"/>
            <a:chOff x="0" y="0"/>
            <a:chExt cx="13411200" cy="1742609"/>
          </a:xfrm>
        </p:grpSpPr>
        <p:sp>
          <p:nvSpPr>
            <p:cNvPr id="29" name="Freeform 29"/>
            <p:cNvSpPr/>
            <p:nvPr/>
          </p:nvSpPr>
          <p:spPr>
            <a:xfrm>
              <a:off x="0" y="0"/>
              <a:ext cx="13411200" cy="1742609"/>
            </a:xfrm>
            <a:custGeom>
              <a:avLst/>
              <a:gdLst/>
              <a:ahLst/>
              <a:cxnLst/>
              <a:rect l="l" t="t" r="r" b="b"/>
              <a:pathLst>
                <a:path w="13411200" h="1742609">
                  <a:moveTo>
                    <a:pt x="0" y="0"/>
                  </a:moveTo>
                  <a:lnTo>
                    <a:pt x="13411200" y="0"/>
                  </a:lnTo>
                  <a:lnTo>
                    <a:pt x="13411200" y="1742609"/>
                  </a:lnTo>
                  <a:lnTo>
                    <a:pt x="0" y="1742609"/>
                  </a:lnTo>
                  <a:close/>
                </a:path>
              </a:pathLst>
            </a:custGeom>
            <a:blipFill>
              <a:blip r:embed="rId3">
                <a:alphaModFix amt="0"/>
              </a:blip>
              <a:stretch>
                <a:fillRect t="-104481" b="-95434"/>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30" name="TextBox 30"/>
            <p:cNvSpPr txBox="1"/>
            <p:nvPr/>
          </p:nvSpPr>
          <p:spPr>
            <a:xfrm>
              <a:off x="0" y="0"/>
              <a:ext cx="13411200" cy="1742609"/>
            </a:xfrm>
            <a:prstGeom prst="rect">
              <a:avLst/>
            </a:prstGeom>
          </p:spPr>
          <p:txBody>
            <a:bodyPr lIns="0" tIns="0" rIns="0" bIns="0" rtlCol="0" anchor="ctr"/>
            <a:lstStyle/>
            <a:p>
              <a:pPr algn="l">
                <a:lnSpc>
                  <a:spcPts val="3120"/>
                </a:lnSpc>
              </a:pPr>
              <a:r>
                <a:rPr lang="en-US" sz="2600" spc="52">
                  <a:latin typeface="Times New Roman" panose="02020603050405020304" pitchFamily="18" charset="0"/>
                  <a:ea typeface="Playfair Display"/>
                  <a:cs typeface="Times New Roman" panose="02020603050405020304" pitchFamily="18" charset="0"/>
                  <a:sym typeface="Playfair Display"/>
                </a:rPr>
                <a:t>Intuition: If S[u,v] is large (nodes are similar), the squared distance must be small to keep loss low. The optimizer pulls similar nodes together.</a:t>
              </a:r>
            </a:p>
          </p:txBody>
        </p:sp>
      </p:grpSp>
      <p:grpSp>
        <p:nvGrpSpPr>
          <p:cNvPr id="31" name="Group 31"/>
          <p:cNvGrpSpPr/>
          <p:nvPr/>
        </p:nvGrpSpPr>
        <p:grpSpPr>
          <a:xfrm>
            <a:off x="914400" y="6620256"/>
            <a:ext cx="10058400" cy="640080"/>
            <a:chOff x="0" y="0"/>
            <a:chExt cx="13411200" cy="853440"/>
          </a:xfrm>
        </p:grpSpPr>
        <p:sp>
          <p:nvSpPr>
            <p:cNvPr id="32" name="Freeform 32"/>
            <p:cNvSpPr/>
            <p:nvPr/>
          </p:nvSpPr>
          <p:spPr>
            <a:xfrm>
              <a:off x="0" y="0"/>
              <a:ext cx="13411200" cy="853440"/>
            </a:xfrm>
            <a:custGeom>
              <a:avLst/>
              <a:gdLst/>
              <a:ahLst/>
              <a:cxnLst/>
              <a:rect l="l" t="t" r="r" b="b"/>
              <a:pathLst>
                <a:path w="13411200" h="853440">
                  <a:moveTo>
                    <a:pt x="0" y="0"/>
                  </a:moveTo>
                  <a:lnTo>
                    <a:pt x="13411200" y="0"/>
                  </a:lnTo>
                  <a:lnTo>
                    <a:pt x="13411200" y="853440"/>
                  </a:lnTo>
                  <a:lnTo>
                    <a:pt x="0" y="853440"/>
                  </a:lnTo>
                  <a:close/>
                </a:path>
              </a:pathLst>
            </a:custGeom>
            <a:blipFill>
              <a:blip r:embed="rId3">
                <a:alphaModFix amt="0"/>
              </a:blip>
              <a:stretch>
                <a:fillRect t="-256193" b="-256193"/>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33" name="TextBox 33"/>
            <p:cNvSpPr txBox="1"/>
            <p:nvPr/>
          </p:nvSpPr>
          <p:spPr>
            <a:xfrm>
              <a:off x="0" y="0"/>
              <a:ext cx="13411200" cy="853440"/>
            </a:xfrm>
            <a:prstGeom prst="rect">
              <a:avLst/>
            </a:prstGeom>
          </p:spPr>
          <p:txBody>
            <a:bodyPr lIns="0" tIns="0" rIns="0" bIns="0" rtlCol="0" anchor="ctr"/>
            <a:lstStyle/>
            <a:p>
              <a:pPr algn="l">
                <a:lnSpc>
                  <a:spcPts val="3120"/>
                </a:lnSpc>
              </a:pPr>
              <a:r>
                <a:rPr lang="en-US" sz="2600" i="1" spc="130">
                  <a:latin typeface="Times New Roman" panose="02020603050405020304" pitchFamily="18" charset="0"/>
                  <a:ea typeface="Playfair Display Italics"/>
                  <a:cs typeface="Times New Roman" panose="02020603050405020304" pitchFamily="18" charset="0"/>
                  <a:sym typeface="Playfair Display Italics"/>
                </a:rPr>
                <a:t>Connection to Spectral Clustering:</a:t>
              </a:r>
            </a:p>
          </p:txBody>
        </p:sp>
      </p:grpSp>
      <p:grpSp>
        <p:nvGrpSpPr>
          <p:cNvPr id="34" name="Group 34"/>
          <p:cNvGrpSpPr/>
          <p:nvPr/>
        </p:nvGrpSpPr>
        <p:grpSpPr>
          <a:xfrm>
            <a:off x="914400" y="7315200"/>
            <a:ext cx="10058400" cy="1572768"/>
            <a:chOff x="0" y="0"/>
            <a:chExt cx="13411200" cy="2097024"/>
          </a:xfrm>
        </p:grpSpPr>
        <p:sp>
          <p:nvSpPr>
            <p:cNvPr id="35" name="Freeform 35"/>
            <p:cNvSpPr/>
            <p:nvPr/>
          </p:nvSpPr>
          <p:spPr>
            <a:xfrm>
              <a:off x="0" y="0"/>
              <a:ext cx="13411200" cy="2097024"/>
            </a:xfrm>
            <a:custGeom>
              <a:avLst/>
              <a:gdLst/>
              <a:ahLst/>
              <a:cxnLst/>
              <a:rect l="l" t="t" r="r" b="b"/>
              <a:pathLst>
                <a:path w="13411200" h="2097024">
                  <a:moveTo>
                    <a:pt x="0" y="0"/>
                  </a:moveTo>
                  <a:lnTo>
                    <a:pt x="13411200" y="0"/>
                  </a:lnTo>
                  <a:lnTo>
                    <a:pt x="13411200" y="2097024"/>
                  </a:lnTo>
                  <a:lnTo>
                    <a:pt x="0" y="2097024"/>
                  </a:lnTo>
                  <a:close/>
                </a:path>
              </a:pathLst>
            </a:custGeom>
            <a:blipFill>
              <a:blip r:embed="rId3">
                <a:alphaModFix amt="0"/>
              </a:blip>
              <a:stretch>
                <a:fillRect t="-75195" b="-74032"/>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36" name="TextBox 36"/>
            <p:cNvSpPr txBox="1"/>
            <p:nvPr/>
          </p:nvSpPr>
          <p:spPr>
            <a:xfrm>
              <a:off x="0" y="0"/>
              <a:ext cx="13411200" cy="2097024"/>
            </a:xfrm>
            <a:prstGeom prst="rect">
              <a:avLst/>
            </a:prstGeom>
          </p:spPr>
          <p:txBody>
            <a:bodyPr lIns="0" tIns="0" rIns="0" bIns="0" rtlCol="0" anchor="ctr"/>
            <a:lstStyle/>
            <a:p>
              <a:pPr algn="l">
                <a:lnSpc>
                  <a:spcPts val="2879"/>
                </a:lnSpc>
              </a:pPr>
              <a:r>
                <a:rPr lang="en-US" sz="2400" spc="48">
                  <a:latin typeface="Times New Roman" panose="02020603050405020304" pitchFamily="18" charset="0"/>
                  <a:ea typeface="Playfair Display"/>
                  <a:cs typeface="Times New Roman" panose="02020603050405020304" pitchFamily="18" charset="0"/>
                  <a:sym typeface="Playfair Display"/>
                </a:rPr>
                <a:t>The optimal embeddings that minimize this loss are exactly the d smallest eigenvectors of the Graph Laplacian L (excluding the trivial all-ones eigenvector). This is why spectral clustering uses eigenvectors!</a:t>
              </a:r>
            </a:p>
          </p:txBody>
        </p:sp>
      </p:grpSp>
      <p:grpSp>
        <p:nvGrpSpPr>
          <p:cNvPr id="37" name="Group 37"/>
          <p:cNvGrpSpPr/>
          <p:nvPr/>
        </p:nvGrpSpPr>
        <p:grpSpPr>
          <a:xfrm>
            <a:off x="11691623" y="1541783"/>
            <a:ext cx="5877563" cy="7889243"/>
            <a:chOff x="0" y="0"/>
            <a:chExt cx="7836751" cy="10518991"/>
          </a:xfrm>
        </p:grpSpPr>
        <p:sp>
          <p:nvSpPr>
            <p:cNvPr id="38" name="Freeform 38"/>
            <p:cNvSpPr/>
            <p:nvPr/>
          </p:nvSpPr>
          <p:spPr>
            <a:xfrm>
              <a:off x="0" y="0"/>
              <a:ext cx="7836662" cy="10518902"/>
            </a:xfrm>
            <a:custGeom>
              <a:avLst/>
              <a:gdLst/>
              <a:ahLst/>
              <a:cxnLst/>
              <a:rect l="l" t="t" r="r" b="b"/>
              <a:pathLst>
                <a:path w="7836662" h="10518902">
                  <a:moveTo>
                    <a:pt x="0" y="244856"/>
                  </a:moveTo>
                  <a:cubicBezTo>
                    <a:pt x="0" y="109601"/>
                    <a:pt x="109601" y="0"/>
                    <a:pt x="244856" y="0"/>
                  </a:cubicBezTo>
                  <a:lnTo>
                    <a:pt x="7591806" y="0"/>
                  </a:lnTo>
                  <a:cubicBezTo>
                    <a:pt x="7727061" y="0"/>
                    <a:pt x="7836662" y="109601"/>
                    <a:pt x="7836662" y="244856"/>
                  </a:cubicBezTo>
                  <a:lnTo>
                    <a:pt x="7836662" y="10274047"/>
                  </a:lnTo>
                  <a:cubicBezTo>
                    <a:pt x="7836662" y="10409301"/>
                    <a:pt x="7727061" y="10518902"/>
                    <a:pt x="7591806" y="10518902"/>
                  </a:cubicBezTo>
                  <a:lnTo>
                    <a:pt x="244856" y="10518902"/>
                  </a:lnTo>
                  <a:cubicBezTo>
                    <a:pt x="109601" y="10519029"/>
                    <a:pt x="0" y="10409301"/>
                    <a:pt x="0" y="10274046"/>
                  </a:cubicBezTo>
                  <a:close/>
                </a:path>
              </a:pathLst>
            </a:custGeom>
            <a:solidFill>
              <a:srgbClr val="FFFFFF"/>
            </a:solidFill>
            <a:ln w="25400" cap="sq">
              <a:solidFill>
                <a:srgbClr val="D8E8F8"/>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39" name="Group 39"/>
          <p:cNvGrpSpPr/>
          <p:nvPr/>
        </p:nvGrpSpPr>
        <p:grpSpPr>
          <a:xfrm>
            <a:off x="11978640" y="1645920"/>
            <a:ext cx="5303520" cy="694944"/>
            <a:chOff x="0" y="0"/>
            <a:chExt cx="7071360" cy="926592"/>
          </a:xfrm>
        </p:grpSpPr>
        <p:sp>
          <p:nvSpPr>
            <p:cNvPr id="40" name="Freeform 40"/>
            <p:cNvSpPr/>
            <p:nvPr/>
          </p:nvSpPr>
          <p:spPr>
            <a:xfrm>
              <a:off x="0" y="0"/>
              <a:ext cx="7071360" cy="926592"/>
            </a:xfrm>
            <a:custGeom>
              <a:avLst/>
              <a:gdLst/>
              <a:ahLst/>
              <a:cxnLst/>
              <a:rect l="l" t="t" r="r" b="b"/>
              <a:pathLst>
                <a:path w="7071360" h="926592">
                  <a:moveTo>
                    <a:pt x="0" y="0"/>
                  </a:moveTo>
                  <a:lnTo>
                    <a:pt x="7071360" y="0"/>
                  </a:lnTo>
                  <a:lnTo>
                    <a:pt x="7071360" y="926592"/>
                  </a:lnTo>
                  <a:lnTo>
                    <a:pt x="0" y="926592"/>
                  </a:lnTo>
                  <a:close/>
                </a:path>
              </a:pathLst>
            </a:custGeom>
            <a:blipFill>
              <a:blip r:embed="rId3">
                <a:alphaModFix amt="0"/>
              </a:blip>
              <a:stretch>
                <a:fillRect t="-98701" b="-98701"/>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41" name="TextBox 41"/>
            <p:cNvSpPr txBox="1"/>
            <p:nvPr/>
          </p:nvSpPr>
          <p:spPr>
            <a:xfrm>
              <a:off x="0" y="0"/>
              <a:ext cx="7071360" cy="926592"/>
            </a:xfrm>
            <a:prstGeom prst="rect">
              <a:avLst/>
            </a:prstGeom>
          </p:spPr>
          <p:txBody>
            <a:bodyPr lIns="0" tIns="0" rIns="0" bIns="0" rtlCol="0" anchor="ctr"/>
            <a:lstStyle/>
            <a:p>
              <a:pPr algn="l">
                <a:lnSpc>
                  <a:spcPts val="3120"/>
                </a:lnSpc>
              </a:pPr>
              <a:r>
                <a:rPr lang="en-US" sz="2600" i="1" spc="130">
                  <a:latin typeface="Times New Roman" panose="02020603050405020304" pitchFamily="18" charset="0"/>
                  <a:ea typeface="Playfair Display Italics"/>
                  <a:cs typeface="Times New Roman" panose="02020603050405020304" pitchFamily="18" charset="0"/>
                  <a:sym typeface="Playfair Display Italics"/>
                </a:rPr>
                <a:t>Inner-Product Methods</a:t>
              </a:r>
            </a:p>
          </p:txBody>
        </p:sp>
      </p:grpSp>
      <p:grpSp>
        <p:nvGrpSpPr>
          <p:cNvPr id="42" name="Group 42"/>
          <p:cNvGrpSpPr/>
          <p:nvPr/>
        </p:nvGrpSpPr>
        <p:grpSpPr>
          <a:xfrm>
            <a:off x="11978640" y="2414016"/>
            <a:ext cx="5303520" cy="640080"/>
            <a:chOff x="0" y="0"/>
            <a:chExt cx="7071360" cy="853440"/>
          </a:xfrm>
        </p:grpSpPr>
        <p:sp>
          <p:nvSpPr>
            <p:cNvPr id="43" name="Freeform 43"/>
            <p:cNvSpPr/>
            <p:nvPr/>
          </p:nvSpPr>
          <p:spPr>
            <a:xfrm>
              <a:off x="0" y="0"/>
              <a:ext cx="7071360" cy="853440"/>
            </a:xfrm>
            <a:custGeom>
              <a:avLst/>
              <a:gdLst/>
              <a:ahLst/>
              <a:cxnLst/>
              <a:rect l="l" t="t" r="r" b="b"/>
              <a:pathLst>
                <a:path w="7071360" h="853440">
                  <a:moveTo>
                    <a:pt x="0" y="0"/>
                  </a:moveTo>
                  <a:lnTo>
                    <a:pt x="7071360" y="0"/>
                  </a:lnTo>
                  <a:lnTo>
                    <a:pt x="7071360" y="853440"/>
                  </a:lnTo>
                  <a:lnTo>
                    <a:pt x="0" y="853440"/>
                  </a:lnTo>
                  <a:close/>
                </a:path>
              </a:pathLst>
            </a:custGeom>
            <a:blipFill>
              <a:blip r:embed="rId3">
                <a:alphaModFix amt="0"/>
              </a:blip>
              <a:stretch>
                <a:fillRect t="-111447" b="-111447"/>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44" name="TextBox 44"/>
            <p:cNvSpPr txBox="1"/>
            <p:nvPr/>
          </p:nvSpPr>
          <p:spPr>
            <a:xfrm>
              <a:off x="0" y="0"/>
              <a:ext cx="7071360" cy="853440"/>
            </a:xfrm>
            <a:prstGeom prst="rect">
              <a:avLst/>
            </a:prstGeom>
          </p:spPr>
          <p:txBody>
            <a:bodyPr lIns="0" tIns="0" rIns="0" bIns="0" rtlCol="0" anchor="ctr"/>
            <a:lstStyle/>
            <a:p>
              <a:pPr algn="l">
                <a:lnSpc>
                  <a:spcPts val="2879"/>
                </a:lnSpc>
              </a:pPr>
              <a:r>
                <a:rPr lang="en-US" sz="2400" spc="48">
                  <a:latin typeface="Times New Roman" panose="02020603050405020304" pitchFamily="18" charset="0"/>
                  <a:ea typeface="Playfair Display"/>
                  <a:cs typeface="Times New Roman" panose="02020603050405020304" pitchFamily="18" charset="0"/>
                  <a:sym typeface="Playfair Display"/>
                </a:rPr>
                <a:t>GF, GraRep, HOPE use:</a:t>
              </a:r>
            </a:p>
          </p:txBody>
        </p:sp>
      </p:grpSp>
      <p:grpSp>
        <p:nvGrpSpPr>
          <p:cNvPr id="45" name="Group 45"/>
          <p:cNvGrpSpPr/>
          <p:nvPr/>
        </p:nvGrpSpPr>
        <p:grpSpPr>
          <a:xfrm>
            <a:off x="11963400" y="3130296"/>
            <a:ext cx="5242560" cy="871728"/>
            <a:chOff x="0" y="0"/>
            <a:chExt cx="6990080" cy="1162304"/>
          </a:xfrm>
        </p:grpSpPr>
        <p:sp>
          <p:nvSpPr>
            <p:cNvPr id="46" name="Freeform 46"/>
            <p:cNvSpPr/>
            <p:nvPr/>
          </p:nvSpPr>
          <p:spPr>
            <a:xfrm>
              <a:off x="0" y="0"/>
              <a:ext cx="6990080" cy="1162304"/>
            </a:xfrm>
            <a:custGeom>
              <a:avLst/>
              <a:gdLst/>
              <a:ahLst/>
              <a:cxnLst/>
              <a:rect l="l" t="t" r="r" b="b"/>
              <a:pathLst>
                <a:path w="6990080" h="1162304">
                  <a:moveTo>
                    <a:pt x="0" y="176911"/>
                  </a:moveTo>
                  <a:cubicBezTo>
                    <a:pt x="0" y="79248"/>
                    <a:pt x="79248" y="0"/>
                    <a:pt x="176911" y="0"/>
                  </a:cubicBezTo>
                  <a:lnTo>
                    <a:pt x="6813169" y="0"/>
                  </a:lnTo>
                  <a:cubicBezTo>
                    <a:pt x="6910832" y="0"/>
                    <a:pt x="6990080" y="79248"/>
                    <a:pt x="6990080" y="176911"/>
                  </a:cubicBezTo>
                  <a:lnTo>
                    <a:pt x="6990080" y="985393"/>
                  </a:lnTo>
                  <a:cubicBezTo>
                    <a:pt x="6990080" y="1083056"/>
                    <a:pt x="6910832" y="1162304"/>
                    <a:pt x="6813169" y="1162304"/>
                  </a:cubicBezTo>
                  <a:lnTo>
                    <a:pt x="176911" y="1162304"/>
                  </a:lnTo>
                  <a:cubicBezTo>
                    <a:pt x="79248" y="1162304"/>
                    <a:pt x="0" y="1083056"/>
                    <a:pt x="0" y="985393"/>
                  </a:cubicBezTo>
                  <a:close/>
                </a:path>
              </a:pathLst>
            </a:custGeom>
            <a:solidFill>
              <a:srgbClr val="423E3A"/>
            </a:solidFill>
            <a:ln w="30480" cap="sq">
              <a:solidFill>
                <a:srgbClr val="C8DDF5"/>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47" name="Group 47"/>
          <p:cNvGrpSpPr/>
          <p:nvPr/>
        </p:nvGrpSpPr>
        <p:grpSpPr>
          <a:xfrm>
            <a:off x="12198096" y="3145536"/>
            <a:ext cx="4773168" cy="841248"/>
            <a:chOff x="0" y="0"/>
            <a:chExt cx="6364224" cy="1121664"/>
          </a:xfrm>
        </p:grpSpPr>
        <p:sp>
          <p:nvSpPr>
            <p:cNvPr id="48" name="Freeform 48"/>
            <p:cNvSpPr/>
            <p:nvPr/>
          </p:nvSpPr>
          <p:spPr>
            <a:xfrm>
              <a:off x="0" y="0"/>
              <a:ext cx="6364224" cy="1121664"/>
            </a:xfrm>
            <a:custGeom>
              <a:avLst/>
              <a:gdLst/>
              <a:ahLst/>
              <a:cxnLst/>
              <a:rect l="l" t="t" r="r" b="b"/>
              <a:pathLst>
                <a:path w="6364224" h="1121664">
                  <a:moveTo>
                    <a:pt x="0" y="0"/>
                  </a:moveTo>
                  <a:lnTo>
                    <a:pt x="6364224" y="0"/>
                  </a:lnTo>
                  <a:lnTo>
                    <a:pt x="6364224" y="1121664"/>
                  </a:lnTo>
                  <a:lnTo>
                    <a:pt x="0" y="1121664"/>
                  </a:lnTo>
                  <a:close/>
                </a:path>
              </a:pathLst>
            </a:custGeom>
            <a:blipFill>
              <a:blip r:embed="rId3">
                <a:alphaModFix amt="0"/>
              </a:blip>
              <a:stretch>
                <a:fillRect t="-60556" b="-60556"/>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49" name="TextBox 49"/>
            <p:cNvSpPr txBox="1"/>
            <p:nvPr/>
          </p:nvSpPr>
          <p:spPr>
            <a:xfrm>
              <a:off x="0" y="0"/>
              <a:ext cx="6364224" cy="1121664"/>
            </a:xfrm>
            <a:prstGeom prst="rect">
              <a:avLst/>
            </a:prstGeom>
          </p:spPr>
          <p:txBody>
            <a:bodyPr lIns="0" tIns="0" rIns="0" bIns="0" rtlCol="0" anchor="ctr"/>
            <a:lstStyle/>
            <a:p>
              <a:pPr algn="l">
                <a:lnSpc>
                  <a:spcPts val="3120"/>
                </a:lnSpc>
              </a:pPr>
              <a:r>
                <a:rPr lang="en-US" sz="2600" i="1" spc="130" dirty="0">
                  <a:solidFill>
                    <a:schemeClr val="bg1"/>
                  </a:solidFill>
                  <a:latin typeface="Times New Roman" panose="02020603050405020304" pitchFamily="18" charset="0"/>
                  <a:ea typeface="Playfair Display Italics"/>
                  <a:cs typeface="Times New Roman" panose="02020603050405020304" pitchFamily="18" charset="0"/>
                  <a:sym typeface="Playfair Display Italics"/>
                </a:rPr>
                <a:t>DEC = zᵤᵀ z_v</a:t>
              </a:r>
            </a:p>
          </p:txBody>
        </p:sp>
      </p:grpSp>
      <p:grpSp>
        <p:nvGrpSpPr>
          <p:cNvPr id="50" name="Group 50"/>
          <p:cNvGrpSpPr/>
          <p:nvPr/>
        </p:nvGrpSpPr>
        <p:grpSpPr>
          <a:xfrm>
            <a:off x="11978640" y="4114800"/>
            <a:ext cx="5303520" cy="3382518"/>
            <a:chOff x="0" y="0"/>
            <a:chExt cx="7071360" cy="4510024"/>
          </a:xfrm>
        </p:grpSpPr>
        <p:sp>
          <p:nvSpPr>
            <p:cNvPr id="51" name="Freeform 51"/>
            <p:cNvSpPr/>
            <p:nvPr/>
          </p:nvSpPr>
          <p:spPr>
            <a:xfrm>
              <a:off x="0" y="0"/>
              <a:ext cx="7071360" cy="4510024"/>
            </a:xfrm>
            <a:custGeom>
              <a:avLst/>
              <a:gdLst/>
              <a:ahLst/>
              <a:cxnLst/>
              <a:rect l="l" t="t" r="r" b="b"/>
              <a:pathLst>
                <a:path w="7071360" h="4510024">
                  <a:moveTo>
                    <a:pt x="0" y="0"/>
                  </a:moveTo>
                  <a:lnTo>
                    <a:pt x="7071360" y="0"/>
                  </a:lnTo>
                  <a:lnTo>
                    <a:pt x="7071360" y="4510024"/>
                  </a:lnTo>
                  <a:lnTo>
                    <a:pt x="0" y="4510024"/>
                  </a:lnTo>
                  <a:close/>
                </a:path>
              </a:pathLst>
            </a:custGeom>
            <a:blipFill>
              <a:blip r:embed="rId3">
                <a:alphaModFix amt="0"/>
              </a:blip>
              <a:stretch>
                <a:fillRect l="-11939" r="-11939" b="24307"/>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52" name="TextBox 52"/>
            <p:cNvSpPr txBox="1"/>
            <p:nvPr/>
          </p:nvSpPr>
          <p:spPr>
            <a:xfrm>
              <a:off x="0" y="0"/>
              <a:ext cx="7071360" cy="4510024"/>
            </a:xfrm>
            <a:prstGeom prst="rect">
              <a:avLst/>
            </a:prstGeom>
          </p:spPr>
          <p:txBody>
            <a:bodyPr lIns="0" tIns="0" rIns="0" bIns="0" rtlCol="0" anchor="ctr"/>
            <a:lstStyle/>
            <a:p>
              <a:pPr algn="l">
                <a:lnSpc>
                  <a:spcPts val="2879"/>
                </a:lnSpc>
              </a:pPr>
              <a:r>
                <a:rPr lang="en-US" sz="2400" i="1" spc="120">
                  <a:latin typeface="Times New Roman" panose="02020603050405020304" pitchFamily="18" charset="0"/>
                  <a:ea typeface="Playfair Display Italics"/>
                  <a:cs typeface="Times New Roman" panose="02020603050405020304" pitchFamily="18" charset="0"/>
                  <a:sym typeface="Playfair Display Italics"/>
                </a:rPr>
                <a:t>+ MSE loss</a:t>
              </a:r>
            </a:p>
            <a:p>
              <a:pPr algn="l">
                <a:lnSpc>
                  <a:spcPts val="2879"/>
                </a:lnSpc>
              </a:pPr>
              <a:endParaRPr lang="en-US" sz="2400" i="1" spc="120">
                <a:latin typeface="Times New Roman" panose="02020603050405020304" pitchFamily="18" charset="0"/>
                <a:ea typeface="Playfair Display Italics"/>
                <a:cs typeface="Times New Roman" panose="02020603050405020304" pitchFamily="18" charset="0"/>
                <a:sym typeface="Playfair Display Italics"/>
              </a:endParaRPr>
            </a:p>
            <a:p>
              <a:pPr algn="l">
                <a:lnSpc>
                  <a:spcPts val="2879"/>
                </a:lnSpc>
              </a:pPr>
              <a:r>
                <a:rPr lang="en-US" sz="2400" spc="48">
                  <a:latin typeface="Times New Roman" panose="02020603050405020304" pitchFamily="18" charset="0"/>
                  <a:ea typeface="Playfair Display"/>
                  <a:cs typeface="Times New Roman" panose="02020603050405020304" pitchFamily="18" charset="0"/>
                  <a:sym typeface="Playfair Display"/>
                </a:rPr>
                <a:t>The difference:</a:t>
              </a:r>
            </a:p>
            <a:p>
              <a:pPr algn="l">
                <a:lnSpc>
                  <a:spcPts val="2879"/>
                </a:lnSpc>
              </a:pPr>
              <a:endParaRPr lang="en-US" sz="2400" spc="48">
                <a:latin typeface="Times New Roman" panose="02020603050405020304" pitchFamily="18" charset="0"/>
                <a:ea typeface="Playfair Display"/>
                <a:cs typeface="Times New Roman" panose="02020603050405020304" pitchFamily="18" charset="0"/>
                <a:sym typeface="Playfair Display"/>
              </a:endParaRPr>
            </a:p>
            <a:p>
              <a:pPr algn="l">
                <a:lnSpc>
                  <a:spcPts val="2879"/>
                </a:lnSpc>
              </a:pPr>
              <a:r>
                <a:rPr lang="en-US" sz="2400" spc="48">
                  <a:latin typeface="Times New Roman" panose="02020603050405020304" pitchFamily="18" charset="0"/>
                  <a:ea typeface="Playfair Display"/>
                  <a:cs typeface="Times New Roman" panose="02020603050405020304" pitchFamily="18" charset="0"/>
                  <a:sym typeface="Playfair Display"/>
                </a:rPr>
                <a:t>GF  → S = A</a:t>
              </a:r>
            </a:p>
            <a:p>
              <a:pPr algn="l">
                <a:lnSpc>
                  <a:spcPts val="2879"/>
                </a:lnSpc>
              </a:pPr>
              <a:endParaRPr lang="en-US" sz="2400" spc="48">
                <a:latin typeface="Times New Roman" panose="02020603050405020304" pitchFamily="18" charset="0"/>
                <a:ea typeface="Playfair Display"/>
                <a:cs typeface="Times New Roman" panose="02020603050405020304" pitchFamily="18" charset="0"/>
                <a:sym typeface="Playfair Display"/>
              </a:endParaRPr>
            </a:p>
            <a:p>
              <a:pPr algn="l">
                <a:lnSpc>
                  <a:spcPts val="2879"/>
                </a:lnSpc>
              </a:pPr>
              <a:r>
                <a:rPr lang="en-US" sz="2400" spc="48">
                  <a:latin typeface="Times New Roman" panose="02020603050405020304" pitchFamily="18" charset="0"/>
                  <a:ea typeface="Playfair Display"/>
                  <a:cs typeface="Times New Roman" panose="02020603050405020304" pitchFamily="18" charset="0"/>
                  <a:sym typeface="Playfair Display"/>
                </a:rPr>
                <a:t>GraRep → S = Aᵏ</a:t>
              </a:r>
            </a:p>
            <a:p>
              <a:pPr algn="l">
                <a:lnSpc>
                  <a:spcPts val="2879"/>
                </a:lnSpc>
              </a:pPr>
              <a:endParaRPr lang="en-US" sz="2400" spc="48">
                <a:latin typeface="Times New Roman" panose="02020603050405020304" pitchFamily="18" charset="0"/>
                <a:ea typeface="Playfair Display"/>
                <a:cs typeface="Times New Roman" panose="02020603050405020304" pitchFamily="18" charset="0"/>
                <a:sym typeface="Playfair Display"/>
              </a:endParaRPr>
            </a:p>
            <a:p>
              <a:pPr algn="l">
                <a:lnSpc>
                  <a:spcPts val="2879"/>
                </a:lnSpc>
              </a:pPr>
              <a:r>
                <a:rPr lang="en-US" sz="2400" spc="48">
                  <a:latin typeface="Times New Roman" panose="02020603050405020304" pitchFamily="18" charset="0"/>
                  <a:ea typeface="Playfair Display"/>
                  <a:cs typeface="Times New Roman" panose="02020603050405020304" pitchFamily="18" charset="0"/>
                  <a:sym typeface="Playfair Display"/>
                </a:rPr>
                <a:t>HOPE  → S = general</a:t>
              </a:r>
            </a:p>
          </p:txBody>
        </p:sp>
      </p:grpSp>
      <p:grpSp>
        <p:nvGrpSpPr>
          <p:cNvPr id="53" name="Group 53"/>
          <p:cNvGrpSpPr/>
          <p:nvPr/>
        </p:nvGrpSpPr>
        <p:grpSpPr>
          <a:xfrm>
            <a:off x="11963400" y="6842760"/>
            <a:ext cx="5242560" cy="871728"/>
            <a:chOff x="0" y="0"/>
            <a:chExt cx="6990080" cy="1162304"/>
          </a:xfrm>
        </p:grpSpPr>
        <p:sp>
          <p:nvSpPr>
            <p:cNvPr id="54" name="Freeform 54"/>
            <p:cNvSpPr/>
            <p:nvPr/>
          </p:nvSpPr>
          <p:spPr>
            <a:xfrm>
              <a:off x="0" y="0"/>
              <a:ext cx="6990080" cy="1162304"/>
            </a:xfrm>
            <a:custGeom>
              <a:avLst/>
              <a:gdLst/>
              <a:ahLst/>
              <a:cxnLst/>
              <a:rect l="l" t="t" r="r" b="b"/>
              <a:pathLst>
                <a:path w="6990080" h="1162304">
                  <a:moveTo>
                    <a:pt x="0" y="176911"/>
                  </a:moveTo>
                  <a:cubicBezTo>
                    <a:pt x="0" y="79248"/>
                    <a:pt x="79248" y="0"/>
                    <a:pt x="176911" y="0"/>
                  </a:cubicBezTo>
                  <a:lnTo>
                    <a:pt x="6813169" y="0"/>
                  </a:lnTo>
                  <a:cubicBezTo>
                    <a:pt x="6910832" y="0"/>
                    <a:pt x="6990080" y="79248"/>
                    <a:pt x="6990080" y="176911"/>
                  </a:cubicBezTo>
                  <a:lnTo>
                    <a:pt x="6990080" y="985393"/>
                  </a:lnTo>
                  <a:cubicBezTo>
                    <a:pt x="6990080" y="1083056"/>
                    <a:pt x="6910832" y="1162304"/>
                    <a:pt x="6813169" y="1162304"/>
                  </a:cubicBezTo>
                  <a:lnTo>
                    <a:pt x="176911" y="1162304"/>
                  </a:lnTo>
                  <a:cubicBezTo>
                    <a:pt x="79248" y="1162304"/>
                    <a:pt x="0" y="1083056"/>
                    <a:pt x="0" y="985393"/>
                  </a:cubicBezTo>
                  <a:close/>
                </a:path>
              </a:pathLst>
            </a:custGeom>
            <a:solidFill>
              <a:srgbClr val="423E3A"/>
            </a:solidFill>
            <a:ln w="30480" cap="sq">
              <a:solidFill>
                <a:srgbClr val="C8DDF5"/>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55" name="Group 55"/>
          <p:cNvGrpSpPr/>
          <p:nvPr/>
        </p:nvGrpSpPr>
        <p:grpSpPr>
          <a:xfrm>
            <a:off x="12198096" y="6858000"/>
            <a:ext cx="4773168" cy="841248"/>
            <a:chOff x="0" y="0"/>
            <a:chExt cx="6364224" cy="1121664"/>
          </a:xfrm>
        </p:grpSpPr>
        <p:sp>
          <p:nvSpPr>
            <p:cNvPr id="56" name="Freeform 56"/>
            <p:cNvSpPr/>
            <p:nvPr/>
          </p:nvSpPr>
          <p:spPr>
            <a:xfrm>
              <a:off x="0" y="0"/>
              <a:ext cx="6364224" cy="1121664"/>
            </a:xfrm>
            <a:custGeom>
              <a:avLst/>
              <a:gdLst/>
              <a:ahLst/>
              <a:cxnLst/>
              <a:rect l="l" t="t" r="r" b="b"/>
              <a:pathLst>
                <a:path w="6364224" h="1121664">
                  <a:moveTo>
                    <a:pt x="0" y="0"/>
                  </a:moveTo>
                  <a:lnTo>
                    <a:pt x="6364224" y="0"/>
                  </a:lnTo>
                  <a:lnTo>
                    <a:pt x="6364224" y="1121664"/>
                  </a:lnTo>
                  <a:lnTo>
                    <a:pt x="0" y="1121664"/>
                  </a:lnTo>
                  <a:close/>
                </a:path>
              </a:pathLst>
            </a:custGeom>
            <a:blipFill>
              <a:blip r:embed="rId3">
                <a:alphaModFix amt="0"/>
              </a:blip>
              <a:stretch>
                <a:fillRect t="-60556" b="-60556"/>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57" name="TextBox 57"/>
            <p:cNvSpPr txBox="1"/>
            <p:nvPr/>
          </p:nvSpPr>
          <p:spPr>
            <a:xfrm>
              <a:off x="0" y="0"/>
              <a:ext cx="6364224" cy="1121664"/>
            </a:xfrm>
            <a:prstGeom prst="rect">
              <a:avLst/>
            </a:prstGeom>
          </p:spPr>
          <p:txBody>
            <a:bodyPr lIns="0" tIns="0" rIns="0" bIns="0" rtlCol="0" anchor="ctr"/>
            <a:lstStyle/>
            <a:p>
              <a:pPr algn="l">
                <a:lnSpc>
                  <a:spcPts val="3120"/>
                </a:lnSpc>
              </a:pPr>
              <a:r>
                <a:rPr lang="en-US" sz="2600" i="1" spc="130" dirty="0">
                  <a:solidFill>
                    <a:schemeClr val="bg1"/>
                  </a:solidFill>
                  <a:latin typeface="Times New Roman" panose="02020603050405020304" pitchFamily="18" charset="0"/>
                  <a:ea typeface="Playfair Display Italics"/>
                  <a:cs typeface="Times New Roman" panose="02020603050405020304" pitchFamily="18" charset="0"/>
                  <a:sym typeface="Playfair Display Italics"/>
                </a:rPr>
                <a:t>L ≈ ||ZZᵀ − S||²</a:t>
              </a:r>
            </a:p>
          </p:txBody>
        </p:sp>
      </p:grpSp>
      <p:grpSp>
        <p:nvGrpSpPr>
          <p:cNvPr id="58" name="Group 58"/>
          <p:cNvGrpSpPr/>
          <p:nvPr/>
        </p:nvGrpSpPr>
        <p:grpSpPr>
          <a:xfrm>
            <a:off x="11978640" y="7827264"/>
            <a:ext cx="5303520" cy="640080"/>
            <a:chOff x="0" y="0"/>
            <a:chExt cx="7071360" cy="853440"/>
          </a:xfrm>
        </p:grpSpPr>
        <p:sp>
          <p:nvSpPr>
            <p:cNvPr id="59" name="Freeform 59"/>
            <p:cNvSpPr/>
            <p:nvPr/>
          </p:nvSpPr>
          <p:spPr>
            <a:xfrm>
              <a:off x="0" y="0"/>
              <a:ext cx="7071360" cy="853440"/>
            </a:xfrm>
            <a:custGeom>
              <a:avLst/>
              <a:gdLst/>
              <a:ahLst/>
              <a:cxnLst/>
              <a:rect l="l" t="t" r="r" b="b"/>
              <a:pathLst>
                <a:path w="7071360" h="853440">
                  <a:moveTo>
                    <a:pt x="0" y="0"/>
                  </a:moveTo>
                  <a:lnTo>
                    <a:pt x="7071360" y="0"/>
                  </a:lnTo>
                  <a:lnTo>
                    <a:pt x="7071360" y="853440"/>
                  </a:lnTo>
                  <a:lnTo>
                    <a:pt x="0" y="853440"/>
                  </a:lnTo>
                  <a:close/>
                </a:path>
              </a:pathLst>
            </a:custGeom>
            <a:blipFill>
              <a:blip r:embed="rId3">
                <a:alphaModFix amt="0"/>
              </a:blip>
              <a:stretch>
                <a:fillRect t="-111447" b="-111447"/>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60" name="TextBox 60"/>
            <p:cNvSpPr txBox="1"/>
            <p:nvPr/>
          </p:nvSpPr>
          <p:spPr>
            <a:xfrm>
              <a:off x="0" y="0"/>
              <a:ext cx="7071360" cy="853440"/>
            </a:xfrm>
            <a:prstGeom prst="rect">
              <a:avLst/>
            </a:prstGeom>
          </p:spPr>
          <p:txBody>
            <a:bodyPr lIns="0" tIns="0" rIns="0" bIns="0" rtlCol="0" anchor="ctr"/>
            <a:lstStyle/>
            <a:p>
              <a:pPr algn="l">
                <a:lnSpc>
                  <a:spcPts val="2640"/>
                </a:lnSpc>
              </a:pPr>
              <a:r>
                <a:rPr lang="en-US" sz="2200" spc="43">
                  <a:latin typeface="Times New Roman" panose="02020603050405020304" pitchFamily="18" charset="0"/>
                  <a:ea typeface="Playfair Display"/>
                  <a:cs typeface="Times New Roman" panose="02020603050405020304" pitchFamily="18" charset="0"/>
                  <a:sym typeface="Playfair Display"/>
                </a:rPr>
                <a:t>Solve via SVD on S</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53439"/>
        </a:solidFill>
        <a:effectLst/>
      </p:bgPr>
    </p:bg>
    <p:spTree>
      <p:nvGrpSpPr>
        <p:cNvPr id="1" name="">
          <a:extLst>
            <a:ext uri="{FF2B5EF4-FFF2-40B4-BE49-F238E27FC236}">
              <a16:creationId xmlns:a16="http://schemas.microsoft.com/office/drawing/2014/main" id="{BDBFE852-FE3D-C2A2-6F4E-BDD3CFBA20B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05116DA-066B-854F-E553-4AC27F357DF5}"/>
              </a:ext>
            </a:extLst>
          </p:cNvPr>
          <p:cNvGrpSpPr/>
          <p:nvPr/>
        </p:nvGrpSpPr>
        <p:grpSpPr>
          <a:xfrm>
            <a:off x="-12697" y="-12697"/>
            <a:ext cx="18313403" cy="1342139"/>
            <a:chOff x="0" y="0"/>
            <a:chExt cx="24417871" cy="1789519"/>
          </a:xfrm>
        </p:grpSpPr>
        <p:sp>
          <p:nvSpPr>
            <p:cNvPr id="3" name="Freeform 3">
              <a:extLst>
                <a:ext uri="{FF2B5EF4-FFF2-40B4-BE49-F238E27FC236}">
                  <a16:creationId xmlns:a16="http://schemas.microsoft.com/office/drawing/2014/main" id="{31E40781-6BDE-04CA-7CF0-ADADF6439902}"/>
                </a:ext>
              </a:extLst>
            </p:cNvPr>
            <p:cNvSpPr/>
            <p:nvPr/>
          </p:nvSpPr>
          <p:spPr>
            <a:xfrm>
              <a:off x="0" y="0"/>
              <a:ext cx="24417910" cy="1789557"/>
            </a:xfrm>
            <a:custGeom>
              <a:avLst/>
              <a:gdLst/>
              <a:ahLst/>
              <a:cxnLst/>
              <a:rect l="l" t="t" r="r" b="b"/>
              <a:pathLst>
                <a:path w="24417910" h="1789557">
                  <a:moveTo>
                    <a:pt x="0" y="0"/>
                  </a:moveTo>
                  <a:lnTo>
                    <a:pt x="24417910" y="0"/>
                  </a:lnTo>
                  <a:lnTo>
                    <a:pt x="24417910" y="1789557"/>
                  </a:lnTo>
                  <a:lnTo>
                    <a:pt x="0" y="1789557"/>
                  </a:lnTo>
                  <a:close/>
                </a:path>
              </a:pathLst>
            </a:custGeom>
            <a:solidFill>
              <a:srgbClr val="FFFFFF"/>
            </a:solidFill>
            <a:ln w="25400" cap="sq">
              <a:solidFill>
                <a:srgbClr val="1A3461"/>
              </a:solidFill>
              <a:prstDash val="solid"/>
              <a:miter/>
            </a:ln>
          </p:spPr>
          <p:txBody>
            <a:bodyPr/>
            <a:lstStyle/>
            <a:p>
              <a:endParaRPr lang="en-IN"/>
            </a:p>
          </p:txBody>
        </p:sp>
      </p:grpSp>
      <p:grpSp>
        <p:nvGrpSpPr>
          <p:cNvPr id="4" name="Group 4">
            <a:extLst>
              <a:ext uri="{FF2B5EF4-FFF2-40B4-BE49-F238E27FC236}">
                <a16:creationId xmlns:a16="http://schemas.microsoft.com/office/drawing/2014/main" id="{88640928-4EAC-ED5B-2837-AE8DD22A9815}"/>
              </a:ext>
            </a:extLst>
          </p:cNvPr>
          <p:cNvGrpSpPr/>
          <p:nvPr/>
        </p:nvGrpSpPr>
        <p:grpSpPr>
          <a:xfrm>
            <a:off x="731520" y="0"/>
            <a:ext cx="16824960" cy="1316736"/>
            <a:chOff x="0" y="0"/>
            <a:chExt cx="22433280" cy="1755648"/>
          </a:xfrm>
        </p:grpSpPr>
        <p:sp>
          <p:nvSpPr>
            <p:cNvPr id="5" name="Freeform 5">
              <a:extLst>
                <a:ext uri="{FF2B5EF4-FFF2-40B4-BE49-F238E27FC236}">
                  <a16:creationId xmlns:a16="http://schemas.microsoft.com/office/drawing/2014/main" id="{00A3FE17-412C-0BE3-041C-BCD531E192AC}"/>
                </a:ext>
              </a:extLst>
            </p:cNvPr>
            <p:cNvSpPr/>
            <p:nvPr/>
          </p:nvSpPr>
          <p:spPr>
            <a:xfrm>
              <a:off x="0" y="0"/>
              <a:ext cx="22433280" cy="1755648"/>
            </a:xfrm>
            <a:custGeom>
              <a:avLst/>
              <a:gdLst/>
              <a:ahLst/>
              <a:cxnLst/>
              <a:rect l="l" t="t" r="r" b="b"/>
              <a:pathLst>
                <a:path w="22433280" h="1755648">
                  <a:moveTo>
                    <a:pt x="0" y="0"/>
                  </a:moveTo>
                  <a:lnTo>
                    <a:pt x="22433280" y="0"/>
                  </a:lnTo>
                  <a:lnTo>
                    <a:pt x="22433280" y="1755648"/>
                  </a:lnTo>
                  <a:lnTo>
                    <a:pt x="0" y="1755648"/>
                  </a:lnTo>
                  <a:close/>
                </a:path>
              </a:pathLst>
            </a:custGeom>
            <a:blipFill>
              <a:blip r:embed="rId3">
                <a:alphaModFix amt="0"/>
              </a:blip>
              <a:stretch>
                <a:fillRect t="-198975" b="-198975"/>
              </a:stretch>
            </a:blipFill>
          </p:spPr>
          <p:txBody>
            <a:bodyPr/>
            <a:lstStyle/>
            <a:p>
              <a:endParaRPr lang="en-IN"/>
            </a:p>
          </p:txBody>
        </p:sp>
        <p:sp>
          <p:nvSpPr>
            <p:cNvPr id="6" name="TextBox 6">
              <a:extLst>
                <a:ext uri="{FF2B5EF4-FFF2-40B4-BE49-F238E27FC236}">
                  <a16:creationId xmlns:a16="http://schemas.microsoft.com/office/drawing/2014/main" id="{52D2AE69-01E8-D4AD-E945-89C571A8A3D1}"/>
                </a:ext>
              </a:extLst>
            </p:cNvPr>
            <p:cNvSpPr txBox="1"/>
            <p:nvPr/>
          </p:nvSpPr>
          <p:spPr>
            <a:xfrm>
              <a:off x="0" y="-9525"/>
              <a:ext cx="22433280" cy="1765173"/>
            </a:xfrm>
            <a:prstGeom prst="rect">
              <a:avLst/>
            </a:prstGeom>
          </p:spPr>
          <p:txBody>
            <a:bodyPr lIns="0" tIns="0" rIns="0" bIns="0" rtlCol="0" anchor="ctr"/>
            <a:lstStyle/>
            <a:p>
              <a:pPr algn="l">
                <a:lnSpc>
                  <a:spcPts val="4800"/>
                </a:lnSpc>
              </a:pPr>
              <a:r>
                <a:rPr lang="en-US" sz="4000" spc="560" dirty="0">
                  <a:latin typeface="Times New Roman" panose="02020603050405020304" pitchFamily="18" charset="0"/>
                  <a:ea typeface="Hammersmith One"/>
                  <a:cs typeface="Times New Roman" panose="02020603050405020304" pitchFamily="18" charset="0"/>
                  <a:sym typeface="Hammersmith One"/>
                </a:rPr>
                <a:t>Graph Factorization</a:t>
              </a:r>
            </a:p>
          </p:txBody>
        </p:sp>
      </p:grpSp>
      <p:sp>
        <p:nvSpPr>
          <p:cNvPr id="8" name="Freeform 8">
            <a:extLst>
              <a:ext uri="{FF2B5EF4-FFF2-40B4-BE49-F238E27FC236}">
                <a16:creationId xmlns:a16="http://schemas.microsoft.com/office/drawing/2014/main" id="{3270F943-2ED5-810D-E5D8-82B8FA774893}"/>
              </a:ext>
            </a:extLst>
          </p:cNvPr>
          <p:cNvSpPr/>
          <p:nvPr/>
        </p:nvSpPr>
        <p:spPr>
          <a:xfrm>
            <a:off x="731520" y="73152"/>
            <a:ext cx="16459200" cy="402336"/>
          </a:xfrm>
          <a:custGeom>
            <a:avLst/>
            <a:gdLst/>
            <a:ahLst/>
            <a:cxnLst/>
            <a:rect l="l" t="t" r="r" b="b"/>
            <a:pathLst>
              <a:path w="21945600" h="536448">
                <a:moveTo>
                  <a:pt x="0" y="0"/>
                </a:moveTo>
                <a:lnTo>
                  <a:pt x="21945600" y="0"/>
                </a:lnTo>
                <a:lnTo>
                  <a:pt x="21945600" y="536448"/>
                </a:lnTo>
                <a:lnTo>
                  <a:pt x="0" y="536448"/>
                </a:lnTo>
                <a:close/>
              </a:path>
            </a:pathLst>
          </a:custGeom>
          <a:blipFill>
            <a:blip r:embed="rId3">
              <a:alphaModFix amt="0"/>
            </a:blip>
            <a:stretch>
              <a:fillRect t="-747115" b="-747115"/>
            </a:stretch>
          </a:blipFill>
        </p:spPr>
        <p:txBody>
          <a:bodyPr/>
          <a:lstStyle/>
          <a:p>
            <a:endParaRPr lang="en-IN"/>
          </a:p>
        </p:txBody>
      </p:sp>
      <p:grpSp>
        <p:nvGrpSpPr>
          <p:cNvPr id="10" name="Group 10">
            <a:extLst>
              <a:ext uri="{FF2B5EF4-FFF2-40B4-BE49-F238E27FC236}">
                <a16:creationId xmlns:a16="http://schemas.microsoft.com/office/drawing/2014/main" id="{DE59CC3A-CAB0-6C29-923F-485DB94CFF2F}"/>
              </a:ext>
            </a:extLst>
          </p:cNvPr>
          <p:cNvGrpSpPr/>
          <p:nvPr/>
        </p:nvGrpSpPr>
        <p:grpSpPr>
          <a:xfrm>
            <a:off x="381000" y="1750029"/>
            <a:ext cx="11275090" cy="7889271"/>
            <a:chOff x="0" y="0"/>
            <a:chExt cx="14420469" cy="10519028"/>
          </a:xfrm>
        </p:grpSpPr>
        <p:sp>
          <p:nvSpPr>
            <p:cNvPr id="11" name="Freeform 11">
              <a:extLst>
                <a:ext uri="{FF2B5EF4-FFF2-40B4-BE49-F238E27FC236}">
                  <a16:creationId xmlns:a16="http://schemas.microsoft.com/office/drawing/2014/main" id="{7FDD0DDC-639A-52F0-A0E8-A2D07443B14C}"/>
                </a:ext>
              </a:extLst>
            </p:cNvPr>
            <p:cNvSpPr/>
            <p:nvPr/>
          </p:nvSpPr>
          <p:spPr>
            <a:xfrm>
              <a:off x="0" y="0"/>
              <a:ext cx="14420469" cy="10519028"/>
            </a:xfrm>
            <a:custGeom>
              <a:avLst/>
              <a:gdLst/>
              <a:ahLst/>
              <a:cxnLst/>
              <a:rect l="l" t="t" r="r" b="b"/>
              <a:pathLst>
                <a:path w="14420469" h="10519029">
                  <a:moveTo>
                    <a:pt x="0" y="244729"/>
                  </a:moveTo>
                  <a:cubicBezTo>
                    <a:pt x="0" y="109601"/>
                    <a:pt x="109601" y="0"/>
                    <a:pt x="244729" y="0"/>
                  </a:cubicBezTo>
                  <a:lnTo>
                    <a:pt x="14175739" y="0"/>
                  </a:lnTo>
                  <a:cubicBezTo>
                    <a:pt x="14310868" y="0"/>
                    <a:pt x="14420469" y="109601"/>
                    <a:pt x="14420469" y="244729"/>
                  </a:cubicBezTo>
                  <a:lnTo>
                    <a:pt x="14420469" y="10274300"/>
                  </a:lnTo>
                  <a:cubicBezTo>
                    <a:pt x="14420469" y="10409428"/>
                    <a:pt x="14310868" y="10519029"/>
                    <a:pt x="14175739" y="10519029"/>
                  </a:cubicBezTo>
                  <a:lnTo>
                    <a:pt x="244729" y="10519029"/>
                  </a:lnTo>
                  <a:cubicBezTo>
                    <a:pt x="109601" y="10519029"/>
                    <a:pt x="0" y="10409428"/>
                    <a:pt x="0" y="10274300"/>
                  </a:cubicBezTo>
                  <a:close/>
                </a:path>
              </a:pathLst>
            </a:custGeom>
            <a:solidFill>
              <a:srgbClr val="FFFFFF"/>
            </a:solidFill>
            <a:ln w="25400" cap="sq">
              <a:solidFill>
                <a:srgbClr val="D8E8F8"/>
              </a:solidFill>
              <a:prstDash val="solid"/>
              <a:miter/>
            </a:ln>
          </p:spPr>
          <p:txBody>
            <a:bodyPr/>
            <a:lstStyle/>
            <a:p>
              <a:endParaRPr lang="en-IN" dirty="0">
                <a:latin typeface="Times New Roman" panose="02020603050405020304" pitchFamily="18" charset="0"/>
                <a:cs typeface="Times New Roman" panose="02020603050405020304" pitchFamily="18" charset="0"/>
              </a:endParaRPr>
            </a:p>
          </p:txBody>
        </p:sp>
      </p:grpSp>
      <p:grpSp>
        <p:nvGrpSpPr>
          <p:cNvPr id="12" name="Group 12">
            <a:extLst>
              <a:ext uri="{FF2B5EF4-FFF2-40B4-BE49-F238E27FC236}">
                <a16:creationId xmlns:a16="http://schemas.microsoft.com/office/drawing/2014/main" id="{A4F95F58-6F3A-E136-EE22-6E33767BC511}"/>
              </a:ext>
            </a:extLst>
          </p:cNvPr>
          <p:cNvGrpSpPr/>
          <p:nvPr/>
        </p:nvGrpSpPr>
        <p:grpSpPr>
          <a:xfrm>
            <a:off x="655321" y="1854166"/>
            <a:ext cx="10058400" cy="694944"/>
            <a:chOff x="0" y="0"/>
            <a:chExt cx="13411200" cy="926592"/>
          </a:xfrm>
        </p:grpSpPr>
        <p:sp>
          <p:nvSpPr>
            <p:cNvPr id="13" name="Freeform 13">
              <a:extLst>
                <a:ext uri="{FF2B5EF4-FFF2-40B4-BE49-F238E27FC236}">
                  <a16:creationId xmlns:a16="http://schemas.microsoft.com/office/drawing/2014/main" id="{916EDE29-C4FA-E247-0302-8164C2A48EC7}"/>
                </a:ext>
              </a:extLst>
            </p:cNvPr>
            <p:cNvSpPr/>
            <p:nvPr/>
          </p:nvSpPr>
          <p:spPr>
            <a:xfrm>
              <a:off x="0" y="0"/>
              <a:ext cx="13411200" cy="926592"/>
            </a:xfrm>
            <a:custGeom>
              <a:avLst/>
              <a:gdLst/>
              <a:ahLst/>
              <a:cxnLst/>
              <a:rect l="l" t="t" r="r" b="b"/>
              <a:pathLst>
                <a:path w="13411200" h="926592">
                  <a:moveTo>
                    <a:pt x="0" y="0"/>
                  </a:moveTo>
                  <a:lnTo>
                    <a:pt x="13411200" y="0"/>
                  </a:lnTo>
                  <a:lnTo>
                    <a:pt x="13411200" y="926592"/>
                  </a:lnTo>
                  <a:lnTo>
                    <a:pt x="0" y="926592"/>
                  </a:lnTo>
                  <a:close/>
                </a:path>
              </a:pathLst>
            </a:custGeom>
            <a:blipFill>
              <a:blip r:embed="rId3">
                <a:alphaModFix amt="0"/>
              </a:blip>
              <a:stretch>
                <a:fillRect t="-232020" b="-232020"/>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14" name="TextBox 14">
              <a:extLst>
                <a:ext uri="{FF2B5EF4-FFF2-40B4-BE49-F238E27FC236}">
                  <a16:creationId xmlns:a16="http://schemas.microsoft.com/office/drawing/2014/main" id="{A2FA7F3E-85BB-0BC1-4087-A81A0FBD4E62}"/>
                </a:ext>
              </a:extLst>
            </p:cNvPr>
            <p:cNvSpPr txBox="1"/>
            <p:nvPr/>
          </p:nvSpPr>
          <p:spPr>
            <a:xfrm>
              <a:off x="0" y="0"/>
              <a:ext cx="13411200" cy="926592"/>
            </a:xfrm>
            <a:prstGeom prst="rect">
              <a:avLst/>
            </a:prstGeom>
          </p:spPr>
          <p:txBody>
            <a:bodyPr lIns="0" tIns="0" rIns="0" bIns="0" rtlCol="0" anchor="ctr"/>
            <a:lstStyle/>
            <a:p>
              <a:pPr algn="l">
                <a:lnSpc>
                  <a:spcPts val="3600"/>
                </a:lnSpc>
              </a:pPr>
              <a:r>
                <a:rPr lang="en-US" sz="3000" i="1" spc="150" dirty="0">
                  <a:solidFill>
                    <a:srgbClr val="253439"/>
                  </a:solidFill>
                  <a:latin typeface="Times New Roman" panose="02020603050405020304" pitchFamily="18" charset="0"/>
                  <a:ea typeface="Playfair Display Italics"/>
                  <a:cs typeface="Times New Roman" panose="02020603050405020304" pitchFamily="18" charset="0"/>
                  <a:sym typeface="Playfair Display Italics"/>
                </a:rPr>
                <a:t>Core Idea</a:t>
              </a:r>
            </a:p>
          </p:txBody>
        </p:sp>
      </p:grpSp>
      <p:grpSp>
        <p:nvGrpSpPr>
          <p:cNvPr id="15" name="Group 15">
            <a:extLst>
              <a:ext uri="{FF2B5EF4-FFF2-40B4-BE49-F238E27FC236}">
                <a16:creationId xmlns:a16="http://schemas.microsoft.com/office/drawing/2014/main" id="{7182AEC8-01B3-BFE3-5842-92F8B07EC68B}"/>
              </a:ext>
            </a:extLst>
          </p:cNvPr>
          <p:cNvGrpSpPr/>
          <p:nvPr/>
        </p:nvGrpSpPr>
        <p:grpSpPr>
          <a:xfrm>
            <a:off x="655321" y="2622262"/>
            <a:ext cx="10058400" cy="731520"/>
            <a:chOff x="0" y="0"/>
            <a:chExt cx="13411200" cy="975360"/>
          </a:xfrm>
        </p:grpSpPr>
        <p:sp>
          <p:nvSpPr>
            <p:cNvPr id="16" name="Freeform 16">
              <a:extLst>
                <a:ext uri="{FF2B5EF4-FFF2-40B4-BE49-F238E27FC236}">
                  <a16:creationId xmlns:a16="http://schemas.microsoft.com/office/drawing/2014/main" id="{DBB9BF34-A459-663C-FAD7-F3A4121E5687}"/>
                </a:ext>
              </a:extLst>
            </p:cNvPr>
            <p:cNvSpPr/>
            <p:nvPr/>
          </p:nvSpPr>
          <p:spPr>
            <a:xfrm>
              <a:off x="0" y="0"/>
              <a:ext cx="13411200" cy="975360"/>
            </a:xfrm>
            <a:custGeom>
              <a:avLst/>
              <a:gdLst/>
              <a:ahLst/>
              <a:cxnLst/>
              <a:rect l="l" t="t" r="r" b="b"/>
              <a:pathLst>
                <a:path w="13411200" h="975360">
                  <a:moveTo>
                    <a:pt x="0" y="0"/>
                  </a:moveTo>
                  <a:lnTo>
                    <a:pt x="13411200" y="0"/>
                  </a:lnTo>
                  <a:lnTo>
                    <a:pt x="13411200" y="975360"/>
                  </a:lnTo>
                  <a:lnTo>
                    <a:pt x="0" y="975360"/>
                  </a:lnTo>
                  <a:close/>
                </a:path>
              </a:pathLst>
            </a:custGeom>
            <a:blipFill>
              <a:blip r:embed="rId3">
                <a:alphaModFix amt="0"/>
              </a:blip>
              <a:stretch>
                <a:fillRect t="-217919" b="-217919"/>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17" name="TextBox 17">
              <a:extLst>
                <a:ext uri="{FF2B5EF4-FFF2-40B4-BE49-F238E27FC236}">
                  <a16:creationId xmlns:a16="http://schemas.microsoft.com/office/drawing/2014/main" id="{F01324FD-D450-123B-1E2E-CDAB1A9F523D}"/>
                </a:ext>
              </a:extLst>
            </p:cNvPr>
            <p:cNvSpPr txBox="1"/>
            <p:nvPr/>
          </p:nvSpPr>
          <p:spPr>
            <a:xfrm>
              <a:off x="0" y="0"/>
              <a:ext cx="13411200" cy="975360"/>
            </a:xfrm>
            <a:prstGeom prst="rect">
              <a:avLst/>
            </a:prstGeom>
          </p:spPr>
          <p:txBody>
            <a:bodyPr lIns="0" tIns="0" rIns="0" bIns="0" rtlCol="0" anchor="ctr"/>
            <a:lstStyle/>
            <a:p>
              <a:pPr>
                <a:lnSpc>
                  <a:spcPts val="3120"/>
                </a:lnSpc>
              </a:pPr>
              <a:r>
                <a:rPr lang="en-IN" sz="2800" b="1" dirty="0">
                  <a:latin typeface="Times New Roman" panose="02020603050405020304" pitchFamily="18" charset="0"/>
                  <a:cs typeface="Times New Roman" panose="02020603050405020304" pitchFamily="18" charset="0"/>
                </a:rPr>
                <a:t>The Decoder Function:</a:t>
              </a:r>
              <a:r>
                <a:rPr lang="en-IN" sz="2800" dirty="0">
                  <a:latin typeface="Times New Roman" panose="02020603050405020304" pitchFamily="18" charset="0"/>
                  <a:cs typeface="Times New Roman" panose="02020603050405020304" pitchFamily="18" charset="0"/>
                </a:rPr>
                <a:t> Swaps out Euclidean distance for an inner product (dot product) </a:t>
              </a:r>
              <a:endParaRPr lang="en-US" sz="2600" spc="52" dirty="0">
                <a:solidFill>
                  <a:srgbClr val="253439"/>
                </a:solidFill>
                <a:latin typeface="Times New Roman" panose="02020603050405020304" pitchFamily="18" charset="0"/>
                <a:ea typeface="Playfair Display"/>
                <a:cs typeface="Times New Roman" panose="02020603050405020304" pitchFamily="18" charset="0"/>
                <a:sym typeface="Playfair Display"/>
              </a:endParaRPr>
            </a:p>
          </p:txBody>
        </p:sp>
      </p:grpSp>
      <p:grpSp>
        <p:nvGrpSpPr>
          <p:cNvPr id="18" name="Group 18">
            <a:extLst>
              <a:ext uri="{FF2B5EF4-FFF2-40B4-BE49-F238E27FC236}">
                <a16:creationId xmlns:a16="http://schemas.microsoft.com/office/drawing/2014/main" id="{58D7CFFA-AD6A-3292-9036-944EDDB36CA4}"/>
              </a:ext>
            </a:extLst>
          </p:cNvPr>
          <p:cNvGrpSpPr/>
          <p:nvPr/>
        </p:nvGrpSpPr>
        <p:grpSpPr>
          <a:xfrm>
            <a:off x="640081" y="3448270"/>
            <a:ext cx="10088880" cy="908304"/>
            <a:chOff x="0" y="0"/>
            <a:chExt cx="13451840" cy="1211072"/>
          </a:xfrm>
        </p:grpSpPr>
        <p:sp>
          <p:nvSpPr>
            <p:cNvPr id="19" name="Freeform 19">
              <a:extLst>
                <a:ext uri="{FF2B5EF4-FFF2-40B4-BE49-F238E27FC236}">
                  <a16:creationId xmlns:a16="http://schemas.microsoft.com/office/drawing/2014/main" id="{8F33D750-B815-CE8C-759F-28874C46F107}"/>
                </a:ext>
              </a:extLst>
            </p:cNvPr>
            <p:cNvSpPr/>
            <p:nvPr/>
          </p:nvSpPr>
          <p:spPr>
            <a:xfrm>
              <a:off x="0" y="0"/>
              <a:ext cx="13451841" cy="1211072"/>
            </a:xfrm>
            <a:custGeom>
              <a:avLst/>
              <a:gdLst/>
              <a:ahLst/>
              <a:cxnLst/>
              <a:rect l="l" t="t" r="r" b="b"/>
              <a:pathLst>
                <a:path w="13451841" h="1211072">
                  <a:moveTo>
                    <a:pt x="0" y="176657"/>
                  </a:moveTo>
                  <a:cubicBezTo>
                    <a:pt x="0" y="79121"/>
                    <a:pt x="79121" y="0"/>
                    <a:pt x="176657" y="0"/>
                  </a:cubicBezTo>
                  <a:lnTo>
                    <a:pt x="13275183" y="0"/>
                  </a:lnTo>
                  <a:cubicBezTo>
                    <a:pt x="13372720" y="0"/>
                    <a:pt x="13451841" y="79121"/>
                    <a:pt x="13451841" y="176657"/>
                  </a:cubicBezTo>
                  <a:lnTo>
                    <a:pt x="13451841" y="1034415"/>
                  </a:lnTo>
                  <a:cubicBezTo>
                    <a:pt x="13451841" y="1131951"/>
                    <a:pt x="13372720" y="1211072"/>
                    <a:pt x="13275183" y="1211072"/>
                  </a:cubicBezTo>
                  <a:lnTo>
                    <a:pt x="176657" y="1211072"/>
                  </a:lnTo>
                  <a:cubicBezTo>
                    <a:pt x="79121" y="1211072"/>
                    <a:pt x="0" y="1131951"/>
                    <a:pt x="0" y="1034415"/>
                  </a:cubicBezTo>
                  <a:close/>
                </a:path>
              </a:pathLst>
            </a:custGeom>
            <a:solidFill>
              <a:srgbClr val="423E3A"/>
            </a:solidFill>
            <a:ln w="30480" cap="sq">
              <a:solidFill>
                <a:srgbClr val="C8DDF5"/>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20" name="Group 20">
            <a:extLst>
              <a:ext uri="{FF2B5EF4-FFF2-40B4-BE49-F238E27FC236}">
                <a16:creationId xmlns:a16="http://schemas.microsoft.com/office/drawing/2014/main" id="{86EFA79F-AAAC-EFE2-F6A3-A99D633EA5E1}"/>
              </a:ext>
            </a:extLst>
          </p:cNvPr>
          <p:cNvGrpSpPr/>
          <p:nvPr/>
        </p:nvGrpSpPr>
        <p:grpSpPr>
          <a:xfrm>
            <a:off x="874777" y="3463510"/>
            <a:ext cx="9619488" cy="877824"/>
            <a:chOff x="0" y="0"/>
            <a:chExt cx="12825984" cy="1170432"/>
          </a:xfrm>
        </p:grpSpPr>
        <p:sp>
          <p:nvSpPr>
            <p:cNvPr id="21" name="Freeform 21">
              <a:extLst>
                <a:ext uri="{FF2B5EF4-FFF2-40B4-BE49-F238E27FC236}">
                  <a16:creationId xmlns:a16="http://schemas.microsoft.com/office/drawing/2014/main" id="{F1BC7D27-241B-0F14-EEBD-EE257B1D053A}"/>
                </a:ext>
              </a:extLst>
            </p:cNvPr>
            <p:cNvSpPr/>
            <p:nvPr/>
          </p:nvSpPr>
          <p:spPr>
            <a:xfrm>
              <a:off x="0" y="0"/>
              <a:ext cx="12825984" cy="1170432"/>
            </a:xfrm>
            <a:custGeom>
              <a:avLst/>
              <a:gdLst/>
              <a:ahLst/>
              <a:cxnLst/>
              <a:rect l="l" t="t" r="r" b="b"/>
              <a:pathLst>
                <a:path w="12825984" h="1170432">
                  <a:moveTo>
                    <a:pt x="0" y="0"/>
                  </a:moveTo>
                  <a:lnTo>
                    <a:pt x="12825984" y="0"/>
                  </a:lnTo>
                  <a:lnTo>
                    <a:pt x="12825984" y="1170432"/>
                  </a:lnTo>
                  <a:lnTo>
                    <a:pt x="0" y="1170432"/>
                  </a:lnTo>
                  <a:close/>
                </a:path>
              </a:pathLst>
            </a:custGeom>
            <a:blipFill>
              <a:blip r:embed="rId3">
                <a:alphaModFix amt="0"/>
              </a:blip>
              <a:stretch>
                <a:fillRect t="-163523" b="-163523"/>
              </a:stretch>
            </a:blipFill>
          </p:spPr>
          <p:txBody>
            <a:bodyPr/>
            <a:lstStyle/>
            <a:p>
              <a:endParaRPr lang="en-IN">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22" name="TextBox 22">
                  <a:extLst>
                    <a:ext uri="{FF2B5EF4-FFF2-40B4-BE49-F238E27FC236}">
                      <a16:creationId xmlns:a16="http://schemas.microsoft.com/office/drawing/2014/main" id="{EE34490D-7D83-3131-141B-9FD36FEAD2C6}"/>
                    </a:ext>
                  </a:extLst>
                </p:cNvPr>
                <p:cNvSpPr txBox="1"/>
                <p:nvPr/>
              </p:nvSpPr>
              <p:spPr>
                <a:xfrm>
                  <a:off x="0" y="0"/>
                  <a:ext cx="12825984" cy="1170432"/>
                </a:xfrm>
                <a:prstGeom prst="rect">
                  <a:avLst/>
                </a:prstGeom>
              </p:spPr>
              <p:txBody>
                <a:bodyPr lIns="0" tIns="0" rIns="0" bIns="0" rtlCol="0" anchor="ctr"/>
                <a:lstStyle/>
                <a:p>
                  <a:pPr algn="l">
                    <a:lnSpc>
                      <a:spcPts val="3120"/>
                    </a:lnSpc>
                  </a:pPr>
                  <a14:m>
                    <m:oMathPara xmlns:m="http://schemas.openxmlformats.org/officeDocument/2006/math">
                      <m:oMathParaPr>
                        <m:jc m:val="left"/>
                      </m:oMathParaPr>
                      <m:oMath xmlns:m="http://schemas.openxmlformats.org/officeDocument/2006/math">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𝐷𝐸𝐶</m:t>
                        </m:r>
                        <m:d>
                          <m:dPr>
                            <m:ctrlPr>
                              <a:rPr lang="en-IN" sz="2600" i="1" spc="130">
                                <a:solidFill>
                                  <a:srgbClr val="FFFFFF"/>
                                </a:solidFill>
                                <a:latin typeface="Cambria Math" panose="02040503050406030204" pitchFamily="18" charset="0"/>
                                <a:cs typeface="Times New Roman" panose="02020603050405020304" pitchFamily="18" charset="0"/>
                                <a:sym typeface="Playfair Display Italics"/>
                              </a:rPr>
                            </m:ctrlPr>
                          </m:dPr>
                          <m:e>
                            <m:sSub>
                              <m:sSubPr>
                                <m:ctrlPr>
                                  <a:rPr lang="en-IN" sz="2600" i="1" spc="130">
                                    <a:solidFill>
                                      <a:srgbClr val="FFFFFF"/>
                                    </a:solidFill>
                                    <a:latin typeface="Cambria Math" panose="02040503050406030204" pitchFamily="18" charset="0"/>
                                    <a:cs typeface="Times New Roman" panose="02020603050405020304" pitchFamily="18" charset="0"/>
                                    <a:sym typeface="Playfair Display Italics"/>
                                  </a:rPr>
                                </m:ctrlPr>
                              </m:sSubPr>
                              <m:e>
                                <m:r>
                                  <a:rPr lang="en-IN" sz="2600" i="1" spc="130">
                                    <a:solidFill>
                                      <a:srgbClr val="FFFFFF"/>
                                    </a:solidFill>
                                    <a:latin typeface="Cambria Math" panose="02040503050406030204" pitchFamily="18" charset="0"/>
                                    <a:cs typeface="Times New Roman" panose="02020603050405020304" pitchFamily="18" charset="0"/>
                                    <a:sym typeface="Playfair Display Italics"/>
                                  </a:rPr>
                                  <m:t>𝑧</m:t>
                                </m:r>
                              </m:e>
                              <m:sub>
                                <m:r>
                                  <a:rPr lang="en-IN" sz="2600" i="1" spc="130">
                                    <a:solidFill>
                                      <a:srgbClr val="FFFFFF"/>
                                    </a:solidFill>
                                    <a:latin typeface="Cambria Math" panose="02040503050406030204" pitchFamily="18" charset="0"/>
                                    <a:cs typeface="Times New Roman" panose="02020603050405020304" pitchFamily="18" charset="0"/>
                                    <a:sym typeface="Playfair Display Italics"/>
                                  </a:rPr>
                                  <m:t>𝑢</m:t>
                                </m:r>
                              </m:sub>
                            </m:sSub>
                            <m:r>
                              <a:rPr lang="en-IN" sz="2600" i="1" spc="130">
                                <a:solidFill>
                                  <a:srgbClr val="FFFFFF"/>
                                </a:solidFill>
                                <a:latin typeface="Cambria Math" panose="02040503050406030204" pitchFamily="18" charset="0"/>
                                <a:cs typeface="Times New Roman" panose="02020603050405020304" pitchFamily="18" charset="0"/>
                                <a:sym typeface="Playfair Display Italics"/>
                              </a:rPr>
                              <m:t>,</m:t>
                            </m:r>
                            <m:sSub>
                              <m:sSubPr>
                                <m:ctrlPr>
                                  <a:rPr lang="en-IN" sz="2600" i="1" spc="130">
                                    <a:solidFill>
                                      <a:srgbClr val="FFFFFF"/>
                                    </a:solidFill>
                                    <a:latin typeface="Cambria Math" panose="02040503050406030204" pitchFamily="18" charset="0"/>
                                    <a:cs typeface="Times New Roman" panose="02020603050405020304" pitchFamily="18" charset="0"/>
                                    <a:sym typeface="Playfair Display Italics"/>
                                  </a:rPr>
                                </m:ctrlPr>
                              </m:sSubPr>
                              <m:e>
                                <m:r>
                                  <a:rPr lang="en-IN" sz="2600" i="1" spc="130">
                                    <a:solidFill>
                                      <a:srgbClr val="FFFFFF"/>
                                    </a:solidFill>
                                    <a:latin typeface="Cambria Math" panose="02040503050406030204" pitchFamily="18" charset="0"/>
                                    <a:cs typeface="Times New Roman" panose="02020603050405020304" pitchFamily="18" charset="0"/>
                                    <a:sym typeface="Playfair Display Italics"/>
                                  </a:rPr>
                                  <m:t>𝑧</m:t>
                                </m:r>
                              </m:e>
                              <m:sub>
                                <m:r>
                                  <a:rPr lang="en-IN" sz="2600" i="1" spc="130">
                                    <a:solidFill>
                                      <a:srgbClr val="FFFFFF"/>
                                    </a:solidFill>
                                    <a:latin typeface="Cambria Math" panose="02040503050406030204" pitchFamily="18" charset="0"/>
                                    <a:cs typeface="Times New Roman" panose="02020603050405020304" pitchFamily="18" charset="0"/>
                                    <a:sym typeface="Playfair Display Italics"/>
                                  </a:rPr>
                                  <m:t>𝑣</m:t>
                                </m:r>
                              </m:sub>
                            </m:sSub>
                          </m:e>
                        </m:d>
                        <m:r>
                          <a:rPr lang="en-IN" sz="2600" i="1" spc="130">
                            <a:solidFill>
                              <a:srgbClr val="FFFFFF"/>
                            </a:solidFill>
                            <a:latin typeface="Cambria Math" panose="02040503050406030204" pitchFamily="18" charset="0"/>
                            <a:cs typeface="Times New Roman" panose="02020603050405020304" pitchFamily="18" charset="0"/>
                            <a:sym typeface="Playfair Display Italics"/>
                          </a:rPr>
                          <m:t>=</m:t>
                        </m:r>
                        <m:sSubSup>
                          <m:sSubSupPr>
                            <m:ctrlPr>
                              <a:rPr lang="en-IN" sz="2600" i="1" spc="130">
                                <a:solidFill>
                                  <a:srgbClr val="FFFFFF"/>
                                </a:solidFill>
                                <a:latin typeface="Cambria Math" panose="02040503050406030204" pitchFamily="18" charset="0"/>
                                <a:cs typeface="Times New Roman" panose="02020603050405020304" pitchFamily="18" charset="0"/>
                                <a:sym typeface="Playfair Display Italics"/>
                              </a:rPr>
                            </m:ctrlPr>
                          </m:sSubSupPr>
                          <m:e>
                            <m:r>
                              <a:rPr lang="en-IN" sz="2600" i="1" spc="130">
                                <a:solidFill>
                                  <a:srgbClr val="FFFFFF"/>
                                </a:solidFill>
                                <a:latin typeface="Cambria Math" panose="02040503050406030204" pitchFamily="18" charset="0"/>
                                <a:cs typeface="Times New Roman" panose="02020603050405020304" pitchFamily="18" charset="0"/>
                                <a:sym typeface="Playfair Display Italics"/>
                              </a:rPr>
                              <m:t>𝑧</m:t>
                            </m:r>
                          </m:e>
                          <m:sub>
                            <m:r>
                              <a:rPr lang="en-IN" sz="2600" i="1" spc="130">
                                <a:solidFill>
                                  <a:srgbClr val="FFFFFF"/>
                                </a:solidFill>
                                <a:latin typeface="Cambria Math" panose="02040503050406030204" pitchFamily="18" charset="0"/>
                                <a:cs typeface="Times New Roman" panose="02020603050405020304" pitchFamily="18" charset="0"/>
                                <a:sym typeface="Playfair Display Italics"/>
                              </a:rPr>
                              <m:t>𝑢</m:t>
                            </m:r>
                          </m:sub>
                          <m:sup>
                            <m:r>
                              <a:rPr lang="en-IN" sz="2600" i="1" spc="130">
                                <a:solidFill>
                                  <a:srgbClr val="FFFFFF"/>
                                </a:solidFill>
                                <a:latin typeface="Cambria Math" panose="02040503050406030204" pitchFamily="18" charset="0"/>
                                <a:cs typeface="Times New Roman" panose="02020603050405020304" pitchFamily="18" charset="0"/>
                                <a:sym typeface="Playfair Display Italics"/>
                              </a:rPr>
                              <m:t>⊤</m:t>
                            </m:r>
                          </m:sup>
                        </m:sSubSup>
                        <m:sSub>
                          <m:sSubPr>
                            <m:ctrlPr>
                              <a:rPr lang="en-IN" sz="2600" i="1" spc="130">
                                <a:solidFill>
                                  <a:srgbClr val="FFFFFF"/>
                                </a:solidFill>
                                <a:latin typeface="Cambria Math" panose="02040503050406030204" pitchFamily="18" charset="0"/>
                                <a:cs typeface="Times New Roman" panose="02020603050405020304" pitchFamily="18" charset="0"/>
                                <a:sym typeface="Playfair Display Italics"/>
                              </a:rPr>
                            </m:ctrlPr>
                          </m:sSubPr>
                          <m:e>
                            <m:r>
                              <a:rPr lang="en-IN" sz="2600" i="1" spc="130">
                                <a:solidFill>
                                  <a:srgbClr val="FFFFFF"/>
                                </a:solidFill>
                                <a:latin typeface="Cambria Math" panose="02040503050406030204" pitchFamily="18" charset="0"/>
                                <a:cs typeface="Times New Roman" panose="02020603050405020304" pitchFamily="18" charset="0"/>
                                <a:sym typeface="Playfair Display Italics"/>
                              </a:rPr>
                              <m:t>𝑧</m:t>
                            </m:r>
                          </m:e>
                          <m:sub>
                            <m:r>
                              <a:rPr lang="en-IN" sz="2600" i="1" spc="130">
                                <a:solidFill>
                                  <a:srgbClr val="FFFFFF"/>
                                </a:solidFill>
                                <a:latin typeface="Cambria Math" panose="02040503050406030204" pitchFamily="18" charset="0"/>
                                <a:cs typeface="Times New Roman" panose="02020603050405020304" pitchFamily="18" charset="0"/>
                                <a:sym typeface="Playfair Display Italics"/>
                              </a:rPr>
                              <m:t>𝑣</m:t>
                            </m:r>
                          </m:sub>
                        </m:sSub>
                      </m:oMath>
                    </m:oMathPara>
                  </a14:m>
                  <a:endParaRPr lang="en-US" sz="2600" i="1" spc="130" dirty="0">
                    <a:solidFill>
                      <a:srgbClr val="FFFFFF"/>
                    </a:solidFill>
                    <a:latin typeface="Times New Roman" panose="02020603050405020304" pitchFamily="18" charset="0"/>
                    <a:ea typeface="Playfair Display Italics"/>
                    <a:cs typeface="Times New Roman" panose="02020603050405020304" pitchFamily="18" charset="0"/>
                    <a:sym typeface="Playfair Display Italics"/>
                  </a:endParaRPr>
                </a:p>
              </p:txBody>
            </p:sp>
          </mc:Choice>
          <mc:Fallback>
            <p:sp>
              <p:nvSpPr>
                <p:cNvPr id="22" name="TextBox 22">
                  <a:extLst>
                    <a:ext uri="{FF2B5EF4-FFF2-40B4-BE49-F238E27FC236}">
                      <a16:creationId xmlns:a16="http://schemas.microsoft.com/office/drawing/2014/main" id="{EE34490D-7D83-3131-141B-9FD36FEAD2C6}"/>
                    </a:ext>
                  </a:extLst>
                </p:cNvPr>
                <p:cNvSpPr txBox="1">
                  <a:spLocks noRot="1" noChangeAspect="1" noMove="1" noResize="1" noEditPoints="1" noAdjustHandles="1" noChangeArrowheads="1" noChangeShapeType="1" noTextEdit="1"/>
                </p:cNvSpPr>
                <p:nvPr/>
              </p:nvSpPr>
              <p:spPr>
                <a:xfrm>
                  <a:off x="0" y="0"/>
                  <a:ext cx="12825984" cy="1170432"/>
                </a:xfrm>
                <a:prstGeom prst="rect">
                  <a:avLst/>
                </a:prstGeom>
                <a:blipFill>
                  <a:blip r:embed="rId4"/>
                  <a:stretch>
                    <a:fillRect/>
                  </a:stretch>
                </a:blipFill>
              </p:spPr>
              <p:txBody>
                <a:bodyPr/>
                <a:lstStyle/>
                <a:p>
                  <a:r>
                    <a:rPr lang="en-IN">
                      <a:noFill/>
                    </a:rPr>
                    <a:t> </a:t>
                  </a:r>
                </a:p>
              </p:txBody>
            </p:sp>
          </mc:Fallback>
        </mc:AlternateContent>
      </p:grpSp>
      <p:grpSp>
        <p:nvGrpSpPr>
          <p:cNvPr id="28" name="Group 28">
            <a:extLst>
              <a:ext uri="{FF2B5EF4-FFF2-40B4-BE49-F238E27FC236}">
                <a16:creationId xmlns:a16="http://schemas.microsoft.com/office/drawing/2014/main" id="{BC735F02-AD51-F7AF-7789-C1CA15C6DF51}"/>
              </a:ext>
            </a:extLst>
          </p:cNvPr>
          <p:cNvGrpSpPr/>
          <p:nvPr/>
        </p:nvGrpSpPr>
        <p:grpSpPr>
          <a:xfrm>
            <a:off x="533400" y="6277971"/>
            <a:ext cx="10008108" cy="908304"/>
            <a:chOff x="0" y="0"/>
            <a:chExt cx="13567664" cy="3912630"/>
          </a:xfrm>
        </p:grpSpPr>
        <p:sp>
          <p:nvSpPr>
            <p:cNvPr id="29" name="Freeform 29">
              <a:extLst>
                <a:ext uri="{FF2B5EF4-FFF2-40B4-BE49-F238E27FC236}">
                  <a16:creationId xmlns:a16="http://schemas.microsoft.com/office/drawing/2014/main" id="{D9356EDF-DA58-E77F-0791-CFDA21D3B249}"/>
                </a:ext>
              </a:extLst>
            </p:cNvPr>
            <p:cNvSpPr/>
            <p:nvPr/>
          </p:nvSpPr>
          <p:spPr>
            <a:xfrm>
              <a:off x="0" y="0"/>
              <a:ext cx="13411200" cy="1742609"/>
            </a:xfrm>
            <a:custGeom>
              <a:avLst/>
              <a:gdLst/>
              <a:ahLst/>
              <a:cxnLst/>
              <a:rect l="l" t="t" r="r" b="b"/>
              <a:pathLst>
                <a:path w="13411200" h="1742609">
                  <a:moveTo>
                    <a:pt x="0" y="0"/>
                  </a:moveTo>
                  <a:lnTo>
                    <a:pt x="13411200" y="0"/>
                  </a:lnTo>
                  <a:lnTo>
                    <a:pt x="13411200" y="1742609"/>
                  </a:lnTo>
                  <a:lnTo>
                    <a:pt x="0" y="1742609"/>
                  </a:lnTo>
                  <a:close/>
                </a:path>
              </a:pathLst>
            </a:custGeom>
            <a:blipFill>
              <a:blip r:embed="rId3">
                <a:alphaModFix amt="0"/>
              </a:blip>
              <a:stretch>
                <a:fillRect t="-104481" b="-95434"/>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30" name="TextBox 30">
              <a:extLst>
                <a:ext uri="{FF2B5EF4-FFF2-40B4-BE49-F238E27FC236}">
                  <a16:creationId xmlns:a16="http://schemas.microsoft.com/office/drawing/2014/main" id="{F3F80890-86DA-AB14-A041-996208A45676}"/>
                </a:ext>
              </a:extLst>
            </p:cNvPr>
            <p:cNvSpPr txBox="1"/>
            <p:nvPr/>
          </p:nvSpPr>
          <p:spPr>
            <a:xfrm>
              <a:off x="156464" y="2170021"/>
              <a:ext cx="13411200" cy="1742609"/>
            </a:xfrm>
            <a:prstGeom prst="rect">
              <a:avLst/>
            </a:prstGeom>
          </p:spPr>
          <p:txBody>
            <a:bodyPr lIns="0" tIns="0" rIns="0" bIns="0" rtlCol="0" anchor="ctr"/>
            <a:lstStyle/>
            <a:p>
              <a:pPr>
                <a:lnSpc>
                  <a:spcPts val="3120"/>
                </a:lnSpc>
              </a:pPr>
              <a:r>
                <a:rPr lang="en-IN" sz="2800" b="1" dirty="0">
                  <a:latin typeface="Times New Roman" panose="02020603050405020304" pitchFamily="18" charset="0"/>
                  <a:cs typeface="Times New Roman" panose="02020603050405020304" pitchFamily="18" charset="0"/>
                </a:rPr>
                <a:t>The Loss Function (MSE):</a:t>
              </a:r>
              <a:r>
                <a:rPr lang="en-IN" sz="2800" dirty="0">
                  <a:latin typeface="Times New Roman" panose="02020603050405020304" pitchFamily="18" charset="0"/>
                  <a:cs typeface="Times New Roman" panose="02020603050405020304" pitchFamily="18" charset="0"/>
                </a:rPr>
                <a:t> Uses Mean Squared Error to measure global variance</a:t>
              </a:r>
              <a:endParaRPr lang="en-US" sz="2600" spc="52" dirty="0">
                <a:latin typeface="Times New Roman" panose="02020603050405020304" pitchFamily="18" charset="0"/>
                <a:ea typeface="Playfair Display"/>
                <a:cs typeface="Times New Roman" panose="02020603050405020304" pitchFamily="18" charset="0"/>
                <a:sym typeface="Playfair Display"/>
              </a:endParaRPr>
            </a:p>
          </p:txBody>
        </p:sp>
      </p:grpSp>
      <p:sp>
        <p:nvSpPr>
          <p:cNvPr id="32" name="Freeform 32">
            <a:extLst>
              <a:ext uri="{FF2B5EF4-FFF2-40B4-BE49-F238E27FC236}">
                <a16:creationId xmlns:a16="http://schemas.microsoft.com/office/drawing/2014/main" id="{775CE941-E712-C14B-5657-E54ED33E2CB6}"/>
              </a:ext>
            </a:extLst>
          </p:cNvPr>
          <p:cNvSpPr/>
          <p:nvPr/>
        </p:nvSpPr>
        <p:spPr>
          <a:xfrm>
            <a:off x="655321" y="6828502"/>
            <a:ext cx="10058400" cy="640080"/>
          </a:xfrm>
          <a:custGeom>
            <a:avLst/>
            <a:gdLst/>
            <a:ahLst/>
            <a:cxnLst/>
            <a:rect l="l" t="t" r="r" b="b"/>
            <a:pathLst>
              <a:path w="13411200" h="853440">
                <a:moveTo>
                  <a:pt x="0" y="0"/>
                </a:moveTo>
                <a:lnTo>
                  <a:pt x="13411200" y="0"/>
                </a:lnTo>
                <a:lnTo>
                  <a:pt x="13411200" y="853440"/>
                </a:lnTo>
                <a:lnTo>
                  <a:pt x="0" y="853440"/>
                </a:lnTo>
                <a:close/>
              </a:path>
            </a:pathLst>
          </a:custGeom>
          <a:blipFill>
            <a:blip r:embed="rId3">
              <a:alphaModFix amt="0"/>
            </a:blip>
            <a:stretch>
              <a:fillRect t="-256193" b="-256193"/>
            </a:stretch>
          </a:blipFill>
        </p:spPr>
        <p:txBody>
          <a:bodyPr/>
          <a:lstStyle/>
          <a:p>
            <a:endParaRPr lang="en-IN">
              <a:latin typeface="Times New Roman" panose="02020603050405020304" pitchFamily="18" charset="0"/>
              <a:cs typeface="Times New Roman" panose="02020603050405020304" pitchFamily="18" charset="0"/>
            </a:endParaRPr>
          </a:p>
        </p:txBody>
      </p:sp>
      <p:grpSp>
        <p:nvGrpSpPr>
          <p:cNvPr id="34" name="Group 34">
            <a:extLst>
              <a:ext uri="{FF2B5EF4-FFF2-40B4-BE49-F238E27FC236}">
                <a16:creationId xmlns:a16="http://schemas.microsoft.com/office/drawing/2014/main" id="{36439E81-AA11-D5C1-81D6-63E60C64ED04}"/>
              </a:ext>
            </a:extLst>
          </p:cNvPr>
          <p:cNvGrpSpPr/>
          <p:nvPr/>
        </p:nvGrpSpPr>
        <p:grpSpPr>
          <a:xfrm>
            <a:off x="640081" y="4195030"/>
            <a:ext cx="10058400" cy="1572768"/>
            <a:chOff x="0" y="0"/>
            <a:chExt cx="13411200" cy="2097024"/>
          </a:xfrm>
        </p:grpSpPr>
        <p:sp>
          <p:nvSpPr>
            <p:cNvPr id="35" name="Freeform 35">
              <a:extLst>
                <a:ext uri="{FF2B5EF4-FFF2-40B4-BE49-F238E27FC236}">
                  <a16:creationId xmlns:a16="http://schemas.microsoft.com/office/drawing/2014/main" id="{AC37EF16-082E-F311-B6E6-882B9A3E6541}"/>
                </a:ext>
              </a:extLst>
            </p:cNvPr>
            <p:cNvSpPr/>
            <p:nvPr/>
          </p:nvSpPr>
          <p:spPr>
            <a:xfrm>
              <a:off x="0" y="0"/>
              <a:ext cx="13411200" cy="2097024"/>
            </a:xfrm>
            <a:custGeom>
              <a:avLst/>
              <a:gdLst/>
              <a:ahLst/>
              <a:cxnLst/>
              <a:rect l="l" t="t" r="r" b="b"/>
              <a:pathLst>
                <a:path w="13411200" h="2097024">
                  <a:moveTo>
                    <a:pt x="0" y="0"/>
                  </a:moveTo>
                  <a:lnTo>
                    <a:pt x="13411200" y="0"/>
                  </a:lnTo>
                  <a:lnTo>
                    <a:pt x="13411200" y="2097024"/>
                  </a:lnTo>
                  <a:lnTo>
                    <a:pt x="0" y="2097024"/>
                  </a:lnTo>
                  <a:close/>
                </a:path>
              </a:pathLst>
            </a:custGeom>
            <a:blipFill>
              <a:blip r:embed="rId3">
                <a:alphaModFix amt="0"/>
              </a:blip>
              <a:stretch>
                <a:fillRect t="-75195" b="-74032"/>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36" name="TextBox 36">
              <a:extLst>
                <a:ext uri="{FF2B5EF4-FFF2-40B4-BE49-F238E27FC236}">
                  <a16:creationId xmlns:a16="http://schemas.microsoft.com/office/drawing/2014/main" id="{80118789-20D7-DE1F-AA88-2066C1152DD4}"/>
                </a:ext>
              </a:extLst>
            </p:cNvPr>
            <p:cNvSpPr txBox="1"/>
            <p:nvPr/>
          </p:nvSpPr>
          <p:spPr>
            <a:xfrm>
              <a:off x="0" y="0"/>
              <a:ext cx="13411200" cy="2097024"/>
            </a:xfrm>
            <a:prstGeom prst="rect">
              <a:avLst/>
            </a:prstGeom>
          </p:spPr>
          <p:txBody>
            <a:bodyPr lIns="0" tIns="0" rIns="0" bIns="0" rtlCol="0" anchor="ctr"/>
            <a:lstStyle/>
            <a:p>
              <a:pPr>
                <a:lnSpc>
                  <a:spcPts val="2879"/>
                </a:lnSpc>
              </a:pPr>
              <a:r>
                <a:rPr lang="en-IN" sz="2800" b="1" dirty="0">
                  <a:latin typeface="Times New Roman" panose="02020603050405020304" pitchFamily="18" charset="0"/>
                  <a:cs typeface="Times New Roman" panose="02020603050405020304" pitchFamily="18" charset="0"/>
                </a:rPr>
                <a:t>First-Order Similarity Target:</a:t>
              </a:r>
              <a:r>
                <a:rPr lang="en-IN" sz="2800" dirty="0">
                  <a:latin typeface="Times New Roman" panose="02020603050405020304" pitchFamily="18" charset="0"/>
                  <a:cs typeface="Times New Roman" panose="02020603050405020304" pitchFamily="18" charset="0"/>
                </a:rPr>
                <a:t> The ground-truth matrix S is defined strictly as the standard Adjacency Matrix</a:t>
              </a:r>
              <a:endParaRPr lang="en-US" sz="2800" spc="48" dirty="0">
                <a:latin typeface="Times New Roman" panose="02020603050405020304" pitchFamily="18" charset="0"/>
                <a:ea typeface="Playfair Display"/>
                <a:cs typeface="Times New Roman" panose="02020603050405020304" pitchFamily="18" charset="0"/>
                <a:sym typeface="Playfair Display"/>
              </a:endParaRPr>
            </a:p>
          </p:txBody>
        </p:sp>
      </p:grpSp>
      <p:grpSp>
        <p:nvGrpSpPr>
          <p:cNvPr id="62" name="Group 18">
            <a:extLst>
              <a:ext uri="{FF2B5EF4-FFF2-40B4-BE49-F238E27FC236}">
                <a16:creationId xmlns:a16="http://schemas.microsoft.com/office/drawing/2014/main" id="{421219A7-8B7F-2F4D-9E2C-45101FBF9C04}"/>
              </a:ext>
            </a:extLst>
          </p:cNvPr>
          <p:cNvGrpSpPr/>
          <p:nvPr/>
        </p:nvGrpSpPr>
        <p:grpSpPr>
          <a:xfrm>
            <a:off x="609600" y="5468505"/>
            <a:ext cx="10088880" cy="908304"/>
            <a:chOff x="0" y="0"/>
            <a:chExt cx="13451840" cy="1211072"/>
          </a:xfrm>
        </p:grpSpPr>
        <p:sp>
          <p:nvSpPr>
            <p:cNvPr id="63" name="Freeform 19">
              <a:extLst>
                <a:ext uri="{FF2B5EF4-FFF2-40B4-BE49-F238E27FC236}">
                  <a16:creationId xmlns:a16="http://schemas.microsoft.com/office/drawing/2014/main" id="{5B7F4C2B-FA1D-F732-D860-6E1312ACF838}"/>
                </a:ext>
              </a:extLst>
            </p:cNvPr>
            <p:cNvSpPr/>
            <p:nvPr/>
          </p:nvSpPr>
          <p:spPr>
            <a:xfrm>
              <a:off x="0" y="0"/>
              <a:ext cx="13451841" cy="1211072"/>
            </a:xfrm>
            <a:custGeom>
              <a:avLst/>
              <a:gdLst/>
              <a:ahLst/>
              <a:cxnLst/>
              <a:rect l="l" t="t" r="r" b="b"/>
              <a:pathLst>
                <a:path w="13451841" h="1211072">
                  <a:moveTo>
                    <a:pt x="0" y="176657"/>
                  </a:moveTo>
                  <a:cubicBezTo>
                    <a:pt x="0" y="79121"/>
                    <a:pt x="79121" y="0"/>
                    <a:pt x="176657" y="0"/>
                  </a:cubicBezTo>
                  <a:lnTo>
                    <a:pt x="13275183" y="0"/>
                  </a:lnTo>
                  <a:cubicBezTo>
                    <a:pt x="13372720" y="0"/>
                    <a:pt x="13451841" y="79121"/>
                    <a:pt x="13451841" y="176657"/>
                  </a:cubicBezTo>
                  <a:lnTo>
                    <a:pt x="13451841" y="1034415"/>
                  </a:lnTo>
                  <a:cubicBezTo>
                    <a:pt x="13451841" y="1131951"/>
                    <a:pt x="13372720" y="1211072"/>
                    <a:pt x="13275183" y="1211072"/>
                  </a:cubicBezTo>
                  <a:lnTo>
                    <a:pt x="176657" y="1211072"/>
                  </a:lnTo>
                  <a:cubicBezTo>
                    <a:pt x="79121" y="1211072"/>
                    <a:pt x="0" y="1131951"/>
                    <a:pt x="0" y="1034415"/>
                  </a:cubicBezTo>
                  <a:close/>
                </a:path>
              </a:pathLst>
            </a:custGeom>
            <a:solidFill>
              <a:srgbClr val="423E3A"/>
            </a:solidFill>
            <a:ln w="30480" cap="sq">
              <a:solidFill>
                <a:srgbClr val="C8DDF5"/>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mc:AlternateContent xmlns:mc="http://schemas.openxmlformats.org/markup-compatibility/2006">
        <mc:Choice xmlns:a14="http://schemas.microsoft.com/office/drawing/2010/main" Requires="a14">
          <p:sp>
            <p:nvSpPr>
              <p:cNvPr id="64" name="TextBox 22">
                <a:extLst>
                  <a:ext uri="{FF2B5EF4-FFF2-40B4-BE49-F238E27FC236}">
                    <a16:creationId xmlns:a16="http://schemas.microsoft.com/office/drawing/2014/main" id="{38A0A7FB-2865-FFE0-283E-165E5C9443A3}"/>
                  </a:ext>
                </a:extLst>
              </p:cNvPr>
              <p:cNvSpPr txBox="1"/>
              <p:nvPr/>
            </p:nvSpPr>
            <p:spPr>
              <a:xfrm>
                <a:off x="731521" y="5464522"/>
                <a:ext cx="9619488" cy="877824"/>
              </a:xfrm>
              <a:prstGeom prst="rect">
                <a:avLst/>
              </a:prstGeom>
            </p:spPr>
            <p:txBody>
              <a:bodyPr lIns="0" tIns="0" rIns="0" bIns="0" rtlCol="0" anchor="ctr"/>
              <a:lstStyle/>
              <a:p>
                <a:pPr algn="l">
                  <a:lnSpc>
                    <a:spcPts val="3120"/>
                  </a:lnSpc>
                </a:pPr>
                <a14:m>
                  <m:oMathPara xmlns:m="http://schemas.openxmlformats.org/officeDocument/2006/math">
                    <m:oMathParaPr>
                      <m:jc m:val="left"/>
                    </m:oMathParaPr>
                    <m:oMath xmlns:m="http://schemas.openxmlformats.org/officeDocument/2006/math">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𝑆</m:t>
                      </m:r>
                      <m:d>
                        <m:dPr>
                          <m:begChr m:val="["/>
                          <m:endChr m:val="]"/>
                          <m:ctrlP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ctrlPr>
                        </m:dPr>
                        <m:e>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𝑢</m:t>
                          </m:r>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m:t>
                          </m:r>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𝑣</m:t>
                          </m:r>
                        </m:e>
                      </m:d>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m:t>
                      </m:r>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𝐴</m:t>
                      </m:r>
                      <m:d>
                        <m:dPr>
                          <m:begChr m:val="["/>
                          <m:endChr m:val="]"/>
                          <m:ctrlP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ctrlPr>
                        </m:dPr>
                        <m:e>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𝑢</m:t>
                          </m:r>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m:t>
                          </m:r>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𝑣</m:t>
                          </m:r>
                        </m:e>
                      </m:d>
                    </m:oMath>
                  </m:oMathPara>
                </a14:m>
                <a:endParaRPr lang="en-US" sz="2600" i="1" spc="130" dirty="0">
                  <a:solidFill>
                    <a:srgbClr val="FFFFFF"/>
                  </a:solidFill>
                  <a:latin typeface="Times New Roman" panose="02020603050405020304" pitchFamily="18" charset="0"/>
                  <a:ea typeface="Playfair Display Italics"/>
                  <a:cs typeface="Times New Roman" panose="02020603050405020304" pitchFamily="18" charset="0"/>
                  <a:sym typeface="Playfair Display Italics"/>
                </a:endParaRPr>
              </a:p>
            </p:txBody>
          </p:sp>
        </mc:Choice>
        <mc:Fallback>
          <p:sp>
            <p:nvSpPr>
              <p:cNvPr id="64" name="TextBox 22">
                <a:extLst>
                  <a:ext uri="{FF2B5EF4-FFF2-40B4-BE49-F238E27FC236}">
                    <a16:creationId xmlns:a16="http://schemas.microsoft.com/office/drawing/2014/main" id="{38A0A7FB-2865-FFE0-283E-165E5C9443A3}"/>
                  </a:ext>
                </a:extLst>
              </p:cNvPr>
              <p:cNvSpPr txBox="1">
                <a:spLocks noRot="1" noChangeAspect="1" noMove="1" noResize="1" noEditPoints="1" noAdjustHandles="1" noChangeArrowheads="1" noChangeShapeType="1" noTextEdit="1"/>
              </p:cNvSpPr>
              <p:nvPr/>
            </p:nvSpPr>
            <p:spPr>
              <a:xfrm>
                <a:off x="731521" y="5464522"/>
                <a:ext cx="9619488" cy="877824"/>
              </a:xfrm>
              <a:prstGeom prst="rect">
                <a:avLst/>
              </a:prstGeom>
              <a:blipFill>
                <a:blip r:embed="rId5"/>
                <a:stretch>
                  <a:fillRect/>
                </a:stretch>
              </a:blipFill>
            </p:spPr>
            <p:txBody>
              <a:bodyPr/>
              <a:lstStyle/>
              <a:p>
                <a:r>
                  <a:rPr lang="en-IN">
                    <a:noFill/>
                  </a:rPr>
                  <a:t> </a:t>
                </a:r>
              </a:p>
            </p:txBody>
          </p:sp>
        </mc:Fallback>
      </mc:AlternateContent>
      <p:grpSp>
        <p:nvGrpSpPr>
          <p:cNvPr id="65" name="Group 18">
            <a:extLst>
              <a:ext uri="{FF2B5EF4-FFF2-40B4-BE49-F238E27FC236}">
                <a16:creationId xmlns:a16="http://schemas.microsoft.com/office/drawing/2014/main" id="{3311F5FC-18D3-D6D2-E167-007ABA41A299}"/>
              </a:ext>
            </a:extLst>
          </p:cNvPr>
          <p:cNvGrpSpPr/>
          <p:nvPr/>
        </p:nvGrpSpPr>
        <p:grpSpPr>
          <a:xfrm>
            <a:off x="550721" y="7515350"/>
            <a:ext cx="10088880" cy="1260775"/>
            <a:chOff x="0" y="0"/>
            <a:chExt cx="13451840" cy="1211072"/>
          </a:xfrm>
        </p:grpSpPr>
        <p:sp>
          <p:nvSpPr>
            <p:cNvPr id="66" name="Freeform 19">
              <a:extLst>
                <a:ext uri="{FF2B5EF4-FFF2-40B4-BE49-F238E27FC236}">
                  <a16:creationId xmlns:a16="http://schemas.microsoft.com/office/drawing/2014/main" id="{42EC66E3-4155-478C-5AD4-BE9BB09CF565}"/>
                </a:ext>
              </a:extLst>
            </p:cNvPr>
            <p:cNvSpPr/>
            <p:nvPr/>
          </p:nvSpPr>
          <p:spPr>
            <a:xfrm>
              <a:off x="0" y="0"/>
              <a:ext cx="13451841" cy="1211072"/>
            </a:xfrm>
            <a:custGeom>
              <a:avLst/>
              <a:gdLst/>
              <a:ahLst/>
              <a:cxnLst/>
              <a:rect l="l" t="t" r="r" b="b"/>
              <a:pathLst>
                <a:path w="13451841" h="1211072">
                  <a:moveTo>
                    <a:pt x="0" y="176657"/>
                  </a:moveTo>
                  <a:cubicBezTo>
                    <a:pt x="0" y="79121"/>
                    <a:pt x="79121" y="0"/>
                    <a:pt x="176657" y="0"/>
                  </a:cubicBezTo>
                  <a:lnTo>
                    <a:pt x="13275183" y="0"/>
                  </a:lnTo>
                  <a:cubicBezTo>
                    <a:pt x="13372720" y="0"/>
                    <a:pt x="13451841" y="79121"/>
                    <a:pt x="13451841" y="176657"/>
                  </a:cubicBezTo>
                  <a:lnTo>
                    <a:pt x="13451841" y="1034415"/>
                  </a:lnTo>
                  <a:cubicBezTo>
                    <a:pt x="13451841" y="1131951"/>
                    <a:pt x="13372720" y="1211072"/>
                    <a:pt x="13275183" y="1211072"/>
                  </a:cubicBezTo>
                  <a:lnTo>
                    <a:pt x="176657" y="1211072"/>
                  </a:lnTo>
                  <a:cubicBezTo>
                    <a:pt x="79121" y="1211072"/>
                    <a:pt x="0" y="1131951"/>
                    <a:pt x="0" y="1034415"/>
                  </a:cubicBezTo>
                  <a:close/>
                </a:path>
              </a:pathLst>
            </a:custGeom>
            <a:solidFill>
              <a:srgbClr val="423E3A"/>
            </a:solidFill>
            <a:ln w="30480" cap="sq">
              <a:solidFill>
                <a:srgbClr val="C8DDF5"/>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mc:AlternateContent xmlns:mc="http://schemas.openxmlformats.org/markup-compatibility/2006">
        <mc:Choice xmlns:a14="http://schemas.microsoft.com/office/drawing/2010/main" Requires="a14">
          <p:sp>
            <p:nvSpPr>
              <p:cNvPr id="67" name="TextBox 22">
                <a:extLst>
                  <a:ext uri="{FF2B5EF4-FFF2-40B4-BE49-F238E27FC236}">
                    <a16:creationId xmlns:a16="http://schemas.microsoft.com/office/drawing/2014/main" id="{45090AD9-DCFB-B5F5-43ED-69B0D2C28C0D}"/>
                  </a:ext>
                </a:extLst>
              </p:cNvPr>
              <p:cNvSpPr txBox="1"/>
              <p:nvPr/>
            </p:nvSpPr>
            <p:spPr>
              <a:xfrm>
                <a:off x="806605" y="7862508"/>
                <a:ext cx="9619488" cy="877824"/>
              </a:xfrm>
              <a:prstGeom prst="rect">
                <a:avLst/>
              </a:prstGeom>
            </p:spPr>
            <p:txBody>
              <a:bodyPr lIns="0" tIns="0" rIns="0" bIns="0" rtlCol="0" anchor="ctr"/>
              <a:lstStyle/>
              <a:p>
                <a:pPr algn="l">
                  <a:lnSpc>
                    <a:spcPts val="3120"/>
                  </a:lnSpc>
                </a:pPr>
                <a14:m>
                  <m:oMathPara xmlns:m="http://schemas.openxmlformats.org/officeDocument/2006/math">
                    <m:oMathParaPr>
                      <m:jc m:val="left"/>
                    </m:oMathParaPr>
                    <m:oMath xmlns:m="http://schemas.openxmlformats.org/officeDocument/2006/math">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𝐿</m:t>
                      </m:r>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m:t>
                      </m:r>
                      <m:nary>
                        <m:naryPr>
                          <m:chr m:val="∑"/>
                          <m:supHide m:val="on"/>
                          <m:ctrlP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ctrlPr>
                        </m:naryPr>
                        <m:sub>
                          <m:d>
                            <m:dPr>
                              <m:ctrlP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ctrlPr>
                            </m:dPr>
                            <m:e>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𝑢</m:t>
                              </m:r>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m:t>
                              </m:r>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𝑣</m:t>
                              </m:r>
                            </m:e>
                          </m:d>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m:t>
                          </m:r>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𝒟</m:t>
                          </m:r>
                        </m:sub>
                        <m:sup/>
                        <m:e>
                          <m:sSubSup>
                            <m:sSubSupPr>
                              <m:ctrlP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ctrlPr>
                            </m:sSubSupPr>
                            <m:e>
                              <m:d>
                                <m:dPr>
                                  <m:begChr m:val="‖"/>
                                  <m:endChr m:val="‖"/>
                                  <m:ctrlP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ctrlPr>
                                </m:dPr>
                                <m:e>
                                  <m:sSubSup>
                                    <m:sSubSupPr>
                                      <m:ctrlP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ctrlPr>
                                    </m:sSubSupPr>
                                    <m:e>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𝑧</m:t>
                                      </m:r>
                                    </m:e>
                                    <m:sub>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𝑢</m:t>
                                      </m:r>
                                    </m:sub>
                                    <m:sup>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m:t>
                                      </m:r>
                                    </m:sup>
                                  </m:sSubSup>
                                  <m:sSub>
                                    <m:sSubPr>
                                      <m:ctrlP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ctrlPr>
                                    </m:sSubPr>
                                    <m:e>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𝑧</m:t>
                                      </m:r>
                                    </m:e>
                                    <m:sub>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𝑣</m:t>
                                      </m:r>
                                    </m:sub>
                                  </m:sSub>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m:t>
                                  </m:r>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𝐴</m:t>
                                  </m:r>
                                  <m:d>
                                    <m:dPr>
                                      <m:begChr m:val="["/>
                                      <m:endChr m:val="]"/>
                                      <m:ctrlP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ctrlPr>
                                    </m:dPr>
                                    <m:e>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𝑢</m:t>
                                      </m:r>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m:t>
                                      </m:r>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𝑣</m:t>
                                      </m:r>
                                    </m:e>
                                  </m:d>
                                </m:e>
                              </m:d>
                            </m:e>
                            <m:sub>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2</m:t>
                              </m:r>
                            </m:sub>
                            <m:sup>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2</m:t>
                              </m:r>
                            </m:sup>
                          </m:sSubSup>
                        </m:e>
                      </m:nary>
                    </m:oMath>
                  </m:oMathPara>
                </a14:m>
                <a:endParaRPr lang="en-US" sz="2600" i="1" spc="130" dirty="0">
                  <a:solidFill>
                    <a:srgbClr val="FFFFFF"/>
                  </a:solidFill>
                  <a:latin typeface="Times New Roman" panose="02020603050405020304" pitchFamily="18" charset="0"/>
                  <a:ea typeface="Playfair Display Italics"/>
                  <a:cs typeface="Times New Roman" panose="02020603050405020304" pitchFamily="18" charset="0"/>
                  <a:sym typeface="Playfair Display Italics"/>
                </a:endParaRPr>
              </a:p>
            </p:txBody>
          </p:sp>
        </mc:Choice>
        <mc:Fallback>
          <p:sp>
            <p:nvSpPr>
              <p:cNvPr id="67" name="TextBox 22">
                <a:extLst>
                  <a:ext uri="{FF2B5EF4-FFF2-40B4-BE49-F238E27FC236}">
                    <a16:creationId xmlns:a16="http://schemas.microsoft.com/office/drawing/2014/main" id="{45090AD9-DCFB-B5F5-43ED-69B0D2C28C0D}"/>
                  </a:ext>
                </a:extLst>
              </p:cNvPr>
              <p:cNvSpPr txBox="1">
                <a:spLocks noRot="1" noChangeAspect="1" noMove="1" noResize="1" noEditPoints="1" noAdjustHandles="1" noChangeArrowheads="1" noChangeShapeType="1" noTextEdit="1"/>
              </p:cNvSpPr>
              <p:nvPr/>
            </p:nvSpPr>
            <p:spPr>
              <a:xfrm>
                <a:off x="806605" y="7862508"/>
                <a:ext cx="9619488" cy="877824"/>
              </a:xfrm>
              <a:prstGeom prst="rect">
                <a:avLst/>
              </a:prstGeom>
              <a:blipFill>
                <a:blip r:embed="rId6"/>
                <a:stretch>
                  <a:fillRect l="-3739" t="-188889" b="-212500"/>
                </a:stretch>
              </a:blipFill>
            </p:spPr>
            <p:txBody>
              <a:bodyPr/>
              <a:lstStyle/>
              <a:p>
                <a:r>
                  <a:rPr lang="en-IN">
                    <a:noFill/>
                  </a:rPr>
                  <a:t> </a:t>
                </a:r>
              </a:p>
            </p:txBody>
          </p:sp>
        </mc:Fallback>
      </mc:AlternateContent>
      <p:grpSp>
        <p:nvGrpSpPr>
          <p:cNvPr id="68" name="Group 37">
            <a:extLst>
              <a:ext uri="{FF2B5EF4-FFF2-40B4-BE49-F238E27FC236}">
                <a16:creationId xmlns:a16="http://schemas.microsoft.com/office/drawing/2014/main" id="{36012541-4BA2-0DAF-466C-4740F564EA73}"/>
              </a:ext>
            </a:extLst>
          </p:cNvPr>
          <p:cNvGrpSpPr/>
          <p:nvPr/>
        </p:nvGrpSpPr>
        <p:grpSpPr>
          <a:xfrm>
            <a:off x="12039600" y="1750029"/>
            <a:ext cx="5877563" cy="7889243"/>
            <a:chOff x="0" y="0"/>
            <a:chExt cx="7836751" cy="10518991"/>
          </a:xfrm>
        </p:grpSpPr>
        <p:sp>
          <p:nvSpPr>
            <p:cNvPr id="69" name="Freeform 38">
              <a:extLst>
                <a:ext uri="{FF2B5EF4-FFF2-40B4-BE49-F238E27FC236}">
                  <a16:creationId xmlns:a16="http://schemas.microsoft.com/office/drawing/2014/main" id="{8CF32CBC-1432-655A-138B-FA7E5F969EC0}"/>
                </a:ext>
              </a:extLst>
            </p:cNvPr>
            <p:cNvSpPr/>
            <p:nvPr/>
          </p:nvSpPr>
          <p:spPr>
            <a:xfrm>
              <a:off x="0" y="0"/>
              <a:ext cx="7836662" cy="10518902"/>
            </a:xfrm>
            <a:custGeom>
              <a:avLst/>
              <a:gdLst/>
              <a:ahLst/>
              <a:cxnLst/>
              <a:rect l="l" t="t" r="r" b="b"/>
              <a:pathLst>
                <a:path w="7836662" h="10518902">
                  <a:moveTo>
                    <a:pt x="0" y="244856"/>
                  </a:moveTo>
                  <a:cubicBezTo>
                    <a:pt x="0" y="109601"/>
                    <a:pt x="109601" y="0"/>
                    <a:pt x="244856" y="0"/>
                  </a:cubicBezTo>
                  <a:lnTo>
                    <a:pt x="7591806" y="0"/>
                  </a:lnTo>
                  <a:cubicBezTo>
                    <a:pt x="7727061" y="0"/>
                    <a:pt x="7836662" y="109601"/>
                    <a:pt x="7836662" y="244856"/>
                  </a:cubicBezTo>
                  <a:lnTo>
                    <a:pt x="7836662" y="10274047"/>
                  </a:lnTo>
                  <a:cubicBezTo>
                    <a:pt x="7836662" y="10409301"/>
                    <a:pt x="7727061" y="10518902"/>
                    <a:pt x="7591806" y="10518902"/>
                  </a:cubicBezTo>
                  <a:lnTo>
                    <a:pt x="244856" y="10518902"/>
                  </a:lnTo>
                  <a:cubicBezTo>
                    <a:pt x="109601" y="10519029"/>
                    <a:pt x="0" y="10409301"/>
                    <a:pt x="0" y="10274046"/>
                  </a:cubicBezTo>
                  <a:close/>
                </a:path>
              </a:pathLst>
            </a:custGeom>
            <a:solidFill>
              <a:srgbClr val="FFFFFF"/>
            </a:solidFill>
            <a:ln w="25400" cap="sq">
              <a:solidFill>
                <a:srgbClr val="D8E8F8"/>
              </a:solidFill>
              <a:prstDash val="solid"/>
              <a:miter/>
            </a:ln>
          </p:spPr>
          <p:txBody>
            <a:bodyPr/>
            <a:lstStyle/>
            <a:p>
              <a:pPr algn="just"/>
              <a:r>
                <a:rPr lang="en-IN" sz="2800" b="1" dirty="0">
                  <a:latin typeface="Times New Roman" panose="02020603050405020304" pitchFamily="18" charset="0"/>
                  <a:cs typeface="Times New Roman" panose="02020603050405020304" pitchFamily="18" charset="0"/>
                </a:rPr>
                <a:t>Intuition &amp; Scaling Mechanics</a:t>
              </a:r>
            </a:p>
            <a:p>
              <a:pPr algn="just"/>
              <a:r>
                <a:rPr lang="en-IN" sz="2800" b="1" dirty="0">
                  <a:latin typeface="Times New Roman" panose="02020603050405020304" pitchFamily="18" charset="0"/>
                  <a:cs typeface="Times New Roman" panose="02020603050405020304" pitchFamily="18" charset="0"/>
                </a:rPr>
                <a:t>Vector Alignment Intuition:</a:t>
              </a:r>
              <a:r>
                <a:rPr lang="en-IN" sz="2800" dirty="0">
                  <a:latin typeface="Times New Roman" panose="02020603050405020304" pitchFamily="18" charset="0"/>
                  <a:cs typeface="Times New Roman" panose="02020603050405020304" pitchFamily="18" charset="0"/>
                </a:rPr>
                <a:t> If two nodes share a direct edge (A[</a:t>
              </a:r>
              <a:r>
                <a:rPr lang="en-IN" sz="2800" dirty="0" err="1">
                  <a:latin typeface="Times New Roman" panose="02020603050405020304" pitchFamily="18" charset="0"/>
                  <a:cs typeface="Times New Roman" panose="02020603050405020304" pitchFamily="18" charset="0"/>
                </a:rPr>
                <a:t>u,v</a:t>
              </a:r>
              <a:r>
                <a:rPr lang="en-IN" sz="2800" dirty="0">
                  <a:latin typeface="Times New Roman" panose="02020603050405020304" pitchFamily="18" charset="0"/>
                  <a:cs typeface="Times New Roman" panose="02020603050405020304" pitchFamily="18" charset="0"/>
                </a:rPr>
                <a:t>] = 1), the optimizer forces their embedding vectors to align in the same direction, maximizing the dot product. If no edge exists (A[u,v] = 0), the vectors are driven to be orthogonal (perpendicular).</a:t>
              </a:r>
            </a:p>
            <a:p>
              <a:pPr algn="just"/>
              <a:endParaRPr lang="en-IN" sz="2800" dirty="0">
                <a:latin typeface="Times New Roman" panose="02020603050405020304" pitchFamily="18" charset="0"/>
                <a:cs typeface="Times New Roman" panose="02020603050405020304" pitchFamily="18" charset="0"/>
              </a:endParaRPr>
            </a:p>
            <a:p>
              <a:pPr algn="just"/>
              <a:r>
                <a:rPr lang="en-IN" sz="2800" b="1" dirty="0">
                  <a:latin typeface="Times New Roman" panose="02020603050405020304" pitchFamily="18" charset="0"/>
                  <a:cs typeface="Times New Roman" panose="02020603050405020304" pitchFamily="18" charset="0"/>
                </a:rPr>
                <a:t>The Linear Edge Focus:</a:t>
              </a:r>
              <a:r>
                <a:rPr lang="en-IN" sz="2800" dirty="0">
                  <a:latin typeface="Times New Roman" panose="02020603050405020304" pitchFamily="18" charset="0"/>
                  <a:cs typeface="Times New Roman" panose="02020603050405020304" pitchFamily="18" charset="0"/>
                </a:rPr>
                <a:t> Because it strictly targets the raw adjacency matrix A, it captures </a:t>
              </a:r>
              <a:r>
                <a:rPr lang="en-IN" sz="2800" b="1" dirty="0">
                  <a:latin typeface="Times New Roman" panose="02020603050405020304" pitchFamily="18" charset="0"/>
                  <a:cs typeface="Times New Roman" panose="02020603050405020304" pitchFamily="18" charset="0"/>
                </a:rPr>
                <a:t>first-order proximity</a:t>
              </a:r>
              <a:r>
                <a:rPr lang="en-IN" sz="2800" dirty="0">
                  <a:latin typeface="Times New Roman" panose="02020603050405020304" pitchFamily="18" charset="0"/>
                  <a:cs typeface="Times New Roman" panose="02020603050405020304" pitchFamily="18" charset="0"/>
                </a:rPr>
                <a:t>. This means it heavily optimizes for direct structural connections, but can miss hidden, deep community structures that span multiple steps or hops across the network.</a:t>
              </a:r>
            </a:p>
            <a:p>
              <a:pPr algn="just"/>
              <a:endParaRPr lang="en-IN" sz="2800"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24951278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53439"/>
        </a:solidFill>
        <a:effectLst/>
      </p:bgPr>
    </p:bg>
    <p:spTree>
      <p:nvGrpSpPr>
        <p:cNvPr id="1" name="">
          <a:extLst>
            <a:ext uri="{FF2B5EF4-FFF2-40B4-BE49-F238E27FC236}">
              <a16:creationId xmlns:a16="http://schemas.microsoft.com/office/drawing/2014/main" id="{2E26D904-46E1-34C1-7CA7-EB514BE7625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C070C2E-5361-E2E2-BC1B-0E94A5983E10}"/>
              </a:ext>
            </a:extLst>
          </p:cNvPr>
          <p:cNvGrpSpPr/>
          <p:nvPr/>
        </p:nvGrpSpPr>
        <p:grpSpPr>
          <a:xfrm>
            <a:off x="-12697" y="-12697"/>
            <a:ext cx="18313403" cy="1342139"/>
            <a:chOff x="0" y="0"/>
            <a:chExt cx="24417871" cy="1789519"/>
          </a:xfrm>
        </p:grpSpPr>
        <p:sp>
          <p:nvSpPr>
            <p:cNvPr id="3" name="Freeform 3">
              <a:extLst>
                <a:ext uri="{FF2B5EF4-FFF2-40B4-BE49-F238E27FC236}">
                  <a16:creationId xmlns:a16="http://schemas.microsoft.com/office/drawing/2014/main" id="{F1DE38AA-F580-C738-B9C3-F150D4397593}"/>
                </a:ext>
              </a:extLst>
            </p:cNvPr>
            <p:cNvSpPr/>
            <p:nvPr/>
          </p:nvSpPr>
          <p:spPr>
            <a:xfrm>
              <a:off x="0" y="0"/>
              <a:ext cx="24417910" cy="1789557"/>
            </a:xfrm>
            <a:custGeom>
              <a:avLst/>
              <a:gdLst/>
              <a:ahLst/>
              <a:cxnLst/>
              <a:rect l="l" t="t" r="r" b="b"/>
              <a:pathLst>
                <a:path w="24417910" h="1789557">
                  <a:moveTo>
                    <a:pt x="0" y="0"/>
                  </a:moveTo>
                  <a:lnTo>
                    <a:pt x="24417910" y="0"/>
                  </a:lnTo>
                  <a:lnTo>
                    <a:pt x="24417910" y="1789557"/>
                  </a:lnTo>
                  <a:lnTo>
                    <a:pt x="0" y="1789557"/>
                  </a:lnTo>
                  <a:close/>
                </a:path>
              </a:pathLst>
            </a:custGeom>
            <a:solidFill>
              <a:srgbClr val="FFFFFF"/>
            </a:solidFill>
            <a:ln w="25400" cap="sq">
              <a:solidFill>
                <a:srgbClr val="1A3461"/>
              </a:solidFill>
              <a:prstDash val="solid"/>
              <a:miter/>
            </a:ln>
          </p:spPr>
          <p:txBody>
            <a:bodyPr/>
            <a:lstStyle/>
            <a:p>
              <a:endParaRPr lang="en-IN"/>
            </a:p>
          </p:txBody>
        </p:sp>
      </p:grpSp>
      <p:grpSp>
        <p:nvGrpSpPr>
          <p:cNvPr id="4" name="Group 4">
            <a:extLst>
              <a:ext uri="{FF2B5EF4-FFF2-40B4-BE49-F238E27FC236}">
                <a16:creationId xmlns:a16="http://schemas.microsoft.com/office/drawing/2014/main" id="{93CDFDD7-193C-DAD7-26BF-7EACE6B07F90}"/>
              </a:ext>
            </a:extLst>
          </p:cNvPr>
          <p:cNvGrpSpPr/>
          <p:nvPr/>
        </p:nvGrpSpPr>
        <p:grpSpPr>
          <a:xfrm>
            <a:off x="731520" y="0"/>
            <a:ext cx="16824960" cy="1316736"/>
            <a:chOff x="0" y="0"/>
            <a:chExt cx="22433280" cy="1755648"/>
          </a:xfrm>
        </p:grpSpPr>
        <p:sp>
          <p:nvSpPr>
            <p:cNvPr id="5" name="Freeform 5">
              <a:extLst>
                <a:ext uri="{FF2B5EF4-FFF2-40B4-BE49-F238E27FC236}">
                  <a16:creationId xmlns:a16="http://schemas.microsoft.com/office/drawing/2014/main" id="{2418357E-26C3-77DE-4623-7F45ED18065B}"/>
                </a:ext>
              </a:extLst>
            </p:cNvPr>
            <p:cNvSpPr/>
            <p:nvPr/>
          </p:nvSpPr>
          <p:spPr>
            <a:xfrm>
              <a:off x="0" y="0"/>
              <a:ext cx="22433280" cy="1755648"/>
            </a:xfrm>
            <a:custGeom>
              <a:avLst/>
              <a:gdLst/>
              <a:ahLst/>
              <a:cxnLst/>
              <a:rect l="l" t="t" r="r" b="b"/>
              <a:pathLst>
                <a:path w="22433280" h="1755648">
                  <a:moveTo>
                    <a:pt x="0" y="0"/>
                  </a:moveTo>
                  <a:lnTo>
                    <a:pt x="22433280" y="0"/>
                  </a:lnTo>
                  <a:lnTo>
                    <a:pt x="22433280" y="1755648"/>
                  </a:lnTo>
                  <a:lnTo>
                    <a:pt x="0" y="1755648"/>
                  </a:lnTo>
                  <a:close/>
                </a:path>
              </a:pathLst>
            </a:custGeom>
            <a:blipFill>
              <a:blip r:embed="rId3">
                <a:alphaModFix amt="0"/>
              </a:blip>
              <a:stretch>
                <a:fillRect t="-198975" b="-198975"/>
              </a:stretch>
            </a:blipFill>
          </p:spPr>
          <p:txBody>
            <a:bodyPr/>
            <a:lstStyle/>
            <a:p>
              <a:endParaRPr lang="en-IN"/>
            </a:p>
          </p:txBody>
        </p:sp>
        <p:sp>
          <p:nvSpPr>
            <p:cNvPr id="6" name="TextBox 6">
              <a:extLst>
                <a:ext uri="{FF2B5EF4-FFF2-40B4-BE49-F238E27FC236}">
                  <a16:creationId xmlns:a16="http://schemas.microsoft.com/office/drawing/2014/main" id="{0444EFB9-3DD7-3E4B-2650-5E06C7E1B862}"/>
                </a:ext>
              </a:extLst>
            </p:cNvPr>
            <p:cNvSpPr txBox="1"/>
            <p:nvPr/>
          </p:nvSpPr>
          <p:spPr>
            <a:xfrm>
              <a:off x="0" y="-9525"/>
              <a:ext cx="22433280" cy="1765173"/>
            </a:xfrm>
            <a:prstGeom prst="rect">
              <a:avLst/>
            </a:prstGeom>
          </p:spPr>
          <p:txBody>
            <a:bodyPr lIns="0" tIns="0" rIns="0" bIns="0" rtlCol="0" anchor="ctr"/>
            <a:lstStyle/>
            <a:p>
              <a:pPr>
                <a:lnSpc>
                  <a:spcPts val="4800"/>
                </a:lnSpc>
              </a:pPr>
              <a:r>
                <a:rPr lang="en-IN" sz="4000" dirty="0">
                  <a:latin typeface="Times New Roman" panose="02020603050405020304" pitchFamily="18" charset="0"/>
                  <a:cs typeface="Times New Roman" panose="02020603050405020304" pitchFamily="18" charset="0"/>
                </a:rPr>
                <a:t>GraRep — High-Order Neighborhood Multi-Hop Scaling</a:t>
              </a:r>
              <a:endParaRPr lang="en-US" sz="4000" spc="560" dirty="0">
                <a:latin typeface="Times New Roman" panose="02020603050405020304" pitchFamily="18" charset="0"/>
                <a:ea typeface="Hammersmith One"/>
                <a:cs typeface="Times New Roman" panose="02020603050405020304" pitchFamily="18" charset="0"/>
                <a:sym typeface="Hammersmith One"/>
              </a:endParaRPr>
            </a:p>
          </p:txBody>
        </p:sp>
      </p:grpSp>
      <p:sp>
        <p:nvSpPr>
          <p:cNvPr id="8" name="Freeform 8">
            <a:extLst>
              <a:ext uri="{FF2B5EF4-FFF2-40B4-BE49-F238E27FC236}">
                <a16:creationId xmlns:a16="http://schemas.microsoft.com/office/drawing/2014/main" id="{3B560F97-60AE-78B5-C419-00C715DC8157}"/>
              </a:ext>
            </a:extLst>
          </p:cNvPr>
          <p:cNvSpPr/>
          <p:nvPr/>
        </p:nvSpPr>
        <p:spPr>
          <a:xfrm>
            <a:off x="731520" y="73152"/>
            <a:ext cx="16459200" cy="402336"/>
          </a:xfrm>
          <a:custGeom>
            <a:avLst/>
            <a:gdLst/>
            <a:ahLst/>
            <a:cxnLst/>
            <a:rect l="l" t="t" r="r" b="b"/>
            <a:pathLst>
              <a:path w="21945600" h="536448">
                <a:moveTo>
                  <a:pt x="0" y="0"/>
                </a:moveTo>
                <a:lnTo>
                  <a:pt x="21945600" y="0"/>
                </a:lnTo>
                <a:lnTo>
                  <a:pt x="21945600" y="536448"/>
                </a:lnTo>
                <a:lnTo>
                  <a:pt x="0" y="536448"/>
                </a:lnTo>
                <a:close/>
              </a:path>
            </a:pathLst>
          </a:custGeom>
          <a:blipFill>
            <a:blip r:embed="rId3">
              <a:alphaModFix amt="0"/>
            </a:blip>
            <a:stretch>
              <a:fillRect t="-747115" b="-747115"/>
            </a:stretch>
          </a:blipFill>
        </p:spPr>
        <p:txBody>
          <a:bodyPr/>
          <a:lstStyle/>
          <a:p>
            <a:endParaRPr lang="en-IN"/>
          </a:p>
        </p:txBody>
      </p:sp>
      <p:grpSp>
        <p:nvGrpSpPr>
          <p:cNvPr id="10" name="Group 10">
            <a:extLst>
              <a:ext uri="{FF2B5EF4-FFF2-40B4-BE49-F238E27FC236}">
                <a16:creationId xmlns:a16="http://schemas.microsoft.com/office/drawing/2014/main" id="{A5AEC780-7176-4BC9-DBC3-43B98312C1B1}"/>
              </a:ext>
            </a:extLst>
          </p:cNvPr>
          <p:cNvGrpSpPr/>
          <p:nvPr/>
        </p:nvGrpSpPr>
        <p:grpSpPr>
          <a:xfrm>
            <a:off x="381000" y="1750029"/>
            <a:ext cx="11275090" cy="7889271"/>
            <a:chOff x="0" y="0"/>
            <a:chExt cx="14420469" cy="10519028"/>
          </a:xfrm>
        </p:grpSpPr>
        <p:sp>
          <p:nvSpPr>
            <p:cNvPr id="11" name="Freeform 11">
              <a:extLst>
                <a:ext uri="{FF2B5EF4-FFF2-40B4-BE49-F238E27FC236}">
                  <a16:creationId xmlns:a16="http://schemas.microsoft.com/office/drawing/2014/main" id="{D267A691-414F-984C-864A-DBB6780AEEF2}"/>
                </a:ext>
              </a:extLst>
            </p:cNvPr>
            <p:cNvSpPr/>
            <p:nvPr/>
          </p:nvSpPr>
          <p:spPr>
            <a:xfrm>
              <a:off x="0" y="0"/>
              <a:ext cx="14420469" cy="10519028"/>
            </a:xfrm>
            <a:custGeom>
              <a:avLst/>
              <a:gdLst/>
              <a:ahLst/>
              <a:cxnLst/>
              <a:rect l="l" t="t" r="r" b="b"/>
              <a:pathLst>
                <a:path w="14420469" h="10519029">
                  <a:moveTo>
                    <a:pt x="0" y="244729"/>
                  </a:moveTo>
                  <a:cubicBezTo>
                    <a:pt x="0" y="109601"/>
                    <a:pt x="109601" y="0"/>
                    <a:pt x="244729" y="0"/>
                  </a:cubicBezTo>
                  <a:lnTo>
                    <a:pt x="14175739" y="0"/>
                  </a:lnTo>
                  <a:cubicBezTo>
                    <a:pt x="14310868" y="0"/>
                    <a:pt x="14420469" y="109601"/>
                    <a:pt x="14420469" y="244729"/>
                  </a:cubicBezTo>
                  <a:lnTo>
                    <a:pt x="14420469" y="10274300"/>
                  </a:lnTo>
                  <a:cubicBezTo>
                    <a:pt x="14420469" y="10409428"/>
                    <a:pt x="14310868" y="10519029"/>
                    <a:pt x="14175739" y="10519029"/>
                  </a:cubicBezTo>
                  <a:lnTo>
                    <a:pt x="244729" y="10519029"/>
                  </a:lnTo>
                  <a:cubicBezTo>
                    <a:pt x="109601" y="10519029"/>
                    <a:pt x="0" y="10409428"/>
                    <a:pt x="0" y="10274300"/>
                  </a:cubicBezTo>
                  <a:close/>
                </a:path>
              </a:pathLst>
            </a:custGeom>
            <a:solidFill>
              <a:srgbClr val="FFFFFF"/>
            </a:solidFill>
            <a:ln w="25400" cap="sq">
              <a:solidFill>
                <a:srgbClr val="D8E8F8"/>
              </a:solidFill>
              <a:prstDash val="solid"/>
              <a:miter/>
            </a:ln>
          </p:spPr>
          <p:txBody>
            <a:bodyPr/>
            <a:lstStyle/>
            <a:p>
              <a:endParaRPr lang="en-IN" dirty="0">
                <a:latin typeface="Times New Roman" panose="02020603050405020304" pitchFamily="18" charset="0"/>
                <a:cs typeface="Times New Roman" panose="02020603050405020304" pitchFamily="18" charset="0"/>
              </a:endParaRPr>
            </a:p>
          </p:txBody>
        </p:sp>
      </p:grpSp>
      <p:grpSp>
        <p:nvGrpSpPr>
          <p:cNvPr id="12" name="Group 12">
            <a:extLst>
              <a:ext uri="{FF2B5EF4-FFF2-40B4-BE49-F238E27FC236}">
                <a16:creationId xmlns:a16="http://schemas.microsoft.com/office/drawing/2014/main" id="{51D64743-1A96-8027-6A0F-EC71AFC3AB51}"/>
              </a:ext>
            </a:extLst>
          </p:cNvPr>
          <p:cNvGrpSpPr/>
          <p:nvPr/>
        </p:nvGrpSpPr>
        <p:grpSpPr>
          <a:xfrm>
            <a:off x="655321" y="1854166"/>
            <a:ext cx="10058400" cy="694944"/>
            <a:chOff x="0" y="0"/>
            <a:chExt cx="13411200" cy="926592"/>
          </a:xfrm>
        </p:grpSpPr>
        <p:sp>
          <p:nvSpPr>
            <p:cNvPr id="13" name="Freeform 13">
              <a:extLst>
                <a:ext uri="{FF2B5EF4-FFF2-40B4-BE49-F238E27FC236}">
                  <a16:creationId xmlns:a16="http://schemas.microsoft.com/office/drawing/2014/main" id="{5B0665BD-0E94-F0A1-5282-B2DB877B2764}"/>
                </a:ext>
              </a:extLst>
            </p:cNvPr>
            <p:cNvSpPr/>
            <p:nvPr/>
          </p:nvSpPr>
          <p:spPr>
            <a:xfrm>
              <a:off x="0" y="0"/>
              <a:ext cx="13411200" cy="926592"/>
            </a:xfrm>
            <a:custGeom>
              <a:avLst/>
              <a:gdLst/>
              <a:ahLst/>
              <a:cxnLst/>
              <a:rect l="l" t="t" r="r" b="b"/>
              <a:pathLst>
                <a:path w="13411200" h="926592">
                  <a:moveTo>
                    <a:pt x="0" y="0"/>
                  </a:moveTo>
                  <a:lnTo>
                    <a:pt x="13411200" y="0"/>
                  </a:lnTo>
                  <a:lnTo>
                    <a:pt x="13411200" y="926592"/>
                  </a:lnTo>
                  <a:lnTo>
                    <a:pt x="0" y="926592"/>
                  </a:lnTo>
                  <a:close/>
                </a:path>
              </a:pathLst>
            </a:custGeom>
            <a:blipFill>
              <a:blip r:embed="rId3">
                <a:alphaModFix amt="0"/>
              </a:blip>
              <a:stretch>
                <a:fillRect t="-232020" b="-232020"/>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14" name="TextBox 14">
              <a:extLst>
                <a:ext uri="{FF2B5EF4-FFF2-40B4-BE49-F238E27FC236}">
                  <a16:creationId xmlns:a16="http://schemas.microsoft.com/office/drawing/2014/main" id="{95991C31-DB7C-D3D1-91E7-EA3F326C877B}"/>
                </a:ext>
              </a:extLst>
            </p:cNvPr>
            <p:cNvSpPr txBox="1"/>
            <p:nvPr/>
          </p:nvSpPr>
          <p:spPr>
            <a:xfrm>
              <a:off x="0" y="0"/>
              <a:ext cx="13411200" cy="926592"/>
            </a:xfrm>
            <a:prstGeom prst="rect">
              <a:avLst/>
            </a:prstGeom>
          </p:spPr>
          <p:txBody>
            <a:bodyPr lIns="0" tIns="0" rIns="0" bIns="0" rtlCol="0" anchor="ctr"/>
            <a:lstStyle/>
            <a:p>
              <a:pPr algn="l">
                <a:lnSpc>
                  <a:spcPts val="3600"/>
                </a:lnSpc>
              </a:pPr>
              <a:r>
                <a:rPr lang="en-US" sz="3000" i="1" spc="150" dirty="0">
                  <a:solidFill>
                    <a:srgbClr val="253439"/>
                  </a:solidFill>
                  <a:latin typeface="Times New Roman" panose="02020603050405020304" pitchFamily="18" charset="0"/>
                  <a:ea typeface="Playfair Display Italics"/>
                  <a:cs typeface="Times New Roman" panose="02020603050405020304" pitchFamily="18" charset="0"/>
                  <a:sym typeface="Playfair Display Italics"/>
                </a:rPr>
                <a:t>Core Idea</a:t>
              </a:r>
            </a:p>
          </p:txBody>
        </p:sp>
      </p:grpSp>
      <p:grpSp>
        <p:nvGrpSpPr>
          <p:cNvPr id="15" name="Group 15">
            <a:extLst>
              <a:ext uri="{FF2B5EF4-FFF2-40B4-BE49-F238E27FC236}">
                <a16:creationId xmlns:a16="http://schemas.microsoft.com/office/drawing/2014/main" id="{8D71A2CD-C815-9451-1AC9-E7B5B51922F5}"/>
              </a:ext>
            </a:extLst>
          </p:cNvPr>
          <p:cNvGrpSpPr/>
          <p:nvPr/>
        </p:nvGrpSpPr>
        <p:grpSpPr>
          <a:xfrm>
            <a:off x="655321" y="2622262"/>
            <a:ext cx="10058400" cy="731520"/>
            <a:chOff x="0" y="0"/>
            <a:chExt cx="13411200" cy="975360"/>
          </a:xfrm>
        </p:grpSpPr>
        <p:sp>
          <p:nvSpPr>
            <p:cNvPr id="16" name="Freeform 16">
              <a:extLst>
                <a:ext uri="{FF2B5EF4-FFF2-40B4-BE49-F238E27FC236}">
                  <a16:creationId xmlns:a16="http://schemas.microsoft.com/office/drawing/2014/main" id="{ACE1D0B0-91BE-66BA-B6B2-EAF565C6E7C6}"/>
                </a:ext>
              </a:extLst>
            </p:cNvPr>
            <p:cNvSpPr/>
            <p:nvPr/>
          </p:nvSpPr>
          <p:spPr>
            <a:xfrm>
              <a:off x="0" y="0"/>
              <a:ext cx="13411200" cy="975360"/>
            </a:xfrm>
            <a:custGeom>
              <a:avLst/>
              <a:gdLst/>
              <a:ahLst/>
              <a:cxnLst/>
              <a:rect l="l" t="t" r="r" b="b"/>
              <a:pathLst>
                <a:path w="13411200" h="975360">
                  <a:moveTo>
                    <a:pt x="0" y="0"/>
                  </a:moveTo>
                  <a:lnTo>
                    <a:pt x="13411200" y="0"/>
                  </a:lnTo>
                  <a:lnTo>
                    <a:pt x="13411200" y="975360"/>
                  </a:lnTo>
                  <a:lnTo>
                    <a:pt x="0" y="975360"/>
                  </a:lnTo>
                  <a:close/>
                </a:path>
              </a:pathLst>
            </a:custGeom>
            <a:blipFill>
              <a:blip r:embed="rId3">
                <a:alphaModFix amt="0"/>
              </a:blip>
              <a:stretch>
                <a:fillRect t="-217919" b="-217919"/>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17" name="TextBox 17">
              <a:extLst>
                <a:ext uri="{FF2B5EF4-FFF2-40B4-BE49-F238E27FC236}">
                  <a16:creationId xmlns:a16="http://schemas.microsoft.com/office/drawing/2014/main" id="{1F5EC2E3-ECFC-7DBD-9742-1FB3ACFD824D}"/>
                </a:ext>
              </a:extLst>
            </p:cNvPr>
            <p:cNvSpPr txBox="1"/>
            <p:nvPr/>
          </p:nvSpPr>
          <p:spPr>
            <a:xfrm>
              <a:off x="0" y="0"/>
              <a:ext cx="13411200" cy="975360"/>
            </a:xfrm>
            <a:prstGeom prst="rect">
              <a:avLst/>
            </a:prstGeom>
          </p:spPr>
          <p:txBody>
            <a:bodyPr lIns="0" tIns="0" rIns="0" bIns="0" rtlCol="0" anchor="ctr"/>
            <a:lstStyle/>
            <a:p>
              <a:pPr>
                <a:lnSpc>
                  <a:spcPts val="3120"/>
                </a:lnSpc>
              </a:pPr>
              <a:r>
                <a:rPr lang="en-IN" sz="2800" b="1" dirty="0">
                  <a:latin typeface="Times New Roman" panose="02020603050405020304" pitchFamily="18" charset="0"/>
                  <a:cs typeface="Times New Roman" panose="02020603050405020304" pitchFamily="18" charset="0"/>
                </a:rPr>
                <a:t>The Decoder Function:</a:t>
              </a:r>
              <a:r>
                <a:rPr lang="en-IN" sz="2800" dirty="0">
                  <a:latin typeface="Times New Roman" panose="02020603050405020304" pitchFamily="18" charset="0"/>
                  <a:cs typeface="Times New Roman" panose="02020603050405020304" pitchFamily="18" charset="0"/>
                </a:rPr>
                <a:t> Retains the inner product framework to preserve geometric scaling properties</a:t>
              </a:r>
              <a:endParaRPr lang="en-US" sz="2600" spc="52" dirty="0">
                <a:solidFill>
                  <a:srgbClr val="253439"/>
                </a:solidFill>
                <a:latin typeface="Times New Roman" panose="02020603050405020304" pitchFamily="18" charset="0"/>
                <a:ea typeface="Playfair Display"/>
                <a:cs typeface="Times New Roman" panose="02020603050405020304" pitchFamily="18" charset="0"/>
                <a:sym typeface="Playfair Display"/>
              </a:endParaRPr>
            </a:p>
          </p:txBody>
        </p:sp>
      </p:grpSp>
      <p:grpSp>
        <p:nvGrpSpPr>
          <p:cNvPr id="18" name="Group 18">
            <a:extLst>
              <a:ext uri="{FF2B5EF4-FFF2-40B4-BE49-F238E27FC236}">
                <a16:creationId xmlns:a16="http://schemas.microsoft.com/office/drawing/2014/main" id="{ECD8F340-1F67-5608-A984-3FB6B544D31C}"/>
              </a:ext>
            </a:extLst>
          </p:cNvPr>
          <p:cNvGrpSpPr/>
          <p:nvPr/>
        </p:nvGrpSpPr>
        <p:grpSpPr>
          <a:xfrm>
            <a:off x="640081" y="3448270"/>
            <a:ext cx="10088880" cy="908304"/>
            <a:chOff x="0" y="0"/>
            <a:chExt cx="13451840" cy="1211072"/>
          </a:xfrm>
        </p:grpSpPr>
        <p:sp>
          <p:nvSpPr>
            <p:cNvPr id="19" name="Freeform 19">
              <a:extLst>
                <a:ext uri="{FF2B5EF4-FFF2-40B4-BE49-F238E27FC236}">
                  <a16:creationId xmlns:a16="http://schemas.microsoft.com/office/drawing/2014/main" id="{B37F2236-9C84-1999-FB92-A1CD222442D7}"/>
                </a:ext>
              </a:extLst>
            </p:cNvPr>
            <p:cNvSpPr/>
            <p:nvPr/>
          </p:nvSpPr>
          <p:spPr>
            <a:xfrm>
              <a:off x="0" y="0"/>
              <a:ext cx="13451841" cy="1211072"/>
            </a:xfrm>
            <a:custGeom>
              <a:avLst/>
              <a:gdLst/>
              <a:ahLst/>
              <a:cxnLst/>
              <a:rect l="l" t="t" r="r" b="b"/>
              <a:pathLst>
                <a:path w="13451841" h="1211072">
                  <a:moveTo>
                    <a:pt x="0" y="176657"/>
                  </a:moveTo>
                  <a:cubicBezTo>
                    <a:pt x="0" y="79121"/>
                    <a:pt x="79121" y="0"/>
                    <a:pt x="176657" y="0"/>
                  </a:cubicBezTo>
                  <a:lnTo>
                    <a:pt x="13275183" y="0"/>
                  </a:lnTo>
                  <a:cubicBezTo>
                    <a:pt x="13372720" y="0"/>
                    <a:pt x="13451841" y="79121"/>
                    <a:pt x="13451841" y="176657"/>
                  </a:cubicBezTo>
                  <a:lnTo>
                    <a:pt x="13451841" y="1034415"/>
                  </a:lnTo>
                  <a:cubicBezTo>
                    <a:pt x="13451841" y="1131951"/>
                    <a:pt x="13372720" y="1211072"/>
                    <a:pt x="13275183" y="1211072"/>
                  </a:cubicBezTo>
                  <a:lnTo>
                    <a:pt x="176657" y="1211072"/>
                  </a:lnTo>
                  <a:cubicBezTo>
                    <a:pt x="79121" y="1211072"/>
                    <a:pt x="0" y="1131951"/>
                    <a:pt x="0" y="1034415"/>
                  </a:cubicBezTo>
                  <a:close/>
                </a:path>
              </a:pathLst>
            </a:custGeom>
            <a:solidFill>
              <a:srgbClr val="423E3A"/>
            </a:solidFill>
            <a:ln w="30480" cap="sq">
              <a:solidFill>
                <a:srgbClr val="C8DDF5"/>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20" name="Group 20">
            <a:extLst>
              <a:ext uri="{FF2B5EF4-FFF2-40B4-BE49-F238E27FC236}">
                <a16:creationId xmlns:a16="http://schemas.microsoft.com/office/drawing/2014/main" id="{D7D6A62F-C3F5-11C5-8D49-84AAA1366923}"/>
              </a:ext>
            </a:extLst>
          </p:cNvPr>
          <p:cNvGrpSpPr/>
          <p:nvPr/>
        </p:nvGrpSpPr>
        <p:grpSpPr>
          <a:xfrm>
            <a:off x="874777" y="3463510"/>
            <a:ext cx="9619488" cy="877824"/>
            <a:chOff x="0" y="0"/>
            <a:chExt cx="12825984" cy="1170432"/>
          </a:xfrm>
        </p:grpSpPr>
        <p:sp>
          <p:nvSpPr>
            <p:cNvPr id="21" name="Freeform 21">
              <a:extLst>
                <a:ext uri="{FF2B5EF4-FFF2-40B4-BE49-F238E27FC236}">
                  <a16:creationId xmlns:a16="http://schemas.microsoft.com/office/drawing/2014/main" id="{5C4C94CA-D570-212F-6AFE-A7107766DEFE}"/>
                </a:ext>
              </a:extLst>
            </p:cNvPr>
            <p:cNvSpPr/>
            <p:nvPr/>
          </p:nvSpPr>
          <p:spPr>
            <a:xfrm>
              <a:off x="0" y="0"/>
              <a:ext cx="12825984" cy="1170432"/>
            </a:xfrm>
            <a:custGeom>
              <a:avLst/>
              <a:gdLst/>
              <a:ahLst/>
              <a:cxnLst/>
              <a:rect l="l" t="t" r="r" b="b"/>
              <a:pathLst>
                <a:path w="12825984" h="1170432">
                  <a:moveTo>
                    <a:pt x="0" y="0"/>
                  </a:moveTo>
                  <a:lnTo>
                    <a:pt x="12825984" y="0"/>
                  </a:lnTo>
                  <a:lnTo>
                    <a:pt x="12825984" y="1170432"/>
                  </a:lnTo>
                  <a:lnTo>
                    <a:pt x="0" y="1170432"/>
                  </a:lnTo>
                  <a:close/>
                </a:path>
              </a:pathLst>
            </a:custGeom>
            <a:blipFill>
              <a:blip r:embed="rId3">
                <a:alphaModFix amt="0"/>
              </a:blip>
              <a:stretch>
                <a:fillRect t="-163523" b="-163523"/>
              </a:stretch>
            </a:blipFill>
          </p:spPr>
          <p:txBody>
            <a:bodyPr/>
            <a:lstStyle/>
            <a:p>
              <a:endParaRPr lang="en-IN">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22" name="TextBox 22">
                  <a:extLst>
                    <a:ext uri="{FF2B5EF4-FFF2-40B4-BE49-F238E27FC236}">
                      <a16:creationId xmlns:a16="http://schemas.microsoft.com/office/drawing/2014/main" id="{D1D317C7-4628-A317-1B8B-576F4D274494}"/>
                    </a:ext>
                  </a:extLst>
                </p:cNvPr>
                <p:cNvSpPr txBox="1"/>
                <p:nvPr/>
              </p:nvSpPr>
              <p:spPr>
                <a:xfrm>
                  <a:off x="0" y="0"/>
                  <a:ext cx="12825984" cy="1170432"/>
                </a:xfrm>
                <a:prstGeom prst="rect">
                  <a:avLst/>
                </a:prstGeom>
              </p:spPr>
              <p:txBody>
                <a:bodyPr lIns="0" tIns="0" rIns="0" bIns="0" rtlCol="0" anchor="ctr"/>
                <a:lstStyle/>
                <a:p>
                  <a:pPr algn="l">
                    <a:lnSpc>
                      <a:spcPts val="3120"/>
                    </a:lnSpc>
                  </a:pPr>
                  <a14:m>
                    <m:oMathPara xmlns:m="http://schemas.openxmlformats.org/officeDocument/2006/math">
                      <m:oMathParaPr>
                        <m:jc m:val="left"/>
                      </m:oMathParaPr>
                      <m:oMath xmlns:m="http://schemas.openxmlformats.org/officeDocument/2006/math">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𝐷𝐸𝐶</m:t>
                        </m:r>
                        <m:d>
                          <m:dPr>
                            <m:ctrlP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ctrlPr>
                          </m:dPr>
                          <m:e>
                            <m:sSub>
                              <m:sSubPr>
                                <m:ctrlP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ctrlPr>
                              </m:sSubPr>
                              <m:e>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𝑧</m:t>
                                </m:r>
                              </m:e>
                              <m:sub>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𝑢</m:t>
                                </m:r>
                              </m:sub>
                            </m:sSub>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m:t>
                            </m:r>
                            <m:sSub>
                              <m:sSubPr>
                                <m:ctrlP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ctrlPr>
                              </m:sSubPr>
                              <m:e>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𝑧</m:t>
                                </m:r>
                              </m:e>
                              <m:sub>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𝑣</m:t>
                                </m:r>
                              </m:sub>
                            </m:sSub>
                          </m:e>
                        </m:d>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m:t>
                        </m:r>
                        <m:sSubSup>
                          <m:sSubSupPr>
                            <m:ctrlP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ctrlPr>
                          </m:sSubSupPr>
                          <m:e>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𝑧</m:t>
                            </m:r>
                          </m:e>
                          <m:sub>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𝑢</m:t>
                            </m:r>
                          </m:sub>
                          <m:sup>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m:t>
                            </m:r>
                          </m:sup>
                        </m:sSubSup>
                        <m:sSub>
                          <m:sSubPr>
                            <m:ctrlP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ctrlPr>
                          </m:sSubPr>
                          <m:e>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𝑧</m:t>
                            </m:r>
                          </m:e>
                          <m:sub>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𝑣</m:t>
                            </m:r>
                          </m:sub>
                        </m:sSub>
                      </m:oMath>
                    </m:oMathPara>
                  </a14:m>
                  <a:endParaRPr lang="en-US" sz="2600" i="1" spc="130" dirty="0">
                    <a:solidFill>
                      <a:srgbClr val="FFFFFF"/>
                    </a:solidFill>
                    <a:latin typeface="Times New Roman" panose="02020603050405020304" pitchFamily="18" charset="0"/>
                    <a:ea typeface="Playfair Display Italics"/>
                    <a:cs typeface="Times New Roman" panose="02020603050405020304" pitchFamily="18" charset="0"/>
                    <a:sym typeface="Playfair Display Italics"/>
                  </a:endParaRPr>
                </a:p>
              </p:txBody>
            </p:sp>
          </mc:Choice>
          <mc:Fallback>
            <p:sp>
              <p:nvSpPr>
                <p:cNvPr id="22" name="TextBox 22">
                  <a:extLst>
                    <a:ext uri="{FF2B5EF4-FFF2-40B4-BE49-F238E27FC236}">
                      <a16:creationId xmlns:a16="http://schemas.microsoft.com/office/drawing/2014/main" id="{D1D317C7-4628-A317-1B8B-576F4D274494}"/>
                    </a:ext>
                  </a:extLst>
                </p:cNvPr>
                <p:cNvSpPr txBox="1">
                  <a:spLocks noRot="1" noChangeAspect="1" noMove="1" noResize="1" noEditPoints="1" noAdjustHandles="1" noChangeArrowheads="1" noChangeShapeType="1" noTextEdit="1"/>
                </p:cNvSpPr>
                <p:nvPr/>
              </p:nvSpPr>
              <p:spPr>
                <a:xfrm>
                  <a:off x="0" y="0"/>
                  <a:ext cx="12825984" cy="1170432"/>
                </a:xfrm>
                <a:prstGeom prst="rect">
                  <a:avLst/>
                </a:prstGeom>
                <a:blipFill>
                  <a:blip r:embed="rId4"/>
                  <a:stretch>
                    <a:fillRect/>
                  </a:stretch>
                </a:blipFill>
              </p:spPr>
              <p:txBody>
                <a:bodyPr/>
                <a:lstStyle/>
                <a:p>
                  <a:r>
                    <a:rPr lang="en-IN">
                      <a:noFill/>
                    </a:rPr>
                    <a:t> </a:t>
                  </a:r>
                </a:p>
              </p:txBody>
            </p:sp>
          </mc:Fallback>
        </mc:AlternateContent>
      </p:grpSp>
      <p:grpSp>
        <p:nvGrpSpPr>
          <p:cNvPr id="28" name="Group 28">
            <a:extLst>
              <a:ext uri="{FF2B5EF4-FFF2-40B4-BE49-F238E27FC236}">
                <a16:creationId xmlns:a16="http://schemas.microsoft.com/office/drawing/2014/main" id="{E5BBD8F5-F2F4-C66A-9B86-CBA75FA7EFE0}"/>
              </a:ext>
            </a:extLst>
          </p:cNvPr>
          <p:cNvGrpSpPr/>
          <p:nvPr/>
        </p:nvGrpSpPr>
        <p:grpSpPr>
          <a:xfrm>
            <a:off x="533400" y="6277971"/>
            <a:ext cx="10008108" cy="908304"/>
            <a:chOff x="0" y="0"/>
            <a:chExt cx="13567664" cy="3912630"/>
          </a:xfrm>
        </p:grpSpPr>
        <p:sp>
          <p:nvSpPr>
            <p:cNvPr id="29" name="Freeform 29">
              <a:extLst>
                <a:ext uri="{FF2B5EF4-FFF2-40B4-BE49-F238E27FC236}">
                  <a16:creationId xmlns:a16="http://schemas.microsoft.com/office/drawing/2014/main" id="{033FD1C7-E1E2-F75E-ACA3-C229F46030CE}"/>
                </a:ext>
              </a:extLst>
            </p:cNvPr>
            <p:cNvSpPr/>
            <p:nvPr/>
          </p:nvSpPr>
          <p:spPr>
            <a:xfrm>
              <a:off x="0" y="0"/>
              <a:ext cx="13411200" cy="1742609"/>
            </a:xfrm>
            <a:custGeom>
              <a:avLst/>
              <a:gdLst/>
              <a:ahLst/>
              <a:cxnLst/>
              <a:rect l="l" t="t" r="r" b="b"/>
              <a:pathLst>
                <a:path w="13411200" h="1742609">
                  <a:moveTo>
                    <a:pt x="0" y="0"/>
                  </a:moveTo>
                  <a:lnTo>
                    <a:pt x="13411200" y="0"/>
                  </a:lnTo>
                  <a:lnTo>
                    <a:pt x="13411200" y="1742609"/>
                  </a:lnTo>
                  <a:lnTo>
                    <a:pt x="0" y="1742609"/>
                  </a:lnTo>
                  <a:close/>
                </a:path>
              </a:pathLst>
            </a:custGeom>
            <a:blipFill>
              <a:blip r:embed="rId3">
                <a:alphaModFix amt="0"/>
              </a:blip>
              <a:stretch>
                <a:fillRect t="-104481" b="-95434"/>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30" name="TextBox 30">
              <a:extLst>
                <a:ext uri="{FF2B5EF4-FFF2-40B4-BE49-F238E27FC236}">
                  <a16:creationId xmlns:a16="http://schemas.microsoft.com/office/drawing/2014/main" id="{C21F8F9C-AB98-5BA1-5E4C-BBDF81320B25}"/>
                </a:ext>
              </a:extLst>
            </p:cNvPr>
            <p:cNvSpPr txBox="1"/>
            <p:nvPr/>
          </p:nvSpPr>
          <p:spPr>
            <a:xfrm>
              <a:off x="156464" y="2170021"/>
              <a:ext cx="13411200" cy="1742609"/>
            </a:xfrm>
            <a:prstGeom prst="rect">
              <a:avLst/>
            </a:prstGeom>
          </p:spPr>
          <p:txBody>
            <a:bodyPr lIns="0" tIns="0" rIns="0" bIns="0" rtlCol="0" anchor="ctr"/>
            <a:lstStyle/>
            <a:p>
              <a:pPr>
                <a:lnSpc>
                  <a:spcPts val="3120"/>
                </a:lnSpc>
              </a:pPr>
              <a:r>
                <a:rPr lang="en-IN" sz="2800" b="1" dirty="0">
                  <a:latin typeface="Times New Roman" panose="02020603050405020304" pitchFamily="18" charset="0"/>
                  <a:cs typeface="Times New Roman" panose="02020603050405020304" pitchFamily="18" charset="0"/>
                </a:rPr>
                <a:t>The Loss Function:</a:t>
              </a:r>
              <a:r>
                <a:rPr lang="en-IN" sz="2800" dirty="0">
                  <a:latin typeface="Times New Roman" panose="02020603050405020304" pitchFamily="18" charset="0"/>
                  <a:cs typeface="Times New Roman" panose="02020603050405020304" pitchFamily="18" charset="0"/>
                </a:rPr>
                <a:t> Tracks distinct error matrices for each independent step sequence</a:t>
              </a:r>
              <a:endParaRPr lang="en-US" sz="2600" spc="52" dirty="0">
                <a:latin typeface="Times New Roman" panose="02020603050405020304" pitchFamily="18" charset="0"/>
                <a:ea typeface="Playfair Display"/>
                <a:cs typeface="Times New Roman" panose="02020603050405020304" pitchFamily="18" charset="0"/>
                <a:sym typeface="Playfair Display"/>
              </a:endParaRPr>
            </a:p>
          </p:txBody>
        </p:sp>
      </p:grpSp>
      <p:sp>
        <p:nvSpPr>
          <p:cNvPr id="32" name="Freeform 32">
            <a:extLst>
              <a:ext uri="{FF2B5EF4-FFF2-40B4-BE49-F238E27FC236}">
                <a16:creationId xmlns:a16="http://schemas.microsoft.com/office/drawing/2014/main" id="{150698A6-3A1E-AE95-55E4-109469630B8D}"/>
              </a:ext>
            </a:extLst>
          </p:cNvPr>
          <p:cNvSpPr/>
          <p:nvPr/>
        </p:nvSpPr>
        <p:spPr>
          <a:xfrm>
            <a:off x="655321" y="6828502"/>
            <a:ext cx="10058400" cy="640080"/>
          </a:xfrm>
          <a:custGeom>
            <a:avLst/>
            <a:gdLst/>
            <a:ahLst/>
            <a:cxnLst/>
            <a:rect l="l" t="t" r="r" b="b"/>
            <a:pathLst>
              <a:path w="13411200" h="853440">
                <a:moveTo>
                  <a:pt x="0" y="0"/>
                </a:moveTo>
                <a:lnTo>
                  <a:pt x="13411200" y="0"/>
                </a:lnTo>
                <a:lnTo>
                  <a:pt x="13411200" y="853440"/>
                </a:lnTo>
                <a:lnTo>
                  <a:pt x="0" y="853440"/>
                </a:lnTo>
                <a:close/>
              </a:path>
            </a:pathLst>
          </a:custGeom>
          <a:blipFill>
            <a:blip r:embed="rId3">
              <a:alphaModFix amt="0"/>
            </a:blip>
            <a:stretch>
              <a:fillRect t="-256193" b="-256193"/>
            </a:stretch>
          </a:blipFill>
        </p:spPr>
        <p:txBody>
          <a:bodyPr/>
          <a:lstStyle/>
          <a:p>
            <a:endParaRPr lang="en-IN" dirty="0">
              <a:latin typeface="Times New Roman" panose="02020603050405020304" pitchFamily="18" charset="0"/>
              <a:cs typeface="Times New Roman" panose="02020603050405020304" pitchFamily="18" charset="0"/>
            </a:endParaRPr>
          </a:p>
        </p:txBody>
      </p:sp>
      <p:grpSp>
        <p:nvGrpSpPr>
          <p:cNvPr id="34" name="Group 34">
            <a:extLst>
              <a:ext uri="{FF2B5EF4-FFF2-40B4-BE49-F238E27FC236}">
                <a16:creationId xmlns:a16="http://schemas.microsoft.com/office/drawing/2014/main" id="{0329A186-0C98-6776-F7A5-F530169E8D84}"/>
              </a:ext>
            </a:extLst>
          </p:cNvPr>
          <p:cNvGrpSpPr/>
          <p:nvPr/>
        </p:nvGrpSpPr>
        <p:grpSpPr>
          <a:xfrm>
            <a:off x="640081" y="4195030"/>
            <a:ext cx="10058400" cy="1572768"/>
            <a:chOff x="0" y="0"/>
            <a:chExt cx="13411200" cy="2097024"/>
          </a:xfrm>
        </p:grpSpPr>
        <p:sp>
          <p:nvSpPr>
            <p:cNvPr id="35" name="Freeform 35">
              <a:extLst>
                <a:ext uri="{FF2B5EF4-FFF2-40B4-BE49-F238E27FC236}">
                  <a16:creationId xmlns:a16="http://schemas.microsoft.com/office/drawing/2014/main" id="{FFB8B59E-F3AE-A80E-A30C-1412F2BFA865}"/>
                </a:ext>
              </a:extLst>
            </p:cNvPr>
            <p:cNvSpPr/>
            <p:nvPr/>
          </p:nvSpPr>
          <p:spPr>
            <a:xfrm>
              <a:off x="0" y="0"/>
              <a:ext cx="13411200" cy="2097024"/>
            </a:xfrm>
            <a:custGeom>
              <a:avLst/>
              <a:gdLst/>
              <a:ahLst/>
              <a:cxnLst/>
              <a:rect l="l" t="t" r="r" b="b"/>
              <a:pathLst>
                <a:path w="13411200" h="2097024">
                  <a:moveTo>
                    <a:pt x="0" y="0"/>
                  </a:moveTo>
                  <a:lnTo>
                    <a:pt x="13411200" y="0"/>
                  </a:lnTo>
                  <a:lnTo>
                    <a:pt x="13411200" y="2097024"/>
                  </a:lnTo>
                  <a:lnTo>
                    <a:pt x="0" y="2097024"/>
                  </a:lnTo>
                  <a:close/>
                </a:path>
              </a:pathLst>
            </a:custGeom>
            <a:blipFill>
              <a:blip r:embed="rId3">
                <a:alphaModFix amt="0"/>
              </a:blip>
              <a:stretch>
                <a:fillRect t="-75195" b="-74032"/>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36" name="TextBox 36">
              <a:extLst>
                <a:ext uri="{FF2B5EF4-FFF2-40B4-BE49-F238E27FC236}">
                  <a16:creationId xmlns:a16="http://schemas.microsoft.com/office/drawing/2014/main" id="{0EAD9C35-2F63-8E34-FF72-2B4804F484EF}"/>
                </a:ext>
              </a:extLst>
            </p:cNvPr>
            <p:cNvSpPr txBox="1"/>
            <p:nvPr/>
          </p:nvSpPr>
          <p:spPr>
            <a:xfrm>
              <a:off x="0" y="0"/>
              <a:ext cx="13411200" cy="2097024"/>
            </a:xfrm>
            <a:prstGeom prst="rect">
              <a:avLst/>
            </a:prstGeom>
          </p:spPr>
          <p:txBody>
            <a:bodyPr lIns="0" tIns="0" rIns="0" bIns="0" rtlCol="0" anchor="ctr"/>
            <a:lstStyle/>
            <a:p>
              <a:pPr>
                <a:lnSpc>
                  <a:spcPts val="2879"/>
                </a:lnSpc>
              </a:pPr>
              <a:r>
                <a:rPr lang="en-IN" sz="2800" b="1" dirty="0">
                  <a:latin typeface="Times New Roman" panose="02020603050405020304" pitchFamily="18" charset="0"/>
                  <a:cs typeface="Times New Roman" panose="02020603050405020304" pitchFamily="18" charset="0"/>
                </a:rPr>
                <a:t>High-Order Target Matrix:</a:t>
              </a:r>
              <a:r>
                <a:rPr lang="en-IN" sz="2800" dirty="0">
                  <a:latin typeface="Times New Roman" panose="02020603050405020304" pitchFamily="18" charset="0"/>
                  <a:cs typeface="Times New Roman" panose="02020603050405020304" pitchFamily="18" charset="0"/>
                </a:rPr>
                <a:t> Replaces the basic adjacency matrix A with individual k-hop transition power matrices</a:t>
              </a:r>
              <a:endParaRPr lang="en-US" sz="2800" spc="48" dirty="0">
                <a:latin typeface="Times New Roman" panose="02020603050405020304" pitchFamily="18" charset="0"/>
                <a:ea typeface="Playfair Display"/>
                <a:cs typeface="Times New Roman" panose="02020603050405020304" pitchFamily="18" charset="0"/>
                <a:sym typeface="Playfair Display"/>
              </a:endParaRPr>
            </a:p>
          </p:txBody>
        </p:sp>
      </p:grpSp>
      <p:grpSp>
        <p:nvGrpSpPr>
          <p:cNvPr id="62" name="Group 18">
            <a:extLst>
              <a:ext uri="{FF2B5EF4-FFF2-40B4-BE49-F238E27FC236}">
                <a16:creationId xmlns:a16="http://schemas.microsoft.com/office/drawing/2014/main" id="{EEFB5E60-ABCE-F850-67B3-9FD75AC7DC60}"/>
              </a:ext>
            </a:extLst>
          </p:cNvPr>
          <p:cNvGrpSpPr/>
          <p:nvPr/>
        </p:nvGrpSpPr>
        <p:grpSpPr>
          <a:xfrm>
            <a:off x="609600" y="5468505"/>
            <a:ext cx="10088880" cy="908304"/>
            <a:chOff x="0" y="0"/>
            <a:chExt cx="13451840" cy="1211072"/>
          </a:xfrm>
        </p:grpSpPr>
        <p:sp>
          <p:nvSpPr>
            <p:cNvPr id="63" name="Freeform 19">
              <a:extLst>
                <a:ext uri="{FF2B5EF4-FFF2-40B4-BE49-F238E27FC236}">
                  <a16:creationId xmlns:a16="http://schemas.microsoft.com/office/drawing/2014/main" id="{3AF6E40D-EF0D-26EB-8C91-5B09B40DC5FB}"/>
                </a:ext>
              </a:extLst>
            </p:cNvPr>
            <p:cNvSpPr/>
            <p:nvPr/>
          </p:nvSpPr>
          <p:spPr>
            <a:xfrm>
              <a:off x="0" y="0"/>
              <a:ext cx="13451841" cy="1211072"/>
            </a:xfrm>
            <a:custGeom>
              <a:avLst/>
              <a:gdLst/>
              <a:ahLst/>
              <a:cxnLst/>
              <a:rect l="l" t="t" r="r" b="b"/>
              <a:pathLst>
                <a:path w="13451841" h="1211072">
                  <a:moveTo>
                    <a:pt x="0" y="176657"/>
                  </a:moveTo>
                  <a:cubicBezTo>
                    <a:pt x="0" y="79121"/>
                    <a:pt x="79121" y="0"/>
                    <a:pt x="176657" y="0"/>
                  </a:cubicBezTo>
                  <a:lnTo>
                    <a:pt x="13275183" y="0"/>
                  </a:lnTo>
                  <a:cubicBezTo>
                    <a:pt x="13372720" y="0"/>
                    <a:pt x="13451841" y="79121"/>
                    <a:pt x="13451841" y="176657"/>
                  </a:cubicBezTo>
                  <a:lnTo>
                    <a:pt x="13451841" y="1034415"/>
                  </a:lnTo>
                  <a:cubicBezTo>
                    <a:pt x="13451841" y="1131951"/>
                    <a:pt x="13372720" y="1211072"/>
                    <a:pt x="13275183" y="1211072"/>
                  </a:cubicBezTo>
                  <a:lnTo>
                    <a:pt x="176657" y="1211072"/>
                  </a:lnTo>
                  <a:cubicBezTo>
                    <a:pt x="79121" y="1211072"/>
                    <a:pt x="0" y="1131951"/>
                    <a:pt x="0" y="1034415"/>
                  </a:cubicBezTo>
                  <a:close/>
                </a:path>
              </a:pathLst>
            </a:custGeom>
            <a:solidFill>
              <a:srgbClr val="423E3A"/>
            </a:solidFill>
            <a:ln w="30480" cap="sq">
              <a:solidFill>
                <a:srgbClr val="C8DDF5"/>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mc:AlternateContent xmlns:mc="http://schemas.openxmlformats.org/markup-compatibility/2006">
        <mc:Choice xmlns:a14="http://schemas.microsoft.com/office/drawing/2010/main" Requires="a14">
          <p:sp>
            <p:nvSpPr>
              <p:cNvPr id="64" name="TextBox 22">
                <a:extLst>
                  <a:ext uri="{FF2B5EF4-FFF2-40B4-BE49-F238E27FC236}">
                    <a16:creationId xmlns:a16="http://schemas.microsoft.com/office/drawing/2014/main" id="{3852CC6E-36D1-79C0-4519-3F0D1561EA15}"/>
                  </a:ext>
                </a:extLst>
              </p:cNvPr>
              <p:cNvSpPr txBox="1"/>
              <p:nvPr/>
            </p:nvSpPr>
            <p:spPr>
              <a:xfrm>
                <a:off x="731521" y="5464522"/>
                <a:ext cx="9619488" cy="877824"/>
              </a:xfrm>
              <a:prstGeom prst="rect">
                <a:avLst/>
              </a:prstGeom>
            </p:spPr>
            <p:txBody>
              <a:bodyPr lIns="0" tIns="0" rIns="0" bIns="0" rtlCol="0" anchor="ctr"/>
              <a:lstStyle/>
              <a:p>
                <a:pPr algn="l">
                  <a:lnSpc>
                    <a:spcPts val="3120"/>
                  </a:lnSpc>
                </a:pPr>
                <a14:m>
                  <m:oMathPara xmlns:m="http://schemas.openxmlformats.org/officeDocument/2006/math">
                    <m:oMathParaPr>
                      <m:jc m:val="left"/>
                    </m:oMathParaPr>
                    <m:oMath xmlns:m="http://schemas.openxmlformats.org/officeDocument/2006/math">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𝑆</m:t>
                      </m:r>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m:t>
                      </m:r>
                      <m:r>
                        <m:rPr>
                          <m:lit/>
                        </m:rP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m:t>
                      </m:r>
                      <m:sSup>
                        <m:sSupPr>
                          <m:ctrlP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ctrlPr>
                        </m:sSupPr>
                        <m:e>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𝐴</m:t>
                          </m:r>
                        </m:e>
                        <m:sup>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1</m:t>
                          </m:r>
                        </m:sup>
                      </m:sSup>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m:t>
                      </m:r>
                      <m:sSup>
                        <m:sSupPr>
                          <m:ctrlP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ctrlPr>
                        </m:sSupPr>
                        <m:e>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𝐴</m:t>
                          </m:r>
                        </m:e>
                        <m:sup>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2</m:t>
                          </m:r>
                        </m:sup>
                      </m:sSup>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m:t>
                      </m:r>
                      <m:sSup>
                        <m:sSupPr>
                          <m:ctrlP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ctrlPr>
                        </m:sSupPr>
                        <m:e>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𝐴</m:t>
                          </m:r>
                        </m:e>
                        <m:sup>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3</m:t>
                          </m:r>
                        </m:sup>
                      </m:sSup>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m:t>
                      </m:r>
                      <m:sSup>
                        <m:sSupPr>
                          <m:ctrlP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ctrlPr>
                        </m:sSupPr>
                        <m:e>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𝐴</m:t>
                          </m:r>
                        </m:e>
                        <m:sup>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𝑘</m:t>
                          </m:r>
                        </m:sup>
                      </m:sSup>
                      <m:r>
                        <m:rPr>
                          <m:lit/>
                        </m:rP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m:t>
                      </m:r>
                    </m:oMath>
                  </m:oMathPara>
                </a14:m>
                <a:endParaRPr lang="en-US" sz="2600" i="1" spc="130" dirty="0">
                  <a:solidFill>
                    <a:srgbClr val="FFFFFF"/>
                  </a:solidFill>
                  <a:latin typeface="Times New Roman" panose="02020603050405020304" pitchFamily="18" charset="0"/>
                  <a:ea typeface="Playfair Display Italics"/>
                  <a:cs typeface="Times New Roman" panose="02020603050405020304" pitchFamily="18" charset="0"/>
                  <a:sym typeface="Playfair Display Italics"/>
                </a:endParaRPr>
              </a:p>
            </p:txBody>
          </p:sp>
        </mc:Choice>
        <mc:Fallback>
          <p:sp>
            <p:nvSpPr>
              <p:cNvPr id="64" name="TextBox 22">
                <a:extLst>
                  <a:ext uri="{FF2B5EF4-FFF2-40B4-BE49-F238E27FC236}">
                    <a16:creationId xmlns:a16="http://schemas.microsoft.com/office/drawing/2014/main" id="{3852CC6E-36D1-79C0-4519-3F0D1561EA15}"/>
                  </a:ext>
                </a:extLst>
              </p:cNvPr>
              <p:cNvSpPr txBox="1">
                <a:spLocks noRot="1" noChangeAspect="1" noMove="1" noResize="1" noEditPoints="1" noAdjustHandles="1" noChangeArrowheads="1" noChangeShapeType="1" noTextEdit="1"/>
              </p:cNvSpPr>
              <p:nvPr/>
            </p:nvSpPr>
            <p:spPr>
              <a:xfrm>
                <a:off x="731521" y="5464522"/>
                <a:ext cx="9619488" cy="877824"/>
              </a:xfrm>
              <a:prstGeom prst="rect">
                <a:avLst/>
              </a:prstGeom>
              <a:blipFill>
                <a:blip r:embed="rId5"/>
                <a:stretch>
                  <a:fillRect/>
                </a:stretch>
              </a:blipFill>
            </p:spPr>
            <p:txBody>
              <a:bodyPr/>
              <a:lstStyle/>
              <a:p>
                <a:r>
                  <a:rPr lang="en-IN">
                    <a:noFill/>
                  </a:rPr>
                  <a:t> </a:t>
                </a:r>
              </a:p>
            </p:txBody>
          </p:sp>
        </mc:Fallback>
      </mc:AlternateContent>
      <p:grpSp>
        <p:nvGrpSpPr>
          <p:cNvPr id="65" name="Group 18">
            <a:extLst>
              <a:ext uri="{FF2B5EF4-FFF2-40B4-BE49-F238E27FC236}">
                <a16:creationId xmlns:a16="http://schemas.microsoft.com/office/drawing/2014/main" id="{F2B18527-0A92-0045-20B1-63BE8C30D6D5}"/>
              </a:ext>
            </a:extLst>
          </p:cNvPr>
          <p:cNvGrpSpPr/>
          <p:nvPr/>
        </p:nvGrpSpPr>
        <p:grpSpPr>
          <a:xfrm>
            <a:off x="550721" y="7515350"/>
            <a:ext cx="10088880" cy="1260775"/>
            <a:chOff x="0" y="0"/>
            <a:chExt cx="13451840" cy="1211072"/>
          </a:xfrm>
        </p:grpSpPr>
        <p:sp>
          <p:nvSpPr>
            <p:cNvPr id="66" name="Freeform 19">
              <a:extLst>
                <a:ext uri="{FF2B5EF4-FFF2-40B4-BE49-F238E27FC236}">
                  <a16:creationId xmlns:a16="http://schemas.microsoft.com/office/drawing/2014/main" id="{72B5C520-FE2A-C240-7CEE-9C257AB43641}"/>
                </a:ext>
              </a:extLst>
            </p:cNvPr>
            <p:cNvSpPr/>
            <p:nvPr/>
          </p:nvSpPr>
          <p:spPr>
            <a:xfrm>
              <a:off x="0" y="0"/>
              <a:ext cx="13451841" cy="1211072"/>
            </a:xfrm>
            <a:custGeom>
              <a:avLst/>
              <a:gdLst/>
              <a:ahLst/>
              <a:cxnLst/>
              <a:rect l="l" t="t" r="r" b="b"/>
              <a:pathLst>
                <a:path w="13451841" h="1211072">
                  <a:moveTo>
                    <a:pt x="0" y="176657"/>
                  </a:moveTo>
                  <a:cubicBezTo>
                    <a:pt x="0" y="79121"/>
                    <a:pt x="79121" y="0"/>
                    <a:pt x="176657" y="0"/>
                  </a:cubicBezTo>
                  <a:lnTo>
                    <a:pt x="13275183" y="0"/>
                  </a:lnTo>
                  <a:cubicBezTo>
                    <a:pt x="13372720" y="0"/>
                    <a:pt x="13451841" y="79121"/>
                    <a:pt x="13451841" y="176657"/>
                  </a:cubicBezTo>
                  <a:lnTo>
                    <a:pt x="13451841" y="1034415"/>
                  </a:lnTo>
                  <a:cubicBezTo>
                    <a:pt x="13451841" y="1131951"/>
                    <a:pt x="13372720" y="1211072"/>
                    <a:pt x="13275183" y="1211072"/>
                  </a:cubicBezTo>
                  <a:lnTo>
                    <a:pt x="176657" y="1211072"/>
                  </a:lnTo>
                  <a:cubicBezTo>
                    <a:pt x="79121" y="1211072"/>
                    <a:pt x="0" y="1131951"/>
                    <a:pt x="0" y="1034415"/>
                  </a:cubicBezTo>
                  <a:close/>
                </a:path>
              </a:pathLst>
            </a:custGeom>
            <a:solidFill>
              <a:srgbClr val="423E3A"/>
            </a:solidFill>
            <a:ln w="30480" cap="sq">
              <a:solidFill>
                <a:srgbClr val="C8DDF5"/>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mc:AlternateContent xmlns:mc="http://schemas.openxmlformats.org/markup-compatibility/2006">
        <mc:Choice xmlns:a14="http://schemas.microsoft.com/office/drawing/2010/main" Requires="a14">
          <p:sp>
            <p:nvSpPr>
              <p:cNvPr id="67" name="TextBox 22">
                <a:extLst>
                  <a:ext uri="{FF2B5EF4-FFF2-40B4-BE49-F238E27FC236}">
                    <a16:creationId xmlns:a16="http://schemas.microsoft.com/office/drawing/2014/main" id="{C9F36C7E-8D8E-F3C3-96A3-907AF9D57D40}"/>
                  </a:ext>
                </a:extLst>
              </p:cNvPr>
              <p:cNvSpPr txBox="1"/>
              <p:nvPr/>
            </p:nvSpPr>
            <p:spPr>
              <a:xfrm>
                <a:off x="806605" y="7862508"/>
                <a:ext cx="9619488" cy="877824"/>
              </a:xfrm>
              <a:prstGeom prst="rect">
                <a:avLst/>
              </a:prstGeom>
            </p:spPr>
            <p:txBody>
              <a:bodyPr lIns="0" tIns="0" rIns="0" bIns="0" rtlCol="0" anchor="ctr"/>
              <a:lstStyle/>
              <a:p>
                <a:pPr algn="l">
                  <a:lnSpc>
                    <a:spcPts val="3120"/>
                  </a:lnSpc>
                </a:pPr>
                <a14:m>
                  <m:oMathPara xmlns:m="http://schemas.openxmlformats.org/officeDocument/2006/math">
                    <m:oMathParaPr>
                      <m:jc m:val="left"/>
                    </m:oMathParaPr>
                    <m:oMath xmlns:m="http://schemas.openxmlformats.org/officeDocument/2006/math">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𝐿</m:t>
                      </m:r>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m:t>
                      </m:r>
                      <m:nary>
                        <m:naryPr>
                          <m:chr m:val="∑"/>
                          <m:supHide m:val="on"/>
                          <m:ctrlP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ctrlPr>
                        </m:naryPr>
                        <m:sub>
                          <m:d>
                            <m:dPr>
                              <m:ctrlP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ctrlPr>
                            </m:dPr>
                            <m:e>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𝑢</m:t>
                              </m:r>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m:t>
                              </m:r>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𝑣</m:t>
                              </m:r>
                            </m:e>
                          </m:d>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m:t>
                          </m:r>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𝒟</m:t>
                          </m:r>
                        </m:sub>
                        <m:sup/>
                        <m:e>
                          <m:sSubSup>
                            <m:sSubSupPr>
                              <m:ctrlP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ctrlPr>
                            </m:sSubSupPr>
                            <m:e>
                              <m:d>
                                <m:dPr>
                                  <m:begChr m:val="‖"/>
                                  <m:endChr m:val="‖"/>
                                  <m:ctrlP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ctrlPr>
                                </m:dPr>
                                <m:e>
                                  <m:sSubSup>
                                    <m:sSubSupPr>
                                      <m:ctrlP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ctrlPr>
                                    </m:sSubSupPr>
                                    <m:e>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𝑧</m:t>
                                      </m:r>
                                    </m:e>
                                    <m:sub>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𝑢</m:t>
                                      </m:r>
                                    </m:sub>
                                    <m:sup>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m:t>
                                      </m:r>
                                    </m:sup>
                                  </m:sSubSup>
                                  <m:sSub>
                                    <m:sSubPr>
                                      <m:ctrlP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ctrlPr>
                                    </m:sSubPr>
                                    <m:e>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𝑧</m:t>
                                      </m:r>
                                    </m:e>
                                    <m:sub>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𝑣</m:t>
                                      </m:r>
                                    </m:sub>
                                  </m:sSub>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m:t>
                                  </m:r>
                                  <m:sSup>
                                    <m:sSupPr>
                                      <m:ctrlP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ctrlPr>
                                    </m:sSupPr>
                                    <m:e>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𝐴</m:t>
                                      </m:r>
                                    </m:e>
                                    <m:sup>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𝑘</m:t>
                                      </m:r>
                                    </m:sup>
                                  </m:sSup>
                                  <m:d>
                                    <m:dPr>
                                      <m:begChr m:val="["/>
                                      <m:endChr m:val="]"/>
                                      <m:ctrlP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ctrlPr>
                                    </m:dPr>
                                    <m:e>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𝑢</m:t>
                                      </m:r>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m:t>
                                      </m:r>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𝑣</m:t>
                                      </m:r>
                                    </m:e>
                                  </m:d>
                                </m:e>
                              </m:d>
                            </m:e>
                            <m:sub>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2</m:t>
                              </m:r>
                            </m:sub>
                            <m:sup>
                              <m:r>
                                <a:rPr lang="en-IN" sz="2600" i="1" spc="130" smtClean="0">
                                  <a:solidFill>
                                    <a:srgbClr val="FFFFFF"/>
                                  </a:solidFill>
                                  <a:latin typeface="Cambria Math" panose="02040503050406030204" pitchFamily="18" charset="0"/>
                                  <a:cs typeface="Times New Roman" panose="02020603050405020304" pitchFamily="18" charset="0"/>
                                  <a:sym typeface="Playfair Display Italics"/>
                                </a:rPr>
                                <m:t>2</m:t>
                              </m:r>
                            </m:sup>
                          </m:sSubSup>
                        </m:e>
                      </m:nary>
                    </m:oMath>
                  </m:oMathPara>
                </a14:m>
                <a:endParaRPr lang="en-US" sz="2600" i="1" spc="130" dirty="0">
                  <a:solidFill>
                    <a:srgbClr val="FFFFFF"/>
                  </a:solidFill>
                  <a:latin typeface="Times New Roman" panose="02020603050405020304" pitchFamily="18" charset="0"/>
                  <a:ea typeface="Playfair Display Italics"/>
                  <a:cs typeface="Times New Roman" panose="02020603050405020304" pitchFamily="18" charset="0"/>
                  <a:sym typeface="Playfair Display Italics"/>
                </a:endParaRPr>
              </a:p>
            </p:txBody>
          </p:sp>
        </mc:Choice>
        <mc:Fallback>
          <p:sp>
            <p:nvSpPr>
              <p:cNvPr id="67" name="TextBox 22">
                <a:extLst>
                  <a:ext uri="{FF2B5EF4-FFF2-40B4-BE49-F238E27FC236}">
                    <a16:creationId xmlns:a16="http://schemas.microsoft.com/office/drawing/2014/main" id="{C9F36C7E-8D8E-F3C3-96A3-907AF9D57D40}"/>
                  </a:ext>
                </a:extLst>
              </p:cNvPr>
              <p:cNvSpPr txBox="1">
                <a:spLocks noRot="1" noChangeAspect="1" noMove="1" noResize="1" noEditPoints="1" noAdjustHandles="1" noChangeArrowheads="1" noChangeShapeType="1" noTextEdit="1"/>
              </p:cNvSpPr>
              <p:nvPr/>
            </p:nvSpPr>
            <p:spPr>
              <a:xfrm>
                <a:off x="806605" y="7862508"/>
                <a:ext cx="9619488" cy="877824"/>
              </a:xfrm>
              <a:prstGeom prst="rect">
                <a:avLst/>
              </a:prstGeom>
              <a:blipFill>
                <a:blip r:embed="rId6"/>
                <a:stretch>
                  <a:fillRect l="-3739" t="-188889" b="-212500"/>
                </a:stretch>
              </a:blipFill>
            </p:spPr>
            <p:txBody>
              <a:bodyPr/>
              <a:lstStyle/>
              <a:p>
                <a:r>
                  <a:rPr lang="en-IN">
                    <a:noFill/>
                  </a:rPr>
                  <a:t> </a:t>
                </a:r>
              </a:p>
            </p:txBody>
          </p:sp>
        </mc:Fallback>
      </mc:AlternateContent>
      <p:grpSp>
        <p:nvGrpSpPr>
          <p:cNvPr id="68" name="Group 37">
            <a:extLst>
              <a:ext uri="{FF2B5EF4-FFF2-40B4-BE49-F238E27FC236}">
                <a16:creationId xmlns:a16="http://schemas.microsoft.com/office/drawing/2014/main" id="{770F4B30-7136-00C3-DE8C-DA18E9BF94A2}"/>
              </a:ext>
            </a:extLst>
          </p:cNvPr>
          <p:cNvGrpSpPr/>
          <p:nvPr/>
        </p:nvGrpSpPr>
        <p:grpSpPr>
          <a:xfrm>
            <a:off x="12039600" y="1750029"/>
            <a:ext cx="5877563" cy="7889243"/>
            <a:chOff x="0" y="0"/>
            <a:chExt cx="7836751" cy="10518991"/>
          </a:xfrm>
        </p:grpSpPr>
        <p:sp>
          <p:nvSpPr>
            <p:cNvPr id="69" name="Freeform 38">
              <a:extLst>
                <a:ext uri="{FF2B5EF4-FFF2-40B4-BE49-F238E27FC236}">
                  <a16:creationId xmlns:a16="http://schemas.microsoft.com/office/drawing/2014/main" id="{3EF2766F-FD03-2EC1-FCED-E2A890681CF0}"/>
                </a:ext>
              </a:extLst>
            </p:cNvPr>
            <p:cNvSpPr/>
            <p:nvPr/>
          </p:nvSpPr>
          <p:spPr>
            <a:xfrm>
              <a:off x="0" y="0"/>
              <a:ext cx="7836662" cy="10518902"/>
            </a:xfrm>
            <a:custGeom>
              <a:avLst/>
              <a:gdLst/>
              <a:ahLst/>
              <a:cxnLst/>
              <a:rect l="l" t="t" r="r" b="b"/>
              <a:pathLst>
                <a:path w="7836662" h="10518902">
                  <a:moveTo>
                    <a:pt x="0" y="244856"/>
                  </a:moveTo>
                  <a:cubicBezTo>
                    <a:pt x="0" y="109601"/>
                    <a:pt x="109601" y="0"/>
                    <a:pt x="244856" y="0"/>
                  </a:cubicBezTo>
                  <a:lnTo>
                    <a:pt x="7591806" y="0"/>
                  </a:lnTo>
                  <a:cubicBezTo>
                    <a:pt x="7727061" y="0"/>
                    <a:pt x="7836662" y="109601"/>
                    <a:pt x="7836662" y="244856"/>
                  </a:cubicBezTo>
                  <a:lnTo>
                    <a:pt x="7836662" y="10274047"/>
                  </a:lnTo>
                  <a:cubicBezTo>
                    <a:pt x="7836662" y="10409301"/>
                    <a:pt x="7727061" y="10518902"/>
                    <a:pt x="7591806" y="10518902"/>
                  </a:cubicBezTo>
                  <a:lnTo>
                    <a:pt x="244856" y="10518902"/>
                  </a:lnTo>
                  <a:cubicBezTo>
                    <a:pt x="109601" y="10519029"/>
                    <a:pt x="0" y="10409301"/>
                    <a:pt x="0" y="10274046"/>
                  </a:cubicBezTo>
                  <a:close/>
                </a:path>
              </a:pathLst>
            </a:custGeom>
            <a:solidFill>
              <a:srgbClr val="FFFFFF"/>
            </a:solidFill>
            <a:ln w="25400" cap="sq">
              <a:solidFill>
                <a:srgbClr val="D8E8F8"/>
              </a:solidFill>
              <a:prstDash val="solid"/>
              <a:miter/>
            </a:ln>
          </p:spPr>
          <p:txBody>
            <a:bodyPr/>
            <a:lstStyle/>
            <a:p>
              <a:pPr algn="just"/>
              <a:r>
                <a:rPr lang="en-IN" sz="2800" b="1" dirty="0">
                  <a:latin typeface="Times New Roman" panose="02020603050405020304" pitchFamily="18" charset="0"/>
                  <a:cs typeface="Times New Roman" panose="02020603050405020304" pitchFamily="18" charset="0"/>
                </a:rPr>
                <a:t>Global Low-Rank Matrix Factorization</a:t>
              </a:r>
            </a:p>
            <a:p>
              <a:pPr algn="just"/>
              <a:r>
                <a:rPr lang="en-IN" sz="2800" b="1" dirty="0">
                  <a:latin typeface="Times New Roman" panose="02020603050405020304" pitchFamily="18" charset="0"/>
                  <a:cs typeface="Times New Roman" panose="02020603050405020304" pitchFamily="18" charset="0"/>
                </a:rPr>
                <a:t>The Micro-Community Intuition:</a:t>
              </a:r>
              <a:r>
                <a:rPr lang="en-IN" sz="2800" dirty="0">
                  <a:latin typeface="Times New Roman" panose="02020603050405020304" pitchFamily="18" charset="0"/>
                  <a:cs typeface="Times New Roman" panose="02020603050405020304" pitchFamily="18" charset="0"/>
                </a:rPr>
                <a:t> If two nodes are not directly connected (A^1 = 0) but share dozens of mutual neighbors, the matrix multiplication A^2[u,v] or A^3[u,v] will yield a high value. GraRep forces their vectors to be similar based on this deep neighborhood overlap.</a:t>
              </a:r>
            </a:p>
            <a:p>
              <a:pPr algn="just"/>
              <a:endParaRPr lang="en-IN" sz="2800" dirty="0">
                <a:latin typeface="Times New Roman" panose="02020603050405020304" pitchFamily="18" charset="0"/>
                <a:cs typeface="Times New Roman" panose="02020603050405020304" pitchFamily="18" charset="0"/>
              </a:endParaRPr>
            </a:p>
            <a:p>
              <a:pPr algn="just"/>
              <a:r>
                <a:rPr lang="en-IN" sz="2800" b="1" dirty="0">
                  <a:latin typeface="Times New Roman" panose="02020603050405020304" pitchFamily="18" charset="0"/>
                  <a:cs typeface="Times New Roman" panose="02020603050405020304" pitchFamily="18" charset="0"/>
                </a:rPr>
                <a:t>Deterministic Optimization:</a:t>
              </a:r>
              <a:r>
                <a:rPr lang="en-IN" sz="2800" dirty="0">
                  <a:latin typeface="Times New Roman" panose="02020603050405020304" pitchFamily="18" charset="0"/>
                  <a:cs typeface="Times New Roman" panose="02020603050405020304" pitchFamily="18" charset="0"/>
                </a:rPr>
                <a:t> Instead of running slow stochastic gradient steps, this massive formulation can be solved directly and analytically using </a:t>
              </a:r>
              <a:r>
                <a:rPr lang="en-IN" sz="2800" b="1" dirty="0">
                  <a:latin typeface="Times New Roman" panose="02020603050405020304" pitchFamily="18" charset="0"/>
                  <a:cs typeface="Times New Roman" panose="02020603050405020304" pitchFamily="18" charset="0"/>
                </a:rPr>
                <a:t>Singular Value Decomposition (SVD)</a:t>
              </a:r>
              <a:r>
                <a:rPr lang="en-IN" sz="2800" dirty="0">
                  <a:latin typeface="Times New Roman" panose="02020603050405020304" pitchFamily="18" charset="0"/>
                  <a:cs typeface="Times New Roman" panose="02020603050405020304" pitchFamily="18" charset="0"/>
                </a:rPr>
                <a:t>.</a:t>
              </a:r>
            </a:p>
          </p:txBody>
        </p:sp>
      </p:grpSp>
    </p:spTree>
    <p:extLst>
      <p:ext uri="{BB962C8B-B14F-4D97-AF65-F5344CB8AC3E}">
        <p14:creationId xmlns:p14="http://schemas.microsoft.com/office/powerpoint/2010/main" val="18620833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53439"/>
        </a:solidFill>
        <a:effectLst/>
      </p:bgPr>
    </p:bg>
    <p:spTree>
      <p:nvGrpSpPr>
        <p:cNvPr id="1" name=""/>
        <p:cNvGrpSpPr/>
        <p:nvPr/>
      </p:nvGrpSpPr>
      <p:grpSpPr>
        <a:xfrm>
          <a:off x="0" y="0"/>
          <a:ext cx="0" cy="0"/>
          <a:chOff x="0" y="0"/>
          <a:chExt cx="0" cy="0"/>
        </a:xfrm>
      </p:grpSpPr>
      <p:sp>
        <p:nvSpPr>
          <p:cNvPr id="7" name="Freeform 7"/>
          <p:cNvSpPr/>
          <p:nvPr/>
        </p:nvSpPr>
        <p:spPr>
          <a:xfrm>
            <a:off x="914400" y="822960"/>
            <a:ext cx="7315200" cy="640080"/>
          </a:xfrm>
          <a:custGeom>
            <a:avLst/>
            <a:gdLst/>
            <a:ahLst/>
            <a:cxnLst/>
            <a:rect l="l" t="t" r="r" b="b"/>
            <a:pathLst>
              <a:path w="9753600" h="853440">
                <a:moveTo>
                  <a:pt x="0" y="0"/>
                </a:moveTo>
                <a:lnTo>
                  <a:pt x="9753600" y="0"/>
                </a:lnTo>
                <a:lnTo>
                  <a:pt x="9753600" y="853440"/>
                </a:lnTo>
                <a:lnTo>
                  <a:pt x="0" y="853440"/>
                </a:lnTo>
                <a:close/>
              </a:path>
            </a:pathLst>
          </a:custGeom>
          <a:blipFill>
            <a:blip r:embed="rId3">
              <a:alphaModFix amt="0"/>
            </a:blip>
            <a:stretch>
              <a:fillRect t="-172686" b="-172686"/>
            </a:stretch>
          </a:blipFill>
        </p:spPr>
        <p:txBody>
          <a:bodyPr/>
          <a:lstStyle/>
          <a:p>
            <a:endParaRPr lang="en-IN"/>
          </a:p>
        </p:txBody>
      </p:sp>
      <p:grpSp>
        <p:nvGrpSpPr>
          <p:cNvPr id="9" name="Group 9"/>
          <p:cNvGrpSpPr/>
          <p:nvPr/>
        </p:nvGrpSpPr>
        <p:grpSpPr>
          <a:xfrm>
            <a:off x="914400" y="1645920"/>
            <a:ext cx="16093440" cy="2743200"/>
            <a:chOff x="0" y="0"/>
            <a:chExt cx="21457920" cy="3657600"/>
          </a:xfrm>
        </p:grpSpPr>
        <p:sp>
          <p:nvSpPr>
            <p:cNvPr id="10" name="Freeform 10"/>
            <p:cNvSpPr/>
            <p:nvPr/>
          </p:nvSpPr>
          <p:spPr>
            <a:xfrm>
              <a:off x="0" y="0"/>
              <a:ext cx="21457920" cy="3657600"/>
            </a:xfrm>
            <a:custGeom>
              <a:avLst/>
              <a:gdLst/>
              <a:ahLst/>
              <a:cxnLst/>
              <a:rect l="l" t="t" r="r" b="b"/>
              <a:pathLst>
                <a:path w="21457920" h="3657600">
                  <a:moveTo>
                    <a:pt x="0" y="0"/>
                  </a:moveTo>
                  <a:lnTo>
                    <a:pt x="21457920" y="0"/>
                  </a:lnTo>
                  <a:lnTo>
                    <a:pt x="21457920" y="3657600"/>
                  </a:lnTo>
                  <a:lnTo>
                    <a:pt x="0" y="3657600"/>
                  </a:lnTo>
                  <a:close/>
                </a:path>
              </a:pathLst>
            </a:custGeom>
            <a:blipFill>
              <a:blip r:embed="rId3">
                <a:alphaModFix amt="0"/>
              </a:blip>
              <a:stretch>
                <a:fillRect t="-64312" b="-64312"/>
              </a:stretch>
            </a:blipFill>
          </p:spPr>
          <p:txBody>
            <a:bodyPr/>
            <a:lstStyle/>
            <a:p>
              <a:endParaRPr lang="en-IN"/>
            </a:p>
          </p:txBody>
        </p:sp>
        <p:sp>
          <p:nvSpPr>
            <p:cNvPr id="11" name="TextBox 11"/>
            <p:cNvSpPr txBox="1"/>
            <p:nvPr/>
          </p:nvSpPr>
          <p:spPr>
            <a:xfrm>
              <a:off x="0" y="0"/>
              <a:ext cx="21457920" cy="3657600"/>
            </a:xfrm>
            <a:prstGeom prst="rect">
              <a:avLst/>
            </a:prstGeom>
          </p:spPr>
          <p:txBody>
            <a:bodyPr lIns="0" tIns="0" rIns="0" bIns="0" rtlCol="0" anchor="ctr"/>
            <a:lstStyle/>
            <a:p>
              <a:pPr algn="l">
                <a:lnSpc>
                  <a:spcPts val="9120"/>
                </a:lnSpc>
              </a:pPr>
              <a:r>
                <a:rPr lang="en-US" sz="7600" spc="1064">
                  <a:solidFill>
                    <a:srgbClr val="FFFFFF"/>
                  </a:solidFill>
                  <a:latin typeface="Hammersmith One"/>
                  <a:ea typeface="Hammersmith One"/>
                  <a:cs typeface="Hammersmith One"/>
                  <a:sym typeface="Hammersmith One"/>
                </a:rPr>
                <a:t>RANDOM WALK EMBEDDINGS</a:t>
              </a:r>
            </a:p>
          </p:txBody>
        </p:sp>
      </p:grpSp>
      <p:grpSp>
        <p:nvGrpSpPr>
          <p:cNvPr id="12" name="Group 12"/>
          <p:cNvGrpSpPr/>
          <p:nvPr/>
        </p:nvGrpSpPr>
        <p:grpSpPr>
          <a:xfrm>
            <a:off x="914400" y="4663440"/>
            <a:ext cx="15544800" cy="1463040"/>
            <a:chOff x="0" y="0"/>
            <a:chExt cx="20726400" cy="1950720"/>
          </a:xfrm>
        </p:grpSpPr>
        <p:sp>
          <p:nvSpPr>
            <p:cNvPr id="13" name="Freeform 13"/>
            <p:cNvSpPr/>
            <p:nvPr/>
          </p:nvSpPr>
          <p:spPr>
            <a:xfrm>
              <a:off x="0" y="0"/>
              <a:ext cx="20726400" cy="1950720"/>
            </a:xfrm>
            <a:custGeom>
              <a:avLst/>
              <a:gdLst/>
              <a:ahLst/>
              <a:cxnLst/>
              <a:rect l="l" t="t" r="r" b="b"/>
              <a:pathLst>
                <a:path w="20726400" h="1950720">
                  <a:moveTo>
                    <a:pt x="0" y="0"/>
                  </a:moveTo>
                  <a:lnTo>
                    <a:pt x="20726400" y="0"/>
                  </a:lnTo>
                  <a:lnTo>
                    <a:pt x="20726400" y="1950720"/>
                  </a:lnTo>
                  <a:lnTo>
                    <a:pt x="0" y="1950720"/>
                  </a:lnTo>
                  <a:close/>
                </a:path>
              </a:pathLst>
            </a:custGeom>
            <a:blipFill>
              <a:blip r:embed="rId3">
                <a:alphaModFix amt="0"/>
              </a:blip>
              <a:stretch>
                <a:fillRect t="-157028" b="-157028"/>
              </a:stretch>
            </a:blipFill>
          </p:spPr>
          <p:txBody>
            <a:bodyPr/>
            <a:lstStyle/>
            <a:p>
              <a:endParaRPr lang="en-IN"/>
            </a:p>
          </p:txBody>
        </p:sp>
        <p:sp>
          <p:nvSpPr>
            <p:cNvPr id="14" name="TextBox 14"/>
            <p:cNvSpPr txBox="1"/>
            <p:nvPr/>
          </p:nvSpPr>
          <p:spPr>
            <a:xfrm>
              <a:off x="0" y="0"/>
              <a:ext cx="20726400" cy="1950720"/>
            </a:xfrm>
            <a:prstGeom prst="rect">
              <a:avLst/>
            </a:prstGeom>
          </p:spPr>
          <p:txBody>
            <a:bodyPr lIns="0" tIns="0" rIns="0" bIns="0" rtlCol="0" anchor="ctr"/>
            <a:lstStyle/>
            <a:p>
              <a:pPr algn="l">
                <a:lnSpc>
                  <a:spcPts val="3840"/>
                </a:lnSpc>
              </a:pPr>
              <a:r>
                <a:rPr lang="en-US" sz="3200" i="1" spc="160">
                  <a:solidFill>
                    <a:srgbClr val="FFFFFF"/>
                  </a:solidFill>
                  <a:latin typeface="Playfair Display Italics"/>
                  <a:ea typeface="Playfair Display Italics"/>
                  <a:cs typeface="Playfair Display Italics"/>
                  <a:sym typeface="Playfair Display Italics"/>
                </a:rPr>
                <a:t>DeepWalk • node2vec • Stochastic Similarity</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0" y="0"/>
              <a:ext cx="24417910" cy="1789557"/>
            </a:xfrm>
            <a:custGeom>
              <a:avLst/>
              <a:gdLst/>
              <a:ahLst/>
              <a:cxnLst/>
              <a:rect l="l" t="t" r="r" b="b"/>
              <a:pathLst>
                <a:path w="24417910" h="1789557">
                  <a:moveTo>
                    <a:pt x="0" y="0"/>
                  </a:moveTo>
                  <a:lnTo>
                    <a:pt x="24417910" y="0"/>
                  </a:lnTo>
                  <a:lnTo>
                    <a:pt x="24417910" y="1789557"/>
                  </a:lnTo>
                  <a:lnTo>
                    <a:pt x="0" y="1789557"/>
                  </a:lnTo>
                  <a:close/>
                </a:path>
              </a:pathLst>
            </a:custGeom>
            <a:solidFill>
              <a:srgbClr val="253439"/>
            </a:solidFill>
            <a:ln w="25400" cap="sq">
              <a:solidFill>
                <a:srgbClr val="1A3461"/>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4" name="Group 4"/>
          <p:cNvGrpSpPr/>
          <p:nvPr/>
        </p:nvGrpSpPr>
        <p:grpSpPr>
          <a:xfrm>
            <a:off x="731520" y="0"/>
            <a:ext cx="16824960" cy="1316736"/>
            <a:chOff x="0" y="0"/>
            <a:chExt cx="22433280" cy="1755648"/>
          </a:xfrm>
        </p:grpSpPr>
        <p:sp>
          <p:nvSpPr>
            <p:cNvPr id="5" name="Freeform 5"/>
            <p:cNvSpPr/>
            <p:nvPr/>
          </p:nvSpPr>
          <p:spPr>
            <a:xfrm>
              <a:off x="0" y="0"/>
              <a:ext cx="22433280" cy="1755648"/>
            </a:xfrm>
            <a:custGeom>
              <a:avLst/>
              <a:gdLst/>
              <a:ahLst/>
              <a:cxnLst/>
              <a:rect l="l" t="t" r="r" b="b"/>
              <a:pathLst>
                <a:path w="22433280" h="1755648">
                  <a:moveTo>
                    <a:pt x="0" y="0"/>
                  </a:moveTo>
                  <a:lnTo>
                    <a:pt x="22433280" y="0"/>
                  </a:lnTo>
                  <a:lnTo>
                    <a:pt x="22433280" y="1755648"/>
                  </a:lnTo>
                  <a:lnTo>
                    <a:pt x="0" y="1755648"/>
                  </a:lnTo>
                  <a:close/>
                </a:path>
              </a:pathLst>
            </a:custGeom>
            <a:blipFill>
              <a:blip r:embed="rId3">
                <a:alphaModFix amt="0"/>
              </a:blip>
              <a:stretch>
                <a:fillRect t="-198975" b="-198975"/>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6" name="TextBox 6"/>
            <p:cNvSpPr txBox="1"/>
            <p:nvPr/>
          </p:nvSpPr>
          <p:spPr>
            <a:xfrm>
              <a:off x="0" y="-9525"/>
              <a:ext cx="22433280" cy="1765173"/>
            </a:xfrm>
            <a:prstGeom prst="rect">
              <a:avLst/>
            </a:prstGeom>
          </p:spPr>
          <p:txBody>
            <a:bodyPr lIns="0" tIns="0" rIns="0" bIns="0" rtlCol="0" anchor="ctr"/>
            <a:lstStyle/>
            <a:p>
              <a:pPr algn="l">
                <a:lnSpc>
                  <a:spcPts val="4800"/>
                </a:lnSpc>
              </a:pPr>
              <a:r>
                <a:rPr lang="en-US" sz="4000" spc="560" dirty="0">
                  <a:solidFill>
                    <a:srgbClr val="FFFFFF"/>
                  </a:solidFill>
                  <a:latin typeface="Times New Roman" panose="02020603050405020304" pitchFamily="18" charset="0"/>
                  <a:ea typeface="Hammersmith One"/>
                  <a:cs typeface="Times New Roman" panose="02020603050405020304" pitchFamily="18" charset="0"/>
                  <a:sym typeface="Hammersmith One"/>
                </a:rPr>
                <a:t>What is a Random Walk?</a:t>
              </a:r>
            </a:p>
          </p:txBody>
        </p:sp>
      </p:grpSp>
      <p:sp>
        <p:nvSpPr>
          <p:cNvPr id="8" name="Freeform 8"/>
          <p:cNvSpPr/>
          <p:nvPr/>
        </p:nvSpPr>
        <p:spPr>
          <a:xfrm>
            <a:off x="731520" y="73152"/>
            <a:ext cx="16459200" cy="402336"/>
          </a:xfrm>
          <a:custGeom>
            <a:avLst/>
            <a:gdLst/>
            <a:ahLst/>
            <a:cxnLst/>
            <a:rect l="l" t="t" r="r" b="b"/>
            <a:pathLst>
              <a:path w="21945600" h="536448">
                <a:moveTo>
                  <a:pt x="0" y="0"/>
                </a:moveTo>
                <a:lnTo>
                  <a:pt x="21945600" y="0"/>
                </a:lnTo>
                <a:lnTo>
                  <a:pt x="21945600" y="536448"/>
                </a:lnTo>
                <a:lnTo>
                  <a:pt x="0" y="536448"/>
                </a:lnTo>
                <a:close/>
              </a:path>
            </a:pathLst>
          </a:custGeom>
          <a:blipFill>
            <a:blip r:embed="rId3">
              <a:alphaModFix amt="0"/>
            </a:blip>
            <a:stretch>
              <a:fillRect t="-747115" b="-747115"/>
            </a:stretch>
          </a:blipFill>
        </p:spPr>
        <p:txBody>
          <a:bodyPr/>
          <a:lstStyle/>
          <a:p>
            <a:endParaRPr lang="en-IN">
              <a:latin typeface="Times New Roman" panose="02020603050405020304" pitchFamily="18" charset="0"/>
              <a:cs typeface="Times New Roman" panose="02020603050405020304" pitchFamily="18" charset="0"/>
            </a:endParaRPr>
          </a:p>
        </p:txBody>
      </p:sp>
      <p:grpSp>
        <p:nvGrpSpPr>
          <p:cNvPr id="10" name="Group 10"/>
          <p:cNvGrpSpPr/>
          <p:nvPr/>
        </p:nvGrpSpPr>
        <p:grpSpPr>
          <a:xfrm>
            <a:off x="731520" y="1499616"/>
            <a:ext cx="16824960" cy="768096"/>
            <a:chOff x="0" y="0"/>
            <a:chExt cx="22433280" cy="1024128"/>
          </a:xfrm>
        </p:grpSpPr>
        <p:sp>
          <p:nvSpPr>
            <p:cNvPr id="11" name="Freeform 11"/>
            <p:cNvSpPr/>
            <p:nvPr/>
          </p:nvSpPr>
          <p:spPr>
            <a:xfrm>
              <a:off x="0" y="0"/>
              <a:ext cx="22433280" cy="1024128"/>
            </a:xfrm>
            <a:custGeom>
              <a:avLst/>
              <a:gdLst/>
              <a:ahLst/>
              <a:cxnLst/>
              <a:rect l="l" t="t" r="r" b="b"/>
              <a:pathLst>
                <a:path w="22433280" h="1024128">
                  <a:moveTo>
                    <a:pt x="0" y="0"/>
                  </a:moveTo>
                  <a:lnTo>
                    <a:pt x="22433280" y="0"/>
                  </a:lnTo>
                  <a:lnTo>
                    <a:pt x="22433280" y="1024128"/>
                  </a:lnTo>
                  <a:lnTo>
                    <a:pt x="0" y="1024128"/>
                  </a:lnTo>
                  <a:close/>
                </a:path>
              </a:pathLst>
            </a:custGeom>
            <a:blipFill>
              <a:blip r:embed="rId3">
                <a:alphaModFix amt="0"/>
              </a:blip>
              <a:stretch>
                <a:fillRect t="-376815" b="-376815"/>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12" name="TextBox 12"/>
            <p:cNvSpPr txBox="1"/>
            <p:nvPr/>
          </p:nvSpPr>
          <p:spPr>
            <a:xfrm>
              <a:off x="0" y="9525"/>
              <a:ext cx="22433280" cy="1014603"/>
            </a:xfrm>
            <a:prstGeom prst="rect">
              <a:avLst/>
            </a:prstGeom>
          </p:spPr>
          <p:txBody>
            <a:bodyPr lIns="0" tIns="0" rIns="0" bIns="0" rtlCol="0" anchor="ctr"/>
            <a:lstStyle/>
            <a:p>
              <a:pPr algn="l">
                <a:lnSpc>
                  <a:spcPts val="3359"/>
                </a:lnSpc>
              </a:pPr>
              <a:r>
                <a:rPr lang="en-US" sz="2799" spc="55" dirty="0">
                  <a:latin typeface="Times New Roman" panose="02020603050405020304" pitchFamily="18" charset="0"/>
                  <a:ea typeface="Playfair Display"/>
                  <a:cs typeface="Times New Roman" panose="02020603050405020304" pitchFamily="18" charset="0"/>
                  <a:sym typeface="Playfair Display"/>
                </a:rPr>
                <a:t>A random walk on a graph = a sequence of nodes visited by randomly following edges.</a:t>
              </a:r>
            </a:p>
          </p:txBody>
        </p:sp>
      </p:grpSp>
      <p:grpSp>
        <p:nvGrpSpPr>
          <p:cNvPr id="13" name="Group 13"/>
          <p:cNvGrpSpPr/>
          <p:nvPr/>
        </p:nvGrpSpPr>
        <p:grpSpPr>
          <a:xfrm>
            <a:off x="712470" y="2632710"/>
            <a:ext cx="1318260" cy="1318260"/>
            <a:chOff x="0" y="0"/>
            <a:chExt cx="1757680" cy="1757680"/>
          </a:xfrm>
        </p:grpSpPr>
        <p:sp>
          <p:nvSpPr>
            <p:cNvPr id="14" name="Freeform 14"/>
            <p:cNvSpPr/>
            <p:nvPr/>
          </p:nvSpPr>
          <p:spPr>
            <a:xfrm>
              <a:off x="0" y="0"/>
              <a:ext cx="1757680" cy="1757680"/>
            </a:xfrm>
            <a:custGeom>
              <a:avLst/>
              <a:gdLst/>
              <a:ahLst/>
              <a:cxnLst/>
              <a:rect l="l" t="t" r="r" b="b"/>
              <a:pathLst>
                <a:path w="1757680" h="1757680">
                  <a:moveTo>
                    <a:pt x="0" y="878840"/>
                  </a:moveTo>
                  <a:cubicBezTo>
                    <a:pt x="0" y="393446"/>
                    <a:pt x="393446" y="0"/>
                    <a:pt x="878840" y="0"/>
                  </a:cubicBezTo>
                  <a:cubicBezTo>
                    <a:pt x="1364234" y="0"/>
                    <a:pt x="1757680" y="393446"/>
                    <a:pt x="1757680" y="878840"/>
                  </a:cubicBezTo>
                  <a:cubicBezTo>
                    <a:pt x="1757680" y="1364234"/>
                    <a:pt x="1364234" y="1757680"/>
                    <a:pt x="878840" y="1757680"/>
                  </a:cubicBezTo>
                  <a:cubicBezTo>
                    <a:pt x="393446" y="1757680"/>
                    <a:pt x="0" y="1364234"/>
                    <a:pt x="0" y="878840"/>
                  </a:cubicBezTo>
                  <a:close/>
                </a:path>
              </a:pathLst>
            </a:custGeom>
            <a:solidFill>
              <a:srgbClr val="253439"/>
            </a:solidFill>
            <a:ln w="38100" cap="sq">
              <a:solidFill>
                <a:srgbClr val="FFFFFF"/>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15" name="Group 15"/>
          <p:cNvGrpSpPr/>
          <p:nvPr/>
        </p:nvGrpSpPr>
        <p:grpSpPr>
          <a:xfrm>
            <a:off x="731520" y="2651760"/>
            <a:ext cx="1280160" cy="1280160"/>
            <a:chOff x="0" y="0"/>
            <a:chExt cx="1706880" cy="1706880"/>
          </a:xfrm>
        </p:grpSpPr>
        <p:sp>
          <p:nvSpPr>
            <p:cNvPr id="16" name="Freeform 16"/>
            <p:cNvSpPr/>
            <p:nvPr/>
          </p:nvSpPr>
          <p:spPr>
            <a:xfrm>
              <a:off x="0" y="0"/>
              <a:ext cx="1706880" cy="1706880"/>
            </a:xfrm>
            <a:custGeom>
              <a:avLst/>
              <a:gdLst/>
              <a:ahLst/>
              <a:cxnLst/>
              <a:rect l="l" t="t" r="r" b="b"/>
              <a:pathLst>
                <a:path w="1706880" h="1706880">
                  <a:moveTo>
                    <a:pt x="0" y="0"/>
                  </a:moveTo>
                  <a:lnTo>
                    <a:pt x="1706880" y="0"/>
                  </a:lnTo>
                  <a:lnTo>
                    <a:pt x="1706880" y="1706880"/>
                  </a:lnTo>
                  <a:lnTo>
                    <a:pt x="0" y="1706880"/>
                  </a:lnTo>
                  <a:close/>
                </a:path>
              </a:pathLst>
            </a:custGeom>
            <a:blipFill>
              <a:blip r:embed="rId3">
                <a:alphaModFix amt="0"/>
              </a:blip>
              <a:stretch>
                <a:fillRect l="-78303" r="-78303"/>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17" name="TextBox 17"/>
            <p:cNvSpPr txBox="1"/>
            <p:nvPr/>
          </p:nvSpPr>
          <p:spPr>
            <a:xfrm>
              <a:off x="0" y="0"/>
              <a:ext cx="1706880" cy="1706880"/>
            </a:xfrm>
            <a:prstGeom prst="rect">
              <a:avLst/>
            </a:prstGeom>
          </p:spPr>
          <p:txBody>
            <a:bodyPr lIns="0" tIns="0" rIns="0" bIns="0" rtlCol="0" anchor="ctr"/>
            <a:lstStyle/>
            <a:p>
              <a:pPr algn="ctr">
                <a:lnSpc>
                  <a:spcPts val="4320"/>
                </a:lnSpc>
              </a:pPr>
              <a:r>
                <a:rPr lang="en-US" sz="3600" i="1" spc="179">
                  <a:solidFill>
                    <a:srgbClr val="FFFFFF"/>
                  </a:solidFill>
                  <a:latin typeface="Times New Roman" panose="02020603050405020304" pitchFamily="18" charset="0"/>
                  <a:ea typeface="Playfair Display Italics"/>
                  <a:cs typeface="Times New Roman" panose="02020603050405020304" pitchFamily="18" charset="0"/>
                  <a:sym typeface="Playfair Display Italics"/>
                </a:rPr>
                <a:t>1</a:t>
              </a:r>
            </a:p>
          </p:txBody>
        </p:sp>
      </p:grpSp>
      <p:grpSp>
        <p:nvGrpSpPr>
          <p:cNvPr id="18" name="Group 18"/>
          <p:cNvGrpSpPr/>
          <p:nvPr/>
        </p:nvGrpSpPr>
        <p:grpSpPr>
          <a:xfrm>
            <a:off x="1986277" y="3266437"/>
            <a:ext cx="1148077" cy="50797"/>
            <a:chOff x="0" y="0"/>
            <a:chExt cx="1530769" cy="67729"/>
          </a:xfrm>
        </p:grpSpPr>
        <p:sp>
          <p:nvSpPr>
            <p:cNvPr id="19" name="Freeform 19"/>
            <p:cNvSpPr/>
            <p:nvPr/>
          </p:nvSpPr>
          <p:spPr>
            <a:xfrm>
              <a:off x="0" y="0"/>
              <a:ext cx="1530731" cy="67691"/>
            </a:xfrm>
            <a:custGeom>
              <a:avLst/>
              <a:gdLst/>
              <a:ahLst/>
              <a:cxnLst/>
              <a:rect l="l" t="t" r="r" b="b"/>
              <a:pathLst>
                <a:path w="1530731" h="67691">
                  <a:moveTo>
                    <a:pt x="0" y="0"/>
                  </a:moveTo>
                  <a:lnTo>
                    <a:pt x="1530731" y="67691"/>
                  </a:lnTo>
                </a:path>
              </a:pathLst>
            </a:custGeom>
            <a:blipFill>
              <a:blip r:embed="rId3">
                <a:alphaModFix amt="0"/>
              </a:blip>
              <a:stretch>
                <a:fillRect t="-390607" r="-2" b="-390664"/>
              </a:stretch>
            </a:blipFill>
            <a:ln w="50800" cap="sq">
              <a:solidFill>
                <a:srgbClr val="4A6380"/>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20" name="Group 20"/>
          <p:cNvGrpSpPr/>
          <p:nvPr/>
        </p:nvGrpSpPr>
        <p:grpSpPr>
          <a:xfrm>
            <a:off x="3089910" y="2632710"/>
            <a:ext cx="1318260" cy="1318260"/>
            <a:chOff x="0" y="0"/>
            <a:chExt cx="1757680" cy="1757680"/>
          </a:xfrm>
        </p:grpSpPr>
        <p:sp>
          <p:nvSpPr>
            <p:cNvPr id="21" name="Freeform 21"/>
            <p:cNvSpPr/>
            <p:nvPr/>
          </p:nvSpPr>
          <p:spPr>
            <a:xfrm>
              <a:off x="0" y="0"/>
              <a:ext cx="1757680" cy="1757680"/>
            </a:xfrm>
            <a:custGeom>
              <a:avLst/>
              <a:gdLst/>
              <a:ahLst/>
              <a:cxnLst/>
              <a:rect l="l" t="t" r="r" b="b"/>
              <a:pathLst>
                <a:path w="1757680" h="1757680">
                  <a:moveTo>
                    <a:pt x="0" y="878840"/>
                  </a:moveTo>
                  <a:cubicBezTo>
                    <a:pt x="0" y="393446"/>
                    <a:pt x="393446" y="0"/>
                    <a:pt x="878840" y="0"/>
                  </a:cubicBezTo>
                  <a:cubicBezTo>
                    <a:pt x="1364234" y="0"/>
                    <a:pt x="1757680" y="393446"/>
                    <a:pt x="1757680" y="878840"/>
                  </a:cubicBezTo>
                  <a:cubicBezTo>
                    <a:pt x="1757680" y="1364234"/>
                    <a:pt x="1364234" y="1757680"/>
                    <a:pt x="878840" y="1757680"/>
                  </a:cubicBezTo>
                  <a:cubicBezTo>
                    <a:pt x="393446" y="1757680"/>
                    <a:pt x="0" y="1364234"/>
                    <a:pt x="0" y="878840"/>
                  </a:cubicBezTo>
                  <a:close/>
                </a:path>
              </a:pathLst>
            </a:custGeom>
            <a:solidFill>
              <a:srgbClr val="253439"/>
            </a:solidFill>
            <a:ln w="38100" cap="sq">
              <a:solidFill>
                <a:srgbClr val="FFFFFF"/>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22" name="Group 22"/>
          <p:cNvGrpSpPr/>
          <p:nvPr/>
        </p:nvGrpSpPr>
        <p:grpSpPr>
          <a:xfrm>
            <a:off x="3108960" y="2651760"/>
            <a:ext cx="1280160" cy="1280160"/>
            <a:chOff x="0" y="0"/>
            <a:chExt cx="1706880" cy="1706880"/>
          </a:xfrm>
        </p:grpSpPr>
        <p:sp>
          <p:nvSpPr>
            <p:cNvPr id="23" name="Freeform 23"/>
            <p:cNvSpPr/>
            <p:nvPr/>
          </p:nvSpPr>
          <p:spPr>
            <a:xfrm>
              <a:off x="0" y="0"/>
              <a:ext cx="1706880" cy="1706880"/>
            </a:xfrm>
            <a:custGeom>
              <a:avLst/>
              <a:gdLst/>
              <a:ahLst/>
              <a:cxnLst/>
              <a:rect l="l" t="t" r="r" b="b"/>
              <a:pathLst>
                <a:path w="1706880" h="1706880">
                  <a:moveTo>
                    <a:pt x="0" y="0"/>
                  </a:moveTo>
                  <a:lnTo>
                    <a:pt x="1706880" y="0"/>
                  </a:lnTo>
                  <a:lnTo>
                    <a:pt x="1706880" y="1706880"/>
                  </a:lnTo>
                  <a:lnTo>
                    <a:pt x="0" y="1706880"/>
                  </a:lnTo>
                  <a:close/>
                </a:path>
              </a:pathLst>
            </a:custGeom>
            <a:blipFill>
              <a:blip r:embed="rId3">
                <a:alphaModFix amt="0"/>
              </a:blip>
              <a:stretch>
                <a:fillRect l="-78303" r="-78303"/>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24" name="TextBox 24"/>
            <p:cNvSpPr txBox="1"/>
            <p:nvPr/>
          </p:nvSpPr>
          <p:spPr>
            <a:xfrm>
              <a:off x="0" y="0"/>
              <a:ext cx="1706880" cy="1706880"/>
            </a:xfrm>
            <a:prstGeom prst="rect">
              <a:avLst/>
            </a:prstGeom>
          </p:spPr>
          <p:txBody>
            <a:bodyPr lIns="0" tIns="0" rIns="0" bIns="0" rtlCol="0" anchor="ctr"/>
            <a:lstStyle/>
            <a:p>
              <a:pPr algn="ctr">
                <a:lnSpc>
                  <a:spcPts val="4320"/>
                </a:lnSpc>
              </a:pPr>
              <a:r>
                <a:rPr lang="en-US" sz="3600" i="1" spc="179">
                  <a:solidFill>
                    <a:srgbClr val="FFFFFF"/>
                  </a:solidFill>
                  <a:latin typeface="Times New Roman" panose="02020603050405020304" pitchFamily="18" charset="0"/>
                  <a:ea typeface="Playfair Display Italics"/>
                  <a:cs typeface="Times New Roman" panose="02020603050405020304" pitchFamily="18" charset="0"/>
                  <a:sym typeface="Playfair Display Italics"/>
                </a:rPr>
                <a:t>3</a:t>
              </a:r>
            </a:p>
          </p:txBody>
        </p:sp>
      </p:grpSp>
      <p:grpSp>
        <p:nvGrpSpPr>
          <p:cNvPr id="25" name="Group 25"/>
          <p:cNvGrpSpPr/>
          <p:nvPr/>
        </p:nvGrpSpPr>
        <p:grpSpPr>
          <a:xfrm>
            <a:off x="4363717" y="3266437"/>
            <a:ext cx="1148077" cy="50797"/>
            <a:chOff x="0" y="0"/>
            <a:chExt cx="1530769" cy="67729"/>
          </a:xfrm>
        </p:grpSpPr>
        <p:sp>
          <p:nvSpPr>
            <p:cNvPr id="26" name="Freeform 26"/>
            <p:cNvSpPr/>
            <p:nvPr/>
          </p:nvSpPr>
          <p:spPr>
            <a:xfrm>
              <a:off x="0" y="0"/>
              <a:ext cx="1530731" cy="67691"/>
            </a:xfrm>
            <a:custGeom>
              <a:avLst/>
              <a:gdLst/>
              <a:ahLst/>
              <a:cxnLst/>
              <a:rect l="l" t="t" r="r" b="b"/>
              <a:pathLst>
                <a:path w="1530731" h="67691">
                  <a:moveTo>
                    <a:pt x="0" y="0"/>
                  </a:moveTo>
                  <a:lnTo>
                    <a:pt x="1530731" y="67691"/>
                  </a:lnTo>
                </a:path>
              </a:pathLst>
            </a:custGeom>
            <a:blipFill>
              <a:blip r:embed="rId3">
                <a:alphaModFix amt="0"/>
              </a:blip>
              <a:stretch>
                <a:fillRect t="-390607" r="-2" b="-390664"/>
              </a:stretch>
            </a:blipFill>
            <a:ln w="50800" cap="sq">
              <a:solidFill>
                <a:srgbClr val="4A6380"/>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27" name="Group 27"/>
          <p:cNvGrpSpPr/>
          <p:nvPr/>
        </p:nvGrpSpPr>
        <p:grpSpPr>
          <a:xfrm>
            <a:off x="5467350" y="2632710"/>
            <a:ext cx="1318260" cy="1318260"/>
            <a:chOff x="0" y="0"/>
            <a:chExt cx="1757680" cy="1757680"/>
          </a:xfrm>
        </p:grpSpPr>
        <p:sp>
          <p:nvSpPr>
            <p:cNvPr id="28" name="Freeform 28"/>
            <p:cNvSpPr/>
            <p:nvPr/>
          </p:nvSpPr>
          <p:spPr>
            <a:xfrm>
              <a:off x="0" y="0"/>
              <a:ext cx="1757680" cy="1757680"/>
            </a:xfrm>
            <a:custGeom>
              <a:avLst/>
              <a:gdLst/>
              <a:ahLst/>
              <a:cxnLst/>
              <a:rect l="l" t="t" r="r" b="b"/>
              <a:pathLst>
                <a:path w="1757680" h="1757680">
                  <a:moveTo>
                    <a:pt x="0" y="878840"/>
                  </a:moveTo>
                  <a:cubicBezTo>
                    <a:pt x="0" y="393446"/>
                    <a:pt x="393446" y="0"/>
                    <a:pt x="878840" y="0"/>
                  </a:cubicBezTo>
                  <a:cubicBezTo>
                    <a:pt x="1364234" y="0"/>
                    <a:pt x="1757680" y="393446"/>
                    <a:pt x="1757680" y="878840"/>
                  </a:cubicBezTo>
                  <a:cubicBezTo>
                    <a:pt x="1757680" y="1364234"/>
                    <a:pt x="1364234" y="1757680"/>
                    <a:pt x="878840" y="1757680"/>
                  </a:cubicBezTo>
                  <a:cubicBezTo>
                    <a:pt x="393446" y="1757680"/>
                    <a:pt x="0" y="1364234"/>
                    <a:pt x="0" y="878840"/>
                  </a:cubicBezTo>
                  <a:close/>
                </a:path>
              </a:pathLst>
            </a:custGeom>
            <a:solidFill>
              <a:srgbClr val="253439"/>
            </a:solidFill>
            <a:ln w="38100" cap="sq">
              <a:solidFill>
                <a:srgbClr val="FFFFFF"/>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29" name="Group 29"/>
          <p:cNvGrpSpPr/>
          <p:nvPr/>
        </p:nvGrpSpPr>
        <p:grpSpPr>
          <a:xfrm>
            <a:off x="5486400" y="2651760"/>
            <a:ext cx="1280160" cy="1280160"/>
            <a:chOff x="0" y="0"/>
            <a:chExt cx="1706880" cy="1706880"/>
          </a:xfrm>
        </p:grpSpPr>
        <p:sp>
          <p:nvSpPr>
            <p:cNvPr id="30" name="Freeform 30"/>
            <p:cNvSpPr/>
            <p:nvPr/>
          </p:nvSpPr>
          <p:spPr>
            <a:xfrm>
              <a:off x="0" y="0"/>
              <a:ext cx="1706880" cy="1706880"/>
            </a:xfrm>
            <a:custGeom>
              <a:avLst/>
              <a:gdLst/>
              <a:ahLst/>
              <a:cxnLst/>
              <a:rect l="l" t="t" r="r" b="b"/>
              <a:pathLst>
                <a:path w="1706880" h="1706880">
                  <a:moveTo>
                    <a:pt x="0" y="0"/>
                  </a:moveTo>
                  <a:lnTo>
                    <a:pt x="1706880" y="0"/>
                  </a:lnTo>
                  <a:lnTo>
                    <a:pt x="1706880" y="1706880"/>
                  </a:lnTo>
                  <a:lnTo>
                    <a:pt x="0" y="1706880"/>
                  </a:lnTo>
                  <a:close/>
                </a:path>
              </a:pathLst>
            </a:custGeom>
            <a:blipFill>
              <a:blip r:embed="rId3">
                <a:alphaModFix amt="0"/>
              </a:blip>
              <a:stretch>
                <a:fillRect l="-78303" r="-78303"/>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31" name="TextBox 31"/>
            <p:cNvSpPr txBox="1"/>
            <p:nvPr/>
          </p:nvSpPr>
          <p:spPr>
            <a:xfrm>
              <a:off x="0" y="0"/>
              <a:ext cx="1706880" cy="1706880"/>
            </a:xfrm>
            <a:prstGeom prst="rect">
              <a:avLst/>
            </a:prstGeom>
          </p:spPr>
          <p:txBody>
            <a:bodyPr lIns="0" tIns="0" rIns="0" bIns="0" rtlCol="0" anchor="ctr"/>
            <a:lstStyle/>
            <a:p>
              <a:pPr algn="ctr">
                <a:lnSpc>
                  <a:spcPts val="4320"/>
                </a:lnSpc>
              </a:pPr>
              <a:r>
                <a:rPr lang="en-US" sz="3600" i="1" spc="179">
                  <a:solidFill>
                    <a:srgbClr val="FFFFFF"/>
                  </a:solidFill>
                  <a:latin typeface="Times New Roman" panose="02020603050405020304" pitchFamily="18" charset="0"/>
                  <a:ea typeface="Playfair Display Italics"/>
                  <a:cs typeface="Times New Roman" panose="02020603050405020304" pitchFamily="18" charset="0"/>
                  <a:sym typeface="Playfair Display Italics"/>
                </a:rPr>
                <a:t>7</a:t>
              </a:r>
            </a:p>
          </p:txBody>
        </p:sp>
      </p:grpSp>
      <p:grpSp>
        <p:nvGrpSpPr>
          <p:cNvPr id="32" name="Group 32"/>
          <p:cNvGrpSpPr/>
          <p:nvPr/>
        </p:nvGrpSpPr>
        <p:grpSpPr>
          <a:xfrm>
            <a:off x="6741157" y="3266437"/>
            <a:ext cx="1148077" cy="50797"/>
            <a:chOff x="0" y="0"/>
            <a:chExt cx="1530769" cy="67729"/>
          </a:xfrm>
        </p:grpSpPr>
        <p:sp>
          <p:nvSpPr>
            <p:cNvPr id="33" name="Freeform 33"/>
            <p:cNvSpPr/>
            <p:nvPr/>
          </p:nvSpPr>
          <p:spPr>
            <a:xfrm>
              <a:off x="0" y="0"/>
              <a:ext cx="1530731" cy="67691"/>
            </a:xfrm>
            <a:custGeom>
              <a:avLst/>
              <a:gdLst/>
              <a:ahLst/>
              <a:cxnLst/>
              <a:rect l="l" t="t" r="r" b="b"/>
              <a:pathLst>
                <a:path w="1530731" h="67691">
                  <a:moveTo>
                    <a:pt x="0" y="0"/>
                  </a:moveTo>
                  <a:lnTo>
                    <a:pt x="1530731" y="67691"/>
                  </a:lnTo>
                </a:path>
              </a:pathLst>
            </a:custGeom>
            <a:blipFill>
              <a:blip r:embed="rId3">
                <a:alphaModFix amt="0"/>
              </a:blip>
              <a:stretch>
                <a:fillRect t="-390607" r="-2" b="-390664"/>
              </a:stretch>
            </a:blipFill>
            <a:ln w="50800" cap="sq">
              <a:solidFill>
                <a:srgbClr val="4A6380"/>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34" name="Group 34"/>
          <p:cNvGrpSpPr/>
          <p:nvPr/>
        </p:nvGrpSpPr>
        <p:grpSpPr>
          <a:xfrm>
            <a:off x="7844790" y="2632710"/>
            <a:ext cx="1318260" cy="1318260"/>
            <a:chOff x="0" y="0"/>
            <a:chExt cx="1757680" cy="1757680"/>
          </a:xfrm>
        </p:grpSpPr>
        <p:sp>
          <p:nvSpPr>
            <p:cNvPr id="35" name="Freeform 35"/>
            <p:cNvSpPr/>
            <p:nvPr/>
          </p:nvSpPr>
          <p:spPr>
            <a:xfrm>
              <a:off x="0" y="0"/>
              <a:ext cx="1757680" cy="1757680"/>
            </a:xfrm>
            <a:custGeom>
              <a:avLst/>
              <a:gdLst/>
              <a:ahLst/>
              <a:cxnLst/>
              <a:rect l="l" t="t" r="r" b="b"/>
              <a:pathLst>
                <a:path w="1757680" h="1757680">
                  <a:moveTo>
                    <a:pt x="0" y="878840"/>
                  </a:moveTo>
                  <a:cubicBezTo>
                    <a:pt x="0" y="393446"/>
                    <a:pt x="393446" y="0"/>
                    <a:pt x="878840" y="0"/>
                  </a:cubicBezTo>
                  <a:cubicBezTo>
                    <a:pt x="1364234" y="0"/>
                    <a:pt x="1757680" y="393446"/>
                    <a:pt x="1757680" y="878840"/>
                  </a:cubicBezTo>
                  <a:cubicBezTo>
                    <a:pt x="1757680" y="1364234"/>
                    <a:pt x="1364234" y="1757680"/>
                    <a:pt x="878840" y="1757680"/>
                  </a:cubicBezTo>
                  <a:cubicBezTo>
                    <a:pt x="393446" y="1757680"/>
                    <a:pt x="0" y="1364234"/>
                    <a:pt x="0" y="878840"/>
                  </a:cubicBezTo>
                  <a:close/>
                </a:path>
              </a:pathLst>
            </a:custGeom>
            <a:solidFill>
              <a:srgbClr val="253439"/>
            </a:solidFill>
            <a:ln w="38100" cap="sq">
              <a:solidFill>
                <a:srgbClr val="FFFFFF"/>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36" name="Group 36"/>
          <p:cNvGrpSpPr/>
          <p:nvPr/>
        </p:nvGrpSpPr>
        <p:grpSpPr>
          <a:xfrm>
            <a:off x="7863840" y="2651760"/>
            <a:ext cx="1280160" cy="1280160"/>
            <a:chOff x="0" y="0"/>
            <a:chExt cx="1706880" cy="1706880"/>
          </a:xfrm>
        </p:grpSpPr>
        <p:sp>
          <p:nvSpPr>
            <p:cNvPr id="37" name="Freeform 37"/>
            <p:cNvSpPr/>
            <p:nvPr/>
          </p:nvSpPr>
          <p:spPr>
            <a:xfrm>
              <a:off x="0" y="0"/>
              <a:ext cx="1706880" cy="1706880"/>
            </a:xfrm>
            <a:custGeom>
              <a:avLst/>
              <a:gdLst/>
              <a:ahLst/>
              <a:cxnLst/>
              <a:rect l="l" t="t" r="r" b="b"/>
              <a:pathLst>
                <a:path w="1706880" h="1706880">
                  <a:moveTo>
                    <a:pt x="0" y="0"/>
                  </a:moveTo>
                  <a:lnTo>
                    <a:pt x="1706880" y="0"/>
                  </a:lnTo>
                  <a:lnTo>
                    <a:pt x="1706880" y="1706880"/>
                  </a:lnTo>
                  <a:lnTo>
                    <a:pt x="0" y="1706880"/>
                  </a:lnTo>
                  <a:close/>
                </a:path>
              </a:pathLst>
            </a:custGeom>
            <a:blipFill>
              <a:blip r:embed="rId3">
                <a:alphaModFix amt="0"/>
              </a:blip>
              <a:stretch>
                <a:fillRect l="-78303" r="-78303"/>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38" name="TextBox 38"/>
            <p:cNvSpPr txBox="1"/>
            <p:nvPr/>
          </p:nvSpPr>
          <p:spPr>
            <a:xfrm>
              <a:off x="0" y="0"/>
              <a:ext cx="1706880" cy="1706880"/>
            </a:xfrm>
            <a:prstGeom prst="rect">
              <a:avLst/>
            </a:prstGeom>
          </p:spPr>
          <p:txBody>
            <a:bodyPr lIns="0" tIns="0" rIns="0" bIns="0" rtlCol="0" anchor="ctr"/>
            <a:lstStyle/>
            <a:p>
              <a:pPr algn="ctr">
                <a:lnSpc>
                  <a:spcPts val="4320"/>
                </a:lnSpc>
              </a:pPr>
              <a:r>
                <a:rPr lang="en-US" sz="3600" i="1" spc="179">
                  <a:solidFill>
                    <a:srgbClr val="FFFFFF"/>
                  </a:solidFill>
                  <a:latin typeface="Times New Roman" panose="02020603050405020304" pitchFamily="18" charset="0"/>
                  <a:ea typeface="Playfair Display Italics"/>
                  <a:cs typeface="Times New Roman" panose="02020603050405020304" pitchFamily="18" charset="0"/>
                  <a:sym typeface="Playfair Display Italics"/>
                </a:rPr>
                <a:t>5</a:t>
              </a:r>
            </a:p>
          </p:txBody>
        </p:sp>
      </p:grpSp>
      <p:grpSp>
        <p:nvGrpSpPr>
          <p:cNvPr id="39" name="Group 39"/>
          <p:cNvGrpSpPr/>
          <p:nvPr/>
        </p:nvGrpSpPr>
        <p:grpSpPr>
          <a:xfrm>
            <a:off x="9118597" y="3266437"/>
            <a:ext cx="1148077" cy="50797"/>
            <a:chOff x="0" y="0"/>
            <a:chExt cx="1530769" cy="67729"/>
          </a:xfrm>
        </p:grpSpPr>
        <p:sp>
          <p:nvSpPr>
            <p:cNvPr id="40" name="Freeform 40"/>
            <p:cNvSpPr/>
            <p:nvPr/>
          </p:nvSpPr>
          <p:spPr>
            <a:xfrm>
              <a:off x="0" y="0"/>
              <a:ext cx="1530731" cy="67691"/>
            </a:xfrm>
            <a:custGeom>
              <a:avLst/>
              <a:gdLst/>
              <a:ahLst/>
              <a:cxnLst/>
              <a:rect l="l" t="t" r="r" b="b"/>
              <a:pathLst>
                <a:path w="1530731" h="67691">
                  <a:moveTo>
                    <a:pt x="0" y="0"/>
                  </a:moveTo>
                  <a:lnTo>
                    <a:pt x="1530731" y="67691"/>
                  </a:lnTo>
                </a:path>
              </a:pathLst>
            </a:custGeom>
            <a:blipFill>
              <a:blip r:embed="rId3">
                <a:alphaModFix amt="0"/>
              </a:blip>
              <a:stretch>
                <a:fillRect t="-390607" r="-2" b="-390664"/>
              </a:stretch>
            </a:blipFill>
            <a:ln w="50800" cap="sq">
              <a:solidFill>
                <a:srgbClr val="4A6380"/>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41" name="Group 41"/>
          <p:cNvGrpSpPr/>
          <p:nvPr/>
        </p:nvGrpSpPr>
        <p:grpSpPr>
          <a:xfrm>
            <a:off x="10222230" y="2632710"/>
            <a:ext cx="1318260" cy="1318260"/>
            <a:chOff x="0" y="0"/>
            <a:chExt cx="1757680" cy="1757680"/>
          </a:xfrm>
        </p:grpSpPr>
        <p:sp>
          <p:nvSpPr>
            <p:cNvPr id="42" name="Freeform 42"/>
            <p:cNvSpPr/>
            <p:nvPr/>
          </p:nvSpPr>
          <p:spPr>
            <a:xfrm>
              <a:off x="0" y="0"/>
              <a:ext cx="1757680" cy="1757680"/>
            </a:xfrm>
            <a:custGeom>
              <a:avLst/>
              <a:gdLst/>
              <a:ahLst/>
              <a:cxnLst/>
              <a:rect l="l" t="t" r="r" b="b"/>
              <a:pathLst>
                <a:path w="1757680" h="1757680">
                  <a:moveTo>
                    <a:pt x="0" y="878840"/>
                  </a:moveTo>
                  <a:cubicBezTo>
                    <a:pt x="0" y="393446"/>
                    <a:pt x="393446" y="0"/>
                    <a:pt x="878840" y="0"/>
                  </a:cubicBezTo>
                  <a:cubicBezTo>
                    <a:pt x="1364234" y="0"/>
                    <a:pt x="1757680" y="393446"/>
                    <a:pt x="1757680" y="878840"/>
                  </a:cubicBezTo>
                  <a:cubicBezTo>
                    <a:pt x="1757680" y="1364234"/>
                    <a:pt x="1364234" y="1757680"/>
                    <a:pt x="878840" y="1757680"/>
                  </a:cubicBezTo>
                  <a:cubicBezTo>
                    <a:pt x="393446" y="1757680"/>
                    <a:pt x="0" y="1364234"/>
                    <a:pt x="0" y="878840"/>
                  </a:cubicBezTo>
                  <a:close/>
                </a:path>
              </a:pathLst>
            </a:custGeom>
            <a:solidFill>
              <a:srgbClr val="253439"/>
            </a:solidFill>
            <a:ln w="38100" cap="sq">
              <a:solidFill>
                <a:srgbClr val="FFFFFF"/>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43" name="Group 43"/>
          <p:cNvGrpSpPr/>
          <p:nvPr/>
        </p:nvGrpSpPr>
        <p:grpSpPr>
          <a:xfrm>
            <a:off x="10241280" y="2651760"/>
            <a:ext cx="1280160" cy="1280160"/>
            <a:chOff x="0" y="0"/>
            <a:chExt cx="1706880" cy="1706880"/>
          </a:xfrm>
        </p:grpSpPr>
        <p:sp>
          <p:nvSpPr>
            <p:cNvPr id="44" name="Freeform 44"/>
            <p:cNvSpPr/>
            <p:nvPr/>
          </p:nvSpPr>
          <p:spPr>
            <a:xfrm>
              <a:off x="0" y="0"/>
              <a:ext cx="1706880" cy="1706880"/>
            </a:xfrm>
            <a:custGeom>
              <a:avLst/>
              <a:gdLst/>
              <a:ahLst/>
              <a:cxnLst/>
              <a:rect l="l" t="t" r="r" b="b"/>
              <a:pathLst>
                <a:path w="1706880" h="1706880">
                  <a:moveTo>
                    <a:pt x="0" y="0"/>
                  </a:moveTo>
                  <a:lnTo>
                    <a:pt x="1706880" y="0"/>
                  </a:lnTo>
                  <a:lnTo>
                    <a:pt x="1706880" y="1706880"/>
                  </a:lnTo>
                  <a:lnTo>
                    <a:pt x="0" y="1706880"/>
                  </a:lnTo>
                  <a:close/>
                </a:path>
              </a:pathLst>
            </a:custGeom>
            <a:blipFill>
              <a:blip r:embed="rId3">
                <a:alphaModFix amt="0"/>
              </a:blip>
              <a:stretch>
                <a:fillRect l="-78303" r="-78303"/>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45" name="TextBox 45"/>
            <p:cNvSpPr txBox="1"/>
            <p:nvPr/>
          </p:nvSpPr>
          <p:spPr>
            <a:xfrm>
              <a:off x="0" y="0"/>
              <a:ext cx="1706880" cy="1706880"/>
            </a:xfrm>
            <a:prstGeom prst="rect">
              <a:avLst/>
            </a:prstGeom>
          </p:spPr>
          <p:txBody>
            <a:bodyPr lIns="0" tIns="0" rIns="0" bIns="0" rtlCol="0" anchor="ctr"/>
            <a:lstStyle/>
            <a:p>
              <a:pPr algn="ctr">
                <a:lnSpc>
                  <a:spcPts val="4320"/>
                </a:lnSpc>
              </a:pPr>
              <a:r>
                <a:rPr lang="en-US" sz="3600" i="1" spc="179">
                  <a:solidFill>
                    <a:srgbClr val="FFFFFF"/>
                  </a:solidFill>
                  <a:latin typeface="Times New Roman" panose="02020603050405020304" pitchFamily="18" charset="0"/>
                  <a:ea typeface="Playfair Display Italics"/>
                  <a:cs typeface="Times New Roman" panose="02020603050405020304" pitchFamily="18" charset="0"/>
                  <a:sym typeface="Playfair Display Italics"/>
                </a:rPr>
                <a:t>9</a:t>
              </a:r>
            </a:p>
          </p:txBody>
        </p:sp>
      </p:grpSp>
      <p:grpSp>
        <p:nvGrpSpPr>
          <p:cNvPr id="46" name="Group 46"/>
          <p:cNvGrpSpPr/>
          <p:nvPr/>
        </p:nvGrpSpPr>
        <p:grpSpPr>
          <a:xfrm>
            <a:off x="11496037" y="3266437"/>
            <a:ext cx="1148077" cy="50797"/>
            <a:chOff x="0" y="0"/>
            <a:chExt cx="1530769" cy="67729"/>
          </a:xfrm>
        </p:grpSpPr>
        <p:sp>
          <p:nvSpPr>
            <p:cNvPr id="47" name="Freeform 47"/>
            <p:cNvSpPr/>
            <p:nvPr/>
          </p:nvSpPr>
          <p:spPr>
            <a:xfrm>
              <a:off x="0" y="0"/>
              <a:ext cx="1530731" cy="67691"/>
            </a:xfrm>
            <a:custGeom>
              <a:avLst/>
              <a:gdLst/>
              <a:ahLst/>
              <a:cxnLst/>
              <a:rect l="l" t="t" r="r" b="b"/>
              <a:pathLst>
                <a:path w="1530731" h="67691">
                  <a:moveTo>
                    <a:pt x="0" y="0"/>
                  </a:moveTo>
                  <a:lnTo>
                    <a:pt x="1530731" y="67691"/>
                  </a:lnTo>
                </a:path>
              </a:pathLst>
            </a:custGeom>
            <a:blipFill>
              <a:blip r:embed="rId3">
                <a:alphaModFix amt="0"/>
              </a:blip>
              <a:stretch>
                <a:fillRect t="-390607" r="-2" b="-390664"/>
              </a:stretch>
            </a:blipFill>
            <a:ln w="50800" cap="sq">
              <a:solidFill>
                <a:srgbClr val="4A6380"/>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48" name="Group 48"/>
          <p:cNvGrpSpPr/>
          <p:nvPr/>
        </p:nvGrpSpPr>
        <p:grpSpPr>
          <a:xfrm>
            <a:off x="12599670" y="2632710"/>
            <a:ext cx="1318260" cy="1318260"/>
            <a:chOff x="0" y="0"/>
            <a:chExt cx="1757680" cy="1757680"/>
          </a:xfrm>
        </p:grpSpPr>
        <p:sp>
          <p:nvSpPr>
            <p:cNvPr id="49" name="Freeform 49"/>
            <p:cNvSpPr/>
            <p:nvPr/>
          </p:nvSpPr>
          <p:spPr>
            <a:xfrm>
              <a:off x="0" y="0"/>
              <a:ext cx="1757680" cy="1757680"/>
            </a:xfrm>
            <a:custGeom>
              <a:avLst/>
              <a:gdLst/>
              <a:ahLst/>
              <a:cxnLst/>
              <a:rect l="l" t="t" r="r" b="b"/>
              <a:pathLst>
                <a:path w="1757680" h="1757680">
                  <a:moveTo>
                    <a:pt x="0" y="878840"/>
                  </a:moveTo>
                  <a:cubicBezTo>
                    <a:pt x="0" y="393446"/>
                    <a:pt x="393446" y="0"/>
                    <a:pt x="878840" y="0"/>
                  </a:cubicBezTo>
                  <a:cubicBezTo>
                    <a:pt x="1364234" y="0"/>
                    <a:pt x="1757680" y="393446"/>
                    <a:pt x="1757680" y="878840"/>
                  </a:cubicBezTo>
                  <a:cubicBezTo>
                    <a:pt x="1757680" y="1364234"/>
                    <a:pt x="1364234" y="1757680"/>
                    <a:pt x="878840" y="1757680"/>
                  </a:cubicBezTo>
                  <a:cubicBezTo>
                    <a:pt x="393446" y="1757680"/>
                    <a:pt x="0" y="1364234"/>
                    <a:pt x="0" y="878840"/>
                  </a:cubicBezTo>
                  <a:close/>
                </a:path>
              </a:pathLst>
            </a:custGeom>
            <a:solidFill>
              <a:srgbClr val="253439"/>
            </a:solidFill>
            <a:ln w="38100" cap="sq">
              <a:solidFill>
                <a:srgbClr val="FFFFFF"/>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50" name="Group 50"/>
          <p:cNvGrpSpPr/>
          <p:nvPr/>
        </p:nvGrpSpPr>
        <p:grpSpPr>
          <a:xfrm>
            <a:off x="12618720" y="2651760"/>
            <a:ext cx="1280160" cy="1280160"/>
            <a:chOff x="0" y="0"/>
            <a:chExt cx="1706880" cy="1706880"/>
          </a:xfrm>
        </p:grpSpPr>
        <p:sp>
          <p:nvSpPr>
            <p:cNvPr id="51" name="Freeform 51"/>
            <p:cNvSpPr/>
            <p:nvPr/>
          </p:nvSpPr>
          <p:spPr>
            <a:xfrm>
              <a:off x="0" y="0"/>
              <a:ext cx="1706880" cy="1706880"/>
            </a:xfrm>
            <a:custGeom>
              <a:avLst/>
              <a:gdLst/>
              <a:ahLst/>
              <a:cxnLst/>
              <a:rect l="l" t="t" r="r" b="b"/>
              <a:pathLst>
                <a:path w="1706880" h="1706880">
                  <a:moveTo>
                    <a:pt x="0" y="0"/>
                  </a:moveTo>
                  <a:lnTo>
                    <a:pt x="1706880" y="0"/>
                  </a:lnTo>
                  <a:lnTo>
                    <a:pt x="1706880" y="1706880"/>
                  </a:lnTo>
                  <a:lnTo>
                    <a:pt x="0" y="1706880"/>
                  </a:lnTo>
                  <a:close/>
                </a:path>
              </a:pathLst>
            </a:custGeom>
            <a:blipFill>
              <a:blip r:embed="rId3">
                <a:alphaModFix amt="0"/>
              </a:blip>
              <a:stretch>
                <a:fillRect l="-78303" r="-78303"/>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52" name="TextBox 52"/>
            <p:cNvSpPr txBox="1"/>
            <p:nvPr/>
          </p:nvSpPr>
          <p:spPr>
            <a:xfrm>
              <a:off x="0" y="0"/>
              <a:ext cx="1706880" cy="1706880"/>
            </a:xfrm>
            <a:prstGeom prst="rect">
              <a:avLst/>
            </a:prstGeom>
          </p:spPr>
          <p:txBody>
            <a:bodyPr lIns="0" tIns="0" rIns="0" bIns="0" rtlCol="0" anchor="ctr"/>
            <a:lstStyle/>
            <a:p>
              <a:pPr algn="ctr">
                <a:lnSpc>
                  <a:spcPts val="4320"/>
                </a:lnSpc>
              </a:pPr>
              <a:r>
                <a:rPr lang="en-US" sz="3600" i="1" spc="179">
                  <a:solidFill>
                    <a:srgbClr val="FFFFFF"/>
                  </a:solidFill>
                  <a:latin typeface="Times New Roman" panose="02020603050405020304" pitchFamily="18" charset="0"/>
                  <a:ea typeface="Playfair Display Italics"/>
                  <a:cs typeface="Times New Roman" panose="02020603050405020304" pitchFamily="18" charset="0"/>
                  <a:sym typeface="Playfair Display Italics"/>
                </a:rPr>
                <a:t>3</a:t>
              </a:r>
            </a:p>
          </p:txBody>
        </p:sp>
      </p:grpSp>
      <p:grpSp>
        <p:nvGrpSpPr>
          <p:cNvPr id="53" name="Group 53"/>
          <p:cNvGrpSpPr/>
          <p:nvPr/>
        </p:nvGrpSpPr>
        <p:grpSpPr>
          <a:xfrm>
            <a:off x="13873477" y="3266437"/>
            <a:ext cx="1148077" cy="50797"/>
            <a:chOff x="0" y="0"/>
            <a:chExt cx="1530769" cy="67729"/>
          </a:xfrm>
        </p:grpSpPr>
        <p:sp>
          <p:nvSpPr>
            <p:cNvPr id="54" name="Freeform 54"/>
            <p:cNvSpPr/>
            <p:nvPr/>
          </p:nvSpPr>
          <p:spPr>
            <a:xfrm>
              <a:off x="0" y="0"/>
              <a:ext cx="1530731" cy="67691"/>
            </a:xfrm>
            <a:custGeom>
              <a:avLst/>
              <a:gdLst/>
              <a:ahLst/>
              <a:cxnLst/>
              <a:rect l="l" t="t" r="r" b="b"/>
              <a:pathLst>
                <a:path w="1530731" h="67691">
                  <a:moveTo>
                    <a:pt x="0" y="0"/>
                  </a:moveTo>
                  <a:lnTo>
                    <a:pt x="1530731" y="67691"/>
                  </a:lnTo>
                </a:path>
              </a:pathLst>
            </a:custGeom>
            <a:blipFill>
              <a:blip r:embed="rId3">
                <a:alphaModFix amt="0"/>
              </a:blip>
              <a:stretch>
                <a:fillRect t="-390607" r="-2" b="-390664"/>
              </a:stretch>
            </a:blipFill>
            <a:ln w="50800" cap="sq">
              <a:solidFill>
                <a:srgbClr val="4A6380"/>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55" name="Group 55"/>
          <p:cNvGrpSpPr/>
          <p:nvPr/>
        </p:nvGrpSpPr>
        <p:grpSpPr>
          <a:xfrm>
            <a:off x="14977110" y="2632710"/>
            <a:ext cx="1318260" cy="1318260"/>
            <a:chOff x="0" y="0"/>
            <a:chExt cx="1757680" cy="1757680"/>
          </a:xfrm>
        </p:grpSpPr>
        <p:sp>
          <p:nvSpPr>
            <p:cNvPr id="56" name="Freeform 56"/>
            <p:cNvSpPr/>
            <p:nvPr/>
          </p:nvSpPr>
          <p:spPr>
            <a:xfrm>
              <a:off x="0" y="0"/>
              <a:ext cx="1757680" cy="1757680"/>
            </a:xfrm>
            <a:custGeom>
              <a:avLst/>
              <a:gdLst/>
              <a:ahLst/>
              <a:cxnLst/>
              <a:rect l="l" t="t" r="r" b="b"/>
              <a:pathLst>
                <a:path w="1757680" h="1757680">
                  <a:moveTo>
                    <a:pt x="0" y="878840"/>
                  </a:moveTo>
                  <a:cubicBezTo>
                    <a:pt x="0" y="393446"/>
                    <a:pt x="393446" y="0"/>
                    <a:pt x="878840" y="0"/>
                  </a:cubicBezTo>
                  <a:cubicBezTo>
                    <a:pt x="1364234" y="0"/>
                    <a:pt x="1757680" y="393446"/>
                    <a:pt x="1757680" y="878840"/>
                  </a:cubicBezTo>
                  <a:cubicBezTo>
                    <a:pt x="1757680" y="1364234"/>
                    <a:pt x="1364234" y="1757680"/>
                    <a:pt x="878840" y="1757680"/>
                  </a:cubicBezTo>
                  <a:cubicBezTo>
                    <a:pt x="393446" y="1757680"/>
                    <a:pt x="0" y="1364234"/>
                    <a:pt x="0" y="878840"/>
                  </a:cubicBezTo>
                  <a:close/>
                </a:path>
              </a:pathLst>
            </a:custGeom>
            <a:solidFill>
              <a:srgbClr val="253439"/>
            </a:solidFill>
            <a:ln w="38100" cap="sq">
              <a:solidFill>
                <a:srgbClr val="FFFFFF"/>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57" name="Group 57"/>
          <p:cNvGrpSpPr/>
          <p:nvPr/>
        </p:nvGrpSpPr>
        <p:grpSpPr>
          <a:xfrm>
            <a:off x="14996160" y="2651760"/>
            <a:ext cx="1280160" cy="1280160"/>
            <a:chOff x="0" y="0"/>
            <a:chExt cx="1706880" cy="1706880"/>
          </a:xfrm>
        </p:grpSpPr>
        <p:sp>
          <p:nvSpPr>
            <p:cNvPr id="58" name="Freeform 58"/>
            <p:cNvSpPr/>
            <p:nvPr/>
          </p:nvSpPr>
          <p:spPr>
            <a:xfrm>
              <a:off x="0" y="0"/>
              <a:ext cx="1706880" cy="1706880"/>
            </a:xfrm>
            <a:custGeom>
              <a:avLst/>
              <a:gdLst/>
              <a:ahLst/>
              <a:cxnLst/>
              <a:rect l="l" t="t" r="r" b="b"/>
              <a:pathLst>
                <a:path w="1706880" h="1706880">
                  <a:moveTo>
                    <a:pt x="0" y="0"/>
                  </a:moveTo>
                  <a:lnTo>
                    <a:pt x="1706880" y="0"/>
                  </a:lnTo>
                  <a:lnTo>
                    <a:pt x="1706880" y="1706880"/>
                  </a:lnTo>
                  <a:lnTo>
                    <a:pt x="0" y="1706880"/>
                  </a:lnTo>
                  <a:close/>
                </a:path>
              </a:pathLst>
            </a:custGeom>
            <a:blipFill>
              <a:blip r:embed="rId3">
                <a:alphaModFix amt="0"/>
              </a:blip>
              <a:stretch>
                <a:fillRect l="-78303" r="-78303"/>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59" name="TextBox 59"/>
            <p:cNvSpPr txBox="1"/>
            <p:nvPr/>
          </p:nvSpPr>
          <p:spPr>
            <a:xfrm>
              <a:off x="0" y="0"/>
              <a:ext cx="1706880" cy="1706880"/>
            </a:xfrm>
            <a:prstGeom prst="rect">
              <a:avLst/>
            </a:prstGeom>
          </p:spPr>
          <p:txBody>
            <a:bodyPr lIns="0" tIns="0" rIns="0" bIns="0" rtlCol="0" anchor="ctr"/>
            <a:lstStyle/>
            <a:p>
              <a:pPr algn="ctr">
                <a:lnSpc>
                  <a:spcPts val="4320"/>
                </a:lnSpc>
              </a:pPr>
              <a:r>
                <a:rPr lang="en-US" sz="3600" i="1" spc="179">
                  <a:solidFill>
                    <a:srgbClr val="FFFFFF"/>
                  </a:solidFill>
                  <a:latin typeface="Times New Roman" panose="02020603050405020304" pitchFamily="18" charset="0"/>
                  <a:ea typeface="Playfair Display Italics"/>
                  <a:cs typeface="Times New Roman" panose="02020603050405020304" pitchFamily="18" charset="0"/>
                  <a:sym typeface="Playfair Display Italics"/>
                </a:rPr>
                <a:t>7</a:t>
              </a:r>
            </a:p>
          </p:txBody>
        </p:sp>
      </p:grpSp>
      <p:grpSp>
        <p:nvGrpSpPr>
          <p:cNvPr id="60" name="Group 60"/>
          <p:cNvGrpSpPr/>
          <p:nvPr/>
        </p:nvGrpSpPr>
        <p:grpSpPr>
          <a:xfrm>
            <a:off x="731520" y="4114800"/>
            <a:ext cx="16459200" cy="640080"/>
            <a:chOff x="0" y="0"/>
            <a:chExt cx="21945600" cy="853440"/>
          </a:xfrm>
        </p:grpSpPr>
        <p:sp>
          <p:nvSpPr>
            <p:cNvPr id="61" name="Freeform 61"/>
            <p:cNvSpPr/>
            <p:nvPr/>
          </p:nvSpPr>
          <p:spPr>
            <a:xfrm>
              <a:off x="0" y="0"/>
              <a:ext cx="21945600" cy="853440"/>
            </a:xfrm>
            <a:custGeom>
              <a:avLst/>
              <a:gdLst/>
              <a:ahLst/>
              <a:cxnLst/>
              <a:rect l="l" t="t" r="r" b="b"/>
              <a:pathLst>
                <a:path w="21945600" h="853440">
                  <a:moveTo>
                    <a:pt x="0" y="0"/>
                  </a:moveTo>
                  <a:lnTo>
                    <a:pt x="21945600" y="0"/>
                  </a:lnTo>
                  <a:lnTo>
                    <a:pt x="21945600" y="853440"/>
                  </a:lnTo>
                  <a:lnTo>
                    <a:pt x="0" y="853440"/>
                  </a:lnTo>
                  <a:close/>
                </a:path>
              </a:pathLst>
            </a:custGeom>
            <a:blipFill>
              <a:blip r:embed="rId3">
                <a:alphaModFix amt="0"/>
              </a:blip>
              <a:stretch>
                <a:fillRect t="-451043" b="-451043"/>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62" name="TextBox 62"/>
            <p:cNvSpPr txBox="1"/>
            <p:nvPr/>
          </p:nvSpPr>
          <p:spPr>
            <a:xfrm>
              <a:off x="0" y="0"/>
              <a:ext cx="21945600" cy="853440"/>
            </a:xfrm>
            <a:prstGeom prst="rect">
              <a:avLst/>
            </a:prstGeom>
          </p:spPr>
          <p:txBody>
            <a:bodyPr lIns="0" tIns="0" rIns="0" bIns="0" rtlCol="0" anchor="ctr"/>
            <a:lstStyle/>
            <a:p>
              <a:pPr algn="ctr">
                <a:lnSpc>
                  <a:spcPts val="2879"/>
                </a:lnSpc>
              </a:pPr>
              <a:r>
                <a:rPr lang="en-US" sz="2400" spc="48">
                  <a:solidFill>
                    <a:srgbClr val="253439"/>
                  </a:solidFill>
                  <a:latin typeface="Times New Roman" panose="02020603050405020304" pitchFamily="18" charset="0"/>
                  <a:ea typeface="Playfair Display"/>
                  <a:cs typeface="Times New Roman" panose="02020603050405020304" pitchFamily="18" charset="0"/>
                  <a:sym typeface="Playfair Display"/>
                </a:rPr>
                <a:t>Walk of length T = 7  starting from node 1</a:t>
              </a:r>
            </a:p>
          </p:txBody>
        </p:sp>
      </p:grpSp>
      <p:grpSp>
        <p:nvGrpSpPr>
          <p:cNvPr id="63" name="Group 63"/>
          <p:cNvGrpSpPr/>
          <p:nvPr/>
        </p:nvGrpSpPr>
        <p:grpSpPr>
          <a:xfrm>
            <a:off x="535943" y="4961639"/>
            <a:ext cx="8072123" cy="4688843"/>
            <a:chOff x="0" y="0"/>
            <a:chExt cx="10762831" cy="6251791"/>
          </a:xfrm>
        </p:grpSpPr>
        <p:sp>
          <p:nvSpPr>
            <p:cNvPr id="64" name="Freeform 64"/>
            <p:cNvSpPr/>
            <p:nvPr/>
          </p:nvSpPr>
          <p:spPr>
            <a:xfrm>
              <a:off x="0" y="0"/>
              <a:ext cx="10762869" cy="6251829"/>
            </a:xfrm>
            <a:custGeom>
              <a:avLst/>
              <a:gdLst/>
              <a:ahLst/>
              <a:cxnLst/>
              <a:rect l="l" t="t" r="r" b="b"/>
              <a:pathLst>
                <a:path w="10762869" h="6251829">
                  <a:moveTo>
                    <a:pt x="0" y="245237"/>
                  </a:moveTo>
                  <a:cubicBezTo>
                    <a:pt x="0" y="109728"/>
                    <a:pt x="109728" y="0"/>
                    <a:pt x="245237" y="0"/>
                  </a:cubicBezTo>
                  <a:lnTo>
                    <a:pt x="10517632" y="0"/>
                  </a:lnTo>
                  <a:cubicBezTo>
                    <a:pt x="10653013" y="0"/>
                    <a:pt x="10762869" y="109728"/>
                    <a:pt x="10762869" y="245237"/>
                  </a:cubicBezTo>
                  <a:lnTo>
                    <a:pt x="10762869" y="6006592"/>
                  </a:lnTo>
                  <a:cubicBezTo>
                    <a:pt x="10762869" y="6141974"/>
                    <a:pt x="10653140" y="6251829"/>
                    <a:pt x="10517632" y="6251829"/>
                  </a:cubicBezTo>
                  <a:lnTo>
                    <a:pt x="245237" y="6251829"/>
                  </a:lnTo>
                  <a:cubicBezTo>
                    <a:pt x="109728" y="6251829"/>
                    <a:pt x="0" y="6141974"/>
                    <a:pt x="0" y="6006592"/>
                  </a:cubicBezTo>
                  <a:close/>
                </a:path>
              </a:pathLst>
            </a:custGeom>
            <a:solidFill>
              <a:srgbClr val="101F24"/>
            </a:solidFill>
            <a:ln w="25400" cap="sq">
              <a:solidFill>
                <a:srgbClr val="D8E8F8"/>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65" name="Group 65"/>
          <p:cNvGrpSpPr/>
          <p:nvPr/>
        </p:nvGrpSpPr>
        <p:grpSpPr>
          <a:xfrm>
            <a:off x="914400" y="5084064"/>
            <a:ext cx="7315200" cy="694944"/>
            <a:chOff x="0" y="0"/>
            <a:chExt cx="9753600" cy="926592"/>
          </a:xfrm>
        </p:grpSpPr>
        <p:sp>
          <p:nvSpPr>
            <p:cNvPr id="66" name="Freeform 66"/>
            <p:cNvSpPr/>
            <p:nvPr/>
          </p:nvSpPr>
          <p:spPr>
            <a:xfrm>
              <a:off x="0" y="0"/>
              <a:ext cx="9753600" cy="926592"/>
            </a:xfrm>
            <a:custGeom>
              <a:avLst/>
              <a:gdLst/>
              <a:ahLst/>
              <a:cxnLst/>
              <a:rect l="l" t="t" r="r" b="b"/>
              <a:pathLst>
                <a:path w="9753600" h="926592">
                  <a:moveTo>
                    <a:pt x="0" y="0"/>
                  </a:moveTo>
                  <a:lnTo>
                    <a:pt x="9753600" y="0"/>
                  </a:lnTo>
                  <a:lnTo>
                    <a:pt x="9753600" y="926592"/>
                  </a:lnTo>
                  <a:lnTo>
                    <a:pt x="0" y="926592"/>
                  </a:lnTo>
                  <a:close/>
                </a:path>
              </a:pathLst>
            </a:custGeom>
            <a:blipFill>
              <a:blip r:embed="rId3">
                <a:alphaModFix amt="0"/>
              </a:blip>
              <a:stretch>
                <a:fillRect t="-155105" b="-155105"/>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67" name="TextBox 67"/>
            <p:cNvSpPr txBox="1"/>
            <p:nvPr/>
          </p:nvSpPr>
          <p:spPr>
            <a:xfrm>
              <a:off x="0" y="9525"/>
              <a:ext cx="9753600" cy="917067"/>
            </a:xfrm>
            <a:prstGeom prst="rect">
              <a:avLst/>
            </a:prstGeom>
          </p:spPr>
          <p:txBody>
            <a:bodyPr lIns="0" tIns="0" rIns="0" bIns="0" rtlCol="0" anchor="ctr"/>
            <a:lstStyle/>
            <a:p>
              <a:pPr algn="l">
                <a:lnSpc>
                  <a:spcPts val="3359"/>
                </a:lnSpc>
              </a:pPr>
              <a:r>
                <a:rPr lang="en-US" sz="2799" spc="140" dirty="0">
                  <a:solidFill>
                    <a:srgbClr val="FFFFFF"/>
                  </a:solidFill>
                  <a:latin typeface="Times New Roman" panose="02020603050405020304" pitchFamily="18" charset="0"/>
                  <a:ea typeface="Playfair Display Italics"/>
                  <a:cs typeface="Times New Roman" panose="02020603050405020304" pitchFamily="18" charset="0"/>
                  <a:sym typeface="Playfair Display Italics"/>
                </a:rPr>
                <a:t>The Key Insight</a:t>
              </a:r>
            </a:p>
          </p:txBody>
        </p:sp>
      </p:grpSp>
      <p:grpSp>
        <p:nvGrpSpPr>
          <p:cNvPr id="68" name="Group 68"/>
          <p:cNvGrpSpPr/>
          <p:nvPr/>
        </p:nvGrpSpPr>
        <p:grpSpPr>
          <a:xfrm>
            <a:off x="914400" y="5852160"/>
            <a:ext cx="7315200" cy="3650107"/>
            <a:chOff x="0" y="0"/>
            <a:chExt cx="9753600" cy="4866809"/>
          </a:xfrm>
        </p:grpSpPr>
        <p:sp>
          <p:nvSpPr>
            <p:cNvPr id="69" name="Freeform 69"/>
            <p:cNvSpPr/>
            <p:nvPr/>
          </p:nvSpPr>
          <p:spPr>
            <a:xfrm>
              <a:off x="0" y="0"/>
              <a:ext cx="9753600" cy="4866809"/>
            </a:xfrm>
            <a:custGeom>
              <a:avLst/>
              <a:gdLst/>
              <a:ahLst/>
              <a:cxnLst/>
              <a:rect l="l" t="t" r="r" b="b"/>
              <a:pathLst>
                <a:path w="9753600" h="4866809">
                  <a:moveTo>
                    <a:pt x="0" y="0"/>
                  </a:moveTo>
                  <a:lnTo>
                    <a:pt x="9753600" y="0"/>
                  </a:lnTo>
                  <a:lnTo>
                    <a:pt x="9753600" y="4866809"/>
                  </a:lnTo>
                  <a:lnTo>
                    <a:pt x="0" y="4866809"/>
                  </a:lnTo>
                  <a:close/>
                </a:path>
              </a:pathLst>
            </a:custGeom>
            <a:blipFill>
              <a:blip r:embed="rId3">
                <a:alphaModFix amt="0"/>
              </a:blip>
              <a:stretch>
                <a:fillRect l="-12547" r="-12547" b="2299"/>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70" name="TextBox 70"/>
            <p:cNvSpPr txBox="1"/>
            <p:nvPr/>
          </p:nvSpPr>
          <p:spPr>
            <a:xfrm>
              <a:off x="0" y="0"/>
              <a:ext cx="9753600" cy="4866809"/>
            </a:xfrm>
            <a:prstGeom prst="rect">
              <a:avLst/>
            </a:prstGeom>
          </p:spPr>
          <p:txBody>
            <a:bodyPr lIns="0" tIns="0" rIns="0" bIns="0" rtlCol="0" anchor="ctr"/>
            <a:lstStyle/>
            <a:p>
              <a:pPr algn="l">
                <a:lnSpc>
                  <a:spcPts val="3120"/>
                </a:lnSpc>
              </a:pPr>
              <a:r>
                <a:rPr lang="en-US" sz="2600" spc="52">
                  <a:solidFill>
                    <a:srgbClr val="B29E84"/>
                  </a:solidFill>
                  <a:latin typeface="Times New Roman" panose="02020603050405020304" pitchFamily="18" charset="0"/>
                  <a:ea typeface="Playfair Display"/>
                  <a:cs typeface="Times New Roman" panose="02020603050405020304" pitchFamily="18" charset="0"/>
                  <a:sym typeface="Playfair Display"/>
                </a:rPr>
                <a:t>Inspired by Word2Vec / SkipGram from NLP:</a:t>
              </a:r>
            </a:p>
            <a:p>
              <a:pPr algn="l">
                <a:lnSpc>
                  <a:spcPts val="3120"/>
                </a:lnSpc>
              </a:pPr>
              <a:endParaRPr lang="en-US" sz="2600" spc="52">
                <a:solidFill>
                  <a:srgbClr val="B29E84"/>
                </a:solidFill>
                <a:latin typeface="Times New Roman" panose="02020603050405020304" pitchFamily="18" charset="0"/>
                <a:ea typeface="Playfair Display"/>
                <a:cs typeface="Times New Roman" panose="02020603050405020304" pitchFamily="18" charset="0"/>
                <a:sym typeface="Playfair Display"/>
              </a:endParaRPr>
            </a:p>
            <a:p>
              <a:pPr algn="l">
                <a:lnSpc>
                  <a:spcPts val="3120"/>
                </a:lnSpc>
              </a:pPr>
              <a:endParaRPr lang="en-US" sz="2600" spc="52">
                <a:solidFill>
                  <a:srgbClr val="B29E84"/>
                </a:solidFill>
                <a:latin typeface="Times New Roman" panose="02020603050405020304" pitchFamily="18" charset="0"/>
                <a:ea typeface="Playfair Display"/>
                <a:cs typeface="Times New Roman" panose="02020603050405020304" pitchFamily="18" charset="0"/>
                <a:sym typeface="Playfair Display"/>
              </a:endParaRPr>
            </a:p>
            <a:p>
              <a:pPr algn="l">
                <a:lnSpc>
                  <a:spcPts val="3120"/>
                </a:lnSpc>
              </a:pPr>
              <a:r>
                <a:rPr lang="en-US" sz="2600" spc="52">
                  <a:solidFill>
                    <a:srgbClr val="B29E84"/>
                  </a:solidFill>
                  <a:latin typeface="Times New Roman" panose="02020603050405020304" pitchFamily="18" charset="0"/>
                  <a:ea typeface="Playfair Display"/>
                  <a:cs typeface="Times New Roman" panose="02020603050405020304" pitchFamily="18" charset="0"/>
                  <a:sym typeface="Playfair Display"/>
                </a:rPr>
                <a:t>NLP: words near each other in a sentence → similar vectors</a:t>
              </a:r>
            </a:p>
            <a:p>
              <a:pPr algn="l">
                <a:lnSpc>
                  <a:spcPts val="3120"/>
                </a:lnSpc>
              </a:pPr>
              <a:endParaRPr lang="en-US" sz="2600" spc="52">
                <a:solidFill>
                  <a:srgbClr val="B29E84"/>
                </a:solidFill>
                <a:latin typeface="Times New Roman" panose="02020603050405020304" pitchFamily="18" charset="0"/>
                <a:ea typeface="Playfair Display"/>
                <a:cs typeface="Times New Roman" panose="02020603050405020304" pitchFamily="18" charset="0"/>
                <a:sym typeface="Playfair Display"/>
              </a:endParaRPr>
            </a:p>
            <a:p>
              <a:pPr algn="l">
                <a:lnSpc>
                  <a:spcPts val="3120"/>
                </a:lnSpc>
              </a:pPr>
              <a:endParaRPr lang="en-US" sz="2600" spc="52">
                <a:solidFill>
                  <a:srgbClr val="B29E84"/>
                </a:solidFill>
                <a:latin typeface="Times New Roman" panose="02020603050405020304" pitchFamily="18" charset="0"/>
                <a:ea typeface="Playfair Display"/>
                <a:cs typeface="Times New Roman" panose="02020603050405020304" pitchFamily="18" charset="0"/>
                <a:sym typeface="Playfair Display"/>
              </a:endParaRPr>
            </a:p>
            <a:p>
              <a:pPr algn="l">
                <a:lnSpc>
                  <a:spcPts val="3120"/>
                </a:lnSpc>
              </a:pPr>
              <a:r>
                <a:rPr lang="en-US" sz="2600" spc="52">
                  <a:solidFill>
                    <a:srgbClr val="B29E84"/>
                  </a:solidFill>
                  <a:latin typeface="Times New Roman" panose="02020603050405020304" pitchFamily="18" charset="0"/>
                  <a:ea typeface="Playfair Display"/>
                  <a:cs typeface="Times New Roman" panose="02020603050405020304" pitchFamily="18" charset="0"/>
                  <a:sym typeface="Playfair Display"/>
                </a:rPr>
                <a:t>Graphs: nodes co-occurring on short random walks → similar vectors</a:t>
              </a:r>
            </a:p>
          </p:txBody>
        </p:sp>
      </p:grpSp>
      <p:grpSp>
        <p:nvGrpSpPr>
          <p:cNvPr id="71" name="Group 71"/>
          <p:cNvGrpSpPr/>
          <p:nvPr/>
        </p:nvGrpSpPr>
        <p:grpSpPr>
          <a:xfrm>
            <a:off x="9131303" y="4961639"/>
            <a:ext cx="8437883" cy="4688843"/>
            <a:chOff x="0" y="0"/>
            <a:chExt cx="11250511" cy="6251791"/>
          </a:xfrm>
        </p:grpSpPr>
        <p:sp>
          <p:nvSpPr>
            <p:cNvPr id="72" name="Freeform 72"/>
            <p:cNvSpPr/>
            <p:nvPr/>
          </p:nvSpPr>
          <p:spPr>
            <a:xfrm>
              <a:off x="0" y="0"/>
              <a:ext cx="11250549" cy="6251829"/>
            </a:xfrm>
            <a:custGeom>
              <a:avLst/>
              <a:gdLst/>
              <a:ahLst/>
              <a:cxnLst/>
              <a:rect l="l" t="t" r="r" b="b"/>
              <a:pathLst>
                <a:path w="11250549" h="6251829">
                  <a:moveTo>
                    <a:pt x="0" y="245237"/>
                  </a:moveTo>
                  <a:cubicBezTo>
                    <a:pt x="0" y="109728"/>
                    <a:pt x="109728" y="0"/>
                    <a:pt x="245237" y="0"/>
                  </a:cubicBezTo>
                  <a:lnTo>
                    <a:pt x="11005312" y="0"/>
                  </a:lnTo>
                  <a:cubicBezTo>
                    <a:pt x="11140694" y="0"/>
                    <a:pt x="11250549" y="109728"/>
                    <a:pt x="11250549" y="245237"/>
                  </a:cubicBezTo>
                  <a:lnTo>
                    <a:pt x="11250549" y="6006592"/>
                  </a:lnTo>
                  <a:cubicBezTo>
                    <a:pt x="11250549" y="6141974"/>
                    <a:pt x="11140821" y="6251829"/>
                    <a:pt x="11005312" y="6251829"/>
                  </a:cubicBezTo>
                  <a:lnTo>
                    <a:pt x="245237" y="6251829"/>
                  </a:lnTo>
                  <a:cubicBezTo>
                    <a:pt x="109728" y="6251829"/>
                    <a:pt x="0" y="6141974"/>
                    <a:pt x="0" y="6006592"/>
                  </a:cubicBezTo>
                  <a:close/>
                </a:path>
              </a:pathLst>
            </a:custGeom>
            <a:solidFill>
              <a:srgbClr val="101F24"/>
            </a:solidFill>
            <a:ln w="25400" cap="sq">
              <a:solidFill>
                <a:srgbClr val="D8E8F8"/>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73" name="Group 73"/>
          <p:cNvGrpSpPr/>
          <p:nvPr/>
        </p:nvGrpSpPr>
        <p:grpSpPr>
          <a:xfrm>
            <a:off x="9509760" y="5084064"/>
            <a:ext cx="7680960" cy="694944"/>
            <a:chOff x="0" y="0"/>
            <a:chExt cx="10241280" cy="926592"/>
          </a:xfrm>
        </p:grpSpPr>
        <p:sp>
          <p:nvSpPr>
            <p:cNvPr id="74" name="Freeform 74"/>
            <p:cNvSpPr/>
            <p:nvPr/>
          </p:nvSpPr>
          <p:spPr>
            <a:xfrm>
              <a:off x="0" y="0"/>
              <a:ext cx="10241280" cy="926592"/>
            </a:xfrm>
            <a:custGeom>
              <a:avLst/>
              <a:gdLst/>
              <a:ahLst/>
              <a:cxnLst/>
              <a:rect l="l" t="t" r="r" b="b"/>
              <a:pathLst>
                <a:path w="10241280" h="926592">
                  <a:moveTo>
                    <a:pt x="0" y="0"/>
                  </a:moveTo>
                  <a:lnTo>
                    <a:pt x="10241280" y="0"/>
                  </a:lnTo>
                  <a:lnTo>
                    <a:pt x="10241280" y="926592"/>
                  </a:lnTo>
                  <a:lnTo>
                    <a:pt x="0" y="926592"/>
                  </a:lnTo>
                  <a:close/>
                </a:path>
              </a:pathLst>
            </a:custGeom>
            <a:blipFill>
              <a:blip r:embed="rId3">
                <a:alphaModFix amt="0"/>
              </a:blip>
              <a:stretch>
                <a:fillRect t="-165360" b="-165360"/>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75" name="TextBox 75"/>
            <p:cNvSpPr txBox="1"/>
            <p:nvPr/>
          </p:nvSpPr>
          <p:spPr>
            <a:xfrm>
              <a:off x="0" y="9525"/>
              <a:ext cx="10241280" cy="917067"/>
            </a:xfrm>
            <a:prstGeom prst="rect">
              <a:avLst/>
            </a:prstGeom>
          </p:spPr>
          <p:txBody>
            <a:bodyPr lIns="0" tIns="0" rIns="0" bIns="0" rtlCol="0" anchor="ctr"/>
            <a:lstStyle/>
            <a:p>
              <a:pPr algn="l">
                <a:lnSpc>
                  <a:spcPts val="3359"/>
                </a:lnSpc>
              </a:pPr>
              <a:r>
                <a:rPr lang="en-US" sz="2799" spc="140" dirty="0">
                  <a:solidFill>
                    <a:srgbClr val="B29E84"/>
                  </a:solidFill>
                  <a:latin typeface="Times New Roman" panose="02020603050405020304" pitchFamily="18" charset="0"/>
                  <a:ea typeface="Playfair Display Italics"/>
                  <a:cs typeface="Times New Roman" panose="02020603050405020304" pitchFamily="18" charset="0"/>
                  <a:sym typeface="Playfair Display Italics"/>
                </a:rPr>
                <a:t>Two Advantages</a:t>
              </a:r>
            </a:p>
          </p:txBody>
        </p:sp>
      </p:grpSp>
      <p:grpSp>
        <p:nvGrpSpPr>
          <p:cNvPr id="76" name="Group 76"/>
          <p:cNvGrpSpPr/>
          <p:nvPr/>
        </p:nvGrpSpPr>
        <p:grpSpPr>
          <a:xfrm>
            <a:off x="9509760" y="5852160"/>
            <a:ext cx="7680960" cy="3566160"/>
            <a:chOff x="0" y="0"/>
            <a:chExt cx="10241280" cy="4754880"/>
          </a:xfrm>
        </p:grpSpPr>
        <p:sp>
          <p:nvSpPr>
            <p:cNvPr id="77" name="Freeform 77"/>
            <p:cNvSpPr/>
            <p:nvPr/>
          </p:nvSpPr>
          <p:spPr>
            <a:xfrm>
              <a:off x="0" y="0"/>
              <a:ext cx="10241280" cy="4754880"/>
            </a:xfrm>
            <a:custGeom>
              <a:avLst/>
              <a:gdLst/>
              <a:ahLst/>
              <a:cxnLst/>
              <a:rect l="l" t="t" r="r" b="b"/>
              <a:pathLst>
                <a:path w="10241280" h="4754880">
                  <a:moveTo>
                    <a:pt x="0" y="0"/>
                  </a:moveTo>
                  <a:lnTo>
                    <a:pt x="10241280" y="0"/>
                  </a:lnTo>
                  <a:lnTo>
                    <a:pt x="10241280" y="4754880"/>
                  </a:lnTo>
                  <a:lnTo>
                    <a:pt x="0" y="4754880"/>
                  </a:lnTo>
                  <a:close/>
                </a:path>
              </a:pathLst>
            </a:custGeom>
            <a:blipFill>
              <a:blip r:embed="rId3">
                <a:alphaModFix amt="0"/>
              </a:blip>
              <a:stretch>
                <a:fillRect l="-9569" r="-9569"/>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78" name="TextBox 78"/>
            <p:cNvSpPr txBox="1"/>
            <p:nvPr/>
          </p:nvSpPr>
          <p:spPr>
            <a:xfrm>
              <a:off x="0" y="0"/>
              <a:ext cx="10241280" cy="4754880"/>
            </a:xfrm>
            <a:prstGeom prst="rect">
              <a:avLst/>
            </a:prstGeom>
          </p:spPr>
          <p:txBody>
            <a:bodyPr lIns="0" tIns="0" rIns="0" bIns="0" rtlCol="0" anchor="ctr"/>
            <a:lstStyle/>
            <a:p>
              <a:pPr algn="l">
                <a:lnSpc>
                  <a:spcPts val="3120"/>
                </a:lnSpc>
              </a:pPr>
              <a:r>
                <a:rPr lang="en-US" sz="2600" spc="52">
                  <a:solidFill>
                    <a:srgbClr val="B29E84"/>
                  </a:solidFill>
                  <a:latin typeface="Times New Roman" panose="02020603050405020304" pitchFamily="18" charset="0"/>
                  <a:ea typeface="Playfair Display"/>
                  <a:cs typeface="Times New Roman" panose="02020603050405020304" pitchFamily="18" charset="0"/>
                  <a:sym typeface="Playfair Display"/>
                </a:rPr>
                <a:t>1. Expressivity: Captures both local and higher-order (multi-hop) neighborhood structure naturally.</a:t>
              </a:r>
            </a:p>
            <a:p>
              <a:pPr algn="l">
                <a:lnSpc>
                  <a:spcPts val="3120"/>
                </a:lnSpc>
              </a:pPr>
              <a:endParaRPr lang="en-US" sz="2600" spc="52">
                <a:solidFill>
                  <a:srgbClr val="B29E84"/>
                </a:solidFill>
                <a:latin typeface="Times New Roman" panose="02020603050405020304" pitchFamily="18" charset="0"/>
                <a:ea typeface="Playfair Display"/>
                <a:cs typeface="Times New Roman" panose="02020603050405020304" pitchFamily="18" charset="0"/>
                <a:sym typeface="Playfair Display"/>
              </a:endParaRPr>
            </a:p>
            <a:p>
              <a:pPr algn="l">
                <a:lnSpc>
                  <a:spcPts val="3120"/>
                </a:lnSpc>
              </a:pPr>
              <a:endParaRPr lang="en-US" sz="2600" spc="52">
                <a:solidFill>
                  <a:srgbClr val="B29E84"/>
                </a:solidFill>
                <a:latin typeface="Times New Roman" panose="02020603050405020304" pitchFamily="18" charset="0"/>
                <a:ea typeface="Playfair Display"/>
                <a:cs typeface="Times New Roman" panose="02020603050405020304" pitchFamily="18" charset="0"/>
                <a:sym typeface="Playfair Display"/>
              </a:endParaRPr>
            </a:p>
            <a:p>
              <a:pPr algn="l">
                <a:lnSpc>
                  <a:spcPts val="3120"/>
                </a:lnSpc>
              </a:pPr>
              <a:r>
                <a:rPr lang="en-US" sz="2600" spc="52">
                  <a:solidFill>
                    <a:srgbClr val="B29E84"/>
                  </a:solidFill>
                  <a:latin typeface="Times New Roman" panose="02020603050405020304" pitchFamily="18" charset="0"/>
                  <a:ea typeface="Playfair Display"/>
                  <a:cs typeface="Times New Roman" panose="02020603050405020304" pitchFamily="18" charset="0"/>
                  <a:sym typeface="Playfair Display"/>
                </a:rPr>
                <a:t>2. Efficiency: Only trains on pairs that co-occurred — no need to consider all O(|V|²) pairs.</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53439"/>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0" y="0"/>
              <a:ext cx="24417910" cy="1789557"/>
            </a:xfrm>
            <a:custGeom>
              <a:avLst/>
              <a:gdLst/>
              <a:ahLst/>
              <a:cxnLst/>
              <a:rect l="l" t="t" r="r" b="b"/>
              <a:pathLst>
                <a:path w="24417910" h="1789557">
                  <a:moveTo>
                    <a:pt x="0" y="0"/>
                  </a:moveTo>
                  <a:lnTo>
                    <a:pt x="24417910" y="0"/>
                  </a:lnTo>
                  <a:lnTo>
                    <a:pt x="24417910" y="1789557"/>
                  </a:lnTo>
                  <a:lnTo>
                    <a:pt x="0" y="1789557"/>
                  </a:lnTo>
                  <a:close/>
                </a:path>
              </a:pathLst>
            </a:custGeom>
            <a:solidFill>
              <a:srgbClr val="FFFFFF"/>
            </a:solidFill>
            <a:ln w="25400" cap="sq">
              <a:solidFill>
                <a:srgbClr val="1A3461"/>
              </a:solidFill>
              <a:prstDash val="solid"/>
              <a:miter/>
            </a:ln>
          </p:spPr>
          <p:txBody>
            <a:bodyPr/>
            <a:lstStyle/>
            <a:p>
              <a:endParaRPr lang="en-IN"/>
            </a:p>
          </p:txBody>
        </p:sp>
      </p:grpSp>
      <p:grpSp>
        <p:nvGrpSpPr>
          <p:cNvPr id="4" name="Group 4"/>
          <p:cNvGrpSpPr/>
          <p:nvPr/>
        </p:nvGrpSpPr>
        <p:grpSpPr>
          <a:xfrm>
            <a:off x="731520" y="0"/>
            <a:ext cx="16824960" cy="1316736"/>
            <a:chOff x="0" y="0"/>
            <a:chExt cx="22433280" cy="1755648"/>
          </a:xfrm>
        </p:grpSpPr>
        <p:sp>
          <p:nvSpPr>
            <p:cNvPr id="5" name="Freeform 5"/>
            <p:cNvSpPr/>
            <p:nvPr/>
          </p:nvSpPr>
          <p:spPr>
            <a:xfrm>
              <a:off x="0" y="0"/>
              <a:ext cx="22433280" cy="1755648"/>
            </a:xfrm>
            <a:custGeom>
              <a:avLst/>
              <a:gdLst/>
              <a:ahLst/>
              <a:cxnLst/>
              <a:rect l="l" t="t" r="r" b="b"/>
              <a:pathLst>
                <a:path w="22433280" h="1755648">
                  <a:moveTo>
                    <a:pt x="0" y="0"/>
                  </a:moveTo>
                  <a:lnTo>
                    <a:pt x="22433280" y="0"/>
                  </a:lnTo>
                  <a:lnTo>
                    <a:pt x="22433280" y="1755648"/>
                  </a:lnTo>
                  <a:lnTo>
                    <a:pt x="0" y="1755648"/>
                  </a:lnTo>
                  <a:close/>
                </a:path>
              </a:pathLst>
            </a:custGeom>
            <a:blipFill>
              <a:blip r:embed="rId3">
                <a:alphaModFix amt="0"/>
              </a:blip>
              <a:stretch>
                <a:fillRect t="-198975" b="-198975"/>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6" name="TextBox 6"/>
            <p:cNvSpPr txBox="1"/>
            <p:nvPr/>
          </p:nvSpPr>
          <p:spPr>
            <a:xfrm>
              <a:off x="0" y="-9525"/>
              <a:ext cx="22433280" cy="1765173"/>
            </a:xfrm>
            <a:prstGeom prst="rect">
              <a:avLst/>
            </a:prstGeom>
          </p:spPr>
          <p:txBody>
            <a:bodyPr lIns="0" tIns="0" rIns="0" bIns="0" rtlCol="0" anchor="ctr"/>
            <a:lstStyle/>
            <a:p>
              <a:pPr algn="l">
                <a:lnSpc>
                  <a:spcPts val="4800"/>
                </a:lnSpc>
              </a:pPr>
              <a:r>
                <a:rPr lang="en-US" sz="4000" spc="560" dirty="0">
                  <a:latin typeface="Times New Roman" panose="02020603050405020304" pitchFamily="18" charset="0"/>
                  <a:ea typeface="Hammersmith One"/>
                  <a:cs typeface="Times New Roman" panose="02020603050405020304" pitchFamily="18" charset="0"/>
                  <a:sym typeface="Hammersmith One"/>
                </a:rPr>
                <a:t>Deep Walk – Algorithm and Math</a:t>
              </a:r>
            </a:p>
          </p:txBody>
        </p:sp>
      </p:grpSp>
      <p:sp>
        <p:nvSpPr>
          <p:cNvPr id="8" name="Freeform 8"/>
          <p:cNvSpPr/>
          <p:nvPr/>
        </p:nvSpPr>
        <p:spPr>
          <a:xfrm>
            <a:off x="731520" y="73152"/>
            <a:ext cx="16459200" cy="402336"/>
          </a:xfrm>
          <a:custGeom>
            <a:avLst/>
            <a:gdLst/>
            <a:ahLst/>
            <a:cxnLst/>
            <a:rect l="l" t="t" r="r" b="b"/>
            <a:pathLst>
              <a:path w="21945600" h="536448">
                <a:moveTo>
                  <a:pt x="0" y="0"/>
                </a:moveTo>
                <a:lnTo>
                  <a:pt x="21945600" y="0"/>
                </a:lnTo>
                <a:lnTo>
                  <a:pt x="21945600" y="536448"/>
                </a:lnTo>
                <a:lnTo>
                  <a:pt x="0" y="536448"/>
                </a:lnTo>
                <a:close/>
              </a:path>
            </a:pathLst>
          </a:custGeom>
          <a:blipFill>
            <a:blip r:embed="rId3">
              <a:alphaModFix amt="0"/>
            </a:blip>
            <a:stretch>
              <a:fillRect t="-747115" b="-747115"/>
            </a:stretch>
          </a:blipFill>
        </p:spPr>
        <p:txBody>
          <a:bodyPr/>
          <a:lstStyle/>
          <a:p>
            <a:endParaRPr lang="en-IN">
              <a:latin typeface="Times New Roman" panose="02020603050405020304" pitchFamily="18" charset="0"/>
              <a:cs typeface="Times New Roman" panose="02020603050405020304" pitchFamily="18" charset="0"/>
            </a:endParaRPr>
          </a:p>
        </p:txBody>
      </p:sp>
      <p:grpSp>
        <p:nvGrpSpPr>
          <p:cNvPr id="10" name="Group 10"/>
          <p:cNvGrpSpPr/>
          <p:nvPr/>
        </p:nvGrpSpPr>
        <p:grpSpPr>
          <a:xfrm>
            <a:off x="535943" y="1541783"/>
            <a:ext cx="9169403" cy="2073659"/>
            <a:chOff x="0" y="0"/>
            <a:chExt cx="12225871" cy="2764879"/>
          </a:xfrm>
        </p:grpSpPr>
        <p:sp>
          <p:nvSpPr>
            <p:cNvPr id="11" name="Freeform 11"/>
            <p:cNvSpPr/>
            <p:nvPr/>
          </p:nvSpPr>
          <p:spPr>
            <a:xfrm>
              <a:off x="0" y="0"/>
              <a:ext cx="12225909" cy="2764917"/>
            </a:xfrm>
            <a:custGeom>
              <a:avLst/>
              <a:gdLst/>
              <a:ahLst/>
              <a:cxnLst/>
              <a:rect l="l" t="t" r="r" b="b"/>
              <a:pathLst>
                <a:path w="12225909" h="2764917">
                  <a:moveTo>
                    <a:pt x="0" y="246888"/>
                  </a:moveTo>
                  <a:cubicBezTo>
                    <a:pt x="0" y="110490"/>
                    <a:pt x="110490" y="0"/>
                    <a:pt x="246888" y="0"/>
                  </a:cubicBezTo>
                  <a:lnTo>
                    <a:pt x="11979021" y="0"/>
                  </a:lnTo>
                  <a:cubicBezTo>
                    <a:pt x="12115419" y="0"/>
                    <a:pt x="12225909" y="110490"/>
                    <a:pt x="12225909" y="246888"/>
                  </a:cubicBezTo>
                  <a:lnTo>
                    <a:pt x="12225909" y="2518029"/>
                  </a:lnTo>
                  <a:cubicBezTo>
                    <a:pt x="12225909" y="2654427"/>
                    <a:pt x="12115419" y="2764917"/>
                    <a:pt x="11979021" y="2764917"/>
                  </a:cubicBezTo>
                  <a:lnTo>
                    <a:pt x="246888" y="2764917"/>
                  </a:lnTo>
                  <a:cubicBezTo>
                    <a:pt x="110490" y="2764917"/>
                    <a:pt x="0" y="2654300"/>
                    <a:pt x="0" y="2518029"/>
                  </a:cubicBezTo>
                  <a:close/>
                </a:path>
              </a:pathLst>
            </a:custGeom>
            <a:solidFill>
              <a:srgbClr val="7C898B"/>
            </a:solidFill>
            <a:ln w="25400" cap="sq">
              <a:solidFill>
                <a:srgbClr val="D8E8F8"/>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12" name="Group 12"/>
          <p:cNvGrpSpPr/>
          <p:nvPr/>
        </p:nvGrpSpPr>
        <p:grpSpPr>
          <a:xfrm>
            <a:off x="828551" y="1688087"/>
            <a:ext cx="939803" cy="939803"/>
            <a:chOff x="0" y="0"/>
            <a:chExt cx="1253071" cy="1253071"/>
          </a:xfrm>
        </p:grpSpPr>
        <p:sp>
          <p:nvSpPr>
            <p:cNvPr id="13" name="Freeform 13"/>
            <p:cNvSpPr/>
            <p:nvPr/>
          </p:nvSpPr>
          <p:spPr>
            <a:xfrm>
              <a:off x="0" y="0"/>
              <a:ext cx="1253109" cy="1253109"/>
            </a:xfrm>
            <a:custGeom>
              <a:avLst/>
              <a:gdLst/>
              <a:ahLst/>
              <a:cxnLst/>
              <a:rect l="l" t="t" r="r" b="b"/>
              <a:pathLst>
                <a:path w="1253109" h="1253109">
                  <a:moveTo>
                    <a:pt x="0" y="626491"/>
                  </a:moveTo>
                  <a:cubicBezTo>
                    <a:pt x="0" y="280543"/>
                    <a:pt x="280543" y="0"/>
                    <a:pt x="626491" y="0"/>
                  </a:cubicBezTo>
                  <a:cubicBezTo>
                    <a:pt x="972439" y="0"/>
                    <a:pt x="1253109" y="280543"/>
                    <a:pt x="1253109" y="626491"/>
                  </a:cubicBezTo>
                  <a:cubicBezTo>
                    <a:pt x="1253109" y="972439"/>
                    <a:pt x="972566" y="1253109"/>
                    <a:pt x="626491" y="1253109"/>
                  </a:cubicBezTo>
                  <a:cubicBezTo>
                    <a:pt x="280416" y="1253109"/>
                    <a:pt x="0" y="972566"/>
                    <a:pt x="0" y="626491"/>
                  </a:cubicBezTo>
                  <a:close/>
                </a:path>
              </a:pathLst>
            </a:custGeom>
            <a:solidFill>
              <a:srgbClr val="FFFFFF"/>
            </a:solidFill>
            <a:ln w="25400" cap="sq">
              <a:solidFill>
                <a:srgbClr val="1E5FA8"/>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14" name="Group 14"/>
          <p:cNvGrpSpPr/>
          <p:nvPr/>
        </p:nvGrpSpPr>
        <p:grpSpPr>
          <a:xfrm>
            <a:off x="841248" y="1700784"/>
            <a:ext cx="914400" cy="914400"/>
            <a:chOff x="0" y="0"/>
            <a:chExt cx="1219200" cy="1219200"/>
          </a:xfrm>
        </p:grpSpPr>
        <p:sp>
          <p:nvSpPr>
            <p:cNvPr id="15" name="Freeform 15"/>
            <p:cNvSpPr/>
            <p:nvPr/>
          </p:nvSpPr>
          <p:spPr>
            <a:xfrm>
              <a:off x="0" y="0"/>
              <a:ext cx="1219200" cy="1219200"/>
            </a:xfrm>
            <a:custGeom>
              <a:avLst/>
              <a:gdLst/>
              <a:ahLst/>
              <a:cxnLst/>
              <a:rect l="l" t="t" r="r" b="b"/>
              <a:pathLst>
                <a:path w="1219200" h="1219200">
                  <a:moveTo>
                    <a:pt x="0" y="0"/>
                  </a:moveTo>
                  <a:lnTo>
                    <a:pt x="1219200" y="0"/>
                  </a:lnTo>
                  <a:lnTo>
                    <a:pt x="1219200" y="1219200"/>
                  </a:lnTo>
                  <a:lnTo>
                    <a:pt x="0" y="1219200"/>
                  </a:lnTo>
                  <a:close/>
                </a:path>
              </a:pathLst>
            </a:custGeom>
            <a:blipFill>
              <a:blip r:embed="rId3">
                <a:alphaModFix amt="0"/>
              </a:blip>
              <a:stretch>
                <a:fillRect l="-78303" r="-78303"/>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16" name="TextBox 16"/>
            <p:cNvSpPr txBox="1"/>
            <p:nvPr/>
          </p:nvSpPr>
          <p:spPr>
            <a:xfrm>
              <a:off x="0" y="0"/>
              <a:ext cx="1219200" cy="1219200"/>
            </a:xfrm>
            <a:prstGeom prst="rect">
              <a:avLst/>
            </a:prstGeom>
          </p:spPr>
          <p:txBody>
            <a:bodyPr lIns="0" tIns="0" rIns="0" bIns="0" rtlCol="0" anchor="ctr"/>
            <a:lstStyle/>
            <a:p>
              <a:pPr algn="ctr">
                <a:lnSpc>
                  <a:spcPts val="2400"/>
                </a:lnSpc>
              </a:pPr>
              <a:r>
                <a:rPr lang="en-US" sz="2000" spc="40" dirty="0">
                  <a:latin typeface="Times New Roman" panose="02020603050405020304" pitchFamily="18" charset="0"/>
                  <a:ea typeface="Playfair Display"/>
                  <a:cs typeface="Times New Roman" panose="02020603050405020304" pitchFamily="18" charset="0"/>
                  <a:sym typeface="Playfair Display"/>
                </a:rPr>
                <a:t>Step 1</a:t>
              </a:r>
            </a:p>
          </p:txBody>
        </p:sp>
      </p:grpSp>
      <p:grpSp>
        <p:nvGrpSpPr>
          <p:cNvPr id="17" name="Group 17"/>
          <p:cNvGrpSpPr/>
          <p:nvPr/>
        </p:nvGrpSpPr>
        <p:grpSpPr>
          <a:xfrm>
            <a:off x="1975104" y="1609344"/>
            <a:ext cx="7498080" cy="694944"/>
            <a:chOff x="0" y="0"/>
            <a:chExt cx="9997440" cy="926592"/>
          </a:xfrm>
        </p:grpSpPr>
        <p:sp>
          <p:nvSpPr>
            <p:cNvPr id="18" name="Freeform 18"/>
            <p:cNvSpPr/>
            <p:nvPr/>
          </p:nvSpPr>
          <p:spPr>
            <a:xfrm>
              <a:off x="0" y="0"/>
              <a:ext cx="9997440" cy="926592"/>
            </a:xfrm>
            <a:custGeom>
              <a:avLst/>
              <a:gdLst/>
              <a:ahLst/>
              <a:cxnLst/>
              <a:rect l="l" t="t" r="r" b="b"/>
              <a:pathLst>
                <a:path w="9997440" h="926592">
                  <a:moveTo>
                    <a:pt x="0" y="0"/>
                  </a:moveTo>
                  <a:lnTo>
                    <a:pt x="9997440" y="0"/>
                  </a:lnTo>
                  <a:lnTo>
                    <a:pt x="9997440" y="926592"/>
                  </a:lnTo>
                  <a:lnTo>
                    <a:pt x="0" y="926592"/>
                  </a:lnTo>
                  <a:close/>
                </a:path>
              </a:pathLst>
            </a:custGeom>
            <a:blipFill>
              <a:blip r:embed="rId3">
                <a:alphaModFix amt="0"/>
              </a:blip>
              <a:stretch>
                <a:fillRect t="-160233" b="-160233"/>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19" name="TextBox 19"/>
            <p:cNvSpPr txBox="1"/>
            <p:nvPr/>
          </p:nvSpPr>
          <p:spPr>
            <a:xfrm>
              <a:off x="0" y="0"/>
              <a:ext cx="9997440" cy="926592"/>
            </a:xfrm>
            <a:prstGeom prst="rect">
              <a:avLst/>
            </a:prstGeom>
          </p:spPr>
          <p:txBody>
            <a:bodyPr lIns="0" tIns="0" rIns="0" bIns="0" rtlCol="0" anchor="ctr"/>
            <a:lstStyle/>
            <a:p>
              <a:pPr algn="l">
                <a:lnSpc>
                  <a:spcPts val="3120"/>
                </a:lnSpc>
              </a:pPr>
              <a:r>
                <a:rPr lang="en-US" sz="2600" spc="130" dirty="0">
                  <a:latin typeface="Times New Roman" panose="02020603050405020304" pitchFamily="18" charset="0"/>
                  <a:ea typeface="Playfair Display Italics"/>
                  <a:cs typeface="Times New Roman" panose="02020603050405020304" pitchFamily="18" charset="0"/>
                  <a:sym typeface="Playfair Display Italics"/>
                </a:rPr>
                <a:t>Run Walks</a:t>
              </a:r>
            </a:p>
          </p:txBody>
        </p:sp>
      </p:grpSp>
      <p:grpSp>
        <p:nvGrpSpPr>
          <p:cNvPr id="20" name="Group 20"/>
          <p:cNvGrpSpPr/>
          <p:nvPr/>
        </p:nvGrpSpPr>
        <p:grpSpPr>
          <a:xfrm>
            <a:off x="1975104" y="2340864"/>
            <a:ext cx="7498080" cy="1210818"/>
            <a:chOff x="0" y="0"/>
            <a:chExt cx="9997440" cy="1614424"/>
          </a:xfrm>
        </p:grpSpPr>
        <p:sp>
          <p:nvSpPr>
            <p:cNvPr id="21" name="Freeform 21"/>
            <p:cNvSpPr/>
            <p:nvPr/>
          </p:nvSpPr>
          <p:spPr>
            <a:xfrm>
              <a:off x="0" y="0"/>
              <a:ext cx="9997440" cy="1614424"/>
            </a:xfrm>
            <a:custGeom>
              <a:avLst/>
              <a:gdLst/>
              <a:ahLst/>
              <a:cxnLst/>
              <a:rect l="l" t="t" r="r" b="b"/>
              <a:pathLst>
                <a:path w="9997440" h="1614424">
                  <a:moveTo>
                    <a:pt x="0" y="0"/>
                  </a:moveTo>
                  <a:lnTo>
                    <a:pt x="9997440" y="0"/>
                  </a:lnTo>
                  <a:lnTo>
                    <a:pt x="9997440" y="1614424"/>
                  </a:lnTo>
                  <a:lnTo>
                    <a:pt x="0" y="1614424"/>
                  </a:lnTo>
                  <a:close/>
                </a:path>
              </a:pathLst>
            </a:custGeom>
            <a:blipFill>
              <a:blip r:embed="rId3">
                <a:alphaModFix amt="0"/>
              </a:blip>
              <a:stretch>
                <a:fillRect t="-73840" b="-67484"/>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22" name="TextBox 22"/>
            <p:cNvSpPr txBox="1"/>
            <p:nvPr/>
          </p:nvSpPr>
          <p:spPr>
            <a:xfrm>
              <a:off x="0" y="0"/>
              <a:ext cx="9997440" cy="1614424"/>
            </a:xfrm>
            <a:prstGeom prst="rect">
              <a:avLst/>
            </a:prstGeom>
          </p:spPr>
          <p:txBody>
            <a:bodyPr lIns="0" tIns="0" rIns="0" bIns="0" rtlCol="0" anchor="ctr"/>
            <a:lstStyle/>
            <a:p>
              <a:pPr algn="l">
                <a:lnSpc>
                  <a:spcPts val="2879"/>
                </a:lnSpc>
              </a:pPr>
              <a:r>
                <a:rPr lang="en-US" sz="2400" spc="48" dirty="0">
                  <a:latin typeface="Times New Roman" panose="02020603050405020304" pitchFamily="18" charset="0"/>
                  <a:ea typeface="Playfair Display"/>
                  <a:cs typeface="Times New Roman" panose="02020603050405020304" pitchFamily="18" charset="0"/>
                  <a:sym typeface="Playfair Display"/>
                </a:rPr>
                <a:t>For every node u ∈ V, generate γ random walks of fixed length T. Each walk starts at u and moves to a random neighbor at each step.</a:t>
              </a:r>
            </a:p>
          </p:txBody>
        </p:sp>
      </p:grpSp>
      <p:grpSp>
        <p:nvGrpSpPr>
          <p:cNvPr id="23" name="Group 23"/>
          <p:cNvGrpSpPr/>
          <p:nvPr/>
        </p:nvGrpSpPr>
        <p:grpSpPr>
          <a:xfrm>
            <a:off x="535943" y="3772919"/>
            <a:ext cx="9169403" cy="2073659"/>
            <a:chOff x="0" y="0"/>
            <a:chExt cx="12225871" cy="2764879"/>
          </a:xfrm>
        </p:grpSpPr>
        <p:sp>
          <p:nvSpPr>
            <p:cNvPr id="24" name="Freeform 24"/>
            <p:cNvSpPr/>
            <p:nvPr/>
          </p:nvSpPr>
          <p:spPr>
            <a:xfrm>
              <a:off x="0" y="0"/>
              <a:ext cx="12225909" cy="2764917"/>
            </a:xfrm>
            <a:custGeom>
              <a:avLst/>
              <a:gdLst/>
              <a:ahLst/>
              <a:cxnLst/>
              <a:rect l="l" t="t" r="r" b="b"/>
              <a:pathLst>
                <a:path w="12225909" h="2764917">
                  <a:moveTo>
                    <a:pt x="0" y="246888"/>
                  </a:moveTo>
                  <a:cubicBezTo>
                    <a:pt x="0" y="110490"/>
                    <a:pt x="110490" y="0"/>
                    <a:pt x="246888" y="0"/>
                  </a:cubicBezTo>
                  <a:lnTo>
                    <a:pt x="11979021" y="0"/>
                  </a:lnTo>
                  <a:cubicBezTo>
                    <a:pt x="12115419" y="0"/>
                    <a:pt x="12225909" y="110490"/>
                    <a:pt x="12225909" y="246888"/>
                  </a:cubicBezTo>
                  <a:lnTo>
                    <a:pt x="12225909" y="2518029"/>
                  </a:lnTo>
                  <a:cubicBezTo>
                    <a:pt x="12225909" y="2654427"/>
                    <a:pt x="12115419" y="2764917"/>
                    <a:pt x="11979021" y="2764917"/>
                  </a:cubicBezTo>
                  <a:lnTo>
                    <a:pt x="246888" y="2764917"/>
                  </a:lnTo>
                  <a:cubicBezTo>
                    <a:pt x="110490" y="2764917"/>
                    <a:pt x="0" y="2654300"/>
                    <a:pt x="0" y="2518029"/>
                  </a:cubicBezTo>
                  <a:close/>
                </a:path>
              </a:pathLst>
            </a:custGeom>
            <a:solidFill>
              <a:srgbClr val="7C898B"/>
            </a:solidFill>
            <a:ln w="25400" cap="sq">
              <a:solidFill>
                <a:srgbClr val="D8E8F8"/>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25" name="Group 25"/>
          <p:cNvGrpSpPr/>
          <p:nvPr/>
        </p:nvGrpSpPr>
        <p:grpSpPr>
          <a:xfrm>
            <a:off x="828551" y="3919223"/>
            <a:ext cx="939803" cy="939803"/>
            <a:chOff x="0" y="0"/>
            <a:chExt cx="1253071" cy="1253071"/>
          </a:xfrm>
        </p:grpSpPr>
        <p:sp>
          <p:nvSpPr>
            <p:cNvPr id="26" name="Freeform 26"/>
            <p:cNvSpPr/>
            <p:nvPr/>
          </p:nvSpPr>
          <p:spPr>
            <a:xfrm>
              <a:off x="0" y="0"/>
              <a:ext cx="1253109" cy="1253109"/>
            </a:xfrm>
            <a:custGeom>
              <a:avLst/>
              <a:gdLst/>
              <a:ahLst/>
              <a:cxnLst/>
              <a:rect l="l" t="t" r="r" b="b"/>
              <a:pathLst>
                <a:path w="1253109" h="1253109">
                  <a:moveTo>
                    <a:pt x="0" y="626491"/>
                  </a:moveTo>
                  <a:cubicBezTo>
                    <a:pt x="0" y="280543"/>
                    <a:pt x="280543" y="0"/>
                    <a:pt x="626491" y="0"/>
                  </a:cubicBezTo>
                  <a:cubicBezTo>
                    <a:pt x="972439" y="0"/>
                    <a:pt x="1253109" y="280543"/>
                    <a:pt x="1253109" y="626491"/>
                  </a:cubicBezTo>
                  <a:cubicBezTo>
                    <a:pt x="1253109" y="972439"/>
                    <a:pt x="972566" y="1253109"/>
                    <a:pt x="626491" y="1253109"/>
                  </a:cubicBezTo>
                  <a:cubicBezTo>
                    <a:pt x="280416" y="1253109"/>
                    <a:pt x="0" y="972566"/>
                    <a:pt x="0" y="626491"/>
                  </a:cubicBezTo>
                  <a:close/>
                </a:path>
              </a:pathLst>
            </a:custGeom>
            <a:solidFill>
              <a:srgbClr val="FFFFFF"/>
            </a:solidFill>
            <a:ln w="25400" cap="sq">
              <a:solidFill>
                <a:srgbClr val="1E5FA8"/>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27" name="Group 27"/>
          <p:cNvGrpSpPr/>
          <p:nvPr/>
        </p:nvGrpSpPr>
        <p:grpSpPr>
          <a:xfrm>
            <a:off x="841248" y="3931920"/>
            <a:ext cx="914400" cy="914400"/>
            <a:chOff x="0" y="0"/>
            <a:chExt cx="1219200" cy="1219200"/>
          </a:xfrm>
        </p:grpSpPr>
        <p:sp>
          <p:nvSpPr>
            <p:cNvPr id="28" name="Freeform 28"/>
            <p:cNvSpPr/>
            <p:nvPr/>
          </p:nvSpPr>
          <p:spPr>
            <a:xfrm>
              <a:off x="0" y="0"/>
              <a:ext cx="1219200" cy="1219200"/>
            </a:xfrm>
            <a:custGeom>
              <a:avLst/>
              <a:gdLst/>
              <a:ahLst/>
              <a:cxnLst/>
              <a:rect l="l" t="t" r="r" b="b"/>
              <a:pathLst>
                <a:path w="1219200" h="1219200">
                  <a:moveTo>
                    <a:pt x="0" y="0"/>
                  </a:moveTo>
                  <a:lnTo>
                    <a:pt x="1219200" y="0"/>
                  </a:lnTo>
                  <a:lnTo>
                    <a:pt x="1219200" y="1219200"/>
                  </a:lnTo>
                  <a:lnTo>
                    <a:pt x="0" y="1219200"/>
                  </a:lnTo>
                  <a:close/>
                </a:path>
              </a:pathLst>
            </a:custGeom>
            <a:blipFill>
              <a:blip r:embed="rId3">
                <a:alphaModFix amt="0"/>
              </a:blip>
              <a:stretch>
                <a:fillRect l="-78303" r="-78303"/>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29" name="TextBox 29"/>
            <p:cNvSpPr txBox="1"/>
            <p:nvPr/>
          </p:nvSpPr>
          <p:spPr>
            <a:xfrm>
              <a:off x="0" y="0"/>
              <a:ext cx="1219200" cy="1219200"/>
            </a:xfrm>
            <a:prstGeom prst="rect">
              <a:avLst/>
            </a:prstGeom>
          </p:spPr>
          <p:txBody>
            <a:bodyPr lIns="0" tIns="0" rIns="0" bIns="0" rtlCol="0" anchor="ctr"/>
            <a:lstStyle/>
            <a:p>
              <a:pPr algn="ctr">
                <a:lnSpc>
                  <a:spcPts val="2400"/>
                </a:lnSpc>
              </a:pPr>
              <a:r>
                <a:rPr lang="en-US" sz="2000" spc="40">
                  <a:latin typeface="Times New Roman" panose="02020603050405020304" pitchFamily="18" charset="0"/>
                  <a:ea typeface="Playfair Display"/>
                  <a:cs typeface="Times New Roman" panose="02020603050405020304" pitchFamily="18" charset="0"/>
                  <a:sym typeface="Playfair Display"/>
                </a:rPr>
                <a:t>Step 2</a:t>
              </a:r>
            </a:p>
          </p:txBody>
        </p:sp>
      </p:grpSp>
      <p:grpSp>
        <p:nvGrpSpPr>
          <p:cNvPr id="30" name="Group 30"/>
          <p:cNvGrpSpPr/>
          <p:nvPr/>
        </p:nvGrpSpPr>
        <p:grpSpPr>
          <a:xfrm>
            <a:off x="1975104" y="3840480"/>
            <a:ext cx="7498080" cy="694944"/>
            <a:chOff x="0" y="0"/>
            <a:chExt cx="9997440" cy="926592"/>
          </a:xfrm>
        </p:grpSpPr>
        <p:sp>
          <p:nvSpPr>
            <p:cNvPr id="31" name="Freeform 31"/>
            <p:cNvSpPr/>
            <p:nvPr/>
          </p:nvSpPr>
          <p:spPr>
            <a:xfrm>
              <a:off x="0" y="0"/>
              <a:ext cx="9997440" cy="926592"/>
            </a:xfrm>
            <a:custGeom>
              <a:avLst/>
              <a:gdLst/>
              <a:ahLst/>
              <a:cxnLst/>
              <a:rect l="l" t="t" r="r" b="b"/>
              <a:pathLst>
                <a:path w="9997440" h="926592">
                  <a:moveTo>
                    <a:pt x="0" y="0"/>
                  </a:moveTo>
                  <a:lnTo>
                    <a:pt x="9997440" y="0"/>
                  </a:lnTo>
                  <a:lnTo>
                    <a:pt x="9997440" y="926592"/>
                  </a:lnTo>
                  <a:lnTo>
                    <a:pt x="0" y="926592"/>
                  </a:lnTo>
                  <a:close/>
                </a:path>
              </a:pathLst>
            </a:custGeom>
            <a:blipFill>
              <a:blip r:embed="rId3">
                <a:alphaModFix amt="0"/>
              </a:blip>
              <a:stretch>
                <a:fillRect t="-160233" b="-160233"/>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32" name="TextBox 32"/>
            <p:cNvSpPr txBox="1"/>
            <p:nvPr/>
          </p:nvSpPr>
          <p:spPr>
            <a:xfrm>
              <a:off x="0" y="0"/>
              <a:ext cx="9997440" cy="926592"/>
            </a:xfrm>
            <a:prstGeom prst="rect">
              <a:avLst/>
            </a:prstGeom>
          </p:spPr>
          <p:txBody>
            <a:bodyPr lIns="0" tIns="0" rIns="0" bIns="0" rtlCol="0" anchor="ctr"/>
            <a:lstStyle/>
            <a:p>
              <a:pPr algn="l">
                <a:lnSpc>
                  <a:spcPts val="3120"/>
                </a:lnSpc>
              </a:pPr>
              <a:r>
                <a:rPr lang="en-US" sz="2600" spc="130" dirty="0">
                  <a:latin typeface="Times New Roman" panose="02020603050405020304" pitchFamily="18" charset="0"/>
                  <a:ea typeface="Playfair Display Italics"/>
                  <a:cs typeface="Times New Roman" panose="02020603050405020304" pitchFamily="18" charset="0"/>
                  <a:sym typeface="Playfair Display Italics"/>
                </a:rPr>
                <a:t>Collect Pairs</a:t>
              </a:r>
            </a:p>
          </p:txBody>
        </p:sp>
      </p:grpSp>
      <p:grpSp>
        <p:nvGrpSpPr>
          <p:cNvPr id="33" name="Group 33"/>
          <p:cNvGrpSpPr/>
          <p:nvPr/>
        </p:nvGrpSpPr>
        <p:grpSpPr>
          <a:xfrm>
            <a:off x="1975104" y="4572000"/>
            <a:ext cx="7498080" cy="1210818"/>
            <a:chOff x="0" y="0"/>
            <a:chExt cx="9997440" cy="1614424"/>
          </a:xfrm>
        </p:grpSpPr>
        <p:sp>
          <p:nvSpPr>
            <p:cNvPr id="34" name="Freeform 34"/>
            <p:cNvSpPr/>
            <p:nvPr/>
          </p:nvSpPr>
          <p:spPr>
            <a:xfrm>
              <a:off x="0" y="0"/>
              <a:ext cx="9997440" cy="1614424"/>
            </a:xfrm>
            <a:custGeom>
              <a:avLst/>
              <a:gdLst/>
              <a:ahLst/>
              <a:cxnLst/>
              <a:rect l="l" t="t" r="r" b="b"/>
              <a:pathLst>
                <a:path w="9997440" h="1614424">
                  <a:moveTo>
                    <a:pt x="0" y="0"/>
                  </a:moveTo>
                  <a:lnTo>
                    <a:pt x="9997440" y="0"/>
                  </a:lnTo>
                  <a:lnTo>
                    <a:pt x="9997440" y="1614424"/>
                  </a:lnTo>
                  <a:lnTo>
                    <a:pt x="0" y="1614424"/>
                  </a:lnTo>
                  <a:close/>
                </a:path>
              </a:pathLst>
            </a:custGeom>
            <a:blipFill>
              <a:blip r:embed="rId3">
                <a:alphaModFix amt="0"/>
              </a:blip>
              <a:stretch>
                <a:fillRect t="-73840" b="-67484"/>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35" name="TextBox 35"/>
            <p:cNvSpPr txBox="1"/>
            <p:nvPr/>
          </p:nvSpPr>
          <p:spPr>
            <a:xfrm>
              <a:off x="0" y="0"/>
              <a:ext cx="9997440" cy="1614424"/>
            </a:xfrm>
            <a:prstGeom prst="rect">
              <a:avLst/>
            </a:prstGeom>
          </p:spPr>
          <p:txBody>
            <a:bodyPr lIns="0" tIns="0" rIns="0" bIns="0" rtlCol="0" anchor="ctr"/>
            <a:lstStyle/>
            <a:p>
              <a:pPr algn="l">
                <a:lnSpc>
                  <a:spcPts val="2879"/>
                </a:lnSpc>
              </a:pPr>
              <a:r>
                <a:rPr lang="en-US" sz="2400" spc="48">
                  <a:latin typeface="Times New Roman" panose="02020603050405020304" pitchFamily="18" charset="0"/>
                  <a:ea typeface="Playfair Display"/>
                  <a:cs typeface="Times New Roman" panose="02020603050405020304" pitchFamily="18" charset="0"/>
                  <a:sym typeface="Playfair Display"/>
                </a:rPr>
                <a:t>For each walk, collect all co-occurring node pairs (u, v) within a context window. This builds the training dataset D.</a:t>
              </a:r>
            </a:p>
          </p:txBody>
        </p:sp>
      </p:grpSp>
      <p:grpSp>
        <p:nvGrpSpPr>
          <p:cNvPr id="36" name="Group 36"/>
          <p:cNvGrpSpPr/>
          <p:nvPr/>
        </p:nvGrpSpPr>
        <p:grpSpPr>
          <a:xfrm>
            <a:off x="535943" y="6004055"/>
            <a:ext cx="9169403" cy="2073659"/>
            <a:chOff x="0" y="0"/>
            <a:chExt cx="12225871" cy="2764879"/>
          </a:xfrm>
        </p:grpSpPr>
        <p:sp>
          <p:nvSpPr>
            <p:cNvPr id="37" name="Freeform 37"/>
            <p:cNvSpPr/>
            <p:nvPr/>
          </p:nvSpPr>
          <p:spPr>
            <a:xfrm>
              <a:off x="0" y="0"/>
              <a:ext cx="12225909" cy="2764917"/>
            </a:xfrm>
            <a:custGeom>
              <a:avLst/>
              <a:gdLst/>
              <a:ahLst/>
              <a:cxnLst/>
              <a:rect l="l" t="t" r="r" b="b"/>
              <a:pathLst>
                <a:path w="12225909" h="2764917">
                  <a:moveTo>
                    <a:pt x="0" y="246888"/>
                  </a:moveTo>
                  <a:cubicBezTo>
                    <a:pt x="0" y="110490"/>
                    <a:pt x="110490" y="0"/>
                    <a:pt x="246888" y="0"/>
                  </a:cubicBezTo>
                  <a:lnTo>
                    <a:pt x="11979021" y="0"/>
                  </a:lnTo>
                  <a:cubicBezTo>
                    <a:pt x="12115419" y="0"/>
                    <a:pt x="12225909" y="110490"/>
                    <a:pt x="12225909" y="246888"/>
                  </a:cubicBezTo>
                  <a:lnTo>
                    <a:pt x="12225909" y="2518029"/>
                  </a:lnTo>
                  <a:cubicBezTo>
                    <a:pt x="12225909" y="2654427"/>
                    <a:pt x="12115419" y="2764917"/>
                    <a:pt x="11979021" y="2764917"/>
                  </a:cubicBezTo>
                  <a:lnTo>
                    <a:pt x="246888" y="2764917"/>
                  </a:lnTo>
                  <a:cubicBezTo>
                    <a:pt x="110490" y="2764917"/>
                    <a:pt x="0" y="2654300"/>
                    <a:pt x="0" y="2518029"/>
                  </a:cubicBezTo>
                  <a:close/>
                </a:path>
              </a:pathLst>
            </a:custGeom>
            <a:solidFill>
              <a:srgbClr val="7C898B"/>
            </a:solidFill>
            <a:ln w="25400" cap="sq">
              <a:solidFill>
                <a:srgbClr val="D8E8F8"/>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38" name="Group 38"/>
          <p:cNvGrpSpPr/>
          <p:nvPr/>
        </p:nvGrpSpPr>
        <p:grpSpPr>
          <a:xfrm>
            <a:off x="828551" y="6150359"/>
            <a:ext cx="939803" cy="939803"/>
            <a:chOff x="0" y="0"/>
            <a:chExt cx="1253071" cy="1253071"/>
          </a:xfrm>
        </p:grpSpPr>
        <p:sp>
          <p:nvSpPr>
            <p:cNvPr id="39" name="Freeform 39"/>
            <p:cNvSpPr/>
            <p:nvPr/>
          </p:nvSpPr>
          <p:spPr>
            <a:xfrm>
              <a:off x="0" y="0"/>
              <a:ext cx="1253109" cy="1253109"/>
            </a:xfrm>
            <a:custGeom>
              <a:avLst/>
              <a:gdLst/>
              <a:ahLst/>
              <a:cxnLst/>
              <a:rect l="l" t="t" r="r" b="b"/>
              <a:pathLst>
                <a:path w="1253109" h="1253109">
                  <a:moveTo>
                    <a:pt x="0" y="626491"/>
                  </a:moveTo>
                  <a:cubicBezTo>
                    <a:pt x="0" y="280543"/>
                    <a:pt x="280543" y="0"/>
                    <a:pt x="626491" y="0"/>
                  </a:cubicBezTo>
                  <a:cubicBezTo>
                    <a:pt x="972439" y="0"/>
                    <a:pt x="1253109" y="280543"/>
                    <a:pt x="1253109" y="626491"/>
                  </a:cubicBezTo>
                  <a:cubicBezTo>
                    <a:pt x="1253109" y="972439"/>
                    <a:pt x="972566" y="1253109"/>
                    <a:pt x="626491" y="1253109"/>
                  </a:cubicBezTo>
                  <a:cubicBezTo>
                    <a:pt x="280416" y="1253109"/>
                    <a:pt x="0" y="972566"/>
                    <a:pt x="0" y="626491"/>
                  </a:cubicBezTo>
                  <a:close/>
                </a:path>
              </a:pathLst>
            </a:custGeom>
            <a:solidFill>
              <a:srgbClr val="FFFFFF"/>
            </a:solidFill>
            <a:ln w="25400" cap="sq">
              <a:solidFill>
                <a:srgbClr val="1E5FA8"/>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40" name="Group 40"/>
          <p:cNvGrpSpPr/>
          <p:nvPr/>
        </p:nvGrpSpPr>
        <p:grpSpPr>
          <a:xfrm>
            <a:off x="841248" y="6163056"/>
            <a:ext cx="914400" cy="914400"/>
            <a:chOff x="0" y="0"/>
            <a:chExt cx="1219200" cy="1219200"/>
          </a:xfrm>
        </p:grpSpPr>
        <p:sp>
          <p:nvSpPr>
            <p:cNvPr id="41" name="Freeform 41"/>
            <p:cNvSpPr/>
            <p:nvPr/>
          </p:nvSpPr>
          <p:spPr>
            <a:xfrm>
              <a:off x="0" y="0"/>
              <a:ext cx="1219200" cy="1219200"/>
            </a:xfrm>
            <a:custGeom>
              <a:avLst/>
              <a:gdLst/>
              <a:ahLst/>
              <a:cxnLst/>
              <a:rect l="l" t="t" r="r" b="b"/>
              <a:pathLst>
                <a:path w="1219200" h="1219200">
                  <a:moveTo>
                    <a:pt x="0" y="0"/>
                  </a:moveTo>
                  <a:lnTo>
                    <a:pt x="1219200" y="0"/>
                  </a:lnTo>
                  <a:lnTo>
                    <a:pt x="1219200" y="1219200"/>
                  </a:lnTo>
                  <a:lnTo>
                    <a:pt x="0" y="1219200"/>
                  </a:lnTo>
                  <a:close/>
                </a:path>
              </a:pathLst>
            </a:custGeom>
            <a:blipFill>
              <a:blip r:embed="rId3">
                <a:alphaModFix amt="0"/>
              </a:blip>
              <a:stretch>
                <a:fillRect l="-78303" r="-78303"/>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42" name="TextBox 42"/>
            <p:cNvSpPr txBox="1"/>
            <p:nvPr/>
          </p:nvSpPr>
          <p:spPr>
            <a:xfrm>
              <a:off x="0" y="0"/>
              <a:ext cx="1219200" cy="1219200"/>
            </a:xfrm>
            <a:prstGeom prst="rect">
              <a:avLst/>
            </a:prstGeom>
          </p:spPr>
          <p:txBody>
            <a:bodyPr lIns="0" tIns="0" rIns="0" bIns="0" rtlCol="0" anchor="ctr"/>
            <a:lstStyle/>
            <a:p>
              <a:pPr algn="ctr">
                <a:lnSpc>
                  <a:spcPts val="2400"/>
                </a:lnSpc>
              </a:pPr>
              <a:r>
                <a:rPr lang="en-US" sz="2000" spc="40">
                  <a:latin typeface="Times New Roman" panose="02020603050405020304" pitchFamily="18" charset="0"/>
                  <a:ea typeface="Playfair Display"/>
                  <a:cs typeface="Times New Roman" panose="02020603050405020304" pitchFamily="18" charset="0"/>
                  <a:sym typeface="Playfair Display"/>
                </a:rPr>
                <a:t>Step 3</a:t>
              </a:r>
            </a:p>
          </p:txBody>
        </p:sp>
      </p:grpSp>
      <p:grpSp>
        <p:nvGrpSpPr>
          <p:cNvPr id="43" name="Group 43"/>
          <p:cNvGrpSpPr/>
          <p:nvPr/>
        </p:nvGrpSpPr>
        <p:grpSpPr>
          <a:xfrm>
            <a:off x="1975104" y="6071616"/>
            <a:ext cx="7498080" cy="694944"/>
            <a:chOff x="0" y="0"/>
            <a:chExt cx="9997440" cy="926592"/>
          </a:xfrm>
        </p:grpSpPr>
        <p:sp>
          <p:nvSpPr>
            <p:cNvPr id="44" name="Freeform 44"/>
            <p:cNvSpPr/>
            <p:nvPr/>
          </p:nvSpPr>
          <p:spPr>
            <a:xfrm>
              <a:off x="0" y="0"/>
              <a:ext cx="9997440" cy="926592"/>
            </a:xfrm>
            <a:custGeom>
              <a:avLst/>
              <a:gdLst/>
              <a:ahLst/>
              <a:cxnLst/>
              <a:rect l="l" t="t" r="r" b="b"/>
              <a:pathLst>
                <a:path w="9997440" h="926592">
                  <a:moveTo>
                    <a:pt x="0" y="0"/>
                  </a:moveTo>
                  <a:lnTo>
                    <a:pt x="9997440" y="0"/>
                  </a:lnTo>
                  <a:lnTo>
                    <a:pt x="9997440" y="926592"/>
                  </a:lnTo>
                  <a:lnTo>
                    <a:pt x="0" y="926592"/>
                  </a:lnTo>
                  <a:close/>
                </a:path>
              </a:pathLst>
            </a:custGeom>
            <a:blipFill>
              <a:blip r:embed="rId3">
                <a:alphaModFix amt="0"/>
              </a:blip>
              <a:stretch>
                <a:fillRect t="-160233" b="-160233"/>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45" name="TextBox 45"/>
            <p:cNvSpPr txBox="1"/>
            <p:nvPr/>
          </p:nvSpPr>
          <p:spPr>
            <a:xfrm>
              <a:off x="0" y="0"/>
              <a:ext cx="9997440" cy="926592"/>
            </a:xfrm>
            <a:prstGeom prst="rect">
              <a:avLst/>
            </a:prstGeom>
          </p:spPr>
          <p:txBody>
            <a:bodyPr lIns="0" tIns="0" rIns="0" bIns="0" rtlCol="0" anchor="ctr"/>
            <a:lstStyle/>
            <a:p>
              <a:pPr algn="l">
                <a:lnSpc>
                  <a:spcPts val="3120"/>
                </a:lnSpc>
              </a:pPr>
              <a:r>
                <a:rPr lang="en-US" sz="2600" spc="130" dirty="0">
                  <a:latin typeface="Times New Roman" panose="02020603050405020304" pitchFamily="18" charset="0"/>
                  <a:ea typeface="Playfair Display Italics"/>
                  <a:cs typeface="Times New Roman" panose="02020603050405020304" pitchFamily="18" charset="0"/>
                  <a:sym typeface="Playfair Display Italics"/>
                </a:rPr>
                <a:t>Optimize</a:t>
              </a:r>
            </a:p>
          </p:txBody>
        </p:sp>
      </p:grpSp>
      <p:grpSp>
        <p:nvGrpSpPr>
          <p:cNvPr id="46" name="Group 46"/>
          <p:cNvGrpSpPr/>
          <p:nvPr/>
        </p:nvGrpSpPr>
        <p:grpSpPr>
          <a:xfrm>
            <a:off x="1975104" y="6803136"/>
            <a:ext cx="7498080" cy="1210818"/>
            <a:chOff x="0" y="0"/>
            <a:chExt cx="9997440" cy="1614424"/>
          </a:xfrm>
        </p:grpSpPr>
        <p:sp>
          <p:nvSpPr>
            <p:cNvPr id="47" name="Freeform 47"/>
            <p:cNvSpPr/>
            <p:nvPr/>
          </p:nvSpPr>
          <p:spPr>
            <a:xfrm>
              <a:off x="0" y="0"/>
              <a:ext cx="9997440" cy="1614424"/>
            </a:xfrm>
            <a:custGeom>
              <a:avLst/>
              <a:gdLst/>
              <a:ahLst/>
              <a:cxnLst/>
              <a:rect l="l" t="t" r="r" b="b"/>
              <a:pathLst>
                <a:path w="9997440" h="1614424">
                  <a:moveTo>
                    <a:pt x="0" y="0"/>
                  </a:moveTo>
                  <a:lnTo>
                    <a:pt x="9997440" y="0"/>
                  </a:lnTo>
                  <a:lnTo>
                    <a:pt x="9997440" y="1614424"/>
                  </a:lnTo>
                  <a:lnTo>
                    <a:pt x="0" y="1614424"/>
                  </a:lnTo>
                  <a:close/>
                </a:path>
              </a:pathLst>
            </a:custGeom>
            <a:blipFill>
              <a:blip r:embed="rId3">
                <a:alphaModFix amt="0"/>
              </a:blip>
              <a:stretch>
                <a:fillRect t="-73840" b="-67484"/>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48" name="TextBox 48"/>
            <p:cNvSpPr txBox="1"/>
            <p:nvPr/>
          </p:nvSpPr>
          <p:spPr>
            <a:xfrm>
              <a:off x="0" y="0"/>
              <a:ext cx="9997440" cy="1614424"/>
            </a:xfrm>
            <a:prstGeom prst="rect">
              <a:avLst/>
            </a:prstGeom>
          </p:spPr>
          <p:txBody>
            <a:bodyPr lIns="0" tIns="0" rIns="0" bIns="0" rtlCol="0" anchor="ctr"/>
            <a:lstStyle/>
            <a:p>
              <a:pPr algn="l">
                <a:lnSpc>
                  <a:spcPts val="2879"/>
                </a:lnSpc>
              </a:pPr>
              <a:r>
                <a:rPr lang="en-US" sz="2400" spc="48">
                  <a:latin typeface="Times New Roman" panose="02020603050405020304" pitchFamily="18" charset="0"/>
                  <a:ea typeface="Playfair Display"/>
                  <a:cs typeface="Times New Roman" panose="02020603050405020304" pitchFamily="18" charset="0"/>
                  <a:sym typeface="Playfair Display"/>
                </a:rPr>
                <a:t>Minimize the cross-entropy loss over D using Stochastic Gradient Descent (SGD). Update embedding vectors in Z.</a:t>
              </a:r>
            </a:p>
          </p:txBody>
        </p:sp>
      </p:grpSp>
      <p:grpSp>
        <p:nvGrpSpPr>
          <p:cNvPr id="49" name="Group 49"/>
          <p:cNvGrpSpPr/>
          <p:nvPr/>
        </p:nvGrpSpPr>
        <p:grpSpPr>
          <a:xfrm>
            <a:off x="10045703" y="1541783"/>
            <a:ext cx="7523483" cy="8163563"/>
            <a:chOff x="0" y="0"/>
            <a:chExt cx="10031311" cy="10884751"/>
          </a:xfrm>
        </p:grpSpPr>
        <p:sp>
          <p:nvSpPr>
            <p:cNvPr id="50" name="Freeform 50"/>
            <p:cNvSpPr/>
            <p:nvPr/>
          </p:nvSpPr>
          <p:spPr>
            <a:xfrm>
              <a:off x="0" y="0"/>
              <a:ext cx="10031222" cy="10884662"/>
            </a:xfrm>
            <a:custGeom>
              <a:avLst/>
              <a:gdLst/>
              <a:ahLst/>
              <a:cxnLst/>
              <a:rect l="l" t="t" r="r" b="b"/>
              <a:pathLst>
                <a:path w="10031222" h="10884662">
                  <a:moveTo>
                    <a:pt x="0" y="244602"/>
                  </a:moveTo>
                  <a:cubicBezTo>
                    <a:pt x="0" y="109601"/>
                    <a:pt x="109601" y="0"/>
                    <a:pt x="244602" y="0"/>
                  </a:cubicBezTo>
                  <a:lnTo>
                    <a:pt x="9786620" y="0"/>
                  </a:lnTo>
                  <a:cubicBezTo>
                    <a:pt x="9921748" y="0"/>
                    <a:pt x="10031222" y="109601"/>
                    <a:pt x="10031222" y="244602"/>
                  </a:cubicBezTo>
                  <a:lnTo>
                    <a:pt x="10031222" y="10640060"/>
                  </a:lnTo>
                  <a:cubicBezTo>
                    <a:pt x="10031222" y="10775188"/>
                    <a:pt x="9921621" y="10884662"/>
                    <a:pt x="9786620" y="10884662"/>
                  </a:cubicBezTo>
                  <a:lnTo>
                    <a:pt x="244602" y="10884662"/>
                  </a:lnTo>
                  <a:cubicBezTo>
                    <a:pt x="109601" y="10884789"/>
                    <a:pt x="0" y="10775188"/>
                    <a:pt x="0" y="10640060"/>
                  </a:cubicBezTo>
                  <a:close/>
                </a:path>
              </a:pathLst>
            </a:custGeom>
            <a:solidFill>
              <a:srgbClr val="7C898B"/>
            </a:solidFill>
            <a:ln w="25400" cap="sq">
              <a:solidFill>
                <a:srgbClr val="D8E8F8"/>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51" name="Group 51"/>
          <p:cNvGrpSpPr/>
          <p:nvPr/>
        </p:nvGrpSpPr>
        <p:grpSpPr>
          <a:xfrm>
            <a:off x="10424160" y="1645920"/>
            <a:ext cx="6766560" cy="694944"/>
            <a:chOff x="0" y="0"/>
            <a:chExt cx="9022080" cy="926592"/>
          </a:xfrm>
        </p:grpSpPr>
        <p:sp>
          <p:nvSpPr>
            <p:cNvPr id="52" name="Freeform 52"/>
            <p:cNvSpPr/>
            <p:nvPr/>
          </p:nvSpPr>
          <p:spPr>
            <a:xfrm>
              <a:off x="0" y="0"/>
              <a:ext cx="9022080" cy="926592"/>
            </a:xfrm>
            <a:custGeom>
              <a:avLst/>
              <a:gdLst/>
              <a:ahLst/>
              <a:cxnLst/>
              <a:rect l="l" t="t" r="r" b="b"/>
              <a:pathLst>
                <a:path w="9022080" h="926592">
                  <a:moveTo>
                    <a:pt x="0" y="0"/>
                  </a:moveTo>
                  <a:lnTo>
                    <a:pt x="9022080" y="0"/>
                  </a:lnTo>
                  <a:lnTo>
                    <a:pt x="9022080" y="926592"/>
                  </a:lnTo>
                  <a:lnTo>
                    <a:pt x="0" y="926592"/>
                  </a:lnTo>
                  <a:close/>
                </a:path>
              </a:pathLst>
            </a:custGeom>
            <a:blipFill>
              <a:blip r:embed="rId3">
                <a:alphaModFix amt="0"/>
              </a:blip>
              <a:stretch>
                <a:fillRect t="-139722" b="-139722"/>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53" name="TextBox 53"/>
            <p:cNvSpPr txBox="1"/>
            <p:nvPr/>
          </p:nvSpPr>
          <p:spPr>
            <a:xfrm>
              <a:off x="0" y="0"/>
              <a:ext cx="9022080" cy="926592"/>
            </a:xfrm>
            <a:prstGeom prst="rect">
              <a:avLst/>
            </a:prstGeom>
          </p:spPr>
          <p:txBody>
            <a:bodyPr lIns="0" tIns="0" rIns="0" bIns="0" rtlCol="0" anchor="ctr"/>
            <a:lstStyle/>
            <a:p>
              <a:pPr algn="l">
                <a:lnSpc>
                  <a:spcPts val="3600"/>
                </a:lnSpc>
              </a:pPr>
              <a:r>
                <a:rPr lang="en-US" sz="3000" spc="150" dirty="0">
                  <a:latin typeface="Times New Roman" panose="02020603050405020304" pitchFamily="18" charset="0"/>
                  <a:ea typeface="Playfair Display Italics"/>
                  <a:cs typeface="Times New Roman" panose="02020603050405020304" pitchFamily="18" charset="0"/>
                  <a:sym typeface="Playfair Display Italics"/>
                </a:rPr>
                <a:t>The Math</a:t>
              </a:r>
            </a:p>
          </p:txBody>
        </p:sp>
      </p:grpSp>
      <p:grpSp>
        <p:nvGrpSpPr>
          <p:cNvPr id="54" name="Group 54"/>
          <p:cNvGrpSpPr/>
          <p:nvPr/>
        </p:nvGrpSpPr>
        <p:grpSpPr>
          <a:xfrm>
            <a:off x="10424160" y="2468880"/>
            <a:ext cx="6766560" cy="585216"/>
            <a:chOff x="0" y="0"/>
            <a:chExt cx="9022080" cy="780288"/>
          </a:xfrm>
        </p:grpSpPr>
        <p:sp>
          <p:nvSpPr>
            <p:cNvPr id="55" name="Freeform 55"/>
            <p:cNvSpPr/>
            <p:nvPr/>
          </p:nvSpPr>
          <p:spPr>
            <a:xfrm>
              <a:off x="0" y="0"/>
              <a:ext cx="9022080" cy="780288"/>
            </a:xfrm>
            <a:custGeom>
              <a:avLst/>
              <a:gdLst/>
              <a:ahLst/>
              <a:cxnLst/>
              <a:rect l="l" t="t" r="r" b="b"/>
              <a:pathLst>
                <a:path w="9022080" h="780288">
                  <a:moveTo>
                    <a:pt x="0" y="0"/>
                  </a:moveTo>
                  <a:lnTo>
                    <a:pt x="9022080" y="0"/>
                  </a:lnTo>
                  <a:lnTo>
                    <a:pt x="9022080" y="780288"/>
                  </a:lnTo>
                  <a:lnTo>
                    <a:pt x="0" y="780288"/>
                  </a:lnTo>
                  <a:close/>
                </a:path>
              </a:pathLst>
            </a:custGeom>
            <a:blipFill>
              <a:blip r:embed="rId3">
                <a:alphaModFix amt="0"/>
              </a:blip>
              <a:stretch>
                <a:fillRect t="-175295" b="-175295"/>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56" name="TextBox 56"/>
            <p:cNvSpPr txBox="1"/>
            <p:nvPr/>
          </p:nvSpPr>
          <p:spPr>
            <a:xfrm>
              <a:off x="0" y="0"/>
              <a:ext cx="9022080" cy="780288"/>
            </a:xfrm>
            <a:prstGeom prst="rect">
              <a:avLst/>
            </a:prstGeom>
          </p:spPr>
          <p:txBody>
            <a:bodyPr lIns="0" tIns="0" rIns="0" bIns="0" rtlCol="0" anchor="ctr"/>
            <a:lstStyle/>
            <a:p>
              <a:pPr algn="l">
                <a:lnSpc>
                  <a:spcPts val="2879"/>
                </a:lnSpc>
              </a:pPr>
              <a:r>
                <a:rPr lang="en-US" sz="2400" spc="120" dirty="0">
                  <a:latin typeface="Times New Roman" panose="02020603050405020304" pitchFamily="18" charset="0"/>
                  <a:ea typeface="Playfair Display Italics"/>
                  <a:cs typeface="Times New Roman" panose="02020603050405020304" pitchFamily="18" charset="0"/>
                  <a:sym typeface="Playfair Display Italics"/>
                </a:rPr>
                <a:t>Decoder (SoftMax):</a:t>
              </a:r>
            </a:p>
          </p:txBody>
        </p:sp>
      </p:grpSp>
      <p:grpSp>
        <p:nvGrpSpPr>
          <p:cNvPr id="57" name="Group 57"/>
          <p:cNvGrpSpPr/>
          <p:nvPr/>
        </p:nvGrpSpPr>
        <p:grpSpPr>
          <a:xfrm>
            <a:off x="10408920" y="3093720"/>
            <a:ext cx="6797040" cy="853440"/>
            <a:chOff x="0" y="0"/>
            <a:chExt cx="9062720" cy="1137920"/>
          </a:xfrm>
        </p:grpSpPr>
        <p:sp>
          <p:nvSpPr>
            <p:cNvPr id="58" name="Freeform 58"/>
            <p:cNvSpPr/>
            <p:nvPr/>
          </p:nvSpPr>
          <p:spPr>
            <a:xfrm>
              <a:off x="0" y="0"/>
              <a:ext cx="9062720" cy="1137920"/>
            </a:xfrm>
            <a:custGeom>
              <a:avLst/>
              <a:gdLst/>
              <a:ahLst/>
              <a:cxnLst/>
              <a:rect l="l" t="t" r="r" b="b"/>
              <a:pathLst>
                <a:path w="9062720" h="1137920">
                  <a:moveTo>
                    <a:pt x="0" y="177038"/>
                  </a:moveTo>
                  <a:cubicBezTo>
                    <a:pt x="0" y="79248"/>
                    <a:pt x="79248" y="0"/>
                    <a:pt x="177038" y="0"/>
                  </a:cubicBezTo>
                  <a:lnTo>
                    <a:pt x="8885682" y="0"/>
                  </a:lnTo>
                  <a:cubicBezTo>
                    <a:pt x="8983472" y="0"/>
                    <a:pt x="9062720" y="79248"/>
                    <a:pt x="9062720" y="177038"/>
                  </a:cubicBezTo>
                  <a:lnTo>
                    <a:pt x="9062720" y="960882"/>
                  </a:lnTo>
                  <a:cubicBezTo>
                    <a:pt x="9062720" y="1058672"/>
                    <a:pt x="8983472" y="1137920"/>
                    <a:pt x="8885682" y="1137920"/>
                  </a:cubicBezTo>
                  <a:lnTo>
                    <a:pt x="177038" y="1137920"/>
                  </a:lnTo>
                  <a:cubicBezTo>
                    <a:pt x="79248" y="1137920"/>
                    <a:pt x="0" y="1058672"/>
                    <a:pt x="0" y="960882"/>
                  </a:cubicBezTo>
                  <a:close/>
                </a:path>
              </a:pathLst>
            </a:custGeom>
            <a:solidFill>
              <a:srgbClr val="253439"/>
            </a:solidFill>
            <a:ln w="30480" cap="sq">
              <a:solidFill>
                <a:srgbClr val="C8DDF5"/>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59" name="Group 59"/>
          <p:cNvGrpSpPr/>
          <p:nvPr/>
        </p:nvGrpSpPr>
        <p:grpSpPr>
          <a:xfrm>
            <a:off x="10643616" y="3108960"/>
            <a:ext cx="6327648" cy="822960"/>
            <a:chOff x="0" y="0"/>
            <a:chExt cx="8436864" cy="1097280"/>
          </a:xfrm>
        </p:grpSpPr>
        <p:sp>
          <p:nvSpPr>
            <p:cNvPr id="60" name="Freeform 60"/>
            <p:cNvSpPr/>
            <p:nvPr/>
          </p:nvSpPr>
          <p:spPr>
            <a:xfrm>
              <a:off x="0" y="0"/>
              <a:ext cx="8436864" cy="1097280"/>
            </a:xfrm>
            <a:custGeom>
              <a:avLst/>
              <a:gdLst/>
              <a:ahLst/>
              <a:cxnLst/>
              <a:rect l="l" t="t" r="r" b="b"/>
              <a:pathLst>
                <a:path w="8436864" h="1097280">
                  <a:moveTo>
                    <a:pt x="0" y="0"/>
                  </a:moveTo>
                  <a:lnTo>
                    <a:pt x="8436864" y="0"/>
                  </a:lnTo>
                  <a:lnTo>
                    <a:pt x="8436864" y="1097280"/>
                  </a:lnTo>
                  <a:lnTo>
                    <a:pt x="0" y="1097280"/>
                  </a:lnTo>
                  <a:close/>
                </a:path>
              </a:pathLst>
            </a:custGeom>
            <a:blipFill>
              <a:blip r:embed="rId3">
                <a:alphaModFix amt="0"/>
              </a:blip>
              <a:stretch>
                <a:fillRect t="-99818" b="-99818"/>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61" name="TextBox 61"/>
            <p:cNvSpPr txBox="1"/>
            <p:nvPr/>
          </p:nvSpPr>
          <p:spPr>
            <a:xfrm>
              <a:off x="0" y="0"/>
              <a:ext cx="8436864" cy="1097280"/>
            </a:xfrm>
            <a:prstGeom prst="rect">
              <a:avLst/>
            </a:prstGeom>
          </p:spPr>
          <p:txBody>
            <a:bodyPr lIns="0" tIns="0" rIns="0" bIns="0" rtlCol="0" anchor="ctr"/>
            <a:lstStyle/>
            <a:p>
              <a:pPr algn="l">
                <a:lnSpc>
                  <a:spcPts val="3120"/>
                </a:lnSpc>
              </a:pPr>
              <a:r>
                <a:rPr lang="en-US" sz="2600" i="1" spc="130">
                  <a:solidFill>
                    <a:srgbClr val="FFFFFF"/>
                  </a:solidFill>
                  <a:latin typeface="Times New Roman" panose="02020603050405020304" pitchFamily="18" charset="0"/>
                  <a:ea typeface="Playfair Display Italics"/>
                  <a:cs typeface="Times New Roman" panose="02020603050405020304" pitchFamily="18" charset="0"/>
                  <a:sym typeface="Playfair Display Italics"/>
                </a:rPr>
                <a:t>DEC(zᵤ,z_v) = exp(zᵤᵀz_v)</a:t>
              </a:r>
            </a:p>
          </p:txBody>
        </p:sp>
      </p:grpSp>
      <p:grpSp>
        <p:nvGrpSpPr>
          <p:cNvPr id="62" name="Group 62"/>
          <p:cNvGrpSpPr/>
          <p:nvPr/>
        </p:nvGrpSpPr>
        <p:grpSpPr>
          <a:xfrm>
            <a:off x="10408920" y="3093720"/>
            <a:ext cx="6797040" cy="853440"/>
            <a:chOff x="0" y="0"/>
            <a:chExt cx="9062720" cy="1137920"/>
          </a:xfrm>
        </p:grpSpPr>
        <p:sp>
          <p:nvSpPr>
            <p:cNvPr id="63" name="Freeform 63"/>
            <p:cNvSpPr/>
            <p:nvPr/>
          </p:nvSpPr>
          <p:spPr>
            <a:xfrm>
              <a:off x="0" y="0"/>
              <a:ext cx="9062720" cy="1137920"/>
            </a:xfrm>
            <a:custGeom>
              <a:avLst/>
              <a:gdLst/>
              <a:ahLst/>
              <a:cxnLst/>
              <a:rect l="l" t="t" r="r" b="b"/>
              <a:pathLst>
                <a:path w="9062720" h="1137920">
                  <a:moveTo>
                    <a:pt x="0" y="177038"/>
                  </a:moveTo>
                  <a:cubicBezTo>
                    <a:pt x="0" y="79248"/>
                    <a:pt x="79248" y="0"/>
                    <a:pt x="177038" y="0"/>
                  </a:cubicBezTo>
                  <a:lnTo>
                    <a:pt x="8885682" y="0"/>
                  </a:lnTo>
                  <a:cubicBezTo>
                    <a:pt x="8983472" y="0"/>
                    <a:pt x="9062720" y="79248"/>
                    <a:pt x="9062720" y="177038"/>
                  </a:cubicBezTo>
                  <a:lnTo>
                    <a:pt x="9062720" y="960882"/>
                  </a:lnTo>
                  <a:cubicBezTo>
                    <a:pt x="9062720" y="1058672"/>
                    <a:pt x="8983472" y="1137920"/>
                    <a:pt x="8885682" y="1137920"/>
                  </a:cubicBezTo>
                  <a:lnTo>
                    <a:pt x="177038" y="1137920"/>
                  </a:lnTo>
                  <a:cubicBezTo>
                    <a:pt x="79248" y="1137920"/>
                    <a:pt x="0" y="1058672"/>
                    <a:pt x="0" y="960882"/>
                  </a:cubicBezTo>
                  <a:close/>
                </a:path>
              </a:pathLst>
            </a:custGeom>
            <a:solidFill>
              <a:srgbClr val="253439"/>
            </a:solidFill>
            <a:ln w="30480" cap="sq">
              <a:solidFill>
                <a:srgbClr val="C8DDF5"/>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64" name="Group 64"/>
          <p:cNvGrpSpPr/>
          <p:nvPr/>
        </p:nvGrpSpPr>
        <p:grpSpPr>
          <a:xfrm>
            <a:off x="10643616" y="3108960"/>
            <a:ext cx="6327648" cy="916432"/>
            <a:chOff x="0" y="0"/>
            <a:chExt cx="8436864" cy="1221909"/>
          </a:xfrm>
        </p:grpSpPr>
        <p:sp>
          <p:nvSpPr>
            <p:cNvPr id="65" name="Freeform 65"/>
            <p:cNvSpPr/>
            <p:nvPr/>
          </p:nvSpPr>
          <p:spPr>
            <a:xfrm>
              <a:off x="0" y="0"/>
              <a:ext cx="8436864" cy="1221909"/>
            </a:xfrm>
            <a:custGeom>
              <a:avLst/>
              <a:gdLst/>
              <a:ahLst/>
              <a:cxnLst/>
              <a:rect l="l" t="t" r="r" b="b"/>
              <a:pathLst>
                <a:path w="8436864" h="1221909">
                  <a:moveTo>
                    <a:pt x="0" y="0"/>
                  </a:moveTo>
                  <a:lnTo>
                    <a:pt x="8436864" y="0"/>
                  </a:lnTo>
                  <a:lnTo>
                    <a:pt x="8436864" y="1221909"/>
                  </a:lnTo>
                  <a:lnTo>
                    <a:pt x="0" y="1221909"/>
                  </a:lnTo>
                  <a:close/>
                </a:path>
              </a:pathLst>
            </a:custGeom>
            <a:blipFill>
              <a:blip r:embed="rId3">
                <a:alphaModFix amt="0"/>
              </a:blip>
              <a:stretch>
                <a:fillRect t="-89637" b="-79437"/>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66" name="TextBox 66"/>
            <p:cNvSpPr txBox="1"/>
            <p:nvPr/>
          </p:nvSpPr>
          <p:spPr>
            <a:xfrm>
              <a:off x="0" y="0"/>
              <a:ext cx="8436864" cy="1221909"/>
            </a:xfrm>
            <a:prstGeom prst="rect">
              <a:avLst/>
            </a:prstGeom>
          </p:spPr>
          <p:txBody>
            <a:bodyPr lIns="0" tIns="0" rIns="0" bIns="0" rtlCol="0" anchor="ctr"/>
            <a:lstStyle/>
            <a:p>
              <a:pPr algn="l">
                <a:lnSpc>
                  <a:spcPts val="3120"/>
                </a:lnSpc>
              </a:pPr>
              <a:r>
                <a:rPr lang="en-US" sz="2600" i="1" spc="130">
                  <a:solidFill>
                    <a:srgbClr val="FFFFFF"/>
                  </a:solidFill>
                  <a:latin typeface="Times New Roman" panose="02020603050405020304" pitchFamily="18" charset="0"/>
                  <a:ea typeface="Playfair Display Italics"/>
                  <a:cs typeface="Times New Roman" panose="02020603050405020304" pitchFamily="18" charset="0"/>
                  <a:sym typeface="Playfair Display Italics"/>
                </a:rPr>
                <a:t>             ─────────────────</a:t>
              </a:r>
            </a:p>
          </p:txBody>
        </p:sp>
      </p:grpSp>
      <p:grpSp>
        <p:nvGrpSpPr>
          <p:cNvPr id="67" name="Group 67"/>
          <p:cNvGrpSpPr/>
          <p:nvPr/>
        </p:nvGrpSpPr>
        <p:grpSpPr>
          <a:xfrm>
            <a:off x="10408920" y="3093720"/>
            <a:ext cx="6797040" cy="1530096"/>
            <a:chOff x="0" y="0"/>
            <a:chExt cx="9062720" cy="2040128"/>
          </a:xfrm>
        </p:grpSpPr>
        <p:sp>
          <p:nvSpPr>
            <p:cNvPr id="68" name="Freeform 68"/>
            <p:cNvSpPr/>
            <p:nvPr/>
          </p:nvSpPr>
          <p:spPr>
            <a:xfrm>
              <a:off x="0" y="0"/>
              <a:ext cx="9062720" cy="2040128"/>
            </a:xfrm>
            <a:custGeom>
              <a:avLst/>
              <a:gdLst/>
              <a:ahLst/>
              <a:cxnLst/>
              <a:rect l="l" t="t" r="r" b="b"/>
              <a:pathLst>
                <a:path w="9062720" h="2040128">
                  <a:moveTo>
                    <a:pt x="0" y="174117"/>
                  </a:moveTo>
                  <a:cubicBezTo>
                    <a:pt x="0" y="77978"/>
                    <a:pt x="77978" y="0"/>
                    <a:pt x="174117" y="0"/>
                  </a:cubicBezTo>
                  <a:lnTo>
                    <a:pt x="8888603" y="0"/>
                  </a:lnTo>
                  <a:cubicBezTo>
                    <a:pt x="8984742" y="0"/>
                    <a:pt x="9062720" y="77978"/>
                    <a:pt x="9062720" y="174117"/>
                  </a:cubicBezTo>
                  <a:lnTo>
                    <a:pt x="9062720" y="1866011"/>
                  </a:lnTo>
                  <a:cubicBezTo>
                    <a:pt x="9062720" y="1962150"/>
                    <a:pt x="8984742" y="2040128"/>
                    <a:pt x="8888603" y="2040128"/>
                  </a:cubicBezTo>
                  <a:lnTo>
                    <a:pt x="174117" y="2040128"/>
                  </a:lnTo>
                  <a:cubicBezTo>
                    <a:pt x="77978" y="2040128"/>
                    <a:pt x="0" y="1962150"/>
                    <a:pt x="0" y="1866011"/>
                  </a:cubicBezTo>
                  <a:close/>
                </a:path>
              </a:pathLst>
            </a:custGeom>
            <a:solidFill>
              <a:srgbClr val="253439"/>
            </a:solidFill>
            <a:ln w="30480" cap="sq">
              <a:solidFill>
                <a:srgbClr val="C8DDF5"/>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69" name="Group 69"/>
          <p:cNvGrpSpPr/>
          <p:nvPr/>
        </p:nvGrpSpPr>
        <p:grpSpPr>
          <a:xfrm>
            <a:off x="10643616" y="3145536"/>
            <a:ext cx="6327648" cy="694944"/>
            <a:chOff x="0" y="0"/>
            <a:chExt cx="8436864" cy="926592"/>
          </a:xfrm>
        </p:grpSpPr>
        <p:sp>
          <p:nvSpPr>
            <p:cNvPr id="70" name="Freeform 70"/>
            <p:cNvSpPr/>
            <p:nvPr/>
          </p:nvSpPr>
          <p:spPr>
            <a:xfrm>
              <a:off x="0" y="0"/>
              <a:ext cx="8436864" cy="926592"/>
            </a:xfrm>
            <a:custGeom>
              <a:avLst/>
              <a:gdLst/>
              <a:ahLst/>
              <a:cxnLst/>
              <a:rect l="l" t="t" r="r" b="b"/>
              <a:pathLst>
                <a:path w="8436864" h="926592">
                  <a:moveTo>
                    <a:pt x="0" y="0"/>
                  </a:moveTo>
                  <a:lnTo>
                    <a:pt x="8436864" y="0"/>
                  </a:lnTo>
                  <a:lnTo>
                    <a:pt x="8436864" y="926592"/>
                  </a:lnTo>
                  <a:lnTo>
                    <a:pt x="0" y="926592"/>
                  </a:lnTo>
                  <a:close/>
                </a:path>
              </a:pathLst>
            </a:custGeom>
            <a:blipFill>
              <a:blip r:embed="rId3">
                <a:alphaModFix amt="0"/>
              </a:blip>
              <a:stretch>
                <a:fillRect t="-127416" b="-127416"/>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71" name="TextBox 71"/>
            <p:cNvSpPr txBox="1"/>
            <p:nvPr/>
          </p:nvSpPr>
          <p:spPr>
            <a:xfrm>
              <a:off x="0" y="0"/>
              <a:ext cx="8436864" cy="926592"/>
            </a:xfrm>
            <a:prstGeom prst="rect">
              <a:avLst/>
            </a:prstGeom>
          </p:spPr>
          <p:txBody>
            <a:bodyPr lIns="0" tIns="0" rIns="0" bIns="0" rtlCol="0" anchor="ctr"/>
            <a:lstStyle/>
            <a:p>
              <a:pPr algn="l">
                <a:lnSpc>
                  <a:spcPts val="2879"/>
                </a:lnSpc>
              </a:pPr>
              <a:r>
                <a:rPr lang="en-US" sz="2400" i="1" spc="120">
                  <a:solidFill>
                    <a:srgbClr val="FFFFFF"/>
                  </a:solidFill>
                  <a:latin typeface="Times New Roman" panose="02020603050405020304" pitchFamily="18" charset="0"/>
                  <a:ea typeface="Playfair Display Italics"/>
                  <a:cs typeface="Times New Roman" panose="02020603050405020304" pitchFamily="18" charset="0"/>
                  <a:sym typeface="Playfair Display Italics"/>
                </a:rPr>
                <a:t>DEC(zᵤ, z_v)  =   exp(zᵤᵀz_v)</a:t>
              </a:r>
            </a:p>
          </p:txBody>
        </p:sp>
      </p:grpSp>
      <p:grpSp>
        <p:nvGrpSpPr>
          <p:cNvPr id="72" name="Group 72"/>
          <p:cNvGrpSpPr/>
          <p:nvPr/>
        </p:nvGrpSpPr>
        <p:grpSpPr>
          <a:xfrm>
            <a:off x="10643616" y="3803904"/>
            <a:ext cx="6327648" cy="694944"/>
            <a:chOff x="0" y="0"/>
            <a:chExt cx="8436864" cy="926592"/>
          </a:xfrm>
        </p:grpSpPr>
        <p:sp>
          <p:nvSpPr>
            <p:cNvPr id="73" name="Freeform 73"/>
            <p:cNvSpPr/>
            <p:nvPr/>
          </p:nvSpPr>
          <p:spPr>
            <a:xfrm>
              <a:off x="0" y="0"/>
              <a:ext cx="8436864" cy="926592"/>
            </a:xfrm>
            <a:custGeom>
              <a:avLst/>
              <a:gdLst/>
              <a:ahLst/>
              <a:cxnLst/>
              <a:rect l="l" t="t" r="r" b="b"/>
              <a:pathLst>
                <a:path w="8436864" h="926592">
                  <a:moveTo>
                    <a:pt x="0" y="0"/>
                  </a:moveTo>
                  <a:lnTo>
                    <a:pt x="8436864" y="0"/>
                  </a:lnTo>
                  <a:lnTo>
                    <a:pt x="8436864" y="926592"/>
                  </a:lnTo>
                  <a:lnTo>
                    <a:pt x="0" y="926592"/>
                  </a:lnTo>
                  <a:close/>
                </a:path>
              </a:pathLst>
            </a:custGeom>
            <a:blipFill>
              <a:blip r:embed="rId3">
                <a:alphaModFix amt="0"/>
              </a:blip>
              <a:stretch>
                <a:fillRect t="-127416" b="-127416"/>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74" name="TextBox 74"/>
            <p:cNvSpPr txBox="1"/>
            <p:nvPr/>
          </p:nvSpPr>
          <p:spPr>
            <a:xfrm>
              <a:off x="0" y="0"/>
              <a:ext cx="8436864" cy="926592"/>
            </a:xfrm>
            <a:prstGeom prst="rect">
              <a:avLst/>
            </a:prstGeom>
          </p:spPr>
          <p:txBody>
            <a:bodyPr lIns="0" tIns="0" rIns="0" bIns="0" rtlCol="0" anchor="ctr"/>
            <a:lstStyle/>
            <a:p>
              <a:pPr algn="l">
                <a:lnSpc>
                  <a:spcPts val="2879"/>
                </a:lnSpc>
              </a:pPr>
              <a:r>
                <a:rPr lang="en-US" sz="2400" i="1" spc="120">
                  <a:solidFill>
                    <a:srgbClr val="FFFFFF"/>
                  </a:solidFill>
                  <a:latin typeface="Times New Roman" panose="02020603050405020304" pitchFamily="18" charset="0"/>
                  <a:ea typeface="Playfair Display Italics"/>
                  <a:cs typeface="Times New Roman" panose="02020603050405020304" pitchFamily="18" charset="0"/>
                  <a:sym typeface="Playfair Display Italics"/>
                </a:rPr>
                <a:t>                      Σ exp(zᵤᵀzₖ)</a:t>
              </a:r>
            </a:p>
          </p:txBody>
        </p:sp>
      </p:grpSp>
      <p:grpSp>
        <p:nvGrpSpPr>
          <p:cNvPr id="75" name="Group 75"/>
          <p:cNvGrpSpPr/>
          <p:nvPr/>
        </p:nvGrpSpPr>
        <p:grpSpPr>
          <a:xfrm>
            <a:off x="11414760" y="3788664"/>
            <a:ext cx="5151120" cy="30480"/>
            <a:chOff x="0" y="0"/>
            <a:chExt cx="6868160" cy="40640"/>
          </a:xfrm>
        </p:grpSpPr>
        <p:sp>
          <p:nvSpPr>
            <p:cNvPr id="76" name="Freeform 76"/>
            <p:cNvSpPr/>
            <p:nvPr/>
          </p:nvSpPr>
          <p:spPr>
            <a:xfrm>
              <a:off x="0" y="0"/>
              <a:ext cx="6868160" cy="40640"/>
            </a:xfrm>
            <a:custGeom>
              <a:avLst/>
              <a:gdLst/>
              <a:ahLst/>
              <a:cxnLst/>
              <a:rect l="l" t="t" r="r" b="b"/>
              <a:pathLst>
                <a:path w="6868160" h="40640">
                  <a:moveTo>
                    <a:pt x="0" y="0"/>
                  </a:moveTo>
                  <a:lnTo>
                    <a:pt x="6868160" y="40640"/>
                  </a:lnTo>
                </a:path>
              </a:pathLst>
            </a:custGeom>
            <a:blipFill>
              <a:blip r:embed="rId3">
                <a:alphaModFix amt="0"/>
              </a:blip>
              <a:stretch>
                <a:fillRect t="-3242971" b="-3242971"/>
              </a:stretch>
            </a:blipFill>
            <a:ln w="30480" cap="sq">
              <a:solidFill>
                <a:srgbClr val="0F1E3C"/>
              </a:solidFill>
              <a:prstDash val="solid"/>
              <a:miter/>
            </a:ln>
          </p:spPr>
          <p:txBody>
            <a:bodyPr/>
            <a:lstStyle/>
            <a:p>
              <a:endParaRPr lang="en-IN">
                <a:highlight>
                  <a:srgbClr val="800080"/>
                </a:highlight>
                <a:latin typeface="Times New Roman" panose="02020603050405020304" pitchFamily="18" charset="0"/>
                <a:cs typeface="Times New Roman" panose="02020603050405020304" pitchFamily="18" charset="0"/>
              </a:endParaRPr>
            </a:p>
          </p:txBody>
        </p:sp>
      </p:grpSp>
      <p:grpSp>
        <p:nvGrpSpPr>
          <p:cNvPr id="77" name="Group 77"/>
          <p:cNvGrpSpPr/>
          <p:nvPr/>
        </p:nvGrpSpPr>
        <p:grpSpPr>
          <a:xfrm>
            <a:off x="10643616" y="4572000"/>
            <a:ext cx="6327648" cy="640080"/>
            <a:chOff x="0" y="0"/>
            <a:chExt cx="8436864" cy="853440"/>
          </a:xfrm>
        </p:grpSpPr>
        <p:sp>
          <p:nvSpPr>
            <p:cNvPr id="78" name="Freeform 78"/>
            <p:cNvSpPr/>
            <p:nvPr/>
          </p:nvSpPr>
          <p:spPr>
            <a:xfrm>
              <a:off x="0" y="0"/>
              <a:ext cx="8436864" cy="853440"/>
            </a:xfrm>
            <a:custGeom>
              <a:avLst/>
              <a:gdLst/>
              <a:ahLst/>
              <a:cxnLst/>
              <a:rect l="l" t="t" r="r" b="b"/>
              <a:pathLst>
                <a:path w="8436864" h="853440">
                  <a:moveTo>
                    <a:pt x="0" y="0"/>
                  </a:moveTo>
                  <a:lnTo>
                    <a:pt x="8436864" y="0"/>
                  </a:lnTo>
                  <a:lnTo>
                    <a:pt x="8436864" y="853440"/>
                  </a:lnTo>
                  <a:lnTo>
                    <a:pt x="0" y="853440"/>
                  </a:lnTo>
                  <a:close/>
                </a:path>
              </a:pathLst>
            </a:custGeom>
            <a:blipFill>
              <a:blip r:embed="rId3">
                <a:alphaModFix amt="0"/>
              </a:blip>
              <a:stretch>
                <a:fillRect t="-142623" b="-142623"/>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79" name="TextBox 79"/>
            <p:cNvSpPr txBox="1"/>
            <p:nvPr/>
          </p:nvSpPr>
          <p:spPr>
            <a:xfrm>
              <a:off x="0" y="0"/>
              <a:ext cx="8436864" cy="853440"/>
            </a:xfrm>
            <a:prstGeom prst="rect">
              <a:avLst/>
            </a:prstGeom>
          </p:spPr>
          <p:txBody>
            <a:bodyPr lIns="0" tIns="0" rIns="0" bIns="0" rtlCol="0" anchor="ctr"/>
            <a:lstStyle/>
            <a:p>
              <a:pPr algn="l">
                <a:lnSpc>
                  <a:spcPts val="2879"/>
                </a:lnSpc>
              </a:pPr>
              <a:r>
                <a:rPr lang="en-US" sz="2400" spc="48" dirty="0">
                  <a:latin typeface="Times New Roman" panose="02020603050405020304" pitchFamily="18" charset="0"/>
                  <a:ea typeface="Playfair Display"/>
                  <a:cs typeface="Times New Roman" panose="02020603050405020304" pitchFamily="18" charset="0"/>
                  <a:sym typeface="Playfair Display"/>
                </a:rPr>
                <a:t>≈  p_{G,T}(v | u)</a:t>
              </a:r>
            </a:p>
          </p:txBody>
        </p:sp>
      </p:grpSp>
      <p:grpSp>
        <p:nvGrpSpPr>
          <p:cNvPr id="80" name="Group 80"/>
          <p:cNvGrpSpPr/>
          <p:nvPr/>
        </p:nvGrpSpPr>
        <p:grpSpPr>
          <a:xfrm>
            <a:off x="10424160" y="5340096"/>
            <a:ext cx="6766560" cy="585216"/>
            <a:chOff x="0" y="0"/>
            <a:chExt cx="9022080" cy="780288"/>
          </a:xfrm>
        </p:grpSpPr>
        <p:sp>
          <p:nvSpPr>
            <p:cNvPr id="81" name="Freeform 81"/>
            <p:cNvSpPr/>
            <p:nvPr/>
          </p:nvSpPr>
          <p:spPr>
            <a:xfrm>
              <a:off x="0" y="0"/>
              <a:ext cx="9022080" cy="780288"/>
            </a:xfrm>
            <a:custGeom>
              <a:avLst/>
              <a:gdLst/>
              <a:ahLst/>
              <a:cxnLst/>
              <a:rect l="l" t="t" r="r" b="b"/>
              <a:pathLst>
                <a:path w="9022080" h="780288">
                  <a:moveTo>
                    <a:pt x="0" y="0"/>
                  </a:moveTo>
                  <a:lnTo>
                    <a:pt x="9022080" y="0"/>
                  </a:lnTo>
                  <a:lnTo>
                    <a:pt x="9022080" y="780288"/>
                  </a:lnTo>
                  <a:lnTo>
                    <a:pt x="0" y="780288"/>
                  </a:lnTo>
                  <a:close/>
                </a:path>
              </a:pathLst>
            </a:custGeom>
            <a:blipFill>
              <a:blip r:embed="rId3">
                <a:alphaModFix amt="0"/>
              </a:blip>
              <a:stretch>
                <a:fillRect t="-175295" b="-175295"/>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82" name="TextBox 82"/>
            <p:cNvSpPr txBox="1"/>
            <p:nvPr/>
          </p:nvSpPr>
          <p:spPr>
            <a:xfrm>
              <a:off x="0" y="0"/>
              <a:ext cx="9022080" cy="780288"/>
            </a:xfrm>
            <a:prstGeom prst="rect">
              <a:avLst/>
            </a:prstGeom>
          </p:spPr>
          <p:txBody>
            <a:bodyPr lIns="0" tIns="0" rIns="0" bIns="0" rtlCol="0" anchor="ctr"/>
            <a:lstStyle/>
            <a:p>
              <a:pPr algn="l">
                <a:lnSpc>
                  <a:spcPts val="2879"/>
                </a:lnSpc>
              </a:pPr>
              <a:r>
                <a:rPr lang="en-US" sz="2400" spc="120" dirty="0">
                  <a:latin typeface="Times New Roman" panose="02020603050405020304" pitchFamily="18" charset="0"/>
                  <a:ea typeface="Playfair Display Italics"/>
                  <a:cs typeface="Times New Roman" panose="02020603050405020304" pitchFamily="18" charset="0"/>
                  <a:sym typeface="Playfair Display Italics"/>
                </a:rPr>
                <a:t>Loss (Cross-Entropy):</a:t>
              </a:r>
            </a:p>
          </p:txBody>
        </p:sp>
      </p:grpSp>
      <p:grpSp>
        <p:nvGrpSpPr>
          <p:cNvPr id="83" name="Group 83"/>
          <p:cNvGrpSpPr/>
          <p:nvPr/>
        </p:nvGrpSpPr>
        <p:grpSpPr>
          <a:xfrm>
            <a:off x="10408920" y="5983224"/>
            <a:ext cx="6797040" cy="908304"/>
            <a:chOff x="0" y="0"/>
            <a:chExt cx="9062720" cy="1211072"/>
          </a:xfrm>
        </p:grpSpPr>
        <p:sp>
          <p:nvSpPr>
            <p:cNvPr id="84" name="Freeform 84"/>
            <p:cNvSpPr/>
            <p:nvPr/>
          </p:nvSpPr>
          <p:spPr>
            <a:xfrm>
              <a:off x="0" y="0"/>
              <a:ext cx="9062720" cy="1211072"/>
            </a:xfrm>
            <a:custGeom>
              <a:avLst/>
              <a:gdLst/>
              <a:ahLst/>
              <a:cxnLst/>
              <a:rect l="l" t="t" r="r" b="b"/>
              <a:pathLst>
                <a:path w="9062720" h="1211072">
                  <a:moveTo>
                    <a:pt x="0" y="176657"/>
                  </a:moveTo>
                  <a:cubicBezTo>
                    <a:pt x="0" y="79121"/>
                    <a:pt x="79121" y="0"/>
                    <a:pt x="176657" y="0"/>
                  </a:cubicBezTo>
                  <a:lnTo>
                    <a:pt x="8886063" y="0"/>
                  </a:lnTo>
                  <a:cubicBezTo>
                    <a:pt x="8983599" y="0"/>
                    <a:pt x="9062720" y="79121"/>
                    <a:pt x="9062720" y="176657"/>
                  </a:cubicBezTo>
                  <a:lnTo>
                    <a:pt x="9062720" y="1034415"/>
                  </a:lnTo>
                  <a:cubicBezTo>
                    <a:pt x="9062720" y="1131951"/>
                    <a:pt x="8983599" y="1211072"/>
                    <a:pt x="8886063" y="1211072"/>
                  </a:cubicBezTo>
                  <a:lnTo>
                    <a:pt x="176657" y="1211072"/>
                  </a:lnTo>
                  <a:cubicBezTo>
                    <a:pt x="79121" y="1211072"/>
                    <a:pt x="0" y="1131951"/>
                    <a:pt x="0" y="1034415"/>
                  </a:cubicBezTo>
                  <a:close/>
                </a:path>
              </a:pathLst>
            </a:custGeom>
            <a:solidFill>
              <a:srgbClr val="253439"/>
            </a:solidFill>
            <a:ln w="30480" cap="sq">
              <a:solidFill>
                <a:srgbClr val="C8DDF5"/>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85" name="Group 85"/>
          <p:cNvGrpSpPr/>
          <p:nvPr/>
        </p:nvGrpSpPr>
        <p:grpSpPr>
          <a:xfrm>
            <a:off x="10643616" y="5998464"/>
            <a:ext cx="6327648" cy="877824"/>
            <a:chOff x="0" y="0"/>
            <a:chExt cx="8436864" cy="1170432"/>
          </a:xfrm>
        </p:grpSpPr>
        <p:sp>
          <p:nvSpPr>
            <p:cNvPr id="86" name="Freeform 86"/>
            <p:cNvSpPr/>
            <p:nvPr/>
          </p:nvSpPr>
          <p:spPr>
            <a:xfrm>
              <a:off x="0" y="0"/>
              <a:ext cx="8436864" cy="1170432"/>
            </a:xfrm>
            <a:custGeom>
              <a:avLst/>
              <a:gdLst/>
              <a:ahLst/>
              <a:cxnLst/>
              <a:rect l="l" t="t" r="r" b="b"/>
              <a:pathLst>
                <a:path w="8436864" h="1170432">
                  <a:moveTo>
                    <a:pt x="0" y="0"/>
                  </a:moveTo>
                  <a:lnTo>
                    <a:pt x="8436864" y="0"/>
                  </a:lnTo>
                  <a:lnTo>
                    <a:pt x="8436864" y="1170432"/>
                  </a:lnTo>
                  <a:lnTo>
                    <a:pt x="0" y="1170432"/>
                  </a:lnTo>
                  <a:close/>
                </a:path>
              </a:pathLst>
            </a:custGeom>
            <a:blipFill>
              <a:blip r:embed="rId3">
                <a:alphaModFix amt="0"/>
              </a:blip>
              <a:stretch>
                <a:fillRect t="-90454" b="-90454"/>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87" name="TextBox 87"/>
            <p:cNvSpPr txBox="1"/>
            <p:nvPr/>
          </p:nvSpPr>
          <p:spPr>
            <a:xfrm>
              <a:off x="0" y="0"/>
              <a:ext cx="8436864" cy="1170432"/>
            </a:xfrm>
            <a:prstGeom prst="rect">
              <a:avLst/>
            </a:prstGeom>
          </p:spPr>
          <p:txBody>
            <a:bodyPr lIns="0" tIns="0" rIns="0" bIns="0" rtlCol="0" anchor="ctr"/>
            <a:lstStyle/>
            <a:p>
              <a:pPr algn="l">
                <a:lnSpc>
                  <a:spcPts val="3120"/>
                </a:lnSpc>
              </a:pPr>
              <a:r>
                <a:rPr lang="en-US" sz="2600" i="1" spc="130">
                  <a:solidFill>
                    <a:srgbClr val="FFFFFF"/>
                  </a:solidFill>
                  <a:latin typeface="Times New Roman" panose="02020603050405020304" pitchFamily="18" charset="0"/>
                  <a:ea typeface="Playfair Display Italics"/>
                  <a:cs typeface="Times New Roman" panose="02020603050405020304" pitchFamily="18" charset="0"/>
                  <a:sym typeface="Playfair Display Italics"/>
                </a:rPr>
                <a:t>L = Σ −log(DEC(zᵤ, z_v))</a:t>
              </a:r>
            </a:p>
          </p:txBody>
        </p:sp>
      </p:grpSp>
      <p:grpSp>
        <p:nvGrpSpPr>
          <p:cNvPr id="88" name="Group 88"/>
          <p:cNvGrpSpPr/>
          <p:nvPr/>
        </p:nvGrpSpPr>
        <p:grpSpPr>
          <a:xfrm>
            <a:off x="10424160" y="7040880"/>
            <a:ext cx="6766560" cy="1097280"/>
            <a:chOff x="0" y="0"/>
            <a:chExt cx="9022080" cy="1463040"/>
          </a:xfrm>
        </p:grpSpPr>
        <p:sp>
          <p:nvSpPr>
            <p:cNvPr id="89" name="Freeform 89"/>
            <p:cNvSpPr/>
            <p:nvPr/>
          </p:nvSpPr>
          <p:spPr>
            <a:xfrm>
              <a:off x="0" y="0"/>
              <a:ext cx="9022080" cy="1463040"/>
            </a:xfrm>
            <a:custGeom>
              <a:avLst/>
              <a:gdLst/>
              <a:ahLst/>
              <a:cxnLst/>
              <a:rect l="l" t="t" r="r" b="b"/>
              <a:pathLst>
                <a:path w="9022080" h="1463040">
                  <a:moveTo>
                    <a:pt x="0" y="0"/>
                  </a:moveTo>
                  <a:lnTo>
                    <a:pt x="9022080" y="0"/>
                  </a:lnTo>
                  <a:lnTo>
                    <a:pt x="9022080" y="1463040"/>
                  </a:lnTo>
                  <a:lnTo>
                    <a:pt x="0" y="1463040"/>
                  </a:lnTo>
                  <a:close/>
                </a:path>
              </a:pathLst>
            </a:custGeom>
            <a:blipFill>
              <a:blip r:embed="rId3">
                <a:alphaModFix amt="0"/>
              </a:blip>
              <a:stretch>
                <a:fillRect t="-70157" b="-70157"/>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90" name="TextBox 90"/>
            <p:cNvSpPr txBox="1"/>
            <p:nvPr/>
          </p:nvSpPr>
          <p:spPr>
            <a:xfrm>
              <a:off x="0" y="0"/>
              <a:ext cx="9022080" cy="1463040"/>
            </a:xfrm>
            <a:prstGeom prst="rect">
              <a:avLst/>
            </a:prstGeom>
          </p:spPr>
          <p:txBody>
            <a:bodyPr lIns="0" tIns="0" rIns="0" bIns="0" rtlCol="0" anchor="ctr"/>
            <a:lstStyle/>
            <a:p>
              <a:pPr algn="l">
                <a:lnSpc>
                  <a:spcPts val="2879"/>
                </a:lnSpc>
              </a:pPr>
              <a:r>
                <a:rPr lang="en-US" sz="2400" spc="120" dirty="0">
                  <a:latin typeface="Times New Roman" panose="02020603050405020304" pitchFamily="18" charset="0"/>
                  <a:ea typeface="Playfair Display Italics"/>
                  <a:cs typeface="Times New Roman" panose="02020603050405020304" pitchFamily="18" charset="0"/>
                  <a:sym typeface="Playfair Display Italics"/>
                </a:rPr>
                <a:t>Bottleneck: computing the denominator</a:t>
              </a:r>
            </a:p>
            <a:p>
              <a:pPr algn="l">
                <a:lnSpc>
                  <a:spcPts val="2879"/>
                </a:lnSpc>
              </a:pPr>
              <a:r>
                <a:rPr lang="en-US" sz="2400" spc="120" dirty="0">
                  <a:latin typeface="Times New Roman" panose="02020603050405020304" pitchFamily="18" charset="0"/>
                  <a:ea typeface="Playfair Display Italics"/>
                  <a:cs typeface="Times New Roman" panose="02020603050405020304" pitchFamily="18" charset="0"/>
                  <a:sym typeface="Playfair Display Italics"/>
                </a:rPr>
                <a:t>Σ exp(zᵤᵀzₖ) over all |V| nodes is O(|V|).</a:t>
              </a:r>
            </a:p>
          </p:txBody>
        </p:sp>
      </p:grpSp>
      <p:grpSp>
        <p:nvGrpSpPr>
          <p:cNvPr id="91" name="Group 91"/>
          <p:cNvGrpSpPr/>
          <p:nvPr/>
        </p:nvGrpSpPr>
        <p:grpSpPr>
          <a:xfrm>
            <a:off x="10424160" y="8229600"/>
            <a:ext cx="6766560" cy="848868"/>
            <a:chOff x="0" y="0"/>
            <a:chExt cx="9022080" cy="1131824"/>
          </a:xfrm>
        </p:grpSpPr>
        <p:sp>
          <p:nvSpPr>
            <p:cNvPr id="92" name="Freeform 92"/>
            <p:cNvSpPr/>
            <p:nvPr/>
          </p:nvSpPr>
          <p:spPr>
            <a:xfrm>
              <a:off x="0" y="0"/>
              <a:ext cx="9022080" cy="1131824"/>
            </a:xfrm>
            <a:custGeom>
              <a:avLst/>
              <a:gdLst/>
              <a:ahLst/>
              <a:cxnLst/>
              <a:rect l="l" t="t" r="r" b="b"/>
              <a:pathLst>
                <a:path w="9022080" h="1131824">
                  <a:moveTo>
                    <a:pt x="0" y="0"/>
                  </a:moveTo>
                  <a:lnTo>
                    <a:pt x="9022080" y="0"/>
                  </a:lnTo>
                  <a:lnTo>
                    <a:pt x="9022080" y="1131824"/>
                  </a:lnTo>
                  <a:lnTo>
                    <a:pt x="0" y="1131824"/>
                  </a:lnTo>
                  <a:close/>
                </a:path>
              </a:pathLst>
            </a:custGeom>
            <a:blipFill>
              <a:blip r:embed="rId3">
                <a:alphaModFix amt="0"/>
              </a:blip>
              <a:stretch>
                <a:fillRect t="-106846" b="-103794"/>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93" name="TextBox 93"/>
            <p:cNvSpPr txBox="1"/>
            <p:nvPr/>
          </p:nvSpPr>
          <p:spPr>
            <a:xfrm>
              <a:off x="0" y="0"/>
              <a:ext cx="9022080" cy="1131824"/>
            </a:xfrm>
            <a:prstGeom prst="rect">
              <a:avLst/>
            </a:prstGeom>
          </p:spPr>
          <p:txBody>
            <a:bodyPr lIns="0" tIns="0" rIns="0" bIns="0" rtlCol="0" anchor="ctr"/>
            <a:lstStyle/>
            <a:p>
              <a:pPr algn="l">
                <a:lnSpc>
                  <a:spcPts val="2879"/>
                </a:lnSpc>
              </a:pPr>
              <a:r>
                <a:rPr lang="en-US" sz="2400" i="1" spc="120" dirty="0">
                  <a:latin typeface="Times New Roman" panose="02020603050405020304" pitchFamily="18" charset="0"/>
                  <a:ea typeface="Playfair Display Italics"/>
                  <a:cs typeface="Times New Roman" panose="02020603050405020304" pitchFamily="18" charset="0"/>
                  <a:sym typeface="Playfair Display Italics"/>
                </a:rPr>
                <a:t>DeepWalk fixes this with Hierarchical Softmax → O(log|V|)</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18288000" cy="1371600"/>
          </a:xfrm>
          <a:prstGeom prst="rect">
            <a:avLst/>
          </a:prstGeom>
          <a:solidFill>
            <a:schemeClr val="bg2"/>
          </a:solidFill>
          <a:ln w="12700">
            <a:solidFill>
              <a:srgbClr val="2D3561"/>
            </a:solidFill>
            <a:prstDash val="solid"/>
          </a:ln>
        </p:spPr>
        <p:txBody>
          <a:bodyPr/>
          <a:lstStyle/>
          <a:p>
            <a:endParaRPr lang="en-IN" sz="3600" dirty="0">
              <a:solidFill>
                <a:schemeClr val="bg1"/>
              </a:solidFill>
              <a:latin typeface="Times New Roman" panose="02020603050405020304" pitchFamily="18" charset="0"/>
              <a:cs typeface="Times New Roman" panose="02020603050405020304" pitchFamily="18" charset="0"/>
            </a:endParaRPr>
          </a:p>
        </p:txBody>
      </p:sp>
      <p:sp>
        <p:nvSpPr>
          <p:cNvPr id="3" name="Text 1"/>
          <p:cNvSpPr/>
          <p:nvPr/>
        </p:nvSpPr>
        <p:spPr>
          <a:xfrm>
            <a:off x="548640" y="0"/>
            <a:ext cx="17190720" cy="1371600"/>
          </a:xfrm>
          <a:prstGeom prst="rect">
            <a:avLst/>
          </a:prstGeom>
          <a:noFill/>
          <a:ln/>
        </p:spPr>
        <p:txBody>
          <a:bodyPr wrap="square" rtlCol="0" anchor="ctr"/>
          <a:lstStyle/>
          <a:p>
            <a:r>
              <a:rPr lang="en-US" sz="4400" dirty="0">
                <a:latin typeface="Times New Roman" panose="02020603050405020304" pitchFamily="18" charset="0"/>
                <a:ea typeface="Cambria" pitchFamily="34" charset="-122"/>
                <a:cs typeface="Times New Roman" panose="02020603050405020304" pitchFamily="18" charset="0"/>
              </a:rPr>
              <a:t>DeepWalk – Worked Example  |  Steps 1 &amp; 2</a:t>
            </a:r>
            <a:endParaRPr lang="en-US" sz="4400" dirty="0">
              <a:latin typeface="Times New Roman" panose="02020603050405020304" pitchFamily="18" charset="0"/>
              <a:cs typeface="Times New Roman" panose="02020603050405020304" pitchFamily="18" charset="0"/>
            </a:endParaRPr>
          </a:p>
        </p:txBody>
      </p:sp>
      <p:sp>
        <p:nvSpPr>
          <p:cNvPr id="40" name="Shape 38"/>
          <p:cNvSpPr/>
          <p:nvPr/>
        </p:nvSpPr>
        <p:spPr>
          <a:xfrm>
            <a:off x="12252960" y="1554480"/>
            <a:ext cx="5577840" cy="8412480"/>
          </a:xfrm>
          <a:prstGeom prst="roundRect">
            <a:avLst>
              <a:gd name="adj" fmla="val 3934"/>
            </a:avLst>
          </a:prstGeom>
          <a:solidFill>
            <a:schemeClr val="bg1">
              <a:lumMod val="65000"/>
            </a:schemeClr>
          </a:solidFill>
          <a:ln w="15240">
            <a:solidFill>
              <a:srgbClr val="4A90D9"/>
            </a:solidFill>
            <a:prstDash val="solid"/>
          </a:ln>
          <a:effectLst>
            <a:outerShdw blurRad="101600" dist="38100" dir="2700000" algn="bl" rotWithShape="0">
              <a:srgbClr val="000000">
                <a:alpha val="30000"/>
              </a:srgbClr>
            </a:outerShdw>
          </a:effectLst>
        </p:spPr>
        <p:txBody>
          <a:bodyPr/>
          <a:lstStyle/>
          <a:p>
            <a:endParaRPr lang="en-IN" sz="3600" dirty="0"/>
          </a:p>
        </p:txBody>
      </p:sp>
      <p:sp>
        <p:nvSpPr>
          <p:cNvPr id="41" name="Text 39"/>
          <p:cNvSpPr/>
          <p:nvPr/>
        </p:nvSpPr>
        <p:spPr>
          <a:xfrm>
            <a:off x="12435840" y="1645920"/>
            <a:ext cx="5212080" cy="694944"/>
          </a:xfrm>
          <a:prstGeom prst="rect">
            <a:avLst/>
          </a:prstGeom>
          <a:noFill/>
          <a:ln/>
        </p:spPr>
        <p:txBody>
          <a:bodyPr wrap="square" rtlCol="0" anchor="ctr"/>
          <a:lstStyle/>
          <a:p>
            <a:pPr algn="ctr"/>
            <a:r>
              <a:rPr lang="en-US" sz="2400" b="1" dirty="0">
                <a:latin typeface="Times New Roman" panose="02020603050405020304" pitchFamily="18" charset="0"/>
                <a:ea typeface="Calibri" pitchFamily="34" charset="-122"/>
                <a:cs typeface="Times New Roman" panose="02020603050405020304" pitchFamily="18" charset="0"/>
              </a:rPr>
              <a:t>Step 3 — Initial Embeddings</a:t>
            </a:r>
            <a:endParaRPr lang="en-US" sz="2400" dirty="0">
              <a:latin typeface="Times New Roman" panose="02020603050405020304" pitchFamily="18" charset="0"/>
              <a:cs typeface="Times New Roman" panose="02020603050405020304" pitchFamily="18" charset="0"/>
            </a:endParaRPr>
          </a:p>
        </p:txBody>
      </p:sp>
      <p:sp>
        <p:nvSpPr>
          <p:cNvPr id="56" name="Text 54"/>
          <p:cNvSpPr/>
          <p:nvPr/>
        </p:nvSpPr>
        <p:spPr>
          <a:xfrm>
            <a:off x="12472416" y="6126480"/>
            <a:ext cx="5212080" cy="548640"/>
          </a:xfrm>
          <a:prstGeom prst="rect">
            <a:avLst/>
          </a:prstGeom>
          <a:noFill/>
          <a:ln/>
        </p:spPr>
        <p:txBody>
          <a:bodyPr wrap="square" rtlCol="0" anchor="ctr"/>
          <a:lstStyle/>
          <a:p>
            <a:pPr algn="ctr"/>
            <a:r>
              <a:rPr lang="en-US" sz="2000" i="1" dirty="0">
                <a:latin typeface="Times New Roman" panose="02020603050405020304" pitchFamily="18" charset="0"/>
                <a:ea typeface="Calibri" pitchFamily="34" charset="-122"/>
                <a:cs typeface="Times New Roman" panose="02020603050405020304" pitchFamily="18" charset="0"/>
              </a:rPr>
              <a:t>2D embedding space (latent vectors)</a:t>
            </a:r>
            <a:endParaRPr lang="en-US" sz="2000" dirty="0">
              <a:latin typeface="Times New Roman" panose="02020603050405020304" pitchFamily="18" charset="0"/>
              <a:cs typeface="Times New Roman" panose="02020603050405020304" pitchFamily="18" charset="0"/>
            </a:endParaRPr>
          </a:p>
        </p:txBody>
      </p:sp>
      <p:sp>
        <p:nvSpPr>
          <p:cNvPr id="57" name="Shape 55"/>
          <p:cNvSpPr/>
          <p:nvPr/>
        </p:nvSpPr>
        <p:spPr>
          <a:xfrm>
            <a:off x="12801600" y="8595360"/>
            <a:ext cx="2212848" cy="0"/>
          </a:xfrm>
          <a:prstGeom prst="line">
            <a:avLst/>
          </a:prstGeom>
          <a:noFill/>
          <a:ln w="12700">
            <a:solidFill>
              <a:srgbClr val="8A93A8"/>
            </a:solidFill>
            <a:prstDash val="solid"/>
          </a:ln>
        </p:spPr>
        <p:txBody>
          <a:bodyPr/>
          <a:lstStyle/>
          <a:p>
            <a:endParaRPr lang="en-IN" sz="2100">
              <a:latin typeface="Times New Roman" panose="02020603050405020304" pitchFamily="18" charset="0"/>
              <a:cs typeface="Times New Roman" panose="02020603050405020304" pitchFamily="18" charset="0"/>
            </a:endParaRPr>
          </a:p>
        </p:txBody>
      </p:sp>
      <p:sp>
        <p:nvSpPr>
          <p:cNvPr id="58" name="Shape 56"/>
          <p:cNvSpPr/>
          <p:nvPr/>
        </p:nvSpPr>
        <p:spPr>
          <a:xfrm>
            <a:off x="13807440" y="7589520"/>
            <a:ext cx="0" cy="1307592"/>
          </a:xfrm>
          <a:prstGeom prst="line">
            <a:avLst/>
          </a:prstGeom>
          <a:noFill/>
          <a:ln w="12700">
            <a:solidFill>
              <a:srgbClr val="8A93A8"/>
            </a:solidFill>
            <a:prstDash val="solid"/>
          </a:ln>
        </p:spPr>
        <p:txBody>
          <a:bodyPr/>
          <a:lstStyle/>
          <a:p>
            <a:endParaRPr lang="en-IN" sz="2100">
              <a:latin typeface="Times New Roman" panose="02020603050405020304" pitchFamily="18" charset="0"/>
              <a:cs typeface="Times New Roman" panose="02020603050405020304" pitchFamily="18" charset="0"/>
            </a:endParaRPr>
          </a:p>
        </p:txBody>
      </p:sp>
      <p:sp>
        <p:nvSpPr>
          <p:cNvPr id="59" name="Shape 57"/>
          <p:cNvSpPr/>
          <p:nvPr/>
        </p:nvSpPr>
        <p:spPr>
          <a:xfrm>
            <a:off x="14630400" y="8412480"/>
            <a:ext cx="365760" cy="365760"/>
          </a:xfrm>
          <a:prstGeom prst="ellipse">
            <a:avLst/>
          </a:prstGeom>
          <a:solidFill>
            <a:srgbClr val="4A90D9"/>
          </a:solidFill>
          <a:ln w="12700">
            <a:solidFill>
              <a:srgbClr val="4A90D9"/>
            </a:solidFill>
            <a:prstDash val="solid"/>
          </a:ln>
        </p:spPr>
        <p:txBody>
          <a:bodyPr/>
          <a:lstStyle/>
          <a:p>
            <a:endParaRPr lang="en-IN" sz="2100">
              <a:latin typeface="Times New Roman" panose="02020603050405020304" pitchFamily="18" charset="0"/>
              <a:cs typeface="Times New Roman" panose="02020603050405020304" pitchFamily="18" charset="0"/>
            </a:endParaRPr>
          </a:p>
        </p:txBody>
      </p:sp>
      <p:sp>
        <p:nvSpPr>
          <p:cNvPr id="60" name="Text 58"/>
          <p:cNvSpPr/>
          <p:nvPr/>
        </p:nvSpPr>
        <p:spPr>
          <a:xfrm>
            <a:off x="14630400" y="8083296"/>
            <a:ext cx="402336" cy="402336"/>
          </a:xfrm>
          <a:prstGeom prst="rect">
            <a:avLst/>
          </a:prstGeom>
          <a:noFill/>
          <a:ln/>
        </p:spPr>
        <p:txBody>
          <a:bodyPr wrap="square" rtlCol="0" anchor="ctr"/>
          <a:lstStyle/>
          <a:p>
            <a:pPr algn="ctr"/>
            <a:r>
              <a:rPr lang="en-US" sz="2100" b="1" dirty="0">
                <a:latin typeface="Times New Roman" panose="02020603050405020304" pitchFamily="18" charset="0"/>
                <a:ea typeface="Calibri" pitchFamily="34" charset="-122"/>
                <a:cs typeface="Times New Roman" panose="02020603050405020304" pitchFamily="18" charset="0"/>
              </a:rPr>
              <a:t>A</a:t>
            </a:r>
            <a:endParaRPr lang="en-US" sz="2100" dirty="0">
              <a:latin typeface="Times New Roman" panose="02020603050405020304" pitchFamily="18" charset="0"/>
              <a:cs typeface="Times New Roman" panose="02020603050405020304" pitchFamily="18" charset="0"/>
            </a:endParaRPr>
          </a:p>
        </p:txBody>
      </p:sp>
      <p:sp>
        <p:nvSpPr>
          <p:cNvPr id="61" name="Shape 59"/>
          <p:cNvSpPr/>
          <p:nvPr/>
        </p:nvSpPr>
        <p:spPr>
          <a:xfrm>
            <a:off x="13624560" y="7406640"/>
            <a:ext cx="365760" cy="365760"/>
          </a:xfrm>
          <a:prstGeom prst="ellipse">
            <a:avLst/>
          </a:prstGeom>
          <a:solidFill>
            <a:srgbClr val="4A90D9"/>
          </a:solidFill>
          <a:ln w="12700">
            <a:solidFill>
              <a:srgbClr val="4A90D9"/>
            </a:solidFill>
            <a:prstDash val="solid"/>
          </a:ln>
        </p:spPr>
        <p:txBody>
          <a:bodyPr/>
          <a:lstStyle/>
          <a:p>
            <a:endParaRPr lang="en-IN" sz="2100">
              <a:latin typeface="Times New Roman" panose="02020603050405020304" pitchFamily="18" charset="0"/>
              <a:cs typeface="Times New Roman" panose="02020603050405020304" pitchFamily="18" charset="0"/>
            </a:endParaRPr>
          </a:p>
        </p:txBody>
      </p:sp>
      <p:sp>
        <p:nvSpPr>
          <p:cNvPr id="62" name="Text 60"/>
          <p:cNvSpPr/>
          <p:nvPr/>
        </p:nvSpPr>
        <p:spPr>
          <a:xfrm>
            <a:off x="13624560" y="7077456"/>
            <a:ext cx="402336" cy="402336"/>
          </a:xfrm>
          <a:prstGeom prst="rect">
            <a:avLst/>
          </a:prstGeom>
          <a:noFill/>
          <a:ln/>
        </p:spPr>
        <p:txBody>
          <a:bodyPr wrap="square" rtlCol="0" anchor="ctr"/>
          <a:lstStyle/>
          <a:p>
            <a:pPr algn="ctr"/>
            <a:r>
              <a:rPr lang="en-US" sz="2100" b="1" dirty="0">
                <a:latin typeface="Times New Roman" panose="02020603050405020304" pitchFamily="18" charset="0"/>
                <a:ea typeface="Calibri" pitchFamily="34" charset="-122"/>
                <a:cs typeface="Times New Roman" panose="02020603050405020304" pitchFamily="18" charset="0"/>
              </a:rPr>
              <a:t>B</a:t>
            </a:r>
            <a:endParaRPr lang="en-US" sz="2100" dirty="0">
              <a:latin typeface="Times New Roman" panose="02020603050405020304" pitchFamily="18" charset="0"/>
              <a:cs typeface="Times New Roman" panose="02020603050405020304" pitchFamily="18" charset="0"/>
            </a:endParaRPr>
          </a:p>
        </p:txBody>
      </p:sp>
      <p:sp>
        <p:nvSpPr>
          <p:cNvPr id="63" name="Shape 61"/>
          <p:cNvSpPr/>
          <p:nvPr/>
        </p:nvSpPr>
        <p:spPr>
          <a:xfrm>
            <a:off x="12618720" y="8412480"/>
            <a:ext cx="365760" cy="365760"/>
          </a:xfrm>
          <a:prstGeom prst="ellipse">
            <a:avLst/>
          </a:prstGeom>
          <a:solidFill>
            <a:srgbClr val="4A90D9"/>
          </a:solidFill>
          <a:ln w="12700">
            <a:solidFill>
              <a:srgbClr val="4A90D9"/>
            </a:solidFill>
            <a:prstDash val="solid"/>
          </a:ln>
        </p:spPr>
        <p:txBody>
          <a:bodyPr/>
          <a:lstStyle/>
          <a:p>
            <a:endParaRPr lang="en-IN" sz="2100">
              <a:latin typeface="Times New Roman" panose="02020603050405020304" pitchFamily="18" charset="0"/>
              <a:cs typeface="Times New Roman" panose="02020603050405020304" pitchFamily="18" charset="0"/>
            </a:endParaRPr>
          </a:p>
        </p:txBody>
      </p:sp>
      <p:sp>
        <p:nvSpPr>
          <p:cNvPr id="64" name="Text 62"/>
          <p:cNvSpPr/>
          <p:nvPr/>
        </p:nvSpPr>
        <p:spPr>
          <a:xfrm>
            <a:off x="12618720" y="8083296"/>
            <a:ext cx="402336" cy="402336"/>
          </a:xfrm>
          <a:prstGeom prst="rect">
            <a:avLst/>
          </a:prstGeom>
          <a:noFill/>
          <a:ln/>
        </p:spPr>
        <p:txBody>
          <a:bodyPr wrap="square" rtlCol="0" anchor="ctr"/>
          <a:lstStyle/>
          <a:p>
            <a:pPr algn="ctr"/>
            <a:r>
              <a:rPr lang="en-US" sz="2100" b="1" dirty="0">
                <a:latin typeface="Times New Roman" panose="02020603050405020304" pitchFamily="18" charset="0"/>
                <a:ea typeface="Calibri" pitchFamily="34" charset="-122"/>
                <a:cs typeface="Times New Roman" panose="02020603050405020304" pitchFamily="18" charset="0"/>
              </a:rPr>
              <a:t>C</a:t>
            </a:r>
            <a:endParaRPr lang="en-US" sz="2100" dirty="0">
              <a:latin typeface="Times New Roman" panose="02020603050405020304" pitchFamily="18" charset="0"/>
              <a:cs typeface="Times New Roman" panose="02020603050405020304" pitchFamily="18" charset="0"/>
            </a:endParaRPr>
          </a:p>
        </p:txBody>
      </p:sp>
      <p:sp>
        <p:nvSpPr>
          <p:cNvPr id="65" name="Shape 63"/>
          <p:cNvSpPr/>
          <p:nvPr/>
        </p:nvSpPr>
        <p:spPr>
          <a:xfrm>
            <a:off x="14127480" y="7909560"/>
            <a:ext cx="365760" cy="365760"/>
          </a:xfrm>
          <a:prstGeom prst="ellipse">
            <a:avLst/>
          </a:prstGeom>
          <a:solidFill>
            <a:srgbClr val="F0C040"/>
          </a:solidFill>
          <a:ln w="12700">
            <a:solidFill>
              <a:srgbClr val="F0C040"/>
            </a:solidFill>
            <a:prstDash val="solid"/>
          </a:ln>
        </p:spPr>
        <p:txBody>
          <a:bodyPr/>
          <a:lstStyle/>
          <a:p>
            <a:endParaRPr lang="en-IN" sz="2100">
              <a:latin typeface="Times New Roman" panose="02020603050405020304" pitchFamily="18" charset="0"/>
              <a:cs typeface="Times New Roman" panose="02020603050405020304" pitchFamily="18" charset="0"/>
            </a:endParaRPr>
          </a:p>
        </p:txBody>
      </p:sp>
      <p:sp>
        <p:nvSpPr>
          <p:cNvPr id="66" name="Text 64"/>
          <p:cNvSpPr/>
          <p:nvPr/>
        </p:nvSpPr>
        <p:spPr>
          <a:xfrm>
            <a:off x="14127480" y="7580376"/>
            <a:ext cx="402336" cy="402336"/>
          </a:xfrm>
          <a:prstGeom prst="rect">
            <a:avLst/>
          </a:prstGeom>
          <a:noFill/>
          <a:ln/>
        </p:spPr>
        <p:txBody>
          <a:bodyPr wrap="square" rtlCol="0" anchor="ctr"/>
          <a:lstStyle/>
          <a:p>
            <a:pPr algn="ctr"/>
            <a:r>
              <a:rPr lang="en-US" sz="2100" b="1" dirty="0">
                <a:latin typeface="Times New Roman" panose="02020603050405020304" pitchFamily="18" charset="0"/>
                <a:ea typeface="Calibri" pitchFamily="34" charset="-122"/>
                <a:cs typeface="Times New Roman" panose="02020603050405020304" pitchFamily="18" charset="0"/>
              </a:rPr>
              <a:t>D</a:t>
            </a:r>
            <a:endParaRPr lang="en-US" sz="2100" dirty="0">
              <a:latin typeface="Times New Roman" panose="02020603050405020304" pitchFamily="18" charset="0"/>
              <a:cs typeface="Times New Roman" panose="02020603050405020304" pitchFamily="18" charset="0"/>
            </a:endParaRPr>
          </a:p>
        </p:txBody>
      </p:sp>
      <p:grpSp>
        <p:nvGrpSpPr>
          <p:cNvPr id="67" name="Group 10">
            <a:extLst>
              <a:ext uri="{FF2B5EF4-FFF2-40B4-BE49-F238E27FC236}">
                <a16:creationId xmlns:a16="http://schemas.microsoft.com/office/drawing/2014/main" id="{A8670001-546A-A41F-F0BA-35BB8987F503}"/>
              </a:ext>
            </a:extLst>
          </p:cNvPr>
          <p:cNvGrpSpPr/>
          <p:nvPr/>
        </p:nvGrpSpPr>
        <p:grpSpPr>
          <a:xfrm>
            <a:off x="899163" y="2192740"/>
            <a:ext cx="5300470" cy="7079276"/>
            <a:chOff x="-421191" y="-96461"/>
            <a:chExt cx="12647098" cy="2861378"/>
          </a:xfrm>
        </p:grpSpPr>
        <p:sp>
          <p:nvSpPr>
            <p:cNvPr id="68" name="Freeform 11">
              <a:extLst>
                <a:ext uri="{FF2B5EF4-FFF2-40B4-BE49-F238E27FC236}">
                  <a16:creationId xmlns:a16="http://schemas.microsoft.com/office/drawing/2014/main" id="{97A968AA-029A-DC63-3243-D482AC2A272A}"/>
                </a:ext>
              </a:extLst>
            </p:cNvPr>
            <p:cNvSpPr/>
            <p:nvPr/>
          </p:nvSpPr>
          <p:spPr>
            <a:xfrm>
              <a:off x="-421191" y="-96461"/>
              <a:ext cx="12647098" cy="2861378"/>
            </a:xfrm>
            <a:custGeom>
              <a:avLst/>
              <a:gdLst/>
              <a:ahLst/>
              <a:cxnLst/>
              <a:rect l="l" t="t" r="r" b="b"/>
              <a:pathLst>
                <a:path w="12225909" h="2764917">
                  <a:moveTo>
                    <a:pt x="0" y="246888"/>
                  </a:moveTo>
                  <a:cubicBezTo>
                    <a:pt x="0" y="110490"/>
                    <a:pt x="110490" y="0"/>
                    <a:pt x="246888" y="0"/>
                  </a:cubicBezTo>
                  <a:lnTo>
                    <a:pt x="11979021" y="0"/>
                  </a:lnTo>
                  <a:cubicBezTo>
                    <a:pt x="12115419" y="0"/>
                    <a:pt x="12225909" y="110490"/>
                    <a:pt x="12225909" y="246888"/>
                  </a:cubicBezTo>
                  <a:lnTo>
                    <a:pt x="12225909" y="2518029"/>
                  </a:lnTo>
                  <a:cubicBezTo>
                    <a:pt x="12225909" y="2654427"/>
                    <a:pt x="12115419" y="2764917"/>
                    <a:pt x="11979021" y="2764917"/>
                  </a:cubicBezTo>
                  <a:lnTo>
                    <a:pt x="246888" y="2764917"/>
                  </a:lnTo>
                  <a:cubicBezTo>
                    <a:pt x="110490" y="2764917"/>
                    <a:pt x="0" y="2654300"/>
                    <a:pt x="0" y="2518029"/>
                  </a:cubicBezTo>
                  <a:close/>
                </a:path>
              </a:pathLst>
            </a:custGeom>
            <a:solidFill>
              <a:srgbClr val="7C898B"/>
            </a:solidFill>
            <a:ln w="25400" cap="sq">
              <a:solidFill>
                <a:srgbClr val="D8E8F8"/>
              </a:solidFill>
              <a:prstDash val="solid"/>
              <a:miter/>
            </a:ln>
          </p:spPr>
          <p:txBody>
            <a:bodyPr/>
            <a:lstStyle/>
            <a:p>
              <a:r>
                <a:rPr lang="en-US" sz="2400" b="1" dirty="0">
                  <a:latin typeface="Times New Roman" panose="02020603050405020304" pitchFamily="18" charset="0"/>
                  <a:ea typeface="Calibri" pitchFamily="34" charset="-122"/>
                  <a:cs typeface="Times New Roman" panose="02020603050405020304" pitchFamily="18" charset="0"/>
                </a:rPr>
                <a:t>                Graph Structure</a:t>
              </a:r>
            </a:p>
            <a:p>
              <a:endParaRPr lang="en-US" sz="2400" b="1" dirty="0">
                <a:latin typeface="Times New Roman" panose="02020603050405020304" pitchFamily="18" charset="0"/>
                <a:ea typeface="Calibri" pitchFamily="34" charset="-122"/>
                <a:cs typeface="Times New Roman" panose="02020603050405020304" pitchFamily="18" charset="0"/>
              </a:endParaRPr>
            </a:p>
            <a:p>
              <a:endParaRPr lang="en-US" sz="2400" b="1" dirty="0">
                <a:latin typeface="Times New Roman" panose="02020603050405020304" pitchFamily="18" charset="0"/>
                <a:ea typeface="Calibri" pitchFamily="34" charset="-122"/>
                <a:cs typeface="Times New Roman" panose="02020603050405020304" pitchFamily="18" charset="0"/>
              </a:endParaRPr>
            </a:p>
            <a:p>
              <a:endParaRPr lang="en-US" sz="2400" b="1" dirty="0">
                <a:latin typeface="Times New Roman" panose="02020603050405020304" pitchFamily="18" charset="0"/>
                <a:ea typeface="Calibri" pitchFamily="34" charset="-122"/>
                <a:cs typeface="Times New Roman" panose="02020603050405020304" pitchFamily="18" charset="0"/>
              </a:endParaRPr>
            </a:p>
            <a:p>
              <a:endParaRPr lang="en-US" sz="2400" b="1" dirty="0">
                <a:latin typeface="Times New Roman" panose="02020603050405020304" pitchFamily="18" charset="0"/>
                <a:ea typeface="Calibri" pitchFamily="34" charset="-122"/>
                <a:cs typeface="Times New Roman" panose="02020603050405020304" pitchFamily="18" charset="0"/>
              </a:endParaRPr>
            </a:p>
            <a:p>
              <a:endParaRPr lang="en-US" sz="2400" b="1" dirty="0">
                <a:latin typeface="Times New Roman" panose="02020603050405020304" pitchFamily="18" charset="0"/>
                <a:ea typeface="Calibri" pitchFamily="34" charset="-122"/>
                <a:cs typeface="Times New Roman" panose="02020603050405020304" pitchFamily="18" charset="0"/>
              </a:endParaRPr>
            </a:p>
            <a:p>
              <a:endParaRPr lang="en-US" sz="2400" b="1" dirty="0">
                <a:latin typeface="Times New Roman" panose="02020603050405020304" pitchFamily="18" charset="0"/>
                <a:ea typeface="Calibri" pitchFamily="34" charset="-122"/>
                <a:cs typeface="Times New Roman" panose="02020603050405020304" pitchFamily="18" charset="0"/>
              </a:endParaRPr>
            </a:p>
            <a:p>
              <a:endParaRPr lang="en-US" sz="2400" b="1" dirty="0">
                <a:latin typeface="Times New Roman" panose="02020603050405020304" pitchFamily="18" charset="0"/>
                <a:ea typeface="Calibri" pitchFamily="34" charset="-122"/>
                <a:cs typeface="Times New Roman" panose="02020603050405020304" pitchFamily="18" charset="0"/>
              </a:endParaRPr>
            </a:p>
            <a:p>
              <a:endParaRPr lang="en-US" sz="2400" b="1" dirty="0">
                <a:latin typeface="Times New Roman" panose="02020603050405020304" pitchFamily="18" charset="0"/>
                <a:ea typeface="Calibri" pitchFamily="34" charset="-122"/>
                <a:cs typeface="Times New Roman" panose="02020603050405020304" pitchFamily="18" charset="0"/>
              </a:endParaRPr>
            </a:p>
            <a:p>
              <a:endParaRPr lang="en-US" sz="2400" b="1" dirty="0">
                <a:latin typeface="Times New Roman" panose="02020603050405020304" pitchFamily="18" charset="0"/>
                <a:ea typeface="Calibri" pitchFamily="34" charset="-122"/>
                <a:cs typeface="Times New Roman" panose="02020603050405020304" pitchFamily="18" charset="0"/>
              </a:endParaRPr>
            </a:p>
            <a:p>
              <a:endParaRPr lang="en-US" sz="2400" b="1" dirty="0">
                <a:latin typeface="Times New Roman" panose="02020603050405020304" pitchFamily="18" charset="0"/>
                <a:ea typeface="Calibri" pitchFamily="34" charset="-122"/>
                <a:cs typeface="Times New Roman" panose="02020603050405020304" pitchFamily="18" charset="0"/>
              </a:endParaRPr>
            </a:p>
            <a:p>
              <a:endParaRPr lang="en-US" sz="2400" b="1" dirty="0">
                <a:latin typeface="Times New Roman" panose="02020603050405020304" pitchFamily="18" charset="0"/>
                <a:ea typeface="Calibri" pitchFamily="34" charset="-122"/>
                <a:cs typeface="Times New Roman" panose="02020603050405020304" pitchFamily="18" charset="0"/>
              </a:endParaRPr>
            </a:p>
            <a:p>
              <a:r>
                <a:rPr lang="en-US" sz="2400" b="1" dirty="0">
                  <a:latin typeface="Times New Roman" panose="02020603050405020304" pitchFamily="18" charset="0"/>
                  <a:ea typeface="Calibri" pitchFamily="34" charset="-122"/>
                  <a:cs typeface="Times New Roman" panose="02020603050405020304" pitchFamily="18" charset="0"/>
                </a:rPr>
                <a:t>A</a:t>
              </a:r>
              <a:r>
                <a:rPr lang="en-US" sz="2400" dirty="0">
                  <a:latin typeface="Times New Roman" panose="02020603050405020304" pitchFamily="18" charset="0"/>
                  <a:ea typeface="Calibri" pitchFamily="34" charset="-122"/>
                  <a:cs typeface="Times New Roman" panose="02020603050405020304" pitchFamily="18" charset="0"/>
                </a:rPr>
                <a:t> — B, C, D
</a:t>
              </a:r>
              <a:r>
                <a:rPr lang="en-US" sz="2400" b="1" dirty="0">
                  <a:latin typeface="Times New Roman" panose="02020603050405020304" pitchFamily="18" charset="0"/>
                  <a:ea typeface="Calibri" pitchFamily="34" charset="-122"/>
                  <a:cs typeface="Times New Roman" panose="02020603050405020304" pitchFamily="18" charset="0"/>
                </a:rPr>
                <a:t>B</a:t>
              </a:r>
              <a:r>
                <a:rPr lang="en-US" sz="2400" dirty="0">
                  <a:latin typeface="Times New Roman" panose="02020603050405020304" pitchFamily="18" charset="0"/>
                  <a:ea typeface="Calibri" pitchFamily="34" charset="-122"/>
                  <a:cs typeface="Times New Roman" panose="02020603050405020304" pitchFamily="18" charset="0"/>
                </a:rPr>
                <a:t> — A, C
</a:t>
              </a:r>
              <a:r>
                <a:rPr lang="en-US" sz="2400" b="1" dirty="0">
                  <a:latin typeface="Times New Roman" panose="02020603050405020304" pitchFamily="18" charset="0"/>
                  <a:ea typeface="Calibri" pitchFamily="34" charset="-122"/>
                  <a:cs typeface="Times New Roman" panose="02020603050405020304" pitchFamily="18" charset="0"/>
                </a:rPr>
                <a:t>C</a:t>
              </a:r>
              <a:r>
                <a:rPr lang="en-US" sz="2400" dirty="0">
                  <a:latin typeface="Times New Roman" panose="02020603050405020304" pitchFamily="18" charset="0"/>
                  <a:ea typeface="Calibri" pitchFamily="34" charset="-122"/>
                  <a:cs typeface="Times New Roman" panose="02020603050405020304" pitchFamily="18" charset="0"/>
                </a:rPr>
                <a:t> — A, B
</a:t>
              </a:r>
              <a:r>
                <a:rPr lang="en-US" sz="2400" b="1" dirty="0">
                  <a:latin typeface="Times New Roman" panose="02020603050405020304" pitchFamily="18" charset="0"/>
                  <a:ea typeface="Calibri" pitchFamily="34" charset="-122"/>
                  <a:cs typeface="Times New Roman" panose="02020603050405020304" pitchFamily="18" charset="0"/>
                </a:rPr>
                <a:t>D</a:t>
              </a:r>
              <a:r>
                <a:rPr lang="en-US" sz="2400" dirty="0">
                  <a:latin typeface="Times New Roman" panose="02020603050405020304" pitchFamily="18" charset="0"/>
                  <a:ea typeface="Calibri" pitchFamily="34" charset="-122"/>
                  <a:cs typeface="Times New Roman" panose="02020603050405020304" pitchFamily="18" charset="0"/>
                </a:rPr>
                <a:t> — A only</a:t>
              </a:r>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grpSp>
      <p:pic>
        <p:nvPicPr>
          <p:cNvPr id="70" name="Picture 69">
            <a:extLst>
              <a:ext uri="{FF2B5EF4-FFF2-40B4-BE49-F238E27FC236}">
                <a16:creationId xmlns:a16="http://schemas.microsoft.com/office/drawing/2014/main" id="{990DFD1B-95B7-09E5-E06A-9AE00C8072FB}"/>
              </a:ext>
            </a:extLst>
          </p:cNvPr>
          <p:cNvPicPr>
            <a:picLocks noChangeAspect="1"/>
          </p:cNvPicPr>
          <p:nvPr/>
        </p:nvPicPr>
        <p:blipFill>
          <a:blip r:embed="rId3"/>
          <a:stretch>
            <a:fillRect/>
          </a:stretch>
        </p:blipFill>
        <p:spPr>
          <a:xfrm>
            <a:off x="1232904" y="2997752"/>
            <a:ext cx="4632984" cy="3075344"/>
          </a:xfrm>
          <a:prstGeom prst="rect">
            <a:avLst/>
          </a:prstGeom>
        </p:spPr>
      </p:pic>
      <p:grpSp>
        <p:nvGrpSpPr>
          <p:cNvPr id="75" name="Group 49">
            <a:extLst>
              <a:ext uri="{FF2B5EF4-FFF2-40B4-BE49-F238E27FC236}">
                <a16:creationId xmlns:a16="http://schemas.microsoft.com/office/drawing/2014/main" id="{20CA11BF-AD52-D63C-4BBD-DC3F3C491509}"/>
              </a:ext>
            </a:extLst>
          </p:cNvPr>
          <p:cNvGrpSpPr/>
          <p:nvPr/>
        </p:nvGrpSpPr>
        <p:grpSpPr>
          <a:xfrm>
            <a:off x="6793525" y="1865376"/>
            <a:ext cx="4697926" cy="4371812"/>
            <a:chOff x="12265372" y="2951025"/>
            <a:chExt cx="10031222" cy="10884661"/>
          </a:xfrm>
        </p:grpSpPr>
        <p:sp>
          <p:nvSpPr>
            <p:cNvPr id="76" name="Freeform 50">
              <a:extLst>
                <a:ext uri="{FF2B5EF4-FFF2-40B4-BE49-F238E27FC236}">
                  <a16:creationId xmlns:a16="http://schemas.microsoft.com/office/drawing/2014/main" id="{CB4442D4-F5E2-0511-0F62-8BEC6F8A65D1}"/>
                </a:ext>
              </a:extLst>
            </p:cNvPr>
            <p:cNvSpPr/>
            <p:nvPr/>
          </p:nvSpPr>
          <p:spPr>
            <a:xfrm>
              <a:off x="12265372" y="2951025"/>
              <a:ext cx="10031222" cy="10884661"/>
            </a:xfrm>
            <a:custGeom>
              <a:avLst/>
              <a:gdLst/>
              <a:ahLst/>
              <a:cxnLst/>
              <a:rect l="l" t="t" r="r" b="b"/>
              <a:pathLst>
                <a:path w="10031222" h="10884662">
                  <a:moveTo>
                    <a:pt x="0" y="244602"/>
                  </a:moveTo>
                  <a:cubicBezTo>
                    <a:pt x="0" y="109601"/>
                    <a:pt x="109601" y="0"/>
                    <a:pt x="244602" y="0"/>
                  </a:cubicBezTo>
                  <a:lnTo>
                    <a:pt x="9786620" y="0"/>
                  </a:lnTo>
                  <a:cubicBezTo>
                    <a:pt x="9921748" y="0"/>
                    <a:pt x="10031222" y="109601"/>
                    <a:pt x="10031222" y="244602"/>
                  </a:cubicBezTo>
                  <a:lnTo>
                    <a:pt x="10031222" y="10640060"/>
                  </a:lnTo>
                  <a:cubicBezTo>
                    <a:pt x="10031222" y="10775188"/>
                    <a:pt x="9921621" y="10884662"/>
                    <a:pt x="9786620" y="10884662"/>
                  </a:cubicBezTo>
                  <a:lnTo>
                    <a:pt x="244602" y="10884662"/>
                  </a:lnTo>
                  <a:cubicBezTo>
                    <a:pt x="109601" y="10884789"/>
                    <a:pt x="0" y="10775188"/>
                    <a:pt x="0" y="10640060"/>
                  </a:cubicBezTo>
                  <a:close/>
                </a:path>
              </a:pathLst>
            </a:custGeom>
            <a:solidFill>
              <a:srgbClr val="7C898B"/>
            </a:solidFill>
            <a:ln w="25400" cap="sq">
              <a:solidFill>
                <a:srgbClr val="D8E8F8"/>
              </a:solidFill>
              <a:prstDash val="solid"/>
              <a:miter/>
            </a:ln>
          </p:spPr>
          <p:txBody>
            <a:bodyPr/>
            <a:lstStyle/>
            <a:p>
              <a:pPr algn="ctr"/>
              <a:r>
                <a:rPr lang="en-US" sz="2800" b="1" dirty="0">
                  <a:latin typeface="Times New Roman" panose="02020603050405020304" pitchFamily="18" charset="0"/>
                  <a:ea typeface="Calibri" pitchFamily="34" charset="-122"/>
                  <a:cs typeface="Times New Roman" panose="02020603050405020304" pitchFamily="18" charset="0"/>
                </a:rPr>
                <a:t>Step 1 — Random Walk</a:t>
              </a:r>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ea typeface="Calibri" pitchFamily="34" charset="-122"/>
                <a:cs typeface="Times New Roman" panose="02020603050405020304" pitchFamily="18" charset="0"/>
              </a:endParaRPr>
            </a:p>
            <a:p>
              <a:r>
                <a:rPr lang="en-US" sz="2800" dirty="0">
                  <a:latin typeface="Times New Roman" panose="02020603050405020304" pitchFamily="18" charset="0"/>
                  <a:ea typeface="Calibri" pitchFamily="34" charset="-122"/>
                  <a:cs typeface="Times New Roman" panose="02020603050405020304" pitchFamily="18" charset="0"/>
                </a:rPr>
                <a:t>Start node: </a:t>
              </a:r>
              <a:r>
                <a:rPr lang="en-US" sz="2800" b="1" dirty="0">
                  <a:latin typeface="Times New Roman" panose="02020603050405020304" pitchFamily="18" charset="0"/>
                  <a:ea typeface="Calibri" pitchFamily="34" charset="-122"/>
                  <a:cs typeface="Times New Roman" panose="02020603050405020304" pitchFamily="18" charset="0"/>
                </a:rPr>
                <a:t>D</a:t>
              </a:r>
              <a:r>
                <a:rPr lang="en-US" sz="2800" dirty="0">
                  <a:latin typeface="Times New Roman" panose="02020603050405020304" pitchFamily="18" charset="0"/>
                  <a:ea typeface="Calibri" pitchFamily="34" charset="-122"/>
                  <a:cs typeface="Times New Roman" panose="02020603050405020304" pitchFamily="18" charset="0"/>
                </a:rPr>
                <a:t>     </a:t>
              </a:r>
            </a:p>
            <a:p>
              <a:r>
                <a:rPr lang="en-US" sz="2800" dirty="0">
                  <a:latin typeface="Times New Roman" panose="02020603050405020304" pitchFamily="18" charset="0"/>
                  <a:ea typeface="Calibri" pitchFamily="34" charset="-122"/>
                  <a:cs typeface="Times New Roman" panose="02020603050405020304" pitchFamily="18" charset="0"/>
                </a:rPr>
                <a:t>Walk length: </a:t>
              </a:r>
              <a:r>
                <a:rPr lang="en-US" sz="2800" b="1" dirty="0">
                  <a:latin typeface="Times New Roman" panose="02020603050405020304" pitchFamily="18" charset="0"/>
                  <a:ea typeface="Calibri" pitchFamily="34" charset="-122"/>
                  <a:cs typeface="Times New Roman" panose="02020603050405020304" pitchFamily="18" charset="0"/>
                </a:rPr>
                <a:t>4</a:t>
              </a:r>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ea typeface="Calibri" pitchFamily="34" charset="-122"/>
                  <a:cs typeface="Times New Roman" panose="02020603050405020304" pitchFamily="18" charset="0"/>
                </a:rPr>
                <a:t>Walk sequence:</a:t>
              </a:r>
              <a:endParaRPr lang="en-US" sz="28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grpSp>
      <p:sp>
        <p:nvSpPr>
          <p:cNvPr id="77" name="Shape 20">
            <a:extLst>
              <a:ext uri="{FF2B5EF4-FFF2-40B4-BE49-F238E27FC236}">
                <a16:creationId xmlns:a16="http://schemas.microsoft.com/office/drawing/2014/main" id="{1F65BD04-5C92-4180-9C1C-C2A475543297}"/>
              </a:ext>
            </a:extLst>
          </p:cNvPr>
          <p:cNvSpPr/>
          <p:nvPr/>
        </p:nvSpPr>
        <p:spPr>
          <a:xfrm>
            <a:off x="7184136" y="4922520"/>
            <a:ext cx="694944" cy="694944"/>
          </a:xfrm>
          <a:prstGeom prst="ellipse">
            <a:avLst/>
          </a:prstGeom>
          <a:solidFill>
            <a:srgbClr val="F0C040"/>
          </a:solidFill>
          <a:ln w="12700">
            <a:solidFill>
              <a:srgbClr val="FFFFFF"/>
            </a:solidFill>
            <a:prstDash val="solid"/>
          </a:ln>
        </p:spPr>
        <p:txBody>
          <a:bodyPr/>
          <a:lstStyle/>
          <a:p>
            <a:endParaRPr lang="en-IN" sz="3600">
              <a:latin typeface="Times New Roman" panose="02020603050405020304" pitchFamily="18" charset="0"/>
              <a:cs typeface="Times New Roman" panose="02020603050405020304" pitchFamily="18" charset="0"/>
            </a:endParaRPr>
          </a:p>
        </p:txBody>
      </p:sp>
      <p:sp>
        <p:nvSpPr>
          <p:cNvPr id="78" name="Text 21">
            <a:extLst>
              <a:ext uri="{FF2B5EF4-FFF2-40B4-BE49-F238E27FC236}">
                <a16:creationId xmlns:a16="http://schemas.microsoft.com/office/drawing/2014/main" id="{4C1119F4-B2AA-25E9-51CF-07381E1169BD}"/>
              </a:ext>
            </a:extLst>
          </p:cNvPr>
          <p:cNvSpPr/>
          <p:nvPr/>
        </p:nvSpPr>
        <p:spPr>
          <a:xfrm>
            <a:off x="7184136" y="4922520"/>
            <a:ext cx="694944" cy="694944"/>
          </a:xfrm>
          <a:prstGeom prst="rect">
            <a:avLst/>
          </a:prstGeom>
          <a:noFill/>
          <a:ln/>
        </p:spPr>
        <p:txBody>
          <a:bodyPr wrap="square" rtlCol="0" anchor="ctr"/>
          <a:lstStyle/>
          <a:p>
            <a:pPr algn="ctr"/>
            <a:r>
              <a:rPr lang="en-US" sz="2400" b="1" dirty="0">
                <a:solidFill>
                  <a:srgbClr val="1C2040"/>
                </a:solidFill>
                <a:latin typeface="Times New Roman" panose="02020603050405020304" pitchFamily="18" charset="0"/>
                <a:ea typeface="Calibri" pitchFamily="34" charset="-122"/>
                <a:cs typeface="Times New Roman" panose="02020603050405020304" pitchFamily="18" charset="0"/>
              </a:rPr>
              <a:t>D</a:t>
            </a:r>
            <a:endParaRPr lang="en-US" sz="2400" dirty="0">
              <a:latin typeface="Times New Roman" panose="02020603050405020304" pitchFamily="18" charset="0"/>
              <a:cs typeface="Times New Roman" panose="02020603050405020304" pitchFamily="18" charset="0"/>
            </a:endParaRPr>
          </a:p>
        </p:txBody>
      </p:sp>
      <p:sp>
        <p:nvSpPr>
          <p:cNvPr id="79" name="Shape 22">
            <a:extLst>
              <a:ext uri="{FF2B5EF4-FFF2-40B4-BE49-F238E27FC236}">
                <a16:creationId xmlns:a16="http://schemas.microsoft.com/office/drawing/2014/main" id="{66B066B4-A726-BC64-0589-911075ACE90B}"/>
              </a:ext>
            </a:extLst>
          </p:cNvPr>
          <p:cNvSpPr/>
          <p:nvPr/>
        </p:nvSpPr>
        <p:spPr>
          <a:xfrm>
            <a:off x="7879080" y="5269992"/>
            <a:ext cx="402336" cy="0"/>
          </a:xfrm>
          <a:prstGeom prst="line">
            <a:avLst/>
          </a:prstGeom>
          <a:noFill/>
          <a:ln w="19050">
            <a:solidFill>
              <a:srgbClr val="C8D0E0"/>
            </a:solidFill>
            <a:prstDash val="solid"/>
          </a:ln>
        </p:spPr>
        <p:txBody>
          <a:bodyPr/>
          <a:lstStyle/>
          <a:p>
            <a:endParaRPr lang="en-IN" sz="3600">
              <a:latin typeface="Times New Roman" panose="02020603050405020304" pitchFamily="18" charset="0"/>
              <a:cs typeface="Times New Roman" panose="02020603050405020304" pitchFamily="18" charset="0"/>
            </a:endParaRPr>
          </a:p>
        </p:txBody>
      </p:sp>
      <p:sp>
        <p:nvSpPr>
          <p:cNvPr id="80" name="Shape 23">
            <a:extLst>
              <a:ext uri="{FF2B5EF4-FFF2-40B4-BE49-F238E27FC236}">
                <a16:creationId xmlns:a16="http://schemas.microsoft.com/office/drawing/2014/main" id="{C136E796-899E-5924-B367-20F5D6F1D485}"/>
              </a:ext>
            </a:extLst>
          </p:cNvPr>
          <p:cNvSpPr/>
          <p:nvPr/>
        </p:nvSpPr>
        <p:spPr>
          <a:xfrm>
            <a:off x="8281416" y="4922520"/>
            <a:ext cx="694944" cy="694944"/>
          </a:xfrm>
          <a:prstGeom prst="ellipse">
            <a:avLst/>
          </a:prstGeom>
          <a:solidFill>
            <a:srgbClr val="4A90D9"/>
          </a:solidFill>
          <a:ln w="12700">
            <a:solidFill>
              <a:srgbClr val="FFFFFF"/>
            </a:solidFill>
            <a:prstDash val="solid"/>
          </a:ln>
        </p:spPr>
        <p:txBody>
          <a:bodyPr/>
          <a:lstStyle/>
          <a:p>
            <a:endParaRPr lang="en-IN" sz="3600">
              <a:latin typeface="Times New Roman" panose="02020603050405020304" pitchFamily="18" charset="0"/>
              <a:cs typeface="Times New Roman" panose="02020603050405020304" pitchFamily="18" charset="0"/>
            </a:endParaRPr>
          </a:p>
        </p:txBody>
      </p:sp>
      <p:sp>
        <p:nvSpPr>
          <p:cNvPr id="81" name="Text 24">
            <a:extLst>
              <a:ext uri="{FF2B5EF4-FFF2-40B4-BE49-F238E27FC236}">
                <a16:creationId xmlns:a16="http://schemas.microsoft.com/office/drawing/2014/main" id="{BE0BEA7E-64BE-6212-6FBB-2F1408FB54C5}"/>
              </a:ext>
            </a:extLst>
          </p:cNvPr>
          <p:cNvSpPr/>
          <p:nvPr/>
        </p:nvSpPr>
        <p:spPr>
          <a:xfrm>
            <a:off x="8281416" y="4922520"/>
            <a:ext cx="694944" cy="694944"/>
          </a:xfrm>
          <a:prstGeom prst="rect">
            <a:avLst/>
          </a:prstGeom>
          <a:noFill/>
          <a:ln/>
        </p:spPr>
        <p:txBody>
          <a:bodyPr wrap="square" rtlCol="0" anchor="ctr"/>
          <a:lstStyle/>
          <a:p>
            <a:pPr algn="ctr"/>
            <a:r>
              <a:rPr lang="en-US" sz="2400" b="1" dirty="0">
                <a:solidFill>
                  <a:srgbClr val="FFFFFF"/>
                </a:solidFill>
                <a:latin typeface="Times New Roman" panose="02020603050405020304" pitchFamily="18" charset="0"/>
                <a:ea typeface="Calibri" pitchFamily="34" charset="-122"/>
                <a:cs typeface="Times New Roman" panose="02020603050405020304" pitchFamily="18" charset="0"/>
              </a:rPr>
              <a:t>A</a:t>
            </a:r>
            <a:endParaRPr lang="en-US" sz="2400" dirty="0">
              <a:latin typeface="Times New Roman" panose="02020603050405020304" pitchFamily="18" charset="0"/>
              <a:cs typeface="Times New Roman" panose="02020603050405020304" pitchFamily="18" charset="0"/>
            </a:endParaRPr>
          </a:p>
        </p:txBody>
      </p:sp>
      <p:sp>
        <p:nvSpPr>
          <p:cNvPr id="82" name="Shape 25">
            <a:extLst>
              <a:ext uri="{FF2B5EF4-FFF2-40B4-BE49-F238E27FC236}">
                <a16:creationId xmlns:a16="http://schemas.microsoft.com/office/drawing/2014/main" id="{9144DDCD-2F7F-496C-6179-91780D9E52AD}"/>
              </a:ext>
            </a:extLst>
          </p:cNvPr>
          <p:cNvSpPr/>
          <p:nvPr/>
        </p:nvSpPr>
        <p:spPr>
          <a:xfrm>
            <a:off x="8976360" y="5269992"/>
            <a:ext cx="402336" cy="0"/>
          </a:xfrm>
          <a:prstGeom prst="line">
            <a:avLst/>
          </a:prstGeom>
          <a:noFill/>
          <a:ln w="19050">
            <a:solidFill>
              <a:srgbClr val="C8D0E0"/>
            </a:solidFill>
            <a:prstDash val="solid"/>
          </a:ln>
        </p:spPr>
        <p:txBody>
          <a:bodyPr/>
          <a:lstStyle/>
          <a:p>
            <a:endParaRPr lang="en-IN" sz="3600">
              <a:latin typeface="Times New Roman" panose="02020603050405020304" pitchFamily="18" charset="0"/>
              <a:cs typeface="Times New Roman" panose="02020603050405020304" pitchFamily="18" charset="0"/>
            </a:endParaRPr>
          </a:p>
        </p:txBody>
      </p:sp>
      <p:sp>
        <p:nvSpPr>
          <p:cNvPr id="83" name="Shape 26">
            <a:extLst>
              <a:ext uri="{FF2B5EF4-FFF2-40B4-BE49-F238E27FC236}">
                <a16:creationId xmlns:a16="http://schemas.microsoft.com/office/drawing/2014/main" id="{67CECB70-2769-062A-A957-840B680C8549}"/>
              </a:ext>
            </a:extLst>
          </p:cNvPr>
          <p:cNvSpPr/>
          <p:nvPr/>
        </p:nvSpPr>
        <p:spPr>
          <a:xfrm>
            <a:off x="9378696" y="4922520"/>
            <a:ext cx="694944" cy="694944"/>
          </a:xfrm>
          <a:prstGeom prst="ellipse">
            <a:avLst/>
          </a:prstGeom>
          <a:solidFill>
            <a:srgbClr val="4A90D9"/>
          </a:solidFill>
          <a:ln w="12700">
            <a:solidFill>
              <a:srgbClr val="FFFFFF"/>
            </a:solidFill>
            <a:prstDash val="solid"/>
          </a:ln>
        </p:spPr>
        <p:txBody>
          <a:bodyPr/>
          <a:lstStyle/>
          <a:p>
            <a:endParaRPr lang="en-IN" sz="3600">
              <a:latin typeface="Times New Roman" panose="02020603050405020304" pitchFamily="18" charset="0"/>
              <a:cs typeface="Times New Roman" panose="02020603050405020304" pitchFamily="18" charset="0"/>
            </a:endParaRPr>
          </a:p>
        </p:txBody>
      </p:sp>
      <p:sp>
        <p:nvSpPr>
          <p:cNvPr id="84" name="Text 27">
            <a:extLst>
              <a:ext uri="{FF2B5EF4-FFF2-40B4-BE49-F238E27FC236}">
                <a16:creationId xmlns:a16="http://schemas.microsoft.com/office/drawing/2014/main" id="{FC49F21B-4EB0-F0BD-935B-2AB6781E874B}"/>
              </a:ext>
            </a:extLst>
          </p:cNvPr>
          <p:cNvSpPr/>
          <p:nvPr/>
        </p:nvSpPr>
        <p:spPr>
          <a:xfrm>
            <a:off x="9378696" y="4922520"/>
            <a:ext cx="694944" cy="694944"/>
          </a:xfrm>
          <a:prstGeom prst="rect">
            <a:avLst/>
          </a:prstGeom>
          <a:noFill/>
          <a:ln/>
        </p:spPr>
        <p:txBody>
          <a:bodyPr wrap="square" rtlCol="0" anchor="ctr"/>
          <a:lstStyle/>
          <a:p>
            <a:pPr algn="ctr"/>
            <a:r>
              <a:rPr lang="en-US" sz="2400" b="1" dirty="0">
                <a:solidFill>
                  <a:srgbClr val="FFFFFF"/>
                </a:solidFill>
                <a:latin typeface="Times New Roman" panose="02020603050405020304" pitchFamily="18" charset="0"/>
                <a:ea typeface="Calibri" pitchFamily="34" charset="-122"/>
                <a:cs typeface="Times New Roman" panose="02020603050405020304" pitchFamily="18" charset="0"/>
              </a:rPr>
              <a:t>B</a:t>
            </a:r>
            <a:endParaRPr lang="en-US" sz="2400" dirty="0">
              <a:latin typeface="Times New Roman" panose="02020603050405020304" pitchFamily="18" charset="0"/>
              <a:cs typeface="Times New Roman" panose="02020603050405020304" pitchFamily="18" charset="0"/>
            </a:endParaRPr>
          </a:p>
        </p:txBody>
      </p:sp>
      <p:sp>
        <p:nvSpPr>
          <p:cNvPr id="85" name="Shape 28">
            <a:extLst>
              <a:ext uri="{FF2B5EF4-FFF2-40B4-BE49-F238E27FC236}">
                <a16:creationId xmlns:a16="http://schemas.microsoft.com/office/drawing/2014/main" id="{C2FCC20B-07E9-58AE-9A38-7F278C8ECBAF}"/>
              </a:ext>
            </a:extLst>
          </p:cNvPr>
          <p:cNvSpPr/>
          <p:nvPr/>
        </p:nvSpPr>
        <p:spPr>
          <a:xfrm>
            <a:off x="10073640" y="5269992"/>
            <a:ext cx="402336" cy="0"/>
          </a:xfrm>
          <a:prstGeom prst="line">
            <a:avLst/>
          </a:prstGeom>
          <a:noFill/>
          <a:ln w="19050">
            <a:solidFill>
              <a:srgbClr val="C8D0E0"/>
            </a:solidFill>
            <a:prstDash val="solid"/>
          </a:ln>
        </p:spPr>
        <p:txBody>
          <a:bodyPr/>
          <a:lstStyle/>
          <a:p>
            <a:endParaRPr lang="en-IN" sz="3600">
              <a:latin typeface="Times New Roman" panose="02020603050405020304" pitchFamily="18" charset="0"/>
              <a:cs typeface="Times New Roman" panose="02020603050405020304" pitchFamily="18" charset="0"/>
            </a:endParaRPr>
          </a:p>
        </p:txBody>
      </p:sp>
      <p:sp>
        <p:nvSpPr>
          <p:cNvPr id="86" name="Shape 29">
            <a:extLst>
              <a:ext uri="{FF2B5EF4-FFF2-40B4-BE49-F238E27FC236}">
                <a16:creationId xmlns:a16="http://schemas.microsoft.com/office/drawing/2014/main" id="{AACE8780-DE9E-6934-1042-003D6691917E}"/>
              </a:ext>
            </a:extLst>
          </p:cNvPr>
          <p:cNvSpPr/>
          <p:nvPr/>
        </p:nvSpPr>
        <p:spPr>
          <a:xfrm>
            <a:off x="10475976" y="4922520"/>
            <a:ext cx="694944" cy="694944"/>
          </a:xfrm>
          <a:prstGeom prst="ellipse">
            <a:avLst/>
          </a:prstGeom>
          <a:solidFill>
            <a:srgbClr val="4A90D9"/>
          </a:solidFill>
          <a:ln w="12700">
            <a:solidFill>
              <a:srgbClr val="FFFFFF"/>
            </a:solidFill>
            <a:prstDash val="solid"/>
          </a:ln>
        </p:spPr>
        <p:txBody>
          <a:bodyPr/>
          <a:lstStyle/>
          <a:p>
            <a:endParaRPr lang="en-IN" sz="3600">
              <a:latin typeface="Times New Roman" panose="02020603050405020304" pitchFamily="18" charset="0"/>
              <a:cs typeface="Times New Roman" panose="02020603050405020304" pitchFamily="18" charset="0"/>
            </a:endParaRPr>
          </a:p>
        </p:txBody>
      </p:sp>
      <p:sp>
        <p:nvSpPr>
          <p:cNvPr id="87" name="Text 30">
            <a:extLst>
              <a:ext uri="{FF2B5EF4-FFF2-40B4-BE49-F238E27FC236}">
                <a16:creationId xmlns:a16="http://schemas.microsoft.com/office/drawing/2014/main" id="{860FFAFA-8487-847A-9EB5-7F1AD9F4CD6A}"/>
              </a:ext>
            </a:extLst>
          </p:cNvPr>
          <p:cNvSpPr/>
          <p:nvPr/>
        </p:nvSpPr>
        <p:spPr>
          <a:xfrm>
            <a:off x="10475976" y="4922520"/>
            <a:ext cx="694944" cy="694944"/>
          </a:xfrm>
          <a:prstGeom prst="rect">
            <a:avLst/>
          </a:prstGeom>
          <a:noFill/>
          <a:ln/>
        </p:spPr>
        <p:txBody>
          <a:bodyPr wrap="square" rtlCol="0" anchor="ctr"/>
          <a:lstStyle/>
          <a:p>
            <a:pPr algn="ctr"/>
            <a:r>
              <a:rPr lang="en-US" sz="2400" b="1" dirty="0">
                <a:solidFill>
                  <a:srgbClr val="FFFFFF"/>
                </a:solidFill>
                <a:latin typeface="Times New Roman" panose="02020603050405020304" pitchFamily="18" charset="0"/>
                <a:ea typeface="Calibri" pitchFamily="34" charset="-122"/>
                <a:cs typeface="Times New Roman" panose="02020603050405020304" pitchFamily="18" charset="0"/>
              </a:rPr>
              <a:t>C</a:t>
            </a:r>
            <a:endParaRPr lang="en-US" sz="2400" dirty="0">
              <a:latin typeface="Times New Roman" panose="02020603050405020304" pitchFamily="18" charset="0"/>
              <a:cs typeface="Times New Roman" panose="02020603050405020304" pitchFamily="18" charset="0"/>
            </a:endParaRPr>
          </a:p>
        </p:txBody>
      </p:sp>
      <p:grpSp>
        <p:nvGrpSpPr>
          <p:cNvPr id="88" name="Group 10">
            <a:extLst>
              <a:ext uri="{FF2B5EF4-FFF2-40B4-BE49-F238E27FC236}">
                <a16:creationId xmlns:a16="http://schemas.microsoft.com/office/drawing/2014/main" id="{479D0215-036D-8445-6B05-C4E7183BAD61}"/>
              </a:ext>
            </a:extLst>
          </p:cNvPr>
          <p:cNvGrpSpPr/>
          <p:nvPr/>
        </p:nvGrpSpPr>
        <p:grpSpPr>
          <a:xfrm>
            <a:off x="6757423" y="6493764"/>
            <a:ext cx="4734026" cy="3563112"/>
            <a:chOff x="-421191" y="-96461"/>
            <a:chExt cx="12647098" cy="2861378"/>
          </a:xfrm>
        </p:grpSpPr>
        <p:sp>
          <p:nvSpPr>
            <p:cNvPr id="89" name="Freeform 11">
              <a:extLst>
                <a:ext uri="{FF2B5EF4-FFF2-40B4-BE49-F238E27FC236}">
                  <a16:creationId xmlns:a16="http://schemas.microsoft.com/office/drawing/2014/main" id="{817F8023-3A7E-3828-64F2-EA78442AF9BD}"/>
                </a:ext>
              </a:extLst>
            </p:cNvPr>
            <p:cNvSpPr/>
            <p:nvPr/>
          </p:nvSpPr>
          <p:spPr>
            <a:xfrm>
              <a:off x="-421191" y="-96461"/>
              <a:ext cx="12647098" cy="2861378"/>
            </a:xfrm>
            <a:custGeom>
              <a:avLst/>
              <a:gdLst/>
              <a:ahLst/>
              <a:cxnLst/>
              <a:rect l="l" t="t" r="r" b="b"/>
              <a:pathLst>
                <a:path w="12225909" h="2764917">
                  <a:moveTo>
                    <a:pt x="0" y="246888"/>
                  </a:moveTo>
                  <a:cubicBezTo>
                    <a:pt x="0" y="110490"/>
                    <a:pt x="110490" y="0"/>
                    <a:pt x="246888" y="0"/>
                  </a:cubicBezTo>
                  <a:lnTo>
                    <a:pt x="11979021" y="0"/>
                  </a:lnTo>
                  <a:cubicBezTo>
                    <a:pt x="12115419" y="0"/>
                    <a:pt x="12225909" y="110490"/>
                    <a:pt x="12225909" y="246888"/>
                  </a:cubicBezTo>
                  <a:lnTo>
                    <a:pt x="12225909" y="2518029"/>
                  </a:lnTo>
                  <a:cubicBezTo>
                    <a:pt x="12225909" y="2654427"/>
                    <a:pt x="12115419" y="2764917"/>
                    <a:pt x="11979021" y="2764917"/>
                  </a:cubicBezTo>
                  <a:lnTo>
                    <a:pt x="246888" y="2764917"/>
                  </a:lnTo>
                  <a:cubicBezTo>
                    <a:pt x="110490" y="2764917"/>
                    <a:pt x="0" y="2654300"/>
                    <a:pt x="0" y="2518029"/>
                  </a:cubicBezTo>
                  <a:close/>
                </a:path>
              </a:pathLst>
            </a:custGeom>
            <a:solidFill>
              <a:srgbClr val="7C898B"/>
            </a:solidFill>
            <a:ln w="25400" cap="sq">
              <a:solidFill>
                <a:srgbClr val="D8E8F8"/>
              </a:solidFill>
              <a:prstDash val="solid"/>
              <a:miter/>
            </a:ln>
          </p:spPr>
          <p:txBody>
            <a:bodyPr/>
            <a:lstStyle/>
            <a:p>
              <a:r>
                <a:rPr lang="en-US" sz="2400" b="1" dirty="0">
                  <a:latin typeface="Times New Roman" panose="02020603050405020304" pitchFamily="18" charset="0"/>
                  <a:ea typeface="Calibri" pitchFamily="34" charset="-122"/>
                  <a:cs typeface="Times New Roman" panose="02020603050405020304" pitchFamily="18" charset="0"/>
                </a:rPr>
                <a:t>Step-2: Context pairs (window size -2)</a:t>
              </a:r>
            </a:p>
            <a:p>
              <a:r>
                <a:rPr lang="en-US" sz="2400" b="1" dirty="0">
                  <a:latin typeface="Times New Roman" panose="02020603050405020304" pitchFamily="18" charset="0"/>
                  <a:ea typeface="Calibri" pitchFamily="34" charset="-122"/>
                  <a:cs typeface="Times New Roman" panose="02020603050405020304" pitchFamily="18" charset="0"/>
                </a:rPr>
                <a:t>A : </a:t>
              </a:r>
              <a:r>
                <a:rPr lang="en-US" sz="2400" dirty="0">
                  <a:latin typeface="Times New Roman" panose="02020603050405020304" pitchFamily="18" charset="0"/>
                  <a:ea typeface="Calibri" pitchFamily="34" charset="-122"/>
                  <a:cs typeface="Times New Roman" panose="02020603050405020304" pitchFamily="18" charset="0"/>
                </a:rPr>
                <a:t>(A,D)  (A,B)  (A,C)</a:t>
              </a:r>
            </a:p>
            <a:p>
              <a:r>
                <a:rPr lang="en-US" sz="2400" dirty="0">
                  <a:latin typeface="Times New Roman" panose="02020603050405020304" pitchFamily="18" charset="0"/>
                  <a:ea typeface="Calibri" pitchFamily="34" charset="-122"/>
                  <a:cs typeface="Times New Roman" panose="02020603050405020304" pitchFamily="18" charset="0"/>
                </a:rPr>
                <a:t>B : (B,A) (B,C) (B,D)</a:t>
              </a:r>
            </a:p>
            <a:p>
              <a:r>
                <a:rPr lang="en-US" sz="2400" dirty="0">
                  <a:latin typeface="Times New Roman" panose="02020603050405020304" pitchFamily="18" charset="0"/>
                  <a:ea typeface="Calibri" pitchFamily="34" charset="-122"/>
                  <a:cs typeface="Times New Roman" panose="02020603050405020304" pitchFamily="18" charset="0"/>
                </a:rPr>
                <a:t>C : (C,B) (C,A)</a:t>
              </a:r>
            </a:p>
            <a:p>
              <a:r>
                <a:rPr lang="en-US" sz="2400" dirty="0">
                  <a:latin typeface="Times New Roman" panose="02020603050405020304" pitchFamily="18" charset="0"/>
                  <a:ea typeface="Calibri" pitchFamily="34" charset="-122"/>
                  <a:cs typeface="Times New Roman" panose="02020603050405020304" pitchFamily="18" charset="0"/>
                </a:rPr>
                <a:t>D : (D,A) (D,B)</a:t>
              </a:r>
            </a:p>
            <a:p>
              <a:endParaRPr lang="en-US" sz="2400" dirty="0">
                <a:latin typeface="Times New Roman" panose="02020603050405020304" pitchFamily="18" charset="0"/>
                <a:ea typeface="Calibri" pitchFamily="34" charset="-122"/>
                <a:cs typeface="Times New Roman" panose="02020603050405020304" pitchFamily="18" charset="0"/>
              </a:endParaRPr>
            </a:p>
            <a:p>
              <a:r>
                <a:rPr lang="en-US" sz="2400" dirty="0">
                  <a:latin typeface="Times New Roman" panose="02020603050405020304" pitchFamily="18" charset="0"/>
                  <a:ea typeface="Calibri" pitchFamily="34" charset="-122"/>
                  <a:cs typeface="Times New Roman" panose="02020603050405020304" pitchFamily="18" charset="0"/>
                </a:rPr>
                <a:t>Optimize pair (D,A) this step</a:t>
              </a:r>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grpSp>
      <p:graphicFrame>
        <p:nvGraphicFramePr>
          <p:cNvPr id="100" name="Table 99">
            <a:extLst>
              <a:ext uri="{FF2B5EF4-FFF2-40B4-BE49-F238E27FC236}">
                <a16:creationId xmlns:a16="http://schemas.microsoft.com/office/drawing/2014/main" id="{7F333F77-1F39-1085-EC0F-12658B2B7C22}"/>
              </a:ext>
            </a:extLst>
          </p:cNvPr>
          <p:cNvGraphicFramePr>
            <a:graphicFrameLocks noGrp="1"/>
          </p:cNvGraphicFramePr>
          <p:nvPr/>
        </p:nvGraphicFramePr>
        <p:xfrm>
          <a:off x="12957048" y="2583947"/>
          <a:ext cx="4145280" cy="3011930"/>
        </p:xfrm>
        <a:graphic>
          <a:graphicData uri="http://schemas.openxmlformats.org/drawingml/2006/table">
            <a:tbl>
              <a:tblPr firstRow="1" bandRow="1">
                <a:tableStyleId>{5C22544A-7EE6-4342-B048-85BDC9FD1C3A}</a:tableStyleId>
              </a:tblPr>
              <a:tblGrid>
                <a:gridCol w="1381760">
                  <a:extLst>
                    <a:ext uri="{9D8B030D-6E8A-4147-A177-3AD203B41FA5}">
                      <a16:colId xmlns:a16="http://schemas.microsoft.com/office/drawing/2014/main" val="1407121682"/>
                    </a:ext>
                  </a:extLst>
                </a:gridCol>
                <a:gridCol w="1381760">
                  <a:extLst>
                    <a:ext uri="{9D8B030D-6E8A-4147-A177-3AD203B41FA5}">
                      <a16:colId xmlns:a16="http://schemas.microsoft.com/office/drawing/2014/main" val="2074380160"/>
                    </a:ext>
                  </a:extLst>
                </a:gridCol>
                <a:gridCol w="1381760">
                  <a:extLst>
                    <a:ext uri="{9D8B030D-6E8A-4147-A177-3AD203B41FA5}">
                      <a16:colId xmlns:a16="http://schemas.microsoft.com/office/drawing/2014/main" val="2454100934"/>
                    </a:ext>
                  </a:extLst>
                </a:gridCol>
              </a:tblGrid>
              <a:tr h="602386">
                <a:tc>
                  <a:txBody>
                    <a:bodyPr/>
                    <a:lstStyle/>
                    <a:p>
                      <a:pPr algn="ctr"/>
                      <a:r>
                        <a:rPr lang="en-US" sz="2200" dirty="0"/>
                        <a:t>Node</a:t>
                      </a:r>
                      <a:endParaRPr lang="en-IN" sz="2200" dirty="0"/>
                    </a:p>
                  </a:txBody>
                  <a:tcPr marL="182880" marR="182880" marT="91440" marB="91440"/>
                </a:tc>
                <a:tc>
                  <a:txBody>
                    <a:bodyPr/>
                    <a:lstStyle/>
                    <a:p>
                      <a:pPr algn="ctr"/>
                      <a:r>
                        <a:rPr lang="en-US" sz="2200" dirty="0"/>
                        <a:t>z1</a:t>
                      </a:r>
                      <a:endParaRPr lang="en-IN" sz="2200" dirty="0"/>
                    </a:p>
                  </a:txBody>
                  <a:tcPr marL="182880" marR="182880" marT="91440" marB="91440"/>
                </a:tc>
                <a:tc>
                  <a:txBody>
                    <a:bodyPr/>
                    <a:lstStyle/>
                    <a:p>
                      <a:pPr algn="ctr"/>
                      <a:r>
                        <a:rPr lang="en-US" sz="2200" dirty="0"/>
                        <a:t>z2</a:t>
                      </a:r>
                      <a:endParaRPr lang="en-IN" sz="2200" dirty="0"/>
                    </a:p>
                  </a:txBody>
                  <a:tcPr marL="182880" marR="182880" marT="91440" marB="91440"/>
                </a:tc>
                <a:extLst>
                  <a:ext uri="{0D108BD9-81ED-4DB2-BD59-A6C34878D82A}">
                    <a16:rowId xmlns:a16="http://schemas.microsoft.com/office/drawing/2014/main" val="1593871195"/>
                  </a:ext>
                </a:extLst>
              </a:tr>
              <a:tr h="602386">
                <a:tc>
                  <a:txBody>
                    <a:bodyPr/>
                    <a:lstStyle/>
                    <a:p>
                      <a:pPr algn="ctr"/>
                      <a:r>
                        <a:rPr lang="en-US" sz="2200" dirty="0"/>
                        <a:t>A</a:t>
                      </a:r>
                      <a:endParaRPr lang="en-IN" sz="2200" dirty="0"/>
                    </a:p>
                  </a:txBody>
                  <a:tcPr marL="182880" marR="182880" marT="91440" marB="91440"/>
                </a:tc>
                <a:tc>
                  <a:txBody>
                    <a:bodyPr/>
                    <a:lstStyle/>
                    <a:p>
                      <a:pPr algn="ctr"/>
                      <a:r>
                        <a:rPr lang="en-US" sz="2200" dirty="0"/>
                        <a:t>1.0</a:t>
                      </a:r>
                      <a:endParaRPr lang="en-IN" sz="2200" dirty="0"/>
                    </a:p>
                  </a:txBody>
                  <a:tcPr marL="182880" marR="182880" marT="91440" marB="91440"/>
                </a:tc>
                <a:tc>
                  <a:txBody>
                    <a:bodyPr/>
                    <a:lstStyle/>
                    <a:p>
                      <a:pPr algn="ctr"/>
                      <a:r>
                        <a:rPr lang="en-US" sz="2200" dirty="0"/>
                        <a:t>0.0</a:t>
                      </a:r>
                      <a:endParaRPr lang="en-IN" sz="2200" dirty="0"/>
                    </a:p>
                  </a:txBody>
                  <a:tcPr marL="182880" marR="182880" marT="91440" marB="91440"/>
                </a:tc>
                <a:extLst>
                  <a:ext uri="{0D108BD9-81ED-4DB2-BD59-A6C34878D82A}">
                    <a16:rowId xmlns:a16="http://schemas.microsoft.com/office/drawing/2014/main" val="3656137188"/>
                  </a:ext>
                </a:extLst>
              </a:tr>
              <a:tr h="602386">
                <a:tc>
                  <a:txBody>
                    <a:bodyPr/>
                    <a:lstStyle/>
                    <a:p>
                      <a:pPr algn="ctr"/>
                      <a:r>
                        <a:rPr lang="en-US" sz="2200" dirty="0"/>
                        <a:t>B</a:t>
                      </a:r>
                      <a:endParaRPr lang="en-IN" sz="2200" dirty="0"/>
                    </a:p>
                  </a:txBody>
                  <a:tcPr marL="182880" marR="182880" marT="91440" marB="91440"/>
                </a:tc>
                <a:tc>
                  <a:txBody>
                    <a:bodyPr/>
                    <a:lstStyle/>
                    <a:p>
                      <a:pPr algn="ctr"/>
                      <a:r>
                        <a:rPr lang="en-US" sz="2200" dirty="0"/>
                        <a:t>0.0</a:t>
                      </a:r>
                      <a:endParaRPr lang="en-IN" sz="2200" dirty="0"/>
                    </a:p>
                  </a:txBody>
                  <a:tcPr marL="182880" marR="182880" marT="91440" marB="91440"/>
                </a:tc>
                <a:tc>
                  <a:txBody>
                    <a:bodyPr/>
                    <a:lstStyle/>
                    <a:p>
                      <a:pPr algn="ctr"/>
                      <a:r>
                        <a:rPr lang="en-US" sz="2200" dirty="0"/>
                        <a:t>1.0</a:t>
                      </a:r>
                      <a:endParaRPr lang="en-IN" sz="2200" dirty="0"/>
                    </a:p>
                  </a:txBody>
                  <a:tcPr marL="182880" marR="182880" marT="91440" marB="91440"/>
                </a:tc>
                <a:extLst>
                  <a:ext uri="{0D108BD9-81ED-4DB2-BD59-A6C34878D82A}">
                    <a16:rowId xmlns:a16="http://schemas.microsoft.com/office/drawing/2014/main" val="2862384215"/>
                  </a:ext>
                </a:extLst>
              </a:tr>
              <a:tr h="602386">
                <a:tc>
                  <a:txBody>
                    <a:bodyPr/>
                    <a:lstStyle/>
                    <a:p>
                      <a:pPr algn="ctr"/>
                      <a:r>
                        <a:rPr lang="en-US" sz="2200" dirty="0"/>
                        <a:t>C</a:t>
                      </a:r>
                      <a:endParaRPr lang="en-IN" sz="2200" dirty="0"/>
                    </a:p>
                  </a:txBody>
                  <a:tcPr marL="182880" marR="182880" marT="91440" marB="91440"/>
                </a:tc>
                <a:tc>
                  <a:txBody>
                    <a:bodyPr/>
                    <a:lstStyle/>
                    <a:p>
                      <a:pPr algn="ctr"/>
                      <a:r>
                        <a:rPr lang="en-US" sz="2200" dirty="0"/>
                        <a:t>-1.0</a:t>
                      </a:r>
                      <a:endParaRPr lang="en-IN" sz="2200" dirty="0"/>
                    </a:p>
                  </a:txBody>
                  <a:tcPr marL="182880" marR="182880" marT="91440" marB="91440"/>
                </a:tc>
                <a:tc>
                  <a:txBody>
                    <a:bodyPr/>
                    <a:lstStyle/>
                    <a:p>
                      <a:pPr algn="ctr"/>
                      <a:r>
                        <a:rPr lang="en-US" sz="2200" dirty="0"/>
                        <a:t>0.0</a:t>
                      </a:r>
                      <a:endParaRPr lang="en-IN" sz="2200" dirty="0"/>
                    </a:p>
                  </a:txBody>
                  <a:tcPr marL="182880" marR="182880" marT="91440" marB="91440"/>
                </a:tc>
                <a:extLst>
                  <a:ext uri="{0D108BD9-81ED-4DB2-BD59-A6C34878D82A}">
                    <a16:rowId xmlns:a16="http://schemas.microsoft.com/office/drawing/2014/main" val="4176923737"/>
                  </a:ext>
                </a:extLst>
              </a:tr>
              <a:tr h="602386">
                <a:tc>
                  <a:txBody>
                    <a:bodyPr/>
                    <a:lstStyle/>
                    <a:p>
                      <a:pPr algn="ctr"/>
                      <a:r>
                        <a:rPr lang="en-US" sz="2200" dirty="0"/>
                        <a:t>D</a:t>
                      </a:r>
                      <a:endParaRPr lang="en-IN" sz="2200" dirty="0"/>
                    </a:p>
                  </a:txBody>
                  <a:tcPr marL="182880" marR="182880" marT="91440" marB="91440"/>
                </a:tc>
                <a:tc>
                  <a:txBody>
                    <a:bodyPr/>
                    <a:lstStyle/>
                    <a:p>
                      <a:pPr algn="ctr"/>
                      <a:r>
                        <a:rPr lang="en-US" sz="2200" dirty="0"/>
                        <a:t>0.5</a:t>
                      </a:r>
                      <a:endParaRPr lang="en-IN" sz="2200" dirty="0"/>
                    </a:p>
                  </a:txBody>
                  <a:tcPr marL="182880" marR="182880" marT="91440" marB="91440"/>
                </a:tc>
                <a:tc>
                  <a:txBody>
                    <a:bodyPr/>
                    <a:lstStyle/>
                    <a:p>
                      <a:pPr algn="ctr"/>
                      <a:r>
                        <a:rPr lang="en-US" sz="2200" dirty="0"/>
                        <a:t>0.5</a:t>
                      </a:r>
                      <a:endParaRPr lang="en-IN" sz="2200" dirty="0"/>
                    </a:p>
                  </a:txBody>
                  <a:tcPr marL="182880" marR="182880" marT="91440" marB="91440"/>
                </a:tc>
                <a:extLst>
                  <a:ext uri="{0D108BD9-81ED-4DB2-BD59-A6C34878D82A}">
                    <a16:rowId xmlns:a16="http://schemas.microsoft.com/office/drawing/2014/main" val="2954160152"/>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lumMod val="65000"/>
            <a:lumOff val="35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18288000" cy="1371600"/>
          </a:xfrm>
          <a:prstGeom prst="rect">
            <a:avLst/>
          </a:prstGeom>
          <a:solidFill>
            <a:schemeClr val="bg1"/>
          </a:solidFill>
          <a:ln w="12700">
            <a:solidFill>
              <a:srgbClr val="2D3561"/>
            </a:solidFill>
            <a:prstDash val="solid"/>
          </a:ln>
        </p:spPr>
        <p:txBody>
          <a:bodyPr/>
          <a:lstStyle/>
          <a:p>
            <a:endParaRPr lang="en-IN" sz="3600">
              <a:latin typeface="Times New Roman" panose="02020603050405020304" pitchFamily="18" charset="0"/>
              <a:cs typeface="Times New Roman" panose="02020603050405020304" pitchFamily="18" charset="0"/>
            </a:endParaRPr>
          </a:p>
        </p:txBody>
      </p:sp>
      <p:sp>
        <p:nvSpPr>
          <p:cNvPr id="3" name="Text 1"/>
          <p:cNvSpPr/>
          <p:nvPr/>
        </p:nvSpPr>
        <p:spPr>
          <a:xfrm>
            <a:off x="548640" y="0"/>
            <a:ext cx="17190720" cy="1371600"/>
          </a:xfrm>
          <a:prstGeom prst="rect">
            <a:avLst/>
          </a:prstGeom>
          <a:noFill/>
          <a:ln/>
        </p:spPr>
        <p:txBody>
          <a:bodyPr wrap="square" rtlCol="0" anchor="ctr"/>
          <a:lstStyle/>
          <a:p>
            <a:r>
              <a:rPr lang="en-US" sz="4400" b="1" dirty="0">
                <a:latin typeface="Times New Roman" panose="02020603050405020304" pitchFamily="18" charset="0"/>
                <a:ea typeface="Cambria" pitchFamily="34" charset="-122"/>
                <a:cs typeface="Times New Roman" panose="02020603050405020304" pitchFamily="18" charset="0"/>
              </a:rPr>
              <a:t>DeepWalk – Worked Example  |  Steps 4–8  (Softmax &amp; Loss)</a:t>
            </a:r>
            <a:endParaRPr lang="en-US" sz="4400" dirty="0">
              <a:latin typeface="Times New Roman" panose="02020603050405020304" pitchFamily="18" charset="0"/>
              <a:cs typeface="Times New Roman" panose="02020603050405020304" pitchFamily="18" charset="0"/>
            </a:endParaRPr>
          </a:p>
        </p:txBody>
      </p:sp>
      <p:sp>
        <p:nvSpPr>
          <p:cNvPr id="4" name="Shape 2"/>
          <p:cNvSpPr/>
          <p:nvPr/>
        </p:nvSpPr>
        <p:spPr>
          <a:xfrm>
            <a:off x="457200" y="1554480"/>
            <a:ext cx="8412480" cy="8412480"/>
          </a:xfrm>
          <a:prstGeom prst="roundRect">
            <a:avLst>
              <a:gd name="adj" fmla="val 2609"/>
            </a:avLst>
          </a:prstGeom>
          <a:solidFill>
            <a:schemeClr val="bg2">
              <a:lumMod val="75000"/>
            </a:schemeClr>
          </a:solidFill>
          <a:ln w="15240">
            <a:solidFill>
              <a:srgbClr val="4A90D9"/>
            </a:solidFill>
            <a:prstDash val="solid"/>
          </a:ln>
          <a:effectLst>
            <a:outerShdw blurRad="101600" dist="38100" dir="2700000" algn="bl" rotWithShape="0">
              <a:srgbClr val="000000">
                <a:alpha val="30000"/>
              </a:srgbClr>
            </a:outerShdw>
          </a:effectLst>
        </p:spPr>
        <p:txBody>
          <a:bodyPr/>
          <a:lstStyle/>
          <a:p>
            <a:endParaRPr lang="en-IN" sz="3600">
              <a:latin typeface="Times New Roman" panose="02020603050405020304" pitchFamily="18" charset="0"/>
              <a:cs typeface="Times New Roman" panose="02020603050405020304" pitchFamily="18" charset="0"/>
            </a:endParaRPr>
          </a:p>
        </p:txBody>
      </p:sp>
      <p:sp>
        <p:nvSpPr>
          <p:cNvPr id="5" name="Text 3"/>
          <p:cNvSpPr/>
          <p:nvPr/>
        </p:nvSpPr>
        <p:spPr>
          <a:xfrm>
            <a:off x="694944" y="1645920"/>
            <a:ext cx="7955280" cy="694944"/>
          </a:xfrm>
          <a:prstGeom prst="rect">
            <a:avLst/>
          </a:prstGeom>
          <a:noFill/>
          <a:ln/>
        </p:spPr>
        <p:txBody>
          <a:bodyPr wrap="square" rtlCol="0" anchor="ctr"/>
          <a:lstStyle/>
          <a:p>
            <a:pPr algn="ctr"/>
            <a:r>
              <a:rPr lang="en-US" sz="2600" b="1" dirty="0">
                <a:latin typeface="Times New Roman" panose="02020603050405020304" pitchFamily="18" charset="0"/>
                <a:ea typeface="Calibri" pitchFamily="34" charset="-122"/>
                <a:cs typeface="Times New Roman" panose="02020603050405020304" pitchFamily="18" charset="0"/>
              </a:rPr>
              <a:t>Step 4 — Softmax Decoder</a:t>
            </a:r>
            <a:endParaRPr lang="en-US" sz="2600" dirty="0">
              <a:latin typeface="Times New Roman" panose="02020603050405020304" pitchFamily="18" charset="0"/>
              <a:cs typeface="Times New Roman" panose="02020603050405020304" pitchFamily="18" charset="0"/>
            </a:endParaRPr>
          </a:p>
        </p:txBody>
      </p:sp>
      <p:sp>
        <p:nvSpPr>
          <p:cNvPr id="6" name="Shape 4"/>
          <p:cNvSpPr/>
          <p:nvPr/>
        </p:nvSpPr>
        <p:spPr>
          <a:xfrm>
            <a:off x="822960" y="2487168"/>
            <a:ext cx="7680960" cy="1133856"/>
          </a:xfrm>
          <a:prstGeom prst="roundRect">
            <a:avLst>
              <a:gd name="adj" fmla="val 12903"/>
            </a:avLst>
          </a:prstGeom>
          <a:solidFill>
            <a:schemeClr val="tx1">
              <a:lumMod val="65000"/>
              <a:lumOff val="35000"/>
            </a:schemeClr>
          </a:solidFill>
          <a:ln w="12700">
            <a:solidFill>
              <a:srgbClr val="4A90D9"/>
            </a:solidFill>
            <a:prstDash val="solid"/>
          </a:ln>
        </p:spPr>
        <p:txBody>
          <a:bodyPr/>
          <a:lstStyle/>
          <a:p>
            <a:endParaRPr lang="en-IN" sz="3600">
              <a:latin typeface="Times New Roman" panose="02020603050405020304" pitchFamily="18" charset="0"/>
              <a:cs typeface="Times New Roman" panose="02020603050405020304" pitchFamily="18" charset="0"/>
            </a:endParaRPr>
          </a:p>
        </p:txBody>
      </p:sp>
      <p:sp>
        <p:nvSpPr>
          <p:cNvPr id="7" name="Text 5"/>
          <p:cNvSpPr/>
          <p:nvPr/>
        </p:nvSpPr>
        <p:spPr>
          <a:xfrm>
            <a:off x="822960" y="2487168"/>
            <a:ext cx="7680960" cy="1133856"/>
          </a:xfrm>
          <a:prstGeom prst="rect">
            <a:avLst/>
          </a:prstGeom>
          <a:noFill/>
          <a:ln/>
        </p:spPr>
        <p:txBody>
          <a:bodyPr wrap="square" rtlCol="0" anchor="ctr"/>
          <a:lstStyle/>
          <a:p>
            <a:pPr algn="ctr"/>
            <a:r>
              <a:rPr lang="en-US" sz="2400" b="1" i="1" dirty="0">
                <a:latin typeface="Times New Roman" panose="02020603050405020304" pitchFamily="18" charset="0"/>
                <a:ea typeface="Cambria" pitchFamily="34" charset="-122"/>
                <a:cs typeface="Times New Roman" panose="02020603050405020304" pitchFamily="18" charset="0"/>
              </a:rPr>
              <a:t>p(v | u) = exp(zᵤᵀ zᵥ)  /  Σ exp(zᵤᵀ zₖ)</a:t>
            </a:r>
            <a:endParaRPr lang="en-US" sz="2400" dirty="0">
              <a:latin typeface="Times New Roman" panose="02020603050405020304" pitchFamily="18" charset="0"/>
              <a:cs typeface="Times New Roman" panose="02020603050405020304" pitchFamily="18" charset="0"/>
            </a:endParaRPr>
          </a:p>
        </p:txBody>
      </p:sp>
      <p:sp>
        <p:nvSpPr>
          <p:cNvPr id="8" name="Text 6"/>
          <p:cNvSpPr/>
          <p:nvPr/>
        </p:nvSpPr>
        <p:spPr>
          <a:xfrm>
            <a:off x="822960" y="3803904"/>
            <a:ext cx="7680960" cy="585216"/>
          </a:xfrm>
          <a:prstGeom prst="rect">
            <a:avLst/>
          </a:prstGeom>
          <a:noFill/>
          <a:ln/>
        </p:spPr>
        <p:txBody>
          <a:bodyPr wrap="square" rtlCol="0" anchor="ctr"/>
          <a:lstStyle/>
          <a:p>
            <a:r>
              <a:rPr lang="en-US" sz="2200" dirty="0">
                <a:latin typeface="Times New Roman" panose="02020603050405020304" pitchFamily="18" charset="0"/>
                <a:ea typeface="Calibri" pitchFamily="34" charset="-122"/>
                <a:cs typeface="Times New Roman" panose="02020603050405020304" pitchFamily="18" charset="0"/>
              </a:rPr>
              <a:t>Compute </a:t>
            </a:r>
            <a:r>
              <a:rPr lang="en-US" sz="2200" b="1" dirty="0">
                <a:latin typeface="Times New Roman" panose="02020603050405020304" pitchFamily="18" charset="0"/>
                <a:ea typeface="Calibri" pitchFamily="34" charset="-122"/>
                <a:cs typeface="Times New Roman" panose="02020603050405020304" pitchFamily="18" charset="0"/>
              </a:rPr>
              <a:t>zD</a:t>
            </a:r>
            <a:r>
              <a:rPr lang="en-US" sz="2200" dirty="0">
                <a:latin typeface="Times New Roman" panose="02020603050405020304" pitchFamily="18" charset="0"/>
                <a:ea typeface="Calibri" pitchFamily="34" charset="-122"/>
                <a:cs typeface="Times New Roman" panose="02020603050405020304" pitchFamily="18" charset="0"/>
              </a:rPr>
              <a:t>ᵀ · zₖ  for each node:</a:t>
            </a:r>
            <a:endParaRPr lang="en-US" sz="2200" dirty="0">
              <a:latin typeface="Times New Roman" panose="02020603050405020304" pitchFamily="18" charset="0"/>
              <a:cs typeface="Times New Roman" panose="02020603050405020304" pitchFamily="18" charset="0"/>
            </a:endParaRPr>
          </a:p>
        </p:txBody>
      </p:sp>
      <p:sp>
        <p:nvSpPr>
          <p:cNvPr id="9" name="Shape 7"/>
          <p:cNvSpPr/>
          <p:nvPr/>
        </p:nvSpPr>
        <p:spPr>
          <a:xfrm>
            <a:off x="822960" y="4498848"/>
            <a:ext cx="7680960" cy="731520"/>
          </a:xfrm>
          <a:prstGeom prst="rect">
            <a:avLst/>
          </a:prstGeom>
          <a:solidFill>
            <a:schemeClr val="tx1">
              <a:lumMod val="65000"/>
              <a:lumOff val="35000"/>
            </a:schemeClr>
          </a:solidFill>
          <a:ln w="12700">
            <a:solidFill>
              <a:srgbClr val="2D3561"/>
            </a:solidFill>
            <a:prstDash val="solid"/>
          </a:ln>
        </p:spPr>
        <p:txBody>
          <a:bodyPr/>
          <a:lstStyle/>
          <a:p>
            <a:endParaRPr lang="en-IN" sz="3600">
              <a:latin typeface="Times New Roman" panose="02020603050405020304" pitchFamily="18" charset="0"/>
              <a:cs typeface="Times New Roman" panose="02020603050405020304" pitchFamily="18" charset="0"/>
            </a:endParaRPr>
          </a:p>
        </p:txBody>
      </p:sp>
      <p:sp>
        <p:nvSpPr>
          <p:cNvPr id="10" name="Text 8"/>
          <p:cNvSpPr/>
          <p:nvPr/>
        </p:nvSpPr>
        <p:spPr>
          <a:xfrm>
            <a:off x="877824" y="4498848"/>
            <a:ext cx="585216" cy="731520"/>
          </a:xfrm>
          <a:prstGeom prst="rect">
            <a:avLst/>
          </a:prstGeom>
          <a:noFill/>
          <a:ln/>
        </p:spPr>
        <p:txBody>
          <a:bodyPr wrap="square" rtlCol="0" anchor="ctr"/>
          <a:lstStyle/>
          <a:p>
            <a:pPr algn="ctr"/>
            <a:r>
              <a:rPr lang="en-US" sz="2200" b="1" dirty="0">
                <a:latin typeface="Times New Roman" panose="02020603050405020304" pitchFamily="18" charset="0"/>
                <a:ea typeface="Calibri" pitchFamily="34" charset="-122"/>
                <a:cs typeface="Times New Roman" panose="02020603050405020304" pitchFamily="18" charset="0"/>
              </a:rPr>
              <a:t>A</a:t>
            </a:r>
            <a:endParaRPr lang="en-US" sz="2200" dirty="0">
              <a:latin typeface="Times New Roman" panose="02020603050405020304" pitchFamily="18" charset="0"/>
              <a:cs typeface="Times New Roman" panose="02020603050405020304" pitchFamily="18" charset="0"/>
            </a:endParaRPr>
          </a:p>
        </p:txBody>
      </p:sp>
      <p:sp>
        <p:nvSpPr>
          <p:cNvPr id="11" name="Text 9"/>
          <p:cNvSpPr/>
          <p:nvPr/>
        </p:nvSpPr>
        <p:spPr>
          <a:xfrm>
            <a:off x="1499616" y="4498848"/>
            <a:ext cx="4937760" cy="731520"/>
          </a:xfrm>
          <a:prstGeom prst="rect">
            <a:avLst/>
          </a:prstGeom>
          <a:noFill/>
          <a:ln/>
        </p:spPr>
        <p:txBody>
          <a:bodyPr wrap="square" rtlCol="0" anchor="ctr"/>
          <a:lstStyle/>
          <a:p>
            <a:r>
              <a:rPr lang="en-US" sz="2100" dirty="0">
                <a:latin typeface="Times New Roman" panose="02020603050405020304" pitchFamily="18" charset="0"/>
                <a:ea typeface="Calibri" pitchFamily="34" charset="-122"/>
                <a:cs typeface="Times New Roman" panose="02020603050405020304" pitchFamily="18" charset="0"/>
              </a:rPr>
              <a:t>(0.5)(1.0)+(0.5)(0.0)</a:t>
            </a:r>
            <a:endParaRPr lang="en-US" sz="2100" dirty="0">
              <a:latin typeface="Times New Roman" panose="02020603050405020304" pitchFamily="18" charset="0"/>
              <a:cs typeface="Times New Roman" panose="02020603050405020304" pitchFamily="18" charset="0"/>
            </a:endParaRPr>
          </a:p>
        </p:txBody>
      </p:sp>
      <p:sp>
        <p:nvSpPr>
          <p:cNvPr id="12" name="Text 10"/>
          <p:cNvSpPr/>
          <p:nvPr/>
        </p:nvSpPr>
        <p:spPr>
          <a:xfrm>
            <a:off x="6492240" y="4498848"/>
            <a:ext cx="1828800" cy="731520"/>
          </a:xfrm>
          <a:prstGeom prst="rect">
            <a:avLst/>
          </a:prstGeom>
          <a:noFill/>
          <a:ln/>
        </p:spPr>
        <p:txBody>
          <a:bodyPr wrap="square" rtlCol="0" anchor="ctr"/>
          <a:lstStyle/>
          <a:p>
            <a:pPr algn="ctr"/>
            <a:r>
              <a:rPr lang="en-US" sz="2200" b="1" dirty="0">
                <a:latin typeface="Times New Roman" panose="02020603050405020304" pitchFamily="18" charset="0"/>
                <a:ea typeface="Calibri" pitchFamily="34" charset="-122"/>
                <a:cs typeface="Times New Roman" panose="02020603050405020304" pitchFamily="18" charset="0"/>
              </a:rPr>
              <a:t>= 0.5</a:t>
            </a:r>
            <a:endParaRPr lang="en-US" sz="2200" dirty="0">
              <a:latin typeface="Times New Roman" panose="02020603050405020304" pitchFamily="18" charset="0"/>
              <a:cs typeface="Times New Roman" panose="02020603050405020304" pitchFamily="18" charset="0"/>
            </a:endParaRPr>
          </a:p>
        </p:txBody>
      </p:sp>
      <p:sp>
        <p:nvSpPr>
          <p:cNvPr id="13" name="Shape 11"/>
          <p:cNvSpPr/>
          <p:nvPr/>
        </p:nvSpPr>
        <p:spPr>
          <a:xfrm>
            <a:off x="822960" y="5321808"/>
            <a:ext cx="7680960" cy="731520"/>
          </a:xfrm>
          <a:prstGeom prst="rect">
            <a:avLst/>
          </a:prstGeom>
          <a:solidFill>
            <a:schemeClr val="tx1">
              <a:lumMod val="65000"/>
              <a:lumOff val="35000"/>
            </a:schemeClr>
          </a:solidFill>
          <a:ln w="12700">
            <a:solidFill>
              <a:srgbClr val="2D3561"/>
            </a:solidFill>
            <a:prstDash val="solid"/>
          </a:ln>
        </p:spPr>
        <p:txBody>
          <a:bodyPr/>
          <a:lstStyle/>
          <a:p>
            <a:endParaRPr lang="en-IN" sz="3600">
              <a:latin typeface="Times New Roman" panose="02020603050405020304" pitchFamily="18" charset="0"/>
              <a:cs typeface="Times New Roman" panose="02020603050405020304" pitchFamily="18" charset="0"/>
            </a:endParaRPr>
          </a:p>
        </p:txBody>
      </p:sp>
      <p:sp>
        <p:nvSpPr>
          <p:cNvPr id="14" name="Text 12"/>
          <p:cNvSpPr/>
          <p:nvPr/>
        </p:nvSpPr>
        <p:spPr>
          <a:xfrm>
            <a:off x="877824" y="5321808"/>
            <a:ext cx="585216" cy="731520"/>
          </a:xfrm>
          <a:prstGeom prst="rect">
            <a:avLst/>
          </a:prstGeom>
          <a:noFill/>
          <a:ln/>
        </p:spPr>
        <p:txBody>
          <a:bodyPr wrap="square" rtlCol="0" anchor="ctr"/>
          <a:lstStyle/>
          <a:p>
            <a:pPr algn="ctr"/>
            <a:r>
              <a:rPr lang="en-US" sz="2200" b="1" dirty="0">
                <a:latin typeface="Times New Roman" panose="02020603050405020304" pitchFamily="18" charset="0"/>
                <a:ea typeface="Calibri" pitchFamily="34" charset="-122"/>
                <a:cs typeface="Times New Roman" panose="02020603050405020304" pitchFamily="18" charset="0"/>
              </a:rPr>
              <a:t>B</a:t>
            </a:r>
            <a:endParaRPr lang="en-US" sz="2200" dirty="0">
              <a:latin typeface="Times New Roman" panose="02020603050405020304" pitchFamily="18" charset="0"/>
              <a:cs typeface="Times New Roman" panose="02020603050405020304" pitchFamily="18" charset="0"/>
            </a:endParaRPr>
          </a:p>
        </p:txBody>
      </p:sp>
      <p:sp>
        <p:nvSpPr>
          <p:cNvPr id="15" name="Text 13"/>
          <p:cNvSpPr/>
          <p:nvPr/>
        </p:nvSpPr>
        <p:spPr>
          <a:xfrm>
            <a:off x="1499616" y="5321808"/>
            <a:ext cx="4937760" cy="731520"/>
          </a:xfrm>
          <a:prstGeom prst="rect">
            <a:avLst/>
          </a:prstGeom>
          <a:noFill/>
          <a:ln/>
        </p:spPr>
        <p:txBody>
          <a:bodyPr wrap="square" rtlCol="0" anchor="ctr"/>
          <a:lstStyle/>
          <a:p>
            <a:r>
              <a:rPr lang="en-US" sz="2100" dirty="0">
                <a:latin typeface="Times New Roman" panose="02020603050405020304" pitchFamily="18" charset="0"/>
                <a:ea typeface="Calibri" pitchFamily="34" charset="-122"/>
                <a:cs typeface="Times New Roman" panose="02020603050405020304" pitchFamily="18" charset="0"/>
              </a:rPr>
              <a:t>(0.5)(0.0)+(0.5)(1.0)</a:t>
            </a:r>
            <a:endParaRPr lang="en-US" sz="2100" dirty="0">
              <a:latin typeface="Times New Roman" panose="02020603050405020304" pitchFamily="18" charset="0"/>
              <a:cs typeface="Times New Roman" panose="02020603050405020304" pitchFamily="18" charset="0"/>
            </a:endParaRPr>
          </a:p>
        </p:txBody>
      </p:sp>
      <p:sp>
        <p:nvSpPr>
          <p:cNvPr id="16" name="Text 14"/>
          <p:cNvSpPr/>
          <p:nvPr/>
        </p:nvSpPr>
        <p:spPr>
          <a:xfrm>
            <a:off x="6492240" y="5321808"/>
            <a:ext cx="1828800" cy="731520"/>
          </a:xfrm>
          <a:prstGeom prst="rect">
            <a:avLst/>
          </a:prstGeom>
          <a:noFill/>
          <a:ln/>
        </p:spPr>
        <p:txBody>
          <a:bodyPr wrap="square" rtlCol="0" anchor="ctr"/>
          <a:lstStyle/>
          <a:p>
            <a:pPr algn="ctr"/>
            <a:r>
              <a:rPr lang="en-US" sz="2200" b="1" dirty="0">
                <a:latin typeface="Times New Roman" panose="02020603050405020304" pitchFamily="18" charset="0"/>
                <a:ea typeface="Calibri" pitchFamily="34" charset="-122"/>
                <a:cs typeface="Times New Roman" panose="02020603050405020304" pitchFamily="18" charset="0"/>
              </a:rPr>
              <a:t>= 0.5</a:t>
            </a:r>
            <a:endParaRPr lang="en-US" sz="2200" dirty="0">
              <a:latin typeface="Times New Roman" panose="02020603050405020304" pitchFamily="18" charset="0"/>
              <a:cs typeface="Times New Roman" panose="02020603050405020304" pitchFamily="18" charset="0"/>
            </a:endParaRPr>
          </a:p>
        </p:txBody>
      </p:sp>
      <p:sp>
        <p:nvSpPr>
          <p:cNvPr id="17" name="Shape 15"/>
          <p:cNvSpPr/>
          <p:nvPr/>
        </p:nvSpPr>
        <p:spPr>
          <a:xfrm>
            <a:off x="822960" y="6144768"/>
            <a:ext cx="7680960" cy="731520"/>
          </a:xfrm>
          <a:prstGeom prst="rect">
            <a:avLst/>
          </a:prstGeom>
          <a:solidFill>
            <a:schemeClr val="tx1">
              <a:lumMod val="65000"/>
              <a:lumOff val="35000"/>
            </a:schemeClr>
          </a:solidFill>
          <a:ln w="12700">
            <a:solidFill>
              <a:srgbClr val="2D3561"/>
            </a:solidFill>
            <a:prstDash val="solid"/>
          </a:ln>
        </p:spPr>
        <p:txBody>
          <a:bodyPr/>
          <a:lstStyle/>
          <a:p>
            <a:endParaRPr lang="en-IN" sz="3600">
              <a:latin typeface="Times New Roman" panose="02020603050405020304" pitchFamily="18" charset="0"/>
              <a:cs typeface="Times New Roman" panose="02020603050405020304" pitchFamily="18" charset="0"/>
            </a:endParaRPr>
          </a:p>
        </p:txBody>
      </p:sp>
      <p:sp>
        <p:nvSpPr>
          <p:cNvPr id="18" name="Text 16"/>
          <p:cNvSpPr/>
          <p:nvPr/>
        </p:nvSpPr>
        <p:spPr>
          <a:xfrm>
            <a:off x="877824" y="6144768"/>
            <a:ext cx="585216" cy="731520"/>
          </a:xfrm>
          <a:prstGeom prst="rect">
            <a:avLst/>
          </a:prstGeom>
          <a:noFill/>
          <a:ln/>
        </p:spPr>
        <p:txBody>
          <a:bodyPr wrap="square" rtlCol="0" anchor="ctr"/>
          <a:lstStyle/>
          <a:p>
            <a:pPr algn="ctr"/>
            <a:r>
              <a:rPr lang="en-US" sz="2200" b="1" dirty="0">
                <a:latin typeface="Times New Roman" panose="02020603050405020304" pitchFamily="18" charset="0"/>
                <a:ea typeface="Calibri" pitchFamily="34" charset="-122"/>
                <a:cs typeface="Times New Roman" panose="02020603050405020304" pitchFamily="18" charset="0"/>
              </a:rPr>
              <a:t>C</a:t>
            </a:r>
            <a:endParaRPr lang="en-US" sz="2200" dirty="0">
              <a:latin typeface="Times New Roman" panose="02020603050405020304" pitchFamily="18" charset="0"/>
              <a:cs typeface="Times New Roman" panose="02020603050405020304" pitchFamily="18" charset="0"/>
            </a:endParaRPr>
          </a:p>
        </p:txBody>
      </p:sp>
      <p:sp>
        <p:nvSpPr>
          <p:cNvPr id="19" name="Text 17"/>
          <p:cNvSpPr/>
          <p:nvPr/>
        </p:nvSpPr>
        <p:spPr>
          <a:xfrm>
            <a:off x="1499616" y="6144768"/>
            <a:ext cx="4937760" cy="731520"/>
          </a:xfrm>
          <a:prstGeom prst="rect">
            <a:avLst/>
          </a:prstGeom>
          <a:noFill/>
          <a:ln/>
        </p:spPr>
        <p:txBody>
          <a:bodyPr wrap="square" rtlCol="0" anchor="ctr"/>
          <a:lstStyle/>
          <a:p>
            <a:r>
              <a:rPr lang="en-US" sz="2100" dirty="0">
                <a:latin typeface="Times New Roman" panose="02020603050405020304" pitchFamily="18" charset="0"/>
                <a:ea typeface="Calibri" pitchFamily="34" charset="-122"/>
                <a:cs typeface="Times New Roman" panose="02020603050405020304" pitchFamily="18" charset="0"/>
              </a:rPr>
              <a:t>(0.5)(−1.0)+(0.5)(0.0)</a:t>
            </a:r>
            <a:endParaRPr lang="en-US" sz="2100" dirty="0">
              <a:latin typeface="Times New Roman" panose="02020603050405020304" pitchFamily="18" charset="0"/>
              <a:cs typeface="Times New Roman" panose="02020603050405020304" pitchFamily="18" charset="0"/>
            </a:endParaRPr>
          </a:p>
        </p:txBody>
      </p:sp>
      <p:sp>
        <p:nvSpPr>
          <p:cNvPr id="20" name="Text 18"/>
          <p:cNvSpPr/>
          <p:nvPr/>
        </p:nvSpPr>
        <p:spPr>
          <a:xfrm>
            <a:off x="6492240" y="6144768"/>
            <a:ext cx="1828800" cy="731520"/>
          </a:xfrm>
          <a:prstGeom prst="rect">
            <a:avLst/>
          </a:prstGeom>
          <a:noFill/>
          <a:ln/>
        </p:spPr>
        <p:txBody>
          <a:bodyPr wrap="square" rtlCol="0" anchor="ctr"/>
          <a:lstStyle/>
          <a:p>
            <a:pPr algn="ctr"/>
            <a:r>
              <a:rPr lang="en-US" sz="2200" b="1" dirty="0">
                <a:latin typeface="Times New Roman" panose="02020603050405020304" pitchFamily="18" charset="0"/>
                <a:ea typeface="Calibri" pitchFamily="34" charset="-122"/>
                <a:cs typeface="Times New Roman" panose="02020603050405020304" pitchFamily="18" charset="0"/>
              </a:rPr>
              <a:t>= −0.5</a:t>
            </a:r>
            <a:endParaRPr lang="en-US" sz="2200" dirty="0">
              <a:latin typeface="Times New Roman" panose="02020603050405020304" pitchFamily="18" charset="0"/>
              <a:cs typeface="Times New Roman" panose="02020603050405020304" pitchFamily="18" charset="0"/>
            </a:endParaRPr>
          </a:p>
        </p:txBody>
      </p:sp>
      <p:sp>
        <p:nvSpPr>
          <p:cNvPr id="21" name="Shape 19"/>
          <p:cNvSpPr/>
          <p:nvPr/>
        </p:nvSpPr>
        <p:spPr>
          <a:xfrm>
            <a:off x="822960" y="6967728"/>
            <a:ext cx="7680960" cy="731520"/>
          </a:xfrm>
          <a:prstGeom prst="rect">
            <a:avLst/>
          </a:prstGeom>
          <a:solidFill>
            <a:schemeClr val="tx1">
              <a:lumMod val="65000"/>
              <a:lumOff val="35000"/>
            </a:schemeClr>
          </a:solidFill>
          <a:ln w="12700">
            <a:solidFill>
              <a:srgbClr val="2D3561"/>
            </a:solidFill>
            <a:prstDash val="solid"/>
          </a:ln>
        </p:spPr>
        <p:txBody>
          <a:bodyPr/>
          <a:lstStyle/>
          <a:p>
            <a:endParaRPr lang="en-IN" sz="3600">
              <a:latin typeface="Times New Roman" panose="02020603050405020304" pitchFamily="18" charset="0"/>
              <a:cs typeface="Times New Roman" panose="02020603050405020304" pitchFamily="18" charset="0"/>
            </a:endParaRPr>
          </a:p>
        </p:txBody>
      </p:sp>
      <p:sp>
        <p:nvSpPr>
          <p:cNvPr id="22" name="Text 20"/>
          <p:cNvSpPr/>
          <p:nvPr/>
        </p:nvSpPr>
        <p:spPr>
          <a:xfrm>
            <a:off x="877824" y="6967728"/>
            <a:ext cx="585216" cy="731520"/>
          </a:xfrm>
          <a:prstGeom prst="rect">
            <a:avLst/>
          </a:prstGeom>
          <a:noFill/>
          <a:ln/>
        </p:spPr>
        <p:txBody>
          <a:bodyPr wrap="square" rtlCol="0" anchor="ctr"/>
          <a:lstStyle/>
          <a:p>
            <a:pPr algn="ctr"/>
            <a:r>
              <a:rPr lang="en-US" sz="2200" b="1" dirty="0">
                <a:latin typeface="Times New Roman" panose="02020603050405020304" pitchFamily="18" charset="0"/>
                <a:ea typeface="Calibri" pitchFamily="34" charset="-122"/>
                <a:cs typeface="Times New Roman" panose="02020603050405020304" pitchFamily="18" charset="0"/>
              </a:rPr>
              <a:t>D</a:t>
            </a:r>
            <a:endParaRPr lang="en-US" sz="2200" dirty="0">
              <a:latin typeface="Times New Roman" panose="02020603050405020304" pitchFamily="18" charset="0"/>
              <a:cs typeface="Times New Roman" panose="02020603050405020304" pitchFamily="18" charset="0"/>
            </a:endParaRPr>
          </a:p>
        </p:txBody>
      </p:sp>
      <p:sp>
        <p:nvSpPr>
          <p:cNvPr id="23" name="Text 21"/>
          <p:cNvSpPr/>
          <p:nvPr/>
        </p:nvSpPr>
        <p:spPr>
          <a:xfrm>
            <a:off x="1499616" y="6967728"/>
            <a:ext cx="4937760" cy="731520"/>
          </a:xfrm>
          <a:prstGeom prst="rect">
            <a:avLst/>
          </a:prstGeom>
          <a:noFill/>
          <a:ln/>
        </p:spPr>
        <p:txBody>
          <a:bodyPr wrap="square" rtlCol="0" anchor="ctr"/>
          <a:lstStyle/>
          <a:p>
            <a:r>
              <a:rPr lang="en-US" sz="2100" dirty="0">
                <a:latin typeface="Times New Roman" panose="02020603050405020304" pitchFamily="18" charset="0"/>
                <a:ea typeface="Calibri" pitchFamily="34" charset="-122"/>
                <a:cs typeface="Times New Roman" panose="02020603050405020304" pitchFamily="18" charset="0"/>
              </a:rPr>
              <a:t>(0.5)(0.5)+(0.5)(0.5)</a:t>
            </a:r>
            <a:endParaRPr lang="en-US" sz="2100" dirty="0">
              <a:latin typeface="Times New Roman" panose="02020603050405020304" pitchFamily="18" charset="0"/>
              <a:cs typeface="Times New Roman" panose="02020603050405020304" pitchFamily="18" charset="0"/>
            </a:endParaRPr>
          </a:p>
        </p:txBody>
      </p:sp>
      <p:sp>
        <p:nvSpPr>
          <p:cNvPr id="24" name="Text 22"/>
          <p:cNvSpPr/>
          <p:nvPr/>
        </p:nvSpPr>
        <p:spPr>
          <a:xfrm>
            <a:off x="6492240" y="6967728"/>
            <a:ext cx="1828800" cy="731520"/>
          </a:xfrm>
          <a:prstGeom prst="rect">
            <a:avLst/>
          </a:prstGeom>
          <a:noFill/>
          <a:ln/>
        </p:spPr>
        <p:txBody>
          <a:bodyPr wrap="square" rtlCol="0" anchor="ctr"/>
          <a:lstStyle/>
          <a:p>
            <a:pPr algn="ctr"/>
            <a:r>
              <a:rPr lang="en-US" sz="2200" b="1" dirty="0">
                <a:latin typeface="Times New Roman" panose="02020603050405020304" pitchFamily="18" charset="0"/>
                <a:ea typeface="Calibri" pitchFamily="34" charset="-122"/>
                <a:cs typeface="Times New Roman" panose="02020603050405020304" pitchFamily="18" charset="0"/>
              </a:rPr>
              <a:t>= 0.5</a:t>
            </a:r>
            <a:endParaRPr lang="en-US" sz="2200" dirty="0">
              <a:latin typeface="Times New Roman" panose="02020603050405020304" pitchFamily="18" charset="0"/>
              <a:cs typeface="Times New Roman" panose="02020603050405020304" pitchFamily="18" charset="0"/>
            </a:endParaRPr>
          </a:p>
        </p:txBody>
      </p:sp>
      <p:sp>
        <p:nvSpPr>
          <p:cNvPr id="25" name="Text 23"/>
          <p:cNvSpPr/>
          <p:nvPr/>
        </p:nvSpPr>
        <p:spPr>
          <a:xfrm>
            <a:off x="822960" y="7900416"/>
            <a:ext cx="7680960" cy="512064"/>
          </a:xfrm>
          <a:prstGeom prst="rect">
            <a:avLst/>
          </a:prstGeom>
          <a:noFill/>
          <a:ln/>
        </p:spPr>
        <p:txBody>
          <a:bodyPr wrap="square" rtlCol="0" anchor="ctr"/>
          <a:lstStyle/>
          <a:p>
            <a:pPr algn="ctr"/>
            <a:r>
              <a:rPr lang="en-US" sz="1900" i="1" dirty="0">
                <a:latin typeface="Times New Roman" panose="02020603050405020304" pitchFamily="18" charset="0"/>
                <a:ea typeface="Calibri" pitchFamily="34" charset="-122"/>
                <a:cs typeface="Times New Roman" panose="02020603050405020304" pitchFamily="18" charset="0"/>
              </a:rPr>
              <a:t>Note: zD = [0.5, 0.5]  ·  zA = [1.0, 0.0]</a:t>
            </a:r>
            <a:endParaRPr lang="en-US" sz="1900" dirty="0">
              <a:latin typeface="Times New Roman" panose="02020603050405020304" pitchFamily="18" charset="0"/>
              <a:cs typeface="Times New Roman" panose="02020603050405020304" pitchFamily="18" charset="0"/>
            </a:endParaRPr>
          </a:p>
        </p:txBody>
      </p:sp>
      <p:sp>
        <p:nvSpPr>
          <p:cNvPr id="26" name="Shape 24"/>
          <p:cNvSpPr/>
          <p:nvPr/>
        </p:nvSpPr>
        <p:spPr>
          <a:xfrm>
            <a:off x="9326880" y="1554480"/>
            <a:ext cx="8503920" cy="3840480"/>
          </a:xfrm>
          <a:prstGeom prst="roundRect">
            <a:avLst>
              <a:gd name="adj" fmla="val 5714"/>
            </a:avLst>
          </a:prstGeom>
          <a:solidFill>
            <a:schemeClr val="bg2">
              <a:lumMod val="75000"/>
            </a:schemeClr>
          </a:solidFill>
          <a:ln w="15240">
            <a:solidFill>
              <a:srgbClr val="4A90D9"/>
            </a:solidFill>
            <a:prstDash val="solid"/>
          </a:ln>
          <a:effectLst>
            <a:outerShdw blurRad="101600" dist="38100" dir="2700000" algn="bl" rotWithShape="0">
              <a:srgbClr val="000000">
                <a:alpha val="30000"/>
              </a:srgbClr>
            </a:outerShdw>
          </a:effectLst>
        </p:spPr>
        <p:txBody>
          <a:bodyPr/>
          <a:lstStyle/>
          <a:p>
            <a:endParaRPr lang="en-IN" sz="3600">
              <a:latin typeface="Times New Roman" panose="02020603050405020304" pitchFamily="18" charset="0"/>
              <a:cs typeface="Times New Roman" panose="02020603050405020304" pitchFamily="18" charset="0"/>
            </a:endParaRPr>
          </a:p>
        </p:txBody>
      </p:sp>
      <p:sp>
        <p:nvSpPr>
          <p:cNvPr id="27" name="Text 25"/>
          <p:cNvSpPr/>
          <p:nvPr/>
        </p:nvSpPr>
        <p:spPr>
          <a:xfrm>
            <a:off x="9509760" y="1645920"/>
            <a:ext cx="8138160" cy="694944"/>
          </a:xfrm>
          <a:prstGeom prst="rect">
            <a:avLst/>
          </a:prstGeom>
          <a:noFill/>
          <a:ln/>
        </p:spPr>
        <p:txBody>
          <a:bodyPr wrap="square" rtlCol="0" anchor="ctr"/>
          <a:lstStyle/>
          <a:p>
            <a:pPr algn="ctr"/>
            <a:r>
              <a:rPr lang="en-US" sz="2400" b="1" dirty="0">
                <a:latin typeface="Times New Roman" panose="02020603050405020304" pitchFamily="18" charset="0"/>
                <a:ea typeface="Calibri" pitchFamily="34" charset="-122"/>
                <a:cs typeface="Times New Roman" panose="02020603050405020304" pitchFamily="18" charset="0"/>
              </a:rPr>
              <a:t>Steps 5 &amp; 6 — Exponentials &amp; Denominator</a:t>
            </a:r>
            <a:endParaRPr lang="en-US" sz="2400" dirty="0">
              <a:latin typeface="Times New Roman" panose="02020603050405020304" pitchFamily="18" charset="0"/>
              <a:cs typeface="Times New Roman" panose="02020603050405020304" pitchFamily="18" charset="0"/>
            </a:endParaRPr>
          </a:p>
        </p:txBody>
      </p:sp>
      <p:sp>
        <p:nvSpPr>
          <p:cNvPr id="28" name="Shape 26"/>
          <p:cNvSpPr/>
          <p:nvPr/>
        </p:nvSpPr>
        <p:spPr>
          <a:xfrm>
            <a:off x="9509760" y="2487168"/>
            <a:ext cx="3657600" cy="603504"/>
          </a:xfrm>
          <a:prstGeom prst="rect">
            <a:avLst/>
          </a:prstGeom>
          <a:solidFill>
            <a:schemeClr val="tx1">
              <a:lumMod val="65000"/>
              <a:lumOff val="35000"/>
            </a:schemeClr>
          </a:solidFill>
          <a:ln w="12700">
            <a:solidFill>
              <a:srgbClr val="2D3561"/>
            </a:solidFill>
            <a:prstDash val="solid"/>
          </a:ln>
        </p:spPr>
        <p:txBody>
          <a:bodyPr/>
          <a:lstStyle/>
          <a:p>
            <a:endParaRPr lang="en-IN" sz="3600">
              <a:latin typeface="Times New Roman" panose="02020603050405020304" pitchFamily="18" charset="0"/>
              <a:cs typeface="Times New Roman" panose="02020603050405020304" pitchFamily="18" charset="0"/>
            </a:endParaRPr>
          </a:p>
        </p:txBody>
      </p:sp>
      <p:sp>
        <p:nvSpPr>
          <p:cNvPr id="29" name="Text 27"/>
          <p:cNvSpPr/>
          <p:nvPr/>
        </p:nvSpPr>
        <p:spPr>
          <a:xfrm>
            <a:off x="9601200" y="2487168"/>
            <a:ext cx="1554480" cy="603504"/>
          </a:xfrm>
          <a:prstGeom prst="rect">
            <a:avLst/>
          </a:prstGeom>
          <a:noFill/>
          <a:ln/>
        </p:spPr>
        <p:txBody>
          <a:bodyPr wrap="square" rtlCol="0" anchor="ctr"/>
          <a:lstStyle/>
          <a:p>
            <a:r>
              <a:rPr lang="en-US" sz="2100" dirty="0">
                <a:latin typeface="Times New Roman" panose="02020603050405020304" pitchFamily="18" charset="0"/>
                <a:ea typeface="Calibri" pitchFamily="34" charset="-122"/>
                <a:cs typeface="Times New Roman" panose="02020603050405020304" pitchFamily="18" charset="0"/>
              </a:rPr>
              <a:t>Node A</a:t>
            </a:r>
            <a:endParaRPr lang="en-US" sz="2100" dirty="0">
              <a:latin typeface="Times New Roman" panose="02020603050405020304" pitchFamily="18" charset="0"/>
              <a:cs typeface="Times New Roman" panose="02020603050405020304" pitchFamily="18" charset="0"/>
            </a:endParaRPr>
          </a:p>
        </p:txBody>
      </p:sp>
      <p:sp>
        <p:nvSpPr>
          <p:cNvPr id="30" name="Text 28"/>
          <p:cNvSpPr/>
          <p:nvPr/>
        </p:nvSpPr>
        <p:spPr>
          <a:xfrm>
            <a:off x="11119104" y="2487168"/>
            <a:ext cx="2011680" cy="603504"/>
          </a:xfrm>
          <a:prstGeom prst="rect">
            <a:avLst/>
          </a:prstGeom>
          <a:noFill/>
          <a:ln/>
        </p:spPr>
        <p:txBody>
          <a:bodyPr wrap="square" rtlCol="0" anchor="ctr"/>
          <a:lstStyle/>
          <a:p>
            <a:r>
              <a:rPr lang="en-US" sz="2100" b="1" dirty="0">
                <a:latin typeface="Times New Roman" panose="02020603050405020304" pitchFamily="18" charset="0"/>
                <a:ea typeface="Calibri" pitchFamily="34" charset="-122"/>
                <a:cs typeface="Times New Roman" panose="02020603050405020304" pitchFamily="18" charset="0"/>
              </a:rPr>
              <a:t>e^0.5 = 1.648</a:t>
            </a:r>
            <a:endParaRPr lang="en-US" sz="2100" dirty="0">
              <a:latin typeface="Times New Roman" panose="02020603050405020304" pitchFamily="18" charset="0"/>
              <a:cs typeface="Times New Roman" panose="02020603050405020304" pitchFamily="18" charset="0"/>
            </a:endParaRPr>
          </a:p>
        </p:txBody>
      </p:sp>
      <p:sp>
        <p:nvSpPr>
          <p:cNvPr id="31" name="Shape 29"/>
          <p:cNvSpPr/>
          <p:nvPr/>
        </p:nvSpPr>
        <p:spPr>
          <a:xfrm>
            <a:off x="9509760" y="3145536"/>
            <a:ext cx="3657600" cy="603504"/>
          </a:xfrm>
          <a:prstGeom prst="rect">
            <a:avLst/>
          </a:prstGeom>
          <a:solidFill>
            <a:schemeClr val="tx1">
              <a:lumMod val="50000"/>
              <a:lumOff val="50000"/>
            </a:schemeClr>
          </a:solidFill>
          <a:ln w="12700">
            <a:solidFill>
              <a:srgbClr val="2D3561"/>
            </a:solidFill>
            <a:prstDash val="solid"/>
          </a:ln>
        </p:spPr>
        <p:txBody>
          <a:bodyPr/>
          <a:lstStyle/>
          <a:p>
            <a:endParaRPr lang="en-IN" sz="3600">
              <a:latin typeface="Times New Roman" panose="02020603050405020304" pitchFamily="18" charset="0"/>
              <a:cs typeface="Times New Roman" panose="02020603050405020304" pitchFamily="18" charset="0"/>
            </a:endParaRPr>
          </a:p>
        </p:txBody>
      </p:sp>
      <p:sp>
        <p:nvSpPr>
          <p:cNvPr id="32" name="Text 30"/>
          <p:cNvSpPr/>
          <p:nvPr/>
        </p:nvSpPr>
        <p:spPr>
          <a:xfrm>
            <a:off x="9601200" y="3145536"/>
            <a:ext cx="1554480" cy="603504"/>
          </a:xfrm>
          <a:prstGeom prst="rect">
            <a:avLst/>
          </a:prstGeom>
          <a:noFill/>
          <a:ln/>
        </p:spPr>
        <p:txBody>
          <a:bodyPr wrap="square" rtlCol="0" anchor="ctr"/>
          <a:lstStyle/>
          <a:p>
            <a:r>
              <a:rPr lang="en-US" sz="2100" dirty="0">
                <a:latin typeface="Times New Roman" panose="02020603050405020304" pitchFamily="18" charset="0"/>
                <a:ea typeface="Calibri" pitchFamily="34" charset="-122"/>
                <a:cs typeface="Times New Roman" panose="02020603050405020304" pitchFamily="18" charset="0"/>
              </a:rPr>
              <a:t>Node B</a:t>
            </a:r>
            <a:endParaRPr lang="en-US" sz="2100" dirty="0">
              <a:latin typeface="Times New Roman" panose="02020603050405020304" pitchFamily="18" charset="0"/>
              <a:cs typeface="Times New Roman" panose="02020603050405020304" pitchFamily="18" charset="0"/>
            </a:endParaRPr>
          </a:p>
        </p:txBody>
      </p:sp>
      <p:sp>
        <p:nvSpPr>
          <p:cNvPr id="33" name="Text 31"/>
          <p:cNvSpPr/>
          <p:nvPr/>
        </p:nvSpPr>
        <p:spPr>
          <a:xfrm>
            <a:off x="11119104" y="3145536"/>
            <a:ext cx="2011680" cy="603504"/>
          </a:xfrm>
          <a:prstGeom prst="rect">
            <a:avLst/>
          </a:prstGeom>
          <a:noFill/>
          <a:ln/>
        </p:spPr>
        <p:txBody>
          <a:bodyPr wrap="square" rtlCol="0" anchor="ctr"/>
          <a:lstStyle/>
          <a:p>
            <a:r>
              <a:rPr lang="en-US" sz="2100" b="1" dirty="0">
                <a:latin typeface="Times New Roman" panose="02020603050405020304" pitchFamily="18" charset="0"/>
                <a:ea typeface="Calibri" pitchFamily="34" charset="-122"/>
                <a:cs typeface="Times New Roman" panose="02020603050405020304" pitchFamily="18" charset="0"/>
              </a:rPr>
              <a:t>e^0.5 = 1.648</a:t>
            </a:r>
            <a:endParaRPr lang="en-US" sz="2100" dirty="0">
              <a:latin typeface="Times New Roman" panose="02020603050405020304" pitchFamily="18" charset="0"/>
              <a:cs typeface="Times New Roman" panose="02020603050405020304" pitchFamily="18" charset="0"/>
            </a:endParaRPr>
          </a:p>
        </p:txBody>
      </p:sp>
      <p:sp>
        <p:nvSpPr>
          <p:cNvPr id="34" name="Shape 32"/>
          <p:cNvSpPr/>
          <p:nvPr/>
        </p:nvSpPr>
        <p:spPr>
          <a:xfrm>
            <a:off x="13533120" y="2487168"/>
            <a:ext cx="3657600" cy="603504"/>
          </a:xfrm>
          <a:prstGeom prst="rect">
            <a:avLst/>
          </a:prstGeom>
          <a:solidFill>
            <a:schemeClr val="tx1">
              <a:lumMod val="50000"/>
              <a:lumOff val="50000"/>
            </a:schemeClr>
          </a:solidFill>
          <a:ln w="12700">
            <a:solidFill>
              <a:srgbClr val="2D3561"/>
            </a:solidFill>
            <a:prstDash val="solid"/>
          </a:ln>
        </p:spPr>
        <p:txBody>
          <a:bodyPr/>
          <a:lstStyle/>
          <a:p>
            <a:endParaRPr lang="en-IN" sz="3600">
              <a:latin typeface="Times New Roman" panose="02020603050405020304" pitchFamily="18" charset="0"/>
              <a:cs typeface="Times New Roman" panose="02020603050405020304" pitchFamily="18" charset="0"/>
            </a:endParaRPr>
          </a:p>
        </p:txBody>
      </p:sp>
      <p:sp>
        <p:nvSpPr>
          <p:cNvPr id="35" name="Text 33"/>
          <p:cNvSpPr/>
          <p:nvPr/>
        </p:nvSpPr>
        <p:spPr>
          <a:xfrm>
            <a:off x="13624560" y="2487168"/>
            <a:ext cx="1554480" cy="603504"/>
          </a:xfrm>
          <a:prstGeom prst="rect">
            <a:avLst/>
          </a:prstGeom>
          <a:noFill/>
          <a:ln/>
        </p:spPr>
        <p:txBody>
          <a:bodyPr wrap="square" rtlCol="0" anchor="ctr"/>
          <a:lstStyle/>
          <a:p>
            <a:r>
              <a:rPr lang="en-US" sz="2100" dirty="0">
                <a:latin typeface="Times New Roman" panose="02020603050405020304" pitchFamily="18" charset="0"/>
                <a:ea typeface="Calibri" pitchFamily="34" charset="-122"/>
                <a:cs typeface="Times New Roman" panose="02020603050405020304" pitchFamily="18" charset="0"/>
              </a:rPr>
              <a:t>Node C</a:t>
            </a:r>
            <a:endParaRPr lang="en-US" sz="2100" dirty="0">
              <a:latin typeface="Times New Roman" panose="02020603050405020304" pitchFamily="18" charset="0"/>
              <a:cs typeface="Times New Roman" panose="02020603050405020304" pitchFamily="18" charset="0"/>
            </a:endParaRPr>
          </a:p>
        </p:txBody>
      </p:sp>
      <p:sp>
        <p:nvSpPr>
          <p:cNvPr id="36" name="Text 34"/>
          <p:cNvSpPr/>
          <p:nvPr/>
        </p:nvSpPr>
        <p:spPr>
          <a:xfrm>
            <a:off x="15142464" y="2487168"/>
            <a:ext cx="2011680" cy="603504"/>
          </a:xfrm>
          <a:prstGeom prst="rect">
            <a:avLst/>
          </a:prstGeom>
          <a:noFill/>
          <a:ln/>
        </p:spPr>
        <p:txBody>
          <a:bodyPr wrap="square" rtlCol="0" anchor="ctr"/>
          <a:lstStyle/>
          <a:p>
            <a:r>
              <a:rPr lang="en-US" sz="2100" b="1" dirty="0">
                <a:latin typeface="Times New Roman" panose="02020603050405020304" pitchFamily="18" charset="0"/>
                <a:ea typeface="Calibri" pitchFamily="34" charset="-122"/>
                <a:cs typeface="Times New Roman" panose="02020603050405020304" pitchFamily="18" charset="0"/>
              </a:rPr>
              <a:t>e^−0.5 = 0.606</a:t>
            </a:r>
            <a:endParaRPr lang="en-US" sz="2100" dirty="0">
              <a:latin typeface="Times New Roman" panose="02020603050405020304" pitchFamily="18" charset="0"/>
              <a:cs typeface="Times New Roman" panose="02020603050405020304" pitchFamily="18" charset="0"/>
            </a:endParaRPr>
          </a:p>
        </p:txBody>
      </p:sp>
      <p:sp>
        <p:nvSpPr>
          <p:cNvPr id="37" name="Shape 35"/>
          <p:cNvSpPr/>
          <p:nvPr/>
        </p:nvSpPr>
        <p:spPr>
          <a:xfrm>
            <a:off x="13533120" y="3145536"/>
            <a:ext cx="3657600" cy="603504"/>
          </a:xfrm>
          <a:prstGeom prst="rect">
            <a:avLst/>
          </a:prstGeom>
          <a:solidFill>
            <a:schemeClr val="tx1">
              <a:lumMod val="50000"/>
              <a:lumOff val="50000"/>
            </a:schemeClr>
          </a:solidFill>
          <a:ln w="12700">
            <a:solidFill>
              <a:srgbClr val="2D3561"/>
            </a:solidFill>
            <a:prstDash val="solid"/>
          </a:ln>
        </p:spPr>
        <p:txBody>
          <a:bodyPr/>
          <a:lstStyle/>
          <a:p>
            <a:endParaRPr lang="en-IN" sz="3600">
              <a:latin typeface="Times New Roman" panose="02020603050405020304" pitchFamily="18" charset="0"/>
              <a:cs typeface="Times New Roman" panose="02020603050405020304" pitchFamily="18" charset="0"/>
            </a:endParaRPr>
          </a:p>
        </p:txBody>
      </p:sp>
      <p:sp>
        <p:nvSpPr>
          <p:cNvPr id="38" name="Text 36"/>
          <p:cNvSpPr/>
          <p:nvPr/>
        </p:nvSpPr>
        <p:spPr>
          <a:xfrm>
            <a:off x="13624560" y="3145536"/>
            <a:ext cx="1554480" cy="603504"/>
          </a:xfrm>
          <a:prstGeom prst="rect">
            <a:avLst/>
          </a:prstGeom>
          <a:noFill/>
          <a:ln/>
        </p:spPr>
        <p:txBody>
          <a:bodyPr wrap="square" rtlCol="0" anchor="ctr"/>
          <a:lstStyle/>
          <a:p>
            <a:r>
              <a:rPr lang="en-US" sz="2100" dirty="0">
                <a:latin typeface="Times New Roman" panose="02020603050405020304" pitchFamily="18" charset="0"/>
                <a:ea typeface="Calibri" pitchFamily="34" charset="-122"/>
                <a:cs typeface="Times New Roman" panose="02020603050405020304" pitchFamily="18" charset="0"/>
              </a:rPr>
              <a:t>Node D</a:t>
            </a:r>
            <a:endParaRPr lang="en-US" sz="2100" dirty="0">
              <a:latin typeface="Times New Roman" panose="02020603050405020304" pitchFamily="18" charset="0"/>
              <a:cs typeface="Times New Roman" panose="02020603050405020304" pitchFamily="18" charset="0"/>
            </a:endParaRPr>
          </a:p>
        </p:txBody>
      </p:sp>
      <p:sp>
        <p:nvSpPr>
          <p:cNvPr id="39" name="Text 37"/>
          <p:cNvSpPr/>
          <p:nvPr/>
        </p:nvSpPr>
        <p:spPr>
          <a:xfrm>
            <a:off x="15142464" y="3145536"/>
            <a:ext cx="2011680" cy="603504"/>
          </a:xfrm>
          <a:prstGeom prst="rect">
            <a:avLst/>
          </a:prstGeom>
          <a:noFill/>
          <a:ln/>
        </p:spPr>
        <p:txBody>
          <a:bodyPr wrap="square" rtlCol="0" anchor="ctr"/>
          <a:lstStyle/>
          <a:p>
            <a:r>
              <a:rPr lang="en-US" sz="2100" b="1" dirty="0">
                <a:latin typeface="Times New Roman" panose="02020603050405020304" pitchFamily="18" charset="0"/>
                <a:ea typeface="Calibri" pitchFamily="34" charset="-122"/>
                <a:cs typeface="Times New Roman" panose="02020603050405020304" pitchFamily="18" charset="0"/>
              </a:rPr>
              <a:t>e^0.5 = 1.648</a:t>
            </a:r>
            <a:endParaRPr lang="en-US" sz="2100" dirty="0">
              <a:latin typeface="Times New Roman" panose="02020603050405020304" pitchFamily="18" charset="0"/>
              <a:cs typeface="Times New Roman" panose="02020603050405020304" pitchFamily="18" charset="0"/>
            </a:endParaRPr>
          </a:p>
        </p:txBody>
      </p:sp>
      <p:sp>
        <p:nvSpPr>
          <p:cNvPr id="40" name="Text 38"/>
          <p:cNvSpPr/>
          <p:nvPr/>
        </p:nvSpPr>
        <p:spPr>
          <a:xfrm>
            <a:off x="9509760" y="3877056"/>
            <a:ext cx="8138160" cy="585216"/>
          </a:xfrm>
          <a:prstGeom prst="rect">
            <a:avLst/>
          </a:prstGeom>
          <a:noFill/>
          <a:ln/>
        </p:spPr>
        <p:txBody>
          <a:bodyPr wrap="square" rtlCol="0" anchor="ctr"/>
          <a:lstStyle/>
          <a:p>
            <a:pPr algn="ctr"/>
            <a:r>
              <a:rPr lang="en-US" sz="2100" b="1" dirty="0">
                <a:latin typeface="Times New Roman" panose="02020603050405020304" pitchFamily="18" charset="0"/>
                <a:ea typeface="Calibri" pitchFamily="34" charset="-122"/>
                <a:cs typeface="Times New Roman" panose="02020603050405020304" pitchFamily="18" charset="0"/>
              </a:rPr>
              <a:t>Denominator Σ = 1.648 + 1.648 + 0.606 + 1.648 = 5.550</a:t>
            </a:r>
            <a:endParaRPr lang="en-US" sz="2100" dirty="0">
              <a:latin typeface="Times New Roman" panose="02020603050405020304" pitchFamily="18" charset="0"/>
              <a:cs typeface="Times New Roman" panose="02020603050405020304" pitchFamily="18" charset="0"/>
            </a:endParaRPr>
          </a:p>
        </p:txBody>
      </p:sp>
      <p:sp>
        <p:nvSpPr>
          <p:cNvPr id="41" name="Shape 39"/>
          <p:cNvSpPr/>
          <p:nvPr/>
        </p:nvSpPr>
        <p:spPr>
          <a:xfrm>
            <a:off x="9326880" y="5669280"/>
            <a:ext cx="4023360" cy="4297680"/>
          </a:xfrm>
          <a:prstGeom prst="roundRect">
            <a:avLst>
              <a:gd name="adj" fmla="val 5455"/>
            </a:avLst>
          </a:prstGeom>
          <a:solidFill>
            <a:schemeClr val="bg2">
              <a:lumMod val="75000"/>
            </a:schemeClr>
          </a:solidFill>
          <a:ln w="19050">
            <a:solidFill>
              <a:srgbClr val="5EC48A"/>
            </a:solidFill>
            <a:prstDash val="solid"/>
          </a:ln>
          <a:effectLst>
            <a:outerShdw blurRad="101600" dist="38100" dir="2700000" algn="bl" rotWithShape="0">
              <a:srgbClr val="000000">
                <a:alpha val="30000"/>
              </a:srgbClr>
            </a:outerShdw>
          </a:effectLst>
        </p:spPr>
        <p:txBody>
          <a:bodyPr/>
          <a:lstStyle/>
          <a:p>
            <a:endParaRPr lang="en-IN" sz="3600">
              <a:latin typeface="Times New Roman" panose="02020603050405020304" pitchFamily="18" charset="0"/>
              <a:cs typeface="Times New Roman" panose="02020603050405020304" pitchFamily="18" charset="0"/>
            </a:endParaRPr>
          </a:p>
        </p:txBody>
      </p:sp>
      <p:sp>
        <p:nvSpPr>
          <p:cNvPr id="42" name="Text 40"/>
          <p:cNvSpPr/>
          <p:nvPr/>
        </p:nvSpPr>
        <p:spPr>
          <a:xfrm>
            <a:off x="9509760" y="5760720"/>
            <a:ext cx="3657600" cy="1005840"/>
          </a:xfrm>
          <a:prstGeom prst="rect">
            <a:avLst/>
          </a:prstGeom>
          <a:noFill/>
          <a:ln/>
        </p:spPr>
        <p:txBody>
          <a:bodyPr wrap="square" rtlCol="0" anchor="ctr"/>
          <a:lstStyle/>
          <a:p>
            <a:pPr algn="ctr"/>
            <a:r>
              <a:rPr lang="en-US" sz="2200" b="1" dirty="0">
                <a:latin typeface="Times New Roman" panose="02020603050405020304" pitchFamily="18" charset="0"/>
                <a:ea typeface="Calibri" pitchFamily="34" charset="-122"/>
                <a:cs typeface="Times New Roman" panose="02020603050405020304" pitchFamily="18" charset="0"/>
              </a:rPr>
              <a:t>Step 7</a:t>
            </a:r>
            <a:endParaRPr lang="en-US" sz="2200" dirty="0">
              <a:latin typeface="Times New Roman" panose="02020603050405020304" pitchFamily="18" charset="0"/>
              <a:cs typeface="Times New Roman" panose="02020603050405020304" pitchFamily="18" charset="0"/>
            </a:endParaRPr>
          </a:p>
          <a:p>
            <a:pPr algn="ctr"/>
            <a:r>
              <a:rPr lang="en-US" sz="2200" b="1" dirty="0">
                <a:latin typeface="Times New Roman" panose="02020603050405020304" pitchFamily="18" charset="0"/>
                <a:ea typeface="Calibri" pitchFamily="34" charset="-122"/>
                <a:cs typeface="Times New Roman" panose="02020603050405020304" pitchFamily="18" charset="0"/>
              </a:rPr>
              <a:t>Probability</a:t>
            </a:r>
            <a:endParaRPr lang="en-US" sz="2200" dirty="0">
              <a:latin typeface="Times New Roman" panose="02020603050405020304" pitchFamily="18" charset="0"/>
              <a:cs typeface="Times New Roman" panose="02020603050405020304" pitchFamily="18" charset="0"/>
            </a:endParaRPr>
          </a:p>
        </p:txBody>
      </p:sp>
      <p:sp>
        <p:nvSpPr>
          <p:cNvPr id="43" name="Shape 41"/>
          <p:cNvSpPr/>
          <p:nvPr/>
        </p:nvSpPr>
        <p:spPr>
          <a:xfrm>
            <a:off x="9601200" y="6894576"/>
            <a:ext cx="3383280" cy="1005840"/>
          </a:xfrm>
          <a:prstGeom prst="roundRect">
            <a:avLst>
              <a:gd name="adj" fmla="val 12727"/>
            </a:avLst>
          </a:prstGeom>
          <a:solidFill>
            <a:schemeClr val="tx1">
              <a:lumMod val="65000"/>
              <a:lumOff val="35000"/>
            </a:schemeClr>
          </a:solidFill>
          <a:ln w="12700">
            <a:solidFill>
              <a:srgbClr val="5EC48A"/>
            </a:solidFill>
            <a:prstDash val="solid"/>
          </a:ln>
        </p:spPr>
        <p:txBody>
          <a:bodyPr/>
          <a:lstStyle/>
          <a:p>
            <a:endParaRPr lang="en-IN" sz="3600">
              <a:latin typeface="Times New Roman" panose="02020603050405020304" pitchFamily="18" charset="0"/>
              <a:cs typeface="Times New Roman" panose="02020603050405020304" pitchFamily="18" charset="0"/>
            </a:endParaRPr>
          </a:p>
        </p:txBody>
      </p:sp>
      <p:sp>
        <p:nvSpPr>
          <p:cNvPr id="44" name="Text 42"/>
          <p:cNvSpPr/>
          <p:nvPr/>
        </p:nvSpPr>
        <p:spPr>
          <a:xfrm>
            <a:off x="9601200" y="6894576"/>
            <a:ext cx="3383280" cy="1005840"/>
          </a:xfrm>
          <a:prstGeom prst="rect">
            <a:avLst/>
          </a:prstGeom>
          <a:noFill/>
          <a:ln/>
        </p:spPr>
        <p:txBody>
          <a:bodyPr wrap="square" rtlCol="0" anchor="ctr"/>
          <a:lstStyle/>
          <a:p>
            <a:pPr algn="ctr"/>
            <a:r>
              <a:rPr lang="en-US" sz="2000" i="1" dirty="0">
                <a:latin typeface="Times New Roman" panose="02020603050405020304" pitchFamily="18" charset="0"/>
                <a:ea typeface="Calibri" pitchFamily="34" charset="-122"/>
                <a:cs typeface="Times New Roman" panose="02020603050405020304" pitchFamily="18" charset="0"/>
              </a:rPr>
              <a:t>p(A | D) = 1.648 / 5.550</a:t>
            </a:r>
            <a:endParaRPr lang="en-US" sz="2000" dirty="0">
              <a:latin typeface="Times New Roman" panose="02020603050405020304" pitchFamily="18" charset="0"/>
              <a:cs typeface="Times New Roman" panose="02020603050405020304" pitchFamily="18" charset="0"/>
            </a:endParaRPr>
          </a:p>
        </p:txBody>
      </p:sp>
      <p:sp>
        <p:nvSpPr>
          <p:cNvPr id="45" name="Text 43"/>
          <p:cNvSpPr/>
          <p:nvPr/>
        </p:nvSpPr>
        <p:spPr>
          <a:xfrm>
            <a:off x="9509760" y="8010144"/>
            <a:ext cx="3657600" cy="731520"/>
          </a:xfrm>
          <a:prstGeom prst="rect">
            <a:avLst/>
          </a:prstGeom>
          <a:noFill/>
          <a:ln/>
        </p:spPr>
        <p:txBody>
          <a:bodyPr wrap="square" rtlCol="0" anchor="ctr"/>
          <a:lstStyle/>
          <a:p>
            <a:pPr algn="ctr"/>
            <a:r>
              <a:rPr lang="en-US" sz="5200" b="1" dirty="0">
                <a:latin typeface="Times New Roman" panose="02020603050405020304" pitchFamily="18" charset="0"/>
                <a:ea typeface="Cambria" pitchFamily="34" charset="-122"/>
                <a:cs typeface="Times New Roman" panose="02020603050405020304" pitchFamily="18" charset="0"/>
              </a:rPr>
              <a:t>= 0.297</a:t>
            </a:r>
            <a:endParaRPr lang="en-US" sz="5200" dirty="0">
              <a:latin typeface="Times New Roman" panose="02020603050405020304" pitchFamily="18" charset="0"/>
              <a:cs typeface="Times New Roman" panose="02020603050405020304" pitchFamily="18" charset="0"/>
            </a:endParaRPr>
          </a:p>
        </p:txBody>
      </p:sp>
      <p:sp>
        <p:nvSpPr>
          <p:cNvPr id="46" name="Text 44"/>
          <p:cNvSpPr/>
          <p:nvPr/>
        </p:nvSpPr>
        <p:spPr>
          <a:xfrm>
            <a:off x="9509760" y="8650224"/>
            <a:ext cx="3657600" cy="548640"/>
          </a:xfrm>
          <a:prstGeom prst="rect">
            <a:avLst/>
          </a:prstGeom>
          <a:noFill/>
          <a:ln/>
        </p:spPr>
        <p:txBody>
          <a:bodyPr wrap="square" rtlCol="0" anchor="ctr"/>
          <a:lstStyle/>
          <a:p>
            <a:pPr algn="ctr"/>
            <a:r>
              <a:rPr lang="en-US" sz="2600" b="1" dirty="0">
                <a:latin typeface="Times New Roman" panose="02020603050405020304" pitchFamily="18" charset="0"/>
                <a:ea typeface="Calibri" pitchFamily="34" charset="-122"/>
                <a:cs typeface="Times New Roman" panose="02020603050405020304" pitchFamily="18" charset="0"/>
              </a:rPr>
              <a:t>29.7%</a:t>
            </a:r>
            <a:endParaRPr lang="en-US" sz="2600" dirty="0">
              <a:latin typeface="Times New Roman" panose="02020603050405020304" pitchFamily="18" charset="0"/>
              <a:cs typeface="Times New Roman" panose="02020603050405020304" pitchFamily="18" charset="0"/>
            </a:endParaRPr>
          </a:p>
        </p:txBody>
      </p:sp>
      <p:sp>
        <p:nvSpPr>
          <p:cNvPr id="47" name="Shape 45"/>
          <p:cNvSpPr/>
          <p:nvPr/>
        </p:nvSpPr>
        <p:spPr>
          <a:xfrm>
            <a:off x="13807440" y="5669280"/>
            <a:ext cx="4023360" cy="4297680"/>
          </a:xfrm>
          <a:prstGeom prst="roundRect">
            <a:avLst>
              <a:gd name="adj" fmla="val 5455"/>
            </a:avLst>
          </a:prstGeom>
          <a:solidFill>
            <a:schemeClr val="bg2">
              <a:lumMod val="75000"/>
            </a:schemeClr>
          </a:solidFill>
          <a:ln w="19050">
            <a:solidFill>
              <a:srgbClr val="E07070"/>
            </a:solidFill>
            <a:prstDash val="solid"/>
          </a:ln>
          <a:effectLst>
            <a:outerShdw blurRad="101600" dist="38100" dir="2700000" algn="bl" rotWithShape="0">
              <a:srgbClr val="000000">
                <a:alpha val="30000"/>
              </a:srgbClr>
            </a:outerShdw>
          </a:effectLst>
        </p:spPr>
        <p:txBody>
          <a:bodyPr/>
          <a:lstStyle/>
          <a:p>
            <a:endParaRPr lang="en-IN" sz="3600">
              <a:latin typeface="Times New Roman" panose="02020603050405020304" pitchFamily="18" charset="0"/>
              <a:cs typeface="Times New Roman" panose="02020603050405020304" pitchFamily="18" charset="0"/>
            </a:endParaRPr>
          </a:p>
        </p:txBody>
      </p:sp>
      <p:sp>
        <p:nvSpPr>
          <p:cNvPr id="48" name="Text 46"/>
          <p:cNvSpPr/>
          <p:nvPr/>
        </p:nvSpPr>
        <p:spPr>
          <a:xfrm>
            <a:off x="13990320" y="5760720"/>
            <a:ext cx="3657600" cy="1005840"/>
          </a:xfrm>
          <a:prstGeom prst="rect">
            <a:avLst/>
          </a:prstGeom>
          <a:noFill/>
          <a:ln/>
        </p:spPr>
        <p:txBody>
          <a:bodyPr wrap="square" rtlCol="0" anchor="ctr"/>
          <a:lstStyle/>
          <a:p>
            <a:pPr algn="ctr"/>
            <a:r>
              <a:rPr lang="en-US" sz="2200" b="1" dirty="0">
                <a:latin typeface="Times New Roman" panose="02020603050405020304" pitchFamily="18" charset="0"/>
                <a:ea typeface="Calibri" pitchFamily="34" charset="-122"/>
                <a:cs typeface="Times New Roman" panose="02020603050405020304" pitchFamily="18" charset="0"/>
              </a:rPr>
              <a:t>Step 8</a:t>
            </a:r>
            <a:endParaRPr lang="en-US" sz="2200" dirty="0">
              <a:latin typeface="Times New Roman" panose="02020603050405020304" pitchFamily="18" charset="0"/>
              <a:cs typeface="Times New Roman" panose="02020603050405020304" pitchFamily="18" charset="0"/>
            </a:endParaRPr>
          </a:p>
          <a:p>
            <a:pPr algn="ctr"/>
            <a:r>
              <a:rPr lang="en-US" sz="2200" b="1" dirty="0">
                <a:latin typeface="Times New Roman" panose="02020603050405020304" pitchFamily="18" charset="0"/>
                <a:ea typeface="Calibri" pitchFamily="34" charset="-122"/>
                <a:cs typeface="Times New Roman" panose="02020603050405020304" pitchFamily="18" charset="0"/>
              </a:rPr>
              <a:t>Cross-Entropy Loss</a:t>
            </a:r>
            <a:endParaRPr lang="en-US" sz="2200" dirty="0">
              <a:latin typeface="Times New Roman" panose="02020603050405020304" pitchFamily="18" charset="0"/>
              <a:cs typeface="Times New Roman" panose="02020603050405020304" pitchFamily="18" charset="0"/>
            </a:endParaRPr>
          </a:p>
        </p:txBody>
      </p:sp>
      <p:sp>
        <p:nvSpPr>
          <p:cNvPr id="49" name="Shape 47"/>
          <p:cNvSpPr/>
          <p:nvPr/>
        </p:nvSpPr>
        <p:spPr>
          <a:xfrm>
            <a:off x="14081760" y="6894576"/>
            <a:ext cx="3383280" cy="1005840"/>
          </a:xfrm>
          <a:prstGeom prst="roundRect">
            <a:avLst>
              <a:gd name="adj" fmla="val 12727"/>
            </a:avLst>
          </a:prstGeom>
          <a:solidFill>
            <a:schemeClr val="tx1">
              <a:lumMod val="65000"/>
              <a:lumOff val="35000"/>
            </a:schemeClr>
          </a:solidFill>
          <a:ln w="12700">
            <a:solidFill>
              <a:srgbClr val="E07070"/>
            </a:solidFill>
            <a:prstDash val="solid"/>
          </a:ln>
        </p:spPr>
        <p:txBody>
          <a:bodyPr/>
          <a:lstStyle/>
          <a:p>
            <a:endParaRPr lang="en-IN" sz="3600">
              <a:latin typeface="Times New Roman" panose="02020603050405020304" pitchFamily="18" charset="0"/>
              <a:cs typeface="Times New Roman" panose="02020603050405020304" pitchFamily="18" charset="0"/>
            </a:endParaRPr>
          </a:p>
        </p:txBody>
      </p:sp>
      <p:sp>
        <p:nvSpPr>
          <p:cNvPr id="50" name="Text 48"/>
          <p:cNvSpPr/>
          <p:nvPr/>
        </p:nvSpPr>
        <p:spPr>
          <a:xfrm>
            <a:off x="14081760" y="6894576"/>
            <a:ext cx="3383280" cy="1005840"/>
          </a:xfrm>
          <a:prstGeom prst="rect">
            <a:avLst/>
          </a:prstGeom>
          <a:noFill/>
          <a:ln/>
        </p:spPr>
        <p:txBody>
          <a:bodyPr wrap="square" rtlCol="0" anchor="ctr"/>
          <a:lstStyle/>
          <a:p>
            <a:pPr algn="ctr"/>
            <a:r>
              <a:rPr lang="en-US" sz="2200" i="1" dirty="0">
                <a:latin typeface="Times New Roman" panose="02020603050405020304" pitchFamily="18" charset="0"/>
                <a:ea typeface="Cambria" pitchFamily="34" charset="-122"/>
                <a:cs typeface="Times New Roman" panose="02020603050405020304" pitchFamily="18" charset="0"/>
              </a:rPr>
              <a:t>L = − log(0.297)</a:t>
            </a:r>
            <a:endParaRPr lang="en-US" sz="2200" dirty="0">
              <a:latin typeface="Times New Roman" panose="02020603050405020304" pitchFamily="18" charset="0"/>
              <a:cs typeface="Times New Roman" panose="02020603050405020304" pitchFamily="18" charset="0"/>
            </a:endParaRPr>
          </a:p>
        </p:txBody>
      </p:sp>
      <p:sp>
        <p:nvSpPr>
          <p:cNvPr id="51" name="Text 49"/>
          <p:cNvSpPr/>
          <p:nvPr/>
        </p:nvSpPr>
        <p:spPr>
          <a:xfrm>
            <a:off x="13990320" y="8010144"/>
            <a:ext cx="3657600" cy="731520"/>
          </a:xfrm>
          <a:prstGeom prst="rect">
            <a:avLst/>
          </a:prstGeom>
          <a:noFill/>
          <a:ln/>
        </p:spPr>
        <p:txBody>
          <a:bodyPr wrap="square" rtlCol="0" anchor="ctr"/>
          <a:lstStyle/>
          <a:p>
            <a:pPr algn="ctr"/>
            <a:r>
              <a:rPr lang="en-US" sz="5200" b="1" dirty="0">
                <a:latin typeface="Times New Roman" panose="02020603050405020304" pitchFamily="18" charset="0"/>
                <a:ea typeface="Cambria" pitchFamily="34" charset="-122"/>
                <a:cs typeface="Times New Roman" panose="02020603050405020304" pitchFamily="18" charset="0"/>
              </a:rPr>
              <a:t>= 1.214</a:t>
            </a:r>
            <a:endParaRPr lang="en-US" sz="5200" dirty="0">
              <a:latin typeface="Times New Roman" panose="02020603050405020304" pitchFamily="18" charset="0"/>
              <a:cs typeface="Times New Roman" panose="02020603050405020304" pitchFamily="18" charset="0"/>
            </a:endParaRPr>
          </a:p>
        </p:txBody>
      </p:sp>
      <p:sp>
        <p:nvSpPr>
          <p:cNvPr id="52" name="Text 50"/>
          <p:cNvSpPr/>
          <p:nvPr/>
        </p:nvSpPr>
        <p:spPr>
          <a:xfrm>
            <a:off x="13990320" y="8650224"/>
            <a:ext cx="3657600" cy="548640"/>
          </a:xfrm>
          <a:prstGeom prst="rect">
            <a:avLst/>
          </a:prstGeom>
          <a:noFill/>
          <a:ln/>
        </p:spPr>
        <p:txBody>
          <a:bodyPr wrap="square" rtlCol="0" anchor="ctr"/>
          <a:lstStyle/>
          <a:p>
            <a:pPr algn="ctr"/>
            <a:r>
              <a:rPr lang="en-US" sz="2000" i="1" dirty="0">
                <a:latin typeface="Times New Roman" panose="02020603050405020304" pitchFamily="18" charset="0"/>
                <a:ea typeface="Calibri" pitchFamily="34" charset="-122"/>
                <a:cs typeface="Times New Roman" panose="02020603050405020304" pitchFamily="18" charset="0"/>
              </a:rPr>
              <a:t>target: p(A|D) → 1.0</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371600"/>
          </a:xfrm>
          <a:prstGeom prst="rect">
            <a:avLst/>
          </a:prstGeom>
          <a:solidFill>
            <a:schemeClr val="bg1"/>
          </a:solidFill>
          <a:ln w="12700">
            <a:solidFill>
              <a:srgbClr val="2D3561"/>
            </a:solidFill>
            <a:prstDash val="solid"/>
          </a:ln>
        </p:spPr>
        <p:txBody>
          <a:bodyPr/>
          <a:lstStyle/>
          <a:p>
            <a:endParaRPr lang="en-IN" sz="3600">
              <a:latin typeface="Times New Roman" panose="02020603050405020304" pitchFamily="18" charset="0"/>
              <a:cs typeface="Times New Roman" panose="02020603050405020304" pitchFamily="18" charset="0"/>
            </a:endParaRPr>
          </a:p>
        </p:txBody>
      </p:sp>
      <p:sp>
        <p:nvSpPr>
          <p:cNvPr id="3" name="Text 1"/>
          <p:cNvSpPr/>
          <p:nvPr/>
        </p:nvSpPr>
        <p:spPr>
          <a:xfrm>
            <a:off x="548640" y="0"/>
            <a:ext cx="17190720" cy="1371600"/>
          </a:xfrm>
          <a:prstGeom prst="rect">
            <a:avLst/>
          </a:prstGeom>
          <a:noFill/>
          <a:ln/>
        </p:spPr>
        <p:txBody>
          <a:bodyPr wrap="square" rtlCol="0" anchor="ctr"/>
          <a:lstStyle/>
          <a:p>
            <a:r>
              <a:rPr lang="en-US" sz="4400" b="1" dirty="0">
                <a:latin typeface="Times New Roman" panose="02020603050405020304" pitchFamily="18" charset="0"/>
                <a:ea typeface="Cambria" pitchFamily="34" charset="-122"/>
                <a:cs typeface="Times New Roman" panose="02020603050405020304" pitchFamily="18" charset="0"/>
              </a:rPr>
              <a:t>DeepWalk – Worked Example  |  Step 9  (SGD Update &amp; Geometry)</a:t>
            </a:r>
            <a:endParaRPr lang="en-US" sz="4400" dirty="0">
              <a:latin typeface="Times New Roman" panose="02020603050405020304" pitchFamily="18" charset="0"/>
              <a:cs typeface="Times New Roman" panose="02020603050405020304" pitchFamily="18" charset="0"/>
            </a:endParaRPr>
          </a:p>
        </p:txBody>
      </p:sp>
      <p:sp>
        <p:nvSpPr>
          <p:cNvPr id="4" name="Shape 2"/>
          <p:cNvSpPr/>
          <p:nvPr/>
        </p:nvSpPr>
        <p:spPr>
          <a:xfrm>
            <a:off x="457200" y="1554480"/>
            <a:ext cx="8321040" cy="8412480"/>
          </a:xfrm>
          <a:prstGeom prst="roundRect">
            <a:avLst>
              <a:gd name="adj" fmla="val 2637"/>
            </a:avLst>
          </a:prstGeom>
          <a:solidFill>
            <a:schemeClr val="bg2">
              <a:lumMod val="75000"/>
            </a:schemeClr>
          </a:solidFill>
          <a:ln w="15240">
            <a:solidFill>
              <a:srgbClr val="4A90D9"/>
            </a:solidFill>
            <a:prstDash val="solid"/>
          </a:ln>
          <a:effectLst>
            <a:outerShdw blurRad="101600" dist="38100" dir="2700000" algn="bl" rotWithShape="0">
              <a:srgbClr val="000000">
                <a:alpha val="30000"/>
              </a:srgbClr>
            </a:outerShdw>
          </a:effectLst>
        </p:spPr>
        <p:txBody>
          <a:bodyPr/>
          <a:lstStyle/>
          <a:p>
            <a:endParaRPr lang="en-IN" sz="3600">
              <a:latin typeface="Times New Roman" panose="02020603050405020304" pitchFamily="18" charset="0"/>
              <a:cs typeface="Times New Roman" panose="02020603050405020304" pitchFamily="18" charset="0"/>
            </a:endParaRPr>
          </a:p>
        </p:txBody>
      </p:sp>
      <p:sp>
        <p:nvSpPr>
          <p:cNvPr id="5" name="Text 3"/>
          <p:cNvSpPr/>
          <p:nvPr/>
        </p:nvSpPr>
        <p:spPr>
          <a:xfrm>
            <a:off x="694944" y="1645920"/>
            <a:ext cx="7863840" cy="694944"/>
          </a:xfrm>
          <a:prstGeom prst="rect">
            <a:avLst/>
          </a:prstGeom>
          <a:noFill/>
          <a:ln/>
        </p:spPr>
        <p:txBody>
          <a:bodyPr wrap="square" rtlCol="0" anchor="ctr"/>
          <a:lstStyle/>
          <a:p>
            <a:pPr algn="ctr"/>
            <a:r>
              <a:rPr lang="en-US" sz="2600" b="1" dirty="0">
                <a:latin typeface="Times New Roman" panose="02020603050405020304" pitchFamily="18" charset="0"/>
                <a:ea typeface="Calibri" pitchFamily="34" charset="-122"/>
                <a:cs typeface="Times New Roman" panose="02020603050405020304" pitchFamily="18" charset="0"/>
              </a:rPr>
              <a:t>Step 9 — SGD Embedding Update</a:t>
            </a:r>
            <a:endParaRPr lang="en-US" sz="2600" dirty="0">
              <a:latin typeface="Times New Roman" panose="02020603050405020304" pitchFamily="18" charset="0"/>
              <a:cs typeface="Times New Roman" panose="02020603050405020304" pitchFamily="18" charset="0"/>
            </a:endParaRPr>
          </a:p>
        </p:txBody>
      </p:sp>
      <p:sp>
        <p:nvSpPr>
          <p:cNvPr id="6" name="Shape 4"/>
          <p:cNvSpPr/>
          <p:nvPr/>
        </p:nvSpPr>
        <p:spPr>
          <a:xfrm>
            <a:off x="768096" y="2468880"/>
            <a:ext cx="7717536" cy="1060704"/>
          </a:xfrm>
          <a:prstGeom prst="roundRect">
            <a:avLst>
              <a:gd name="adj" fmla="val 13793"/>
            </a:avLst>
          </a:prstGeom>
          <a:solidFill>
            <a:schemeClr val="tx1">
              <a:lumMod val="65000"/>
              <a:lumOff val="35000"/>
            </a:schemeClr>
          </a:solidFill>
          <a:ln w="12700">
            <a:solidFill>
              <a:srgbClr val="4A90D9"/>
            </a:solidFill>
            <a:prstDash val="solid"/>
          </a:ln>
        </p:spPr>
        <p:txBody>
          <a:bodyPr/>
          <a:lstStyle/>
          <a:p>
            <a:endParaRPr lang="en-IN" sz="3600">
              <a:latin typeface="Times New Roman" panose="02020603050405020304" pitchFamily="18" charset="0"/>
              <a:cs typeface="Times New Roman" panose="02020603050405020304" pitchFamily="18" charset="0"/>
            </a:endParaRPr>
          </a:p>
        </p:txBody>
      </p:sp>
      <p:sp>
        <p:nvSpPr>
          <p:cNvPr id="7" name="Text 5"/>
          <p:cNvSpPr/>
          <p:nvPr/>
        </p:nvSpPr>
        <p:spPr>
          <a:xfrm>
            <a:off x="768096" y="2468880"/>
            <a:ext cx="7717536" cy="1060704"/>
          </a:xfrm>
          <a:prstGeom prst="rect">
            <a:avLst/>
          </a:prstGeom>
          <a:noFill/>
          <a:ln/>
        </p:spPr>
        <p:txBody>
          <a:bodyPr wrap="square" rtlCol="0" anchor="ctr"/>
          <a:lstStyle/>
          <a:p>
            <a:pPr algn="ctr"/>
            <a:r>
              <a:rPr lang="en-US" sz="2200" i="1" dirty="0">
                <a:latin typeface="Times New Roman" panose="02020603050405020304" pitchFamily="18" charset="0"/>
                <a:ea typeface="Cambria" pitchFamily="34" charset="-122"/>
                <a:cs typeface="Times New Roman" panose="02020603050405020304" pitchFamily="18" charset="0"/>
              </a:rPr>
              <a:t>θ_new = θ_old  −  η · ∂L/∂θ</a:t>
            </a:r>
            <a:endParaRPr lang="en-US" sz="2200" dirty="0">
              <a:latin typeface="Times New Roman" panose="02020603050405020304" pitchFamily="18" charset="0"/>
              <a:cs typeface="Times New Roman" panose="02020603050405020304" pitchFamily="18" charset="0"/>
            </a:endParaRPr>
          </a:p>
          <a:p>
            <a:pPr algn="ctr"/>
            <a:r>
              <a:rPr lang="en-US" sz="2200" i="1" dirty="0">
                <a:latin typeface="Times New Roman" panose="02020603050405020304" pitchFamily="18" charset="0"/>
                <a:ea typeface="Cambria" pitchFamily="34" charset="-122"/>
                <a:cs typeface="Times New Roman" panose="02020603050405020304" pitchFamily="18" charset="0"/>
              </a:rPr>
              <a:t>(η = learning rate = 0.1)</a:t>
            </a:r>
            <a:endParaRPr lang="en-US" sz="2200" dirty="0">
              <a:latin typeface="Times New Roman" panose="02020603050405020304" pitchFamily="18" charset="0"/>
              <a:cs typeface="Times New Roman" panose="02020603050405020304" pitchFamily="18" charset="0"/>
            </a:endParaRPr>
          </a:p>
        </p:txBody>
      </p:sp>
      <p:sp>
        <p:nvSpPr>
          <p:cNvPr id="8" name="Text 6"/>
          <p:cNvSpPr/>
          <p:nvPr/>
        </p:nvSpPr>
        <p:spPr>
          <a:xfrm>
            <a:off x="822960" y="3694176"/>
            <a:ext cx="7680960" cy="548640"/>
          </a:xfrm>
          <a:prstGeom prst="rect">
            <a:avLst/>
          </a:prstGeom>
          <a:noFill/>
          <a:ln/>
        </p:spPr>
        <p:txBody>
          <a:bodyPr wrap="square" rtlCol="0" anchor="ctr"/>
          <a:lstStyle/>
          <a:p>
            <a:r>
              <a:rPr lang="en-US" sz="2100" dirty="0">
                <a:latin typeface="Times New Roman" panose="02020603050405020304" pitchFamily="18" charset="0"/>
                <a:ea typeface="Calibri" pitchFamily="34" charset="-122"/>
                <a:cs typeface="Times New Roman" panose="02020603050405020304" pitchFamily="18" charset="0"/>
              </a:rPr>
              <a:t>For positive pair (D, A)  →  push embeddings closer:</a:t>
            </a:r>
            <a:endParaRPr lang="en-US" sz="2100" dirty="0">
              <a:latin typeface="Times New Roman" panose="02020603050405020304" pitchFamily="18" charset="0"/>
              <a:cs typeface="Times New Roman" panose="02020603050405020304" pitchFamily="18" charset="0"/>
            </a:endParaRPr>
          </a:p>
        </p:txBody>
      </p:sp>
      <p:sp>
        <p:nvSpPr>
          <p:cNvPr id="9" name="Shape 7"/>
          <p:cNvSpPr/>
          <p:nvPr/>
        </p:nvSpPr>
        <p:spPr>
          <a:xfrm>
            <a:off x="768096" y="4352544"/>
            <a:ext cx="7717536" cy="950976"/>
          </a:xfrm>
          <a:prstGeom prst="roundRect">
            <a:avLst>
              <a:gd name="adj" fmla="val 15385"/>
            </a:avLst>
          </a:prstGeom>
          <a:solidFill>
            <a:schemeClr val="tx1">
              <a:lumMod val="65000"/>
              <a:lumOff val="35000"/>
            </a:schemeClr>
          </a:solidFill>
          <a:ln w="12700">
            <a:solidFill>
              <a:srgbClr val="F0C040"/>
            </a:solidFill>
            <a:prstDash val="solid"/>
          </a:ln>
        </p:spPr>
        <p:txBody>
          <a:bodyPr/>
          <a:lstStyle/>
          <a:p>
            <a:endParaRPr lang="en-IN" sz="3600">
              <a:latin typeface="Times New Roman" panose="02020603050405020304" pitchFamily="18" charset="0"/>
              <a:cs typeface="Times New Roman" panose="02020603050405020304" pitchFamily="18" charset="0"/>
            </a:endParaRPr>
          </a:p>
        </p:txBody>
      </p:sp>
      <p:sp>
        <p:nvSpPr>
          <p:cNvPr id="10" name="Text 8"/>
          <p:cNvSpPr/>
          <p:nvPr/>
        </p:nvSpPr>
        <p:spPr>
          <a:xfrm>
            <a:off x="768096" y="4352544"/>
            <a:ext cx="7717536" cy="950976"/>
          </a:xfrm>
          <a:prstGeom prst="rect">
            <a:avLst/>
          </a:prstGeom>
          <a:noFill/>
          <a:ln/>
        </p:spPr>
        <p:txBody>
          <a:bodyPr wrap="square" rtlCol="0" anchor="ctr"/>
          <a:lstStyle/>
          <a:p>
            <a:pPr algn="ctr"/>
            <a:r>
              <a:rPr lang="en-US" sz="2100" i="1" dirty="0">
                <a:latin typeface="Times New Roman" panose="02020603050405020304" pitchFamily="18" charset="0"/>
                <a:ea typeface="Cambria" pitchFamily="34" charset="-122"/>
                <a:cs typeface="Times New Roman" panose="02020603050405020304" pitchFamily="18" charset="0"/>
              </a:rPr>
              <a:t>zD ← zD - η · zA         zA ← zA - η · zD</a:t>
            </a:r>
            <a:endParaRPr lang="en-US" sz="2100" dirty="0">
              <a:latin typeface="Times New Roman" panose="02020603050405020304" pitchFamily="18" charset="0"/>
              <a:cs typeface="Times New Roman" panose="02020603050405020304" pitchFamily="18" charset="0"/>
            </a:endParaRPr>
          </a:p>
        </p:txBody>
      </p:sp>
      <p:sp>
        <p:nvSpPr>
          <p:cNvPr id="11" name="Shape 9"/>
          <p:cNvSpPr/>
          <p:nvPr/>
        </p:nvSpPr>
        <p:spPr>
          <a:xfrm>
            <a:off x="768096" y="5486400"/>
            <a:ext cx="7717536" cy="585216"/>
          </a:xfrm>
          <a:prstGeom prst="rect">
            <a:avLst/>
          </a:prstGeom>
          <a:solidFill>
            <a:schemeClr val="tx1">
              <a:lumMod val="65000"/>
              <a:lumOff val="35000"/>
            </a:schemeClr>
          </a:solidFill>
          <a:ln w="12700">
            <a:solidFill>
              <a:srgbClr val="4A90D9"/>
            </a:solidFill>
            <a:prstDash val="solid"/>
          </a:ln>
        </p:spPr>
        <p:txBody>
          <a:bodyPr/>
          <a:lstStyle/>
          <a:p>
            <a:endParaRPr lang="en-IN" sz="3600">
              <a:latin typeface="Times New Roman" panose="02020603050405020304" pitchFamily="18" charset="0"/>
              <a:cs typeface="Times New Roman" panose="02020603050405020304" pitchFamily="18" charset="0"/>
            </a:endParaRPr>
          </a:p>
        </p:txBody>
      </p:sp>
      <p:sp>
        <p:nvSpPr>
          <p:cNvPr id="12" name="Text 10"/>
          <p:cNvSpPr/>
          <p:nvPr/>
        </p:nvSpPr>
        <p:spPr>
          <a:xfrm>
            <a:off x="768096" y="5486400"/>
            <a:ext cx="2578608" cy="585216"/>
          </a:xfrm>
          <a:prstGeom prst="rect">
            <a:avLst/>
          </a:prstGeom>
          <a:noFill/>
          <a:ln/>
        </p:spPr>
        <p:txBody>
          <a:bodyPr wrap="square" rtlCol="0" anchor="ctr"/>
          <a:lstStyle/>
          <a:p>
            <a:pPr algn="ctr"/>
            <a:endParaRPr lang="en-US" sz="2200" dirty="0">
              <a:latin typeface="Times New Roman" panose="02020603050405020304" pitchFamily="18" charset="0"/>
              <a:cs typeface="Times New Roman" panose="02020603050405020304" pitchFamily="18" charset="0"/>
            </a:endParaRPr>
          </a:p>
        </p:txBody>
      </p:sp>
      <p:sp>
        <p:nvSpPr>
          <p:cNvPr id="13" name="Text 11"/>
          <p:cNvSpPr/>
          <p:nvPr/>
        </p:nvSpPr>
        <p:spPr>
          <a:xfrm>
            <a:off x="3346704" y="5486400"/>
            <a:ext cx="2578608" cy="585216"/>
          </a:xfrm>
          <a:prstGeom prst="rect">
            <a:avLst/>
          </a:prstGeom>
          <a:noFill/>
          <a:ln/>
        </p:spPr>
        <p:txBody>
          <a:bodyPr wrap="square" rtlCol="0" anchor="ctr"/>
          <a:lstStyle/>
          <a:p>
            <a:pPr algn="ctr"/>
            <a:r>
              <a:rPr lang="en-US" sz="2200" b="1" dirty="0">
                <a:latin typeface="Times New Roman" panose="02020603050405020304" pitchFamily="18" charset="0"/>
                <a:ea typeface="Calibri" pitchFamily="34" charset="-122"/>
                <a:cs typeface="Times New Roman" panose="02020603050405020304" pitchFamily="18" charset="0"/>
              </a:rPr>
              <a:t>BEFORE</a:t>
            </a:r>
            <a:endParaRPr lang="en-US" sz="2200" dirty="0">
              <a:latin typeface="Times New Roman" panose="02020603050405020304" pitchFamily="18" charset="0"/>
              <a:cs typeface="Times New Roman" panose="02020603050405020304" pitchFamily="18" charset="0"/>
            </a:endParaRPr>
          </a:p>
        </p:txBody>
      </p:sp>
      <p:sp>
        <p:nvSpPr>
          <p:cNvPr id="14" name="Text 12"/>
          <p:cNvSpPr/>
          <p:nvPr/>
        </p:nvSpPr>
        <p:spPr>
          <a:xfrm>
            <a:off x="5925312" y="5486400"/>
            <a:ext cx="2578608" cy="585216"/>
          </a:xfrm>
          <a:prstGeom prst="rect">
            <a:avLst/>
          </a:prstGeom>
          <a:noFill/>
          <a:ln/>
        </p:spPr>
        <p:txBody>
          <a:bodyPr wrap="square" rtlCol="0" anchor="ctr"/>
          <a:lstStyle/>
          <a:p>
            <a:pPr algn="ctr"/>
            <a:r>
              <a:rPr lang="en-US" sz="2200" b="1" dirty="0">
                <a:latin typeface="Times New Roman" panose="02020603050405020304" pitchFamily="18" charset="0"/>
                <a:ea typeface="Calibri" pitchFamily="34" charset="-122"/>
                <a:cs typeface="Times New Roman" panose="02020603050405020304" pitchFamily="18" charset="0"/>
              </a:rPr>
              <a:t>AFTER</a:t>
            </a:r>
            <a:endParaRPr lang="en-US" sz="2200" dirty="0">
              <a:latin typeface="Times New Roman" panose="02020603050405020304" pitchFamily="18" charset="0"/>
              <a:cs typeface="Times New Roman" panose="02020603050405020304" pitchFamily="18" charset="0"/>
            </a:endParaRPr>
          </a:p>
        </p:txBody>
      </p:sp>
      <p:sp>
        <p:nvSpPr>
          <p:cNvPr id="15" name="Shape 13"/>
          <p:cNvSpPr/>
          <p:nvPr/>
        </p:nvSpPr>
        <p:spPr>
          <a:xfrm>
            <a:off x="768096" y="6108192"/>
            <a:ext cx="7717536" cy="640080"/>
          </a:xfrm>
          <a:prstGeom prst="rect">
            <a:avLst/>
          </a:prstGeom>
          <a:solidFill>
            <a:schemeClr val="tx1">
              <a:lumMod val="65000"/>
              <a:lumOff val="35000"/>
            </a:schemeClr>
          </a:solidFill>
          <a:ln w="12700">
            <a:solidFill>
              <a:srgbClr val="2D3561"/>
            </a:solidFill>
            <a:prstDash val="solid"/>
          </a:ln>
        </p:spPr>
        <p:txBody>
          <a:bodyPr/>
          <a:lstStyle/>
          <a:p>
            <a:endParaRPr lang="en-IN" sz="3600">
              <a:latin typeface="Times New Roman" panose="02020603050405020304" pitchFamily="18" charset="0"/>
              <a:cs typeface="Times New Roman" panose="02020603050405020304" pitchFamily="18" charset="0"/>
            </a:endParaRPr>
          </a:p>
        </p:txBody>
      </p:sp>
      <p:sp>
        <p:nvSpPr>
          <p:cNvPr id="16" name="Text 14"/>
          <p:cNvSpPr/>
          <p:nvPr/>
        </p:nvSpPr>
        <p:spPr>
          <a:xfrm>
            <a:off x="822960" y="6108192"/>
            <a:ext cx="2523744" cy="640080"/>
          </a:xfrm>
          <a:prstGeom prst="rect">
            <a:avLst/>
          </a:prstGeom>
          <a:noFill/>
          <a:ln/>
        </p:spPr>
        <p:txBody>
          <a:bodyPr wrap="square" rtlCol="0" anchor="ctr"/>
          <a:lstStyle/>
          <a:p>
            <a:pPr algn="ctr"/>
            <a:r>
              <a:rPr lang="en-US" sz="2200" b="1" dirty="0">
                <a:latin typeface="Times New Roman" panose="02020603050405020304" pitchFamily="18" charset="0"/>
                <a:ea typeface="Calibri" pitchFamily="34" charset="-122"/>
                <a:cs typeface="Times New Roman" panose="02020603050405020304" pitchFamily="18" charset="0"/>
              </a:rPr>
              <a:t>zD</a:t>
            </a:r>
            <a:endParaRPr lang="en-US" sz="2200" dirty="0">
              <a:latin typeface="Times New Roman" panose="02020603050405020304" pitchFamily="18" charset="0"/>
              <a:cs typeface="Times New Roman" panose="02020603050405020304" pitchFamily="18" charset="0"/>
            </a:endParaRPr>
          </a:p>
        </p:txBody>
      </p:sp>
      <p:sp>
        <p:nvSpPr>
          <p:cNvPr id="17" name="Text 15"/>
          <p:cNvSpPr/>
          <p:nvPr/>
        </p:nvSpPr>
        <p:spPr>
          <a:xfrm>
            <a:off x="3346704" y="6108192"/>
            <a:ext cx="2578608" cy="640080"/>
          </a:xfrm>
          <a:prstGeom prst="rect">
            <a:avLst/>
          </a:prstGeom>
          <a:noFill/>
          <a:ln/>
        </p:spPr>
        <p:txBody>
          <a:bodyPr wrap="square" rtlCol="0" anchor="ctr"/>
          <a:lstStyle/>
          <a:p>
            <a:pPr algn="ctr"/>
            <a:r>
              <a:rPr lang="en-US" sz="2100" dirty="0">
                <a:latin typeface="Times New Roman" panose="02020603050405020304" pitchFamily="18" charset="0"/>
                <a:ea typeface="Calibri" pitchFamily="34" charset="-122"/>
                <a:cs typeface="Times New Roman" panose="02020603050405020304" pitchFamily="18" charset="0"/>
              </a:rPr>
              <a:t>[0.5, 0.5]</a:t>
            </a:r>
            <a:endParaRPr lang="en-US" sz="2100" dirty="0">
              <a:latin typeface="Times New Roman" panose="02020603050405020304" pitchFamily="18" charset="0"/>
              <a:cs typeface="Times New Roman" panose="02020603050405020304" pitchFamily="18" charset="0"/>
            </a:endParaRPr>
          </a:p>
        </p:txBody>
      </p:sp>
      <p:sp>
        <p:nvSpPr>
          <p:cNvPr id="18" name="Text 16"/>
          <p:cNvSpPr/>
          <p:nvPr/>
        </p:nvSpPr>
        <p:spPr>
          <a:xfrm>
            <a:off x="5925312" y="6108192"/>
            <a:ext cx="2523744" cy="640080"/>
          </a:xfrm>
          <a:prstGeom prst="rect">
            <a:avLst/>
          </a:prstGeom>
          <a:noFill/>
          <a:ln/>
        </p:spPr>
        <p:txBody>
          <a:bodyPr wrap="square" rtlCol="0" anchor="ctr"/>
          <a:lstStyle/>
          <a:p>
            <a:pPr algn="ctr"/>
            <a:r>
              <a:rPr lang="en-US" sz="2100" b="1" dirty="0">
                <a:latin typeface="Times New Roman" panose="02020603050405020304" pitchFamily="18" charset="0"/>
                <a:ea typeface="Calibri" pitchFamily="34" charset="-122"/>
                <a:cs typeface="Times New Roman" panose="02020603050405020304" pitchFamily="18" charset="0"/>
              </a:rPr>
              <a:t>[0.6, 0.5]</a:t>
            </a:r>
            <a:endParaRPr lang="en-US" sz="2100" dirty="0">
              <a:latin typeface="Times New Roman" panose="02020603050405020304" pitchFamily="18" charset="0"/>
              <a:cs typeface="Times New Roman" panose="02020603050405020304" pitchFamily="18" charset="0"/>
            </a:endParaRPr>
          </a:p>
        </p:txBody>
      </p:sp>
      <p:sp>
        <p:nvSpPr>
          <p:cNvPr id="19" name="Shape 17"/>
          <p:cNvSpPr/>
          <p:nvPr/>
        </p:nvSpPr>
        <p:spPr>
          <a:xfrm>
            <a:off x="768096" y="6803136"/>
            <a:ext cx="7717536" cy="640080"/>
          </a:xfrm>
          <a:prstGeom prst="rect">
            <a:avLst/>
          </a:prstGeom>
          <a:solidFill>
            <a:schemeClr val="tx1">
              <a:lumMod val="65000"/>
              <a:lumOff val="35000"/>
            </a:schemeClr>
          </a:solidFill>
          <a:ln w="12700">
            <a:solidFill>
              <a:srgbClr val="2D3561"/>
            </a:solidFill>
            <a:prstDash val="solid"/>
          </a:ln>
        </p:spPr>
        <p:txBody>
          <a:bodyPr/>
          <a:lstStyle/>
          <a:p>
            <a:endParaRPr lang="en-IN" sz="3600">
              <a:latin typeface="Times New Roman" panose="02020603050405020304" pitchFamily="18" charset="0"/>
              <a:cs typeface="Times New Roman" panose="02020603050405020304" pitchFamily="18" charset="0"/>
            </a:endParaRPr>
          </a:p>
        </p:txBody>
      </p:sp>
      <p:sp>
        <p:nvSpPr>
          <p:cNvPr id="20" name="Text 18"/>
          <p:cNvSpPr/>
          <p:nvPr/>
        </p:nvSpPr>
        <p:spPr>
          <a:xfrm>
            <a:off x="822960" y="6803136"/>
            <a:ext cx="2523744" cy="640080"/>
          </a:xfrm>
          <a:prstGeom prst="rect">
            <a:avLst/>
          </a:prstGeom>
          <a:noFill/>
          <a:ln/>
        </p:spPr>
        <p:txBody>
          <a:bodyPr wrap="square" rtlCol="0" anchor="ctr"/>
          <a:lstStyle/>
          <a:p>
            <a:pPr algn="ctr"/>
            <a:r>
              <a:rPr lang="en-US" sz="2200" b="1" dirty="0">
                <a:latin typeface="Times New Roman" panose="02020603050405020304" pitchFamily="18" charset="0"/>
                <a:ea typeface="Calibri" pitchFamily="34" charset="-122"/>
                <a:cs typeface="Times New Roman" panose="02020603050405020304" pitchFamily="18" charset="0"/>
              </a:rPr>
              <a:t>zA</a:t>
            </a:r>
            <a:endParaRPr lang="en-US" sz="2200" dirty="0">
              <a:latin typeface="Times New Roman" panose="02020603050405020304" pitchFamily="18" charset="0"/>
              <a:cs typeface="Times New Roman" panose="02020603050405020304" pitchFamily="18" charset="0"/>
            </a:endParaRPr>
          </a:p>
        </p:txBody>
      </p:sp>
      <p:sp>
        <p:nvSpPr>
          <p:cNvPr id="21" name="Text 19"/>
          <p:cNvSpPr/>
          <p:nvPr/>
        </p:nvSpPr>
        <p:spPr>
          <a:xfrm>
            <a:off x="3346704" y="6803136"/>
            <a:ext cx="2578608" cy="640080"/>
          </a:xfrm>
          <a:prstGeom prst="rect">
            <a:avLst/>
          </a:prstGeom>
          <a:noFill/>
          <a:ln/>
        </p:spPr>
        <p:txBody>
          <a:bodyPr wrap="square" rtlCol="0" anchor="ctr"/>
          <a:lstStyle/>
          <a:p>
            <a:pPr algn="ctr"/>
            <a:r>
              <a:rPr lang="en-US" sz="2100" dirty="0">
                <a:latin typeface="Times New Roman" panose="02020603050405020304" pitchFamily="18" charset="0"/>
                <a:ea typeface="Calibri" pitchFamily="34" charset="-122"/>
                <a:cs typeface="Times New Roman" panose="02020603050405020304" pitchFamily="18" charset="0"/>
              </a:rPr>
              <a:t>[1.0, 0.0]</a:t>
            </a:r>
            <a:endParaRPr lang="en-US" sz="2100" dirty="0">
              <a:latin typeface="Times New Roman" panose="02020603050405020304" pitchFamily="18" charset="0"/>
              <a:cs typeface="Times New Roman" panose="02020603050405020304" pitchFamily="18" charset="0"/>
            </a:endParaRPr>
          </a:p>
        </p:txBody>
      </p:sp>
      <p:sp>
        <p:nvSpPr>
          <p:cNvPr id="22" name="Text 20"/>
          <p:cNvSpPr/>
          <p:nvPr/>
        </p:nvSpPr>
        <p:spPr>
          <a:xfrm>
            <a:off x="5925312" y="6803136"/>
            <a:ext cx="2523744" cy="640080"/>
          </a:xfrm>
          <a:prstGeom prst="rect">
            <a:avLst/>
          </a:prstGeom>
          <a:noFill/>
          <a:ln/>
        </p:spPr>
        <p:txBody>
          <a:bodyPr wrap="square" rtlCol="0" anchor="ctr"/>
          <a:lstStyle/>
          <a:p>
            <a:pPr algn="ctr"/>
            <a:r>
              <a:rPr lang="en-US" sz="2100" b="1" dirty="0">
                <a:latin typeface="Times New Roman" panose="02020603050405020304" pitchFamily="18" charset="0"/>
                <a:ea typeface="Calibri" pitchFamily="34" charset="-122"/>
                <a:cs typeface="Times New Roman" panose="02020603050405020304" pitchFamily="18" charset="0"/>
              </a:rPr>
              <a:t>[0.95, 0.05]</a:t>
            </a:r>
            <a:endParaRPr lang="en-US" sz="2100" dirty="0">
              <a:latin typeface="Times New Roman" panose="02020603050405020304" pitchFamily="18" charset="0"/>
              <a:cs typeface="Times New Roman" panose="02020603050405020304" pitchFamily="18" charset="0"/>
            </a:endParaRPr>
          </a:p>
        </p:txBody>
      </p:sp>
      <p:sp>
        <p:nvSpPr>
          <p:cNvPr id="23" name="Shape 21"/>
          <p:cNvSpPr/>
          <p:nvPr/>
        </p:nvSpPr>
        <p:spPr>
          <a:xfrm>
            <a:off x="768096" y="7498080"/>
            <a:ext cx="7717536" cy="640080"/>
          </a:xfrm>
          <a:prstGeom prst="rect">
            <a:avLst/>
          </a:prstGeom>
          <a:solidFill>
            <a:schemeClr val="tx1">
              <a:lumMod val="65000"/>
              <a:lumOff val="35000"/>
            </a:schemeClr>
          </a:solidFill>
          <a:ln w="12700">
            <a:solidFill>
              <a:srgbClr val="2D3561"/>
            </a:solidFill>
            <a:prstDash val="solid"/>
          </a:ln>
        </p:spPr>
        <p:txBody>
          <a:bodyPr/>
          <a:lstStyle/>
          <a:p>
            <a:endParaRPr lang="en-IN" sz="3600">
              <a:latin typeface="Times New Roman" panose="02020603050405020304" pitchFamily="18" charset="0"/>
              <a:cs typeface="Times New Roman" panose="02020603050405020304" pitchFamily="18" charset="0"/>
            </a:endParaRPr>
          </a:p>
        </p:txBody>
      </p:sp>
      <p:sp>
        <p:nvSpPr>
          <p:cNvPr id="24" name="Text 22"/>
          <p:cNvSpPr/>
          <p:nvPr/>
        </p:nvSpPr>
        <p:spPr>
          <a:xfrm>
            <a:off x="822960" y="7498080"/>
            <a:ext cx="2523744" cy="640080"/>
          </a:xfrm>
          <a:prstGeom prst="rect">
            <a:avLst/>
          </a:prstGeom>
          <a:noFill/>
          <a:ln/>
        </p:spPr>
        <p:txBody>
          <a:bodyPr wrap="square" rtlCol="0" anchor="ctr"/>
          <a:lstStyle/>
          <a:p>
            <a:pPr algn="ctr"/>
            <a:r>
              <a:rPr lang="en-US" sz="2200" b="1" dirty="0">
                <a:latin typeface="Times New Roman" panose="02020603050405020304" pitchFamily="18" charset="0"/>
                <a:ea typeface="Calibri" pitchFamily="34" charset="-122"/>
                <a:cs typeface="Times New Roman" panose="02020603050405020304" pitchFamily="18" charset="0"/>
              </a:rPr>
              <a:t>zD·zA</a:t>
            </a:r>
            <a:endParaRPr lang="en-US" sz="2200" dirty="0">
              <a:latin typeface="Times New Roman" panose="02020603050405020304" pitchFamily="18" charset="0"/>
              <a:cs typeface="Times New Roman" panose="02020603050405020304" pitchFamily="18" charset="0"/>
            </a:endParaRPr>
          </a:p>
        </p:txBody>
      </p:sp>
      <p:sp>
        <p:nvSpPr>
          <p:cNvPr id="25" name="Text 23"/>
          <p:cNvSpPr/>
          <p:nvPr/>
        </p:nvSpPr>
        <p:spPr>
          <a:xfrm>
            <a:off x="3346704" y="7498080"/>
            <a:ext cx="2578608" cy="640080"/>
          </a:xfrm>
          <a:prstGeom prst="rect">
            <a:avLst/>
          </a:prstGeom>
          <a:noFill/>
          <a:ln/>
        </p:spPr>
        <p:txBody>
          <a:bodyPr wrap="square" rtlCol="0" anchor="ctr"/>
          <a:lstStyle/>
          <a:p>
            <a:pPr algn="ctr"/>
            <a:r>
              <a:rPr lang="en-US" sz="2100" dirty="0">
                <a:latin typeface="Times New Roman" panose="02020603050405020304" pitchFamily="18" charset="0"/>
                <a:ea typeface="Calibri" pitchFamily="34" charset="-122"/>
                <a:cs typeface="Times New Roman" panose="02020603050405020304" pitchFamily="18" charset="0"/>
              </a:rPr>
              <a:t>0.500</a:t>
            </a:r>
            <a:endParaRPr lang="en-US" sz="2100" dirty="0">
              <a:latin typeface="Times New Roman" panose="02020603050405020304" pitchFamily="18" charset="0"/>
              <a:cs typeface="Times New Roman" panose="02020603050405020304" pitchFamily="18" charset="0"/>
            </a:endParaRPr>
          </a:p>
        </p:txBody>
      </p:sp>
      <p:sp>
        <p:nvSpPr>
          <p:cNvPr id="26" name="Text 24"/>
          <p:cNvSpPr/>
          <p:nvPr/>
        </p:nvSpPr>
        <p:spPr>
          <a:xfrm>
            <a:off x="5925312" y="7498080"/>
            <a:ext cx="2523744" cy="640080"/>
          </a:xfrm>
          <a:prstGeom prst="rect">
            <a:avLst/>
          </a:prstGeom>
          <a:noFill/>
          <a:ln/>
        </p:spPr>
        <p:txBody>
          <a:bodyPr wrap="square" rtlCol="0" anchor="ctr"/>
          <a:lstStyle/>
          <a:p>
            <a:pPr algn="ctr"/>
            <a:r>
              <a:rPr lang="en-US" sz="2100" b="1" dirty="0">
                <a:latin typeface="Times New Roman" panose="02020603050405020304" pitchFamily="18" charset="0"/>
                <a:ea typeface="Calibri" pitchFamily="34" charset="-122"/>
                <a:cs typeface="Times New Roman" panose="02020603050405020304" pitchFamily="18" charset="0"/>
              </a:rPr>
              <a:t>0.595</a:t>
            </a:r>
            <a:endParaRPr lang="en-US" sz="2100" dirty="0">
              <a:latin typeface="Times New Roman" panose="02020603050405020304" pitchFamily="18" charset="0"/>
              <a:cs typeface="Times New Roman" panose="02020603050405020304" pitchFamily="18" charset="0"/>
            </a:endParaRPr>
          </a:p>
        </p:txBody>
      </p:sp>
      <p:sp>
        <p:nvSpPr>
          <p:cNvPr id="27" name="Shape 25"/>
          <p:cNvSpPr/>
          <p:nvPr/>
        </p:nvSpPr>
        <p:spPr>
          <a:xfrm>
            <a:off x="768096" y="8193024"/>
            <a:ext cx="7717536" cy="640080"/>
          </a:xfrm>
          <a:prstGeom prst="rect">
            <a:avLst/>
          </a:prstGeom>
          <a:solidFill>
            <a:schemeClr val="tx1">
              <a:lumMod val="65000"/>
              <a:lumOff val="35000"/>
            </a:schemeClr>
          </a:solidFill>
          <a:ln w="12700">
            <a:solidFill>
              <a:srgbClr val="2D3561"/>
            </a:solidFill>
            <a:prstDash val="solid"/>
          </a:ln>
        </p:spPr>
        <p:txBody>
          <a:bodyPr/>
          <a:lstStyle/>
          <a:p>
            <a:endParaRPr lang="en-IN" sz="3600">
              <a:latin typeface="Times New Roman" panose="02020603050405020304" pitchFamily="18" charset="0"/>
              <a:cs typeface="Times New Roman" panose="02020603050405020304" pitchFamily="18" charset="0"/>
            </a:endParaRPr>
          </a:p>
        </p:txBody>
      </p:sp>
      <p:sp>
        <p:nvSpPr>
          <p:cNvPr id="28" name="Text 26"/>
          <p:cNvSpPr/>
          <p:nvPr/>
        </p:nvSpPr>
        <p:spPr>
          <a:xfrm>
            <a:off x="822960" y="8193024"/>
            <a:ext cx="2523744" cy="640080"/>
          </a:xfrm>
          <a:prstGeom prst="rect">
            <a:avLst/>
          </a:prstGeom>
          <a:noFill/>
          <a:ln/>
        </p:spPr>
        <p:txBody>
          <a:bodyPr wrap="square" rtlCol="0" anchor="ctr"/>
          <a:lstStyle/>
          <a:p>
            <a:pPr algn="ctr"/>
            <a:r>
              <a:rPr lang="en-US" sz="2200" b="1" dirty="0">
                <a:latin typeface="Times New Roman" panose="02020603050405020304" pitchFamily="18" charset="0"/>
                <a:ea typeface="Calibri" pitchFamily="34" charset="-122"/>
                <a:cs typeface="Times New Roman" panose="02020603050405020304" pitchFamily="18" charset="0"/>
              </a:rPr>
              <a:t>p(A|D)</a:t>
            </a:r>
            <a:endParaRPr lang="en-US" sz="2200" dirty="0">
              <a:latin typeface="Times New Roman" panose="02020603050405020304" pitchFamily="18" charset="0"/>
              <a:cs typeface="Times New Roman" panose="02020603050405020304" pitchFamily="18" charset="0"/>
            </a:endParaRPr>
          </a:p>
        </p:txBody>
      </p:sp>
      <p:sp>
        <p:nvSpPr>
          <p:cNvPr id="29" name="Text 27"/>
          <p:cNvSpPr/>
          <p:nvPr/>
        </p:nvSpPr>
        <p:spPr>
          <a:xfrm>
            <a:off x="3346704" y="8193024"/>
            <a:ext cx="2578608" cy="640080"/>
          </a:xfrm>
          <a:prstGeom prst="rect">
            <a:avLst/>
          </a:prstGeom>
          <a:noFill/>
          <a:ln/>
        </p:spPr>
        <p:txBody>
          <a:bodyPr wrap="square" rtlCol="0" anchor="ctr"/>
          <a:lstStyle/>
          <a:p>
            <a:pPr algn="ctr"/>
            <a:r>
              <a:rPr lang="en-US" sz="2100" dirty="0">
                <a:latin typeface="Times New Roman" panose="02020603050405020304" pitchFamily="18" charset="0"/>
                <a:ea typeface="Calibri" pitchFamily="34" charset="-122"/>
                <a:cs typeface="Times New Roman" panose="02020603050405020304" pitchFamily="18" charset="0"/>
              </a:rPr>
              <a:t>29.7%</a:t>
            </a:r>
            <a:endParaRPr lang="en-US" sz="2100" dirty="0">
              <a:latin typeface="Times New Roman" panose="02020603050405020304" pitchFamily="18" charset="0"/>
              <a:cs typeface="Times New Roman" panose="02020603050405020304" pitchFamily="18" charset="0"/>
            </a:endParaRPr>
          </a:p>
        </p:txBody>
      </p:sp>
      <p:sp>
        <p:nvSpPr>
          <p:cNvPr id="30" name="Text 28"/>
          <p:cNvSpPr/>
          <p:nvPr/>
        </p:nvSpPr>
        <p:spPr>
          <a:xfrm>
            <a:off x="5925312" y="8193024"/>
            <a:ext cx="2523744" cy="640080"/>
          </a:xfrm>
          <a:prstGeom prst="rect">
            <a:avLst/>
          </a:prstGeom>
          <a:noFill/>
          <a:ln/>
        </p:spPr>
        <p:txBody>
          <a:bodyPr wrap="square" rtlCol="0" anchor="ctr"/>
          <a:lstStyle/>
          <a:p>
            <a:pPr algn="ctr"/>
            <a:r>
              <a:rPr lang="en-US" sz="2100" b="1" dirty="0">
                <a:latin typeface="Times New Roman" panose="02020603050405020304" pitchFamily="18" charset="0"/>
                <a:ea typeface="Calibri" pitchFamily="34" charset="-122"/>
                <a:cs typeface="Times New Roman" panose="02020603050405020304" pitchFamily="18" charset="0"/>
              </a:rPr>
              <a:t>~32.5%</a:t>
            </a:r>
            <a:endParaRPr lang="en-US" sz="2100" dirty="0">
              <a:latin typeface="Times New Roman" panose="02020603050405020304" pitchFamily="18" charset="0"/>
              <a:cs typeface="Times New Roman" panose="02020603050405020304" pitchFamily="18" charset="0"/>
            </a:endParaRPr>
          </a:p>
        </p:txBody>
      </p:sp>
      <p:sp>
        <p:nvSpPr>
          <p:cNvPr id="31" name="Shape 29"/>
          <p:cNvSpPr/>
          <p:nvPr/>
        </p:nvSpPr>
        <p:spPr>
          <a:xfrm>
            <a:off x="768096" y="8887968"/>
            <a:ext cx="7717536" cy="640080"/>
          </a:xfrm>
          <a:prstGeom prst="rect">
            <a:avLst/>
          </a:prstGeom>
          <a:solidFill>
            <a:schemeClr val="tx1">
              <a:lumMod val="65000"/>
              <a:lumOff val="35000"/>
            </a:schemeClr>
          </a:solidFill>
          <a:ln w="12700">
            <a:solidFill>
              <a:srgbClr val="2D3561"/>
            </a:solidFill>
            <a:prstDash val="solid"/>
          </a:ln>
        </p:spPr>
        <p:txBody>
          <a:bodyPr/>
          <a:lstStyle/>
          <a:p>
            <a:endParaRPr lang="en-IN" sz="3600">
              <a:latin typeface="Times New Roman" panose="02020603050405020304" pitchFamily="18" charset="0"/>
              <a:cs typeface="Times New Roman" panose="02020603050405020304" pitchFamily="18" charset="0"/>
            </a:endParaRPr>
          </a:p>
        </p:txBody>
      </p:sp>
      <p:sp>
        <p:nvSpPr>
          <p:cNvPr id="32" name="Text 30"/>
          <p:cNvSpPr/>
          <p:nvPr/>
        </p:nvSpPr>
        <p:spPr>
          <a:xfrm>
            <a:off x="822960" y="8887968"/>
            <a:ext cx="2523744" cy="640080"/>
          </a:xfrm>
          <a:prstGeom prst="rect">
            <a:avLst/>
          </a:prstGeom>
          <a:noFill/>
          <a:ln/>
        </p:spPr>
        <p:txBody>
          <a:bodyPr wrap="square" rtlCol="0" anchor="ctr"/>
          <a:lstStyle/>
          <a:p>
            <a:pPr algn="ctr"/>
            <a:r>
              <a:rPr lang="en-US" sz="2200" b="1" dirty="0">
                <a:latin typeface="Times New Roman" panose="02020603050405020304" pitchFamily="18" charset="0"/>
                <a:ea typeface="Calibri" pitchFamily="34" charset="-122"/>
                <a:cs typeface="Times New Roman" panose="02020603050405020304" pitchFamily="18" charset="0"/>
              </a:rPr>
              <a:t>Loss L</a:t>
            </a:r>
            <a:endParaRPr lang="en-US" sz="2200" dirty="0">
              <a:latin typeface="Times New Roman" panose="02020603050405020304" pitchFamily="18" charset="0"/>
              <a:cs typeface="Times New Roman" panose="02020603050405020304" pitchFamily="18" charset="0"/>
            </a:endParaRPr>
          </a:p>
        </p:txBody>
      </p:sp>
      <p:sp>
        <p:nvSpPr>
          <p:cNvPr id="33" name="Text 31"/>
          <p:cNvSpPr/>
          <p:nvPr/>
        </p:nvSpPr>
        <p:spPr>
          <a:xfrm>
            <a:off x="3346704" y="8887968"/>
            <a:ext cx="2578608" cy="640080"/>
          </a:xfrm>
          <a:prstGeom prst="rect">
            <a:avLst/>
          </a:prstGeom>
          <a:noFill/>
          <a:ln/>
        </p:spPr>
        <p:txBody>
          <a:bodyPr wrap="square" rtlCol="0" anchor="ctr"/>
          <a:lstStyle/>
          <a:p>
            <a:pPr algn="ctr"/>
            <a:r>
              <a:rPr lang="en-US" sz="2100" dirty="0">
                <a:latin typeface="Times New Roman" panose="02020603050405020304" pitchFamily="18" charset="0"/>
                <a:ea typeface="Calibri" pitchFamily="34" charset="-122"/>
                <a:cs typeface="Times New Roman" panose="02020603050405020304" pitchFamily="18" charset="0"/>
              </a:rPr>
              <a:t>1.214</a:t>
            </a:r>
            <a:endParaRPr lang="en-US" sz="2100" dirty="0">
              <a:latin typeface="Times New Roman" panose="02020603050405020304" pitchFamily="18" charset="0"/>
              <a:cs typeface="Times New Roman" panose="02020603050405020304" pitchFamily="18" charset="0"/>
            </a:endParaRPr>
          </a:p>
        </p:txBody>
      </p:sp>
      <p:sp>
        <p:nvSpPr>
          <p:cNvPr id="34" name="Text 32"/>
          <p:cNvSpPr/>
          <p:nvPr/>
        </p:nvSpPr>
        <p:spPr>
          <a:xfrm>
            <a:off x="5925312" y="8887968"/>
            <a:ext cx="2523744" cy="640080"/>
          </a:xfrm>
          <a:prstGeom prst="rect">
            <a:avLst/>
          </a:prstGeom>
          <a:noFill/>
          <a:ln/>
        </p:spPr>
        <p:txBody>
          <a:bodyPr wrap="square" rtlCol="0" anchor="ctr"/>
          <a:lstStyle/>
          <a:p>
            <a:pPr algn="ctr"/>
            <a:r>
              <a:rPr lang="en-US" sz="2100" b="1" dirty="0">
                <a:latin typeface="Times New Roman" panose="02020603050405020304" pitchFamily="18" charset="0"/>
                <a:ea typeface="Calibri" pitchFamily="34" charset="-122"/>
                <a:cs typeface="Times New Roman" panose="02020603050405020304" pitchFamily="18" charset="0"/>
              </a:rPr>
              <a:t>~1.125</a:t>
            </a:r>
            <a:endParaRPr lang="en-US" sz="2100" dirty="0">
              <a:latin typeface="Times New Roman" panose="02020603050405020304" pitchFamily="18" charset="0"/>
              <a:cs typeface="Times New Roman" panose="02020603050405020304" pitchFamily="18" charset="0"/>
            </a:endParaRPr>
          </a:p>
        </p:txBody>
      </p:sp>
      <p:sp>
        <p:nvSpPr>
          <p:cNvPr id="35" name="Shape 33"/>
          <p:cNvSpPr/>
          <p:nvPr/>
        </p:nvSpPr>
        <p:spPr>
          <a:xfrm>
            <a:off x="9235440" y="1414272"/>
            <a:ext cx="8595360" cy="4937760"/>
          </a:xfrm>
          <a:prstGeom prst="roundRect">
            <a:avLst>
              <a:gd name="adj" fmla="val 4444"/>
            </a:avLst>
          </a:prstGeom>
          <a:solidFill>
            <a:schemeClr val="bg2">
              <a:lumMod val="75000"/>
            </a:schemeClr>
          </a:solidFill>
          <a:ln w="15240">
            <a:solidFill>
              <a:srgbClr val="4A90D9"/>
            </a:solidFill>
            <a:prstDash val="solid"/>
          </a:ln>
          <a:effectLst>
            <a:outerShdw blurRad="101600" dist="38100" dir="2700000" algn="bl" rotWithShape="0">
              <a:srgbClr val="000000">
                <a:alpha val="30000"/>
              </a:srgbClr>
            </a:outerShdw>
          </a:effectLst>
        </p:spPr>
        <p:txBody>
          <a:bodyPr/>
          <a:lstStyle/>
          <a:p>
            <a:endParaRPr lang="en-IN" sz="3600">
              <a:latin typeface="Times New Roman" panose="02020603050405020304" pitchFamily="18" charset="0"/>
              <a:cs typeface="Times New Roman" panose="02020603050405020304" pitchFamily="18" charset="0"/>
            </a:endParaRPr>
          </a:p>
        </p:txBody>
      </p:sp>
      <p:sp>
        <p:nvSpPr>
          <p:cNvPr id="36" name="Text 34"/>
          <p:cNvSpPr/>
          <p:nvPr/>
        </p:nvSpPr>
        <p:spPr>
          <a:xfrm>
            <a:off x="9473184" y="1645920"/>
            <a:ext cx="8138160" cy="694944"/>
          </a:xfrm>
          <a:prstGeom prst="rect">
            <a:avLst/>
          </a:prstGeom>
          <a:noFill/>
          <a:ln/>
        </p:spPr>
        <p:txBody>
          <a:bodyPr wrap="square" rtlCol="0" anchor="ctr"/>
          <a:lstStyle/>
          <a:p>
            <a:pPr algn="ctr"/>
            <a:r>
              <a:rPr lang="en-US" sz="2600" b="1" dirty="0">
                <a:latin typeface="Times New Roman" panose="02020603050405020304" pitchFamily="18" charset="0"/>
                <a:ea typeface="Calibri" pitchFamily="34" charset="-122"/>
                <a:cs typeface="Times New Roman" panose="02020603050405020304" pitchFamily="18" charset="0"/>
              </a:rPr>
              <a:t>Geometric Interpretation</a:t>
            </a:r>
            <a:endParaRPr lang="en-US" sz="2600" dirty="0">
              <a:latin typeface="Times New Roman" panose="02020603050405020304" pitchFamily="18" charset="0"/>
              <a:cs typeface="Times New Roman" panose="02020603050405020304" pitchFamily="18" charset="0"/>
            </a:endParaRPr>
          </a:p>
        </p:txBody>
      </p:sp>
      <p:sp>
        <p:nvSpPr>
          <p:cNvPr id="37" name="Text 35"/>
          <p:cNvSpPr/>
          <p:nvPr/>
        </p:nvSpPr>
        <p:spPr>
          <a:xfrm>
            <a:off x="9052560" y="2468880"/>
            <a:ext cx="2414016" cy="548640"/>
          </a:xfrm>
          <a:prstGeom prst="rect">
            <a:avLst/>
          </a:prstGeom>
          <a:noFill/>
          <a:ln/>
        </p:spPr>
        <p:txBody>
          <a:bodyPr wrap="square" rtlCol="0" anchor="ctr"/>
          <a:lstStyle/>
          <a:p>
            <a:pPr algn="ctr"/>
            <a:r>
              <a:rPr lang="en-US" sz="2000" b="1" dirty="0">
                <a:latin typeface="Times New Roman" panose="02020603050405020304" pitchFamily="18" charset="0"/>
                <a:ea typeface="Calibri" pitchFamily="34" charset="-122"/>
                <a:cs typeface="Times New Roman" panose="02020603050405020304" pitchFamily="18" charset="0"/>
              </a:rPr>
              <a:t>BEFORE</a:t>
            </a:r>
            <a:endParaRPr lang="en-US" sz="2000" dirty="0">
              <a:latin typeface="Times New Roman" panose="02020603050405020304" pitchFamily="18" charset="0"/>
              <a:cs typeface="Times New Roman" panose="02020603050405020304" pitchFamily="18" charset="0"/>
            </a:endParaRPr>
          </a:p>
        </p:txBody>
      </p:sp>
      <p:sp>
        <p:nvSpPr>
          <p:cNvPr id="38" name="Shape 36"/>
          <p:cNvSpPr/>
          <p:nvPr/>
        </p:nvSpPr>
        <p:spPr>
          <a:xfrm>
            <a:off x="8942832" y="4663440"/>
            <a:ext cx="2414016" cy="0"/>
          </a:xfrm>
          <a:prstGeom prst="line">
            <a:avLst/>
          </a:prstGeom>
          <a:noFill/>
          <a:ln w="12700">
            <a:solidFill>
              <a:srgbClr val="8A93A8"/>
            </a:solidFill>
            <a:prstDash val="solid"/>
          </a:ln>
        </p:spPr>
        <p:txBody>
          <a:bodyPr/>
          <a:lstStyle/>
          <a:p>
            <a:endParaRPr lang="en-IN" sz="3600">
              <a:latin typeface="Times New Roman" panose="02020603050405020304" pitchFamily="18" charset="0"/>
              <a:cs typeface="Times New Roman" panose="02020603050405020304" pitchFamily="18" charset="0"/>
            </a:endParaRPr>
          </a:p>
        </p:txBody>
      </p:sp>
      <p:sp>
        <p:nvSpPr>
          <p:cNvPr id="39" name="Shape 37"/>
          <p:cNvSpPr/>
          <p:nvPr/>
        </p:nvSpPr>
        <p:spPr>
          <a:xfrm>
            <a:off x="10149840" y="3566160"/>
            <a:ext cx="0" cy="1536192"/>
          </a:xfrm>
          <a:prstGeom prst="line">
            <a:avLst/>
          </a:prstGeom>
          <a:noFill/>
          <a:ln w="12700">
            <a:solidFill>
              <a:srgbClr val="8A93A8"/>
            </a:solidFill>
            <a:prstDash val="solid"/>
          </a:ln>
        </p:spPr>
        <p:txBody>
          <a:bodyPr/>
          <a:lstStyle/>
          <a:p>
            <a:endParaRPr lang="en-IN" sz="3600">
              <a:latin typeface="Times New Roman" panose="02020603050405020304" pitchFamily="18" charset="0"/>
              <a:cs typeface="Times New Roman" panose="02020603050405020304" pitchFamily="18" charset="0"/>
            </a:endParaRPr>
          </a:p>
        </p:txBody>
      </p:sp>
      <p:sp>
        <p:nvSpPr>
          <p:cNvPr id="40" name="Shape 38"/>
          <p:cNvSpPr/>
          <p:nvPr/>
        </p:nvSpPr>
        <p:spPr>
          <a:xfrm>
            <a:off x="11064240" y="4480560"/>
            <a:ext cx="365760" cy="365760"/>
          </a:xfrm>
          <a:prstGeom prst="ellipse">
            <a:avLst/>
          </a:prstGeom>
          <a:solidFill>
            <a:srgbClr val="4A90D9"/>
          </a:solidFill>
          <a:ln w="12700">
            <a:solidFill>
              <a:srgbClr val="4A90D9"/>
            </a:solidFill>
            <a:prstDash val="solid"/>
          </a:ln>
        </p:spPr>
        <p:txBody>
          <a:bodyPr/>
          <a:lstStyle/>
          <a:p>
            <a:endParaRPr lang="en-IN" sz="3600">
              <a:latin typeface="Times New Roman" panose="02020603050405020304" pitchFamily="18" charset="0"/>
              <a:cs typeface="Times New Roman" panose="02020603050405020304" pitchFamily="18" charset="0"/>
            </a:endParaRPr>
          </a:p>
        </p:txBody>
      </p:sp>
      <p:sp>
        <p:nvSpPr>
          <p:cNvPr id="41" name="Text 39"/>
          <p:cNvSpPr/>
          <p:nvPr/>
        </p:nvSpPr>
        <p:spPr>
          <a:xfrm>
            <a:off x="11064240" y="4151376"/>
            <a:ext cx="365760" cy="365760"/>
          </a:xfrm>
          <a:prstGeom prst="rect">
            <a:avLst/>
          </a:prstGeom>
          <a:noFill/>
          <a:ln/>
        </p:spPr>
        <p:txBody>
          <a:bodyPr wrap="square" rtlCol="0" anchor="ctr"/>
          <a:lstStyle/>
          <a:p>
            <a:pPr algn="ctr"/>
            <a:r>
              <a:rPr lang="en-US" b="1" dirty="0">
                <a:latin typeface="Times New Roman" panose="02020603050405020304" pitchFamily="18" charset="0"/>
                <a:ea typeface="Calibri" pitchFamily="34" charset="-122"/>
                <a:cs typeface="Times New Roman" panose="02020603050405020304" pitchFamily="18" charset="0"/>
              </a:rPr>
              <a:t>A</a:t>
            </a:r>
            <a:endParaRPr lang="en-US" dirty="0">
              <a:latin typeface="Times New Roman" panose="02020603050405020304" pitchFamily="18" charset="0"/>
              <a:cs typeface="Times New Roman" panose="02020603050405020304" pitchFamily="18" charset="0"/>
            </a:endParaRPr>
          </a:p>
        </p:txBody>
      </p:sp>
      <p:sp>
        <p:nvSpPr>
          <p:cNvPr id="42" name="Shape 40"/>
          <p:cNvSpPr/>
          <p:nvPr/>
        </p:nvSpPr>
        <p:spPr>
          <a:xfrm>
            <a:off x="10515600" y="3931920"/>
            <a:ext cx="365760" cy="365760"/>
          </a:xfrm>
          <a:prstGeom prst="ellipse">
            <a:avLst/>
          </a:prstGeom>
          <a:solidFill>
            <a:srgbClr val="F0C040"/>
          </a:solidFill>
          <a:ln w="12700">
            <a:solidFill>
              <a:srgbClr val="F0C040"/>
            </a:solidFill>
            <a:prstDash val="solid"/>
          </a:ln>
        </p:spPr>
        <p:txBody>
          <a:bodyPr/>
          <a:lstStyle/>
          <a:p>
            <a:endParaRPr lang="en-IN" sz="3600">
              <a:latin typeface="Times New Roman" panose="02020603050405020304" pitchFamily="18" charset="0"/>
              <a:cs typeface="Times New Roman" panose="02020603050405020304" pitchFamily="18" charset="0"/>
            </a:endParaRPr>
          </a:p>
        </p:txBody>
      </p:sp>
      <p:sp>
        <p:nvSpPr>
          <p:cNvPr id="43" name="Text 41"/>
          <p:cNvSpPr/>
          <p:nvPr/>
        </p:nvSpPr>
        <p:spPr>
          <a:xfrm>
            <a:off x="10515600" y="3602736"/>
            <a:ext cx="365760" cy="365760"/>
          </a:xfrm>
          <a:prstGeom prst="rect">
            <a:avLst/>
          </a:prstGeom>
          <a:noFill/>
          <a:ln/>
        </p:spPr>
        <p:txBody>
          <a:bodyPr wrap="square" rtlCol="0" anchor="ctr"/>
          <a:lstStyle/>
          <a:p>
            <a:pPr algn="ctr"/>
            <a:r>
              <a:rPr lang="en-US" b="1" dirty="0">
                <a:latin typeface="Times New Roman" panose="02020603050405020304" pitchFamily="18" charset="0"/>
                <a:ea typeface="Calibri" pitchFamily="34" charset="-122"/>
                <a:cs typeface="Times New Roman" panose="02020603050405020304" pitchFamily="18" charset="0"/>
              </a:rPr>
              <a:t>D</a:t>
            </a:r>
            <a:endParaRPr lang="en-US" dirty="0">
              <a:latin typeface="Times New Roman" panose="02020603050405020304" pitchFamily="18" charset="0"/>
              <a:cs typeface="Times New Roman" panose="02020603050405020304" pitchFamily="18" charset="0"/>
            </a:endParaRPr>
          </a:p>
        </p:txBody>
      </p:sp>
      <p:sp>
        <p:nvSpPr>
          <p:cNvPr id="44" name="Text 42"/>
          <p:cNvSpPr/>
          <p:nvPr/>
        </p:nvSpPr>
        <p:spPr>
          <a:xfrm>
            <a:off x="13167360" y="2468880"/>
            <a:ext cx="2414016" cy="548640"/>
          </a:xfrm>
          <a:prstGeom prst="rect">
            <a:avLst/>
          </a:prstGeom>
          <a:noFill/>
          <a:ln/>
        </p:spPr>
        <p:txBody>
          <a:bodyPr wrap="square" rtlCol="0" anchor="ctr"/>
          <a:lstStyle/>
          <a:p>
            <a:pPr algn="ctr"/>
            <a:r>
              <a:rPr lang="en-US" sz="2000" b="1" dirty="0">
                <a:latin typeface="Times New Roman" panose="02020603050405020304" pitchFamily="18" charset="0"/>
                <a:ea typeface="Calibri" pitchFamily="34" charset="-122"/>
                <a:cs typeface="Times New Roman" panose="02020603050405020304" pitchFamily="18" charset="0"/>
              </a:rPr>
              <a:t>AFTER</a:t>
            </a:r>
            <a:endParaRPr lang="en-US" sz="2000" dirty="0">
              <a:latin typeface="Times New Roman" panose="02020603050405020304" pitchFamily="18" charset="0"/>
              <a:cs typeface="Times New Roman" panose="02020603050405020304" pitchFamily="18" charset="0"/>
            </a:endParaRPr>
          </a:p>
        </p:txBody>
      </p:sp>
      <p:sp>
        <p:nvSpPr>
          <p:cNvPr id="45" name="Shape 43"/>
          <p:cNvSpPr/>
          <p:nvPr/>
        </p:nvSpPr>
        <p:spPr>
          <a:xfrm>
            <a:off x="13057632" y="4663440"/>
            <a:ext cx="2414016" cy="0"/>
          </a:xfrm>
          <a:prstGeom prst="line">
            <a:avLst/>
          </a:prstGeom>
          <a:noFill/>
          <a:ln w="12700">
            <a:solidFill>
              <a:srgbClr val="8A93A8"/>
            </a:solidFill>
            <a:prstDash val="solid"/>
          </a:ln>
        </p:spPr>
        <p:txBody>
          <a:bodyPr/>
          <a:lstStyle/>
          <a:p>
            <a:endParaRPr lang="en-IN" sz="3600">
              <a:latin typeface="Times New Roman" panose="02020603050405020304" pitchFamily="18" charset="0"/>
              <a:cs typeface="Times New Roman" panose="02020603050405020304" pitchFamily="18" charset="0"/>
            </a:endParaRPr>
          </a:p>
        </p:txBody>
      </p:sp>
      <p:sp>
        <p:nvSpPr>
          <p:cNvPr id="46" name="Shape 44"/>
          <p:cNvSpPr/>
          <p:nvPr/>
        </p:nvSpPr>
        <p:spPr>
          <a:xfrm>
            <a:off x="14264640" y="3566160"/>
            <a:ext cx="0" cy="1536192"/>
          </a:xfrm>
          <a:prstGeom prst="line">
            <a:avLst/>
          </a:prstGeom>
          <a:noFill/>
          <a:ln w="12700">
            <a:solidFill>
              <a:srgbClr val="8A93A8"/>
            </a:solidFill>
            <a:prstDash val="solid"/>
          </a:ln>
        </p:spPr>
        <p:txBody>
          <a:bodyPr/>
          <a:lstStyle/>
          <a:p>
            <a:endParaRPr lang="en-IN" sz="3600">
              <a:latin typeface="Times New Roman" panose="02020603050405020304" pitchFamily="18" charset="0"/>
              <a:cs typeface="Times New Roman" panose="02020603050405020304" pitchFamily="18" charset="0"/>
            </a:endParaRPr>
          </a:p>
        </p:txBody>
      </p:sp>
      <p:sp>
        <p:nvSpPr>
          <p:cNvPr id="47" name="Shape 45"/>
          <p:cNvSpPr/>
          <p:nvPr/>
        </p:nvSpPr>
        <p:spPr>
          <a:xfrm>
            <a:off x="14813280" y="4114800"/>
            <a:ext cx="109728" cy="0"/>
          </a:xfrm>
          <a:prstGeom prst="line">
            <a:avLst/>
          </a:prstGeom>
          <a:noFill/>
          <a:ln w="15240">
            <a:solidFill>
              <a:srgbClr val="5EC48A"/>
            </a:solidFill>
            <a:prstDash val="dash"/>
          </a:ln>
        </p:spPr>
        <p:txBody>
          <a:bodyPr/>
          <a:lstStyle/>
          <a:p>
            <a:endParaRPr lang="en-IN" sz="3600">
              <a:latin typeface="Times New Roman" panose="02020603050405020304" pitchFamily="18" charset="0"/>
              <a:cs typeface="Times New Roman" panose="02020603050405020304" pitchFamily="18" charset="0"/>
            </a:endParaRPr>
          </a:p>
        </p:txBody>
      </p:sp>
      <p:sp>
        <p:nvSpPr>
          <p:cNvPr id="48" name="Shape 46"/>
          <p:cNvSpPr/>
          <p:nvPr/>
        </p:nvSpPr>
        <p:spPr>
          <a:xfrm>
            <a:off x="15361920" y="4663440"/>
            <a:ext cx="54864" cy="0"/>
          </a:xfrm>
          <a:prstGeom prst="line">
            <a:avLst/>
          </a:prstGeom>
          <a:noFill/>
          <a:ln w="15240">
            <a:solidFill>
              <a:srgbClr val="5EC48A"/>
            </a:solidFill>
            <a:prstDash val="dash"/>
          </a:ln>
        </p:spPr>
        <p:txBody>
          <a:bodyPr/>
          <a:lstStyle/>
          <a:p>
            <a:endParaRPr lang="en-IN" sz="3600">
              <a:latin typeface="Times New Roman" panose="02020603050405020304" pitchFamily="18" charset="0"/>
              <a:cs typeface="Times New Roman" panose="02020603050405020304" pitchFamily="18" charset="0"/>
            </a:endParaRPr>
          </a:p>
        </p:txBody>
      </p:sp>
      <p:sp>
        <p:nvSpPr>
          <p:cNvPr id="49" name="Shape 47"/>
          <p:cNvSpPr/>
          <p:nvPr/>
        </p:nvSpPr>
        <p:spPr>
          <a:xfrm>
            <a:off x="15233904" y="4425696"/>
            <a:ext cx="365760" cy="365760"/>
          </a:xfrm>
          <a:prstGeom prst="ellipse">
            <a:avLst/>
          </a:prstGeom>
          <a:solidFill>
            <a:srgbClr val="4A90D9"/>
          </a:solidFill>
          <a:ln w="12700">
            <a:solidFill>
              <a:srgbClr val="4A90D9"/>
            </a:solidFill>
            <a:prstDash val="solid"/>
          </a:ln>
        </p:spPr>
        <p:txBody>
          <a:bodyPr/>
          <a:lstStyle/>
          <a:p>
            <a:endParaRPr lang="en-IN" sz="3600">
              <a:latin typeface="Times New Roman" panose="02020603050405020304" pitchFamily="18" charset="0"/>
              <a:cs typeface="Times New Roman" panose="02020603050405020304" pitchFamily="18" charset="0"/>
            </a:endParaRPr>
          </a:p>
        </p:txBody>
      </p:sp>
      <p:sp>
        <p:nvSpPr>
          <p:cNvPr id="50" name="Text 48"/>
          <p:cNvSpPr/>
          <p:nvPr/>
        </p:nvSpPr>
        <p:spPr>
          <a:xfrm>
            <a:off x="15233904" y="4096512"/>
            <a:ext cx="365760" cy="365760"/>
          </a:xfrm>
          <a:prstGeom prst="rect">
            <a:avLst/>
          </a:prstGeom>
          <a:noFill/>
          <a:ln/>
        </p:spPr>
        <p:txBody>
          <a:bodyPr wrap="square" rtlCol="0" anchor="ctr"/>
          <a:lstStyle/>
          <a:p>
            <a:pPr algn="ctr"/>
            <a:r>
              <a:rPr lang="en-US" b="1" dirty="0">
                <a:latin typeface="Times New Roman" panose="02020603050405020304" pitchFamily="18" charset="0"/>
                <a:ea typeface="Calibri" pitchFamily="34" charset="-122"/>
                <a:cs typeface="Times New Roman" panose="02020603050405020304" pitchFamily="18" charset="0"/>
              </a:rPr>
              <a:t>A</a:t>
            </a:r>
            <a:endParaRPr lang="en-US" dirty="0">
              <a:latin typeface="Times New Roman" panose="02020603050405020304" pitchFamily="18" charset="0"/>
              <a:cs typeface="Times New Roman" panose="02020603050405020304" pitchFamily="18" charset="0"/>
            </a:endParaRPr>
          </a:p>
        </p:txBody>
      </p:sp>
      <p:sp>
        <p:nvSpPr>
          <p:cNvPr id="51" name="Shape 49"/>
          <p:cNvSpPr/>
          <p:nvPr/>
        </p:nvSpPr>
        <p:spPr>
          <a:xfrm>
            <a:off x="14883384" y="4005072"/>
            <a:ext cx="365760" cy="365760"/>
          </a:xfrm>
          <a:prstGeom prst="ellipse">
            <a:avLst/>
          </a:prstGeom>
          <a:solidFill>
            <a:srgbClr val="F0C040"/>
          </a:solidFill>
          <a:ln w="12700">
            <a:solidFill>
              <a:srgbClr val="F0C040"/>
            </a:solidFill>
            <a:prstDash val="solid"/>
          </a:ln>
        </p:spPr>
        <p:txBody>
          <a:bodyPr/>
          <a:lstStyle/>
          <a:p>
            <a:endParaRPr lang="en-IN" sz="3600">
              <a:latin typeface="Times New Roman" panose="02020603050405020304" pitchFamily="18" charset="0"/>
              <a:cs typeface="Times New Roman" panose="02020603050405020304" pitchFamily="18" charset="0"/>
            </a:endParaRPr>
          </a:p>
        </p:txBody>
      </p:sp>
      <p:sp>
        <p:nvSpPr>
          <p:cNvPr id="52" name="Text 50"/>
          <p:cNvSpPr/>
          <p:nvPr/>
        </p:nvSpPr>
        <p:spPr>
          <a:xfrm>
            <a:off x="14740128" y="3602736"/>
            <a:ext cx="365760" cy="365760"/>
          </a:xfrm>
          <a:prstGeom prst="rect">
            <a:avLst/>
          </a:prstGeom>
          <a:noFill/>
          <a:ln/>
        </p:spPr>
        <p:txBody>
          <a:bodyPr wrap="square" rtlCol="0" anchor="ctr"/>
          <a:lstStyle/>
          <a:p>
            <a:pPr algn="ctr"/>
            <a:r>
              <a:rPr lang="en-US" b="1" dirty="0">
                <a:latin typeface="Times New Roman" panose="02020603050405020304" pitchFamily="18" charset="0"/>
                <a:ea typeface="Calibri" pitchFamily="34" charset="-122"/>
                <a:cs typeface="Times New Roman" panose="02020603050405020304" pitchFamily="18" charset="0"/>
              </a:rPr>
              <a:t>D</a:t>
            </a:r>
            <a:endParaRPr lang="en-US" dirty="0">
              <a:latin typeface="Times New Roman" panose="02020603050405020304" pitchFamily="18" charset="0"/>
              <a:cs typeface="Times New Roman" panose="02020603050405020304" pitchFamily="18" charset="0"/>
            </a:endParaRPr>
          </a:p>
        </p:txBody>
      </p:sp>
      <p:sp>
        <p:nvSpPr>
          <p:cNvPr id="53" name="Text 51"/>
          <p:cNvSpPr/>
          <p:nvPr/>
        </p:nvSpPr>
        <p:spPr>
          <a:xfrm>
            <a:off x="9418320" y="5632704"/>
            <a:ext cx="8229600" cy="640080"/>
          </a:xfrm>
          <a:prstGeom prst="rect">
            <a:avLst/>
          </a:prstGeom>
          <a:noFill/>
          <a:ln/>
        </p:spPr>
        <p:txBody>
          <a:bodyPr wrap="square" rtlCol="0" anchor="ctr"/>
          <a:lstStyle/>
          <a:p>
            <a:pPr algn="ctr"/>
            <a:r>
              <a:rPr lang="en-US" sz="2000" i="1" dirty="0">
                <a:latin typeface="Times New Roman" panose="02020603050405020304" pitchFamily="18" charset="0"/>
                <a:ea typeface="Calibri" pitchFamily="34" charset="-122"/>
                <a:cs typeface="Times New Roman" panose="02020603050405020304" pitchFamily="18" charset="0"/>
              </a:rPr>
              <a:t>Embeddings of co-occurring nodes move closer in latent space after each SGD step.</a:t>
            </a:r>
            <a:endParaRPr lang="en-US" sz="2000" dirty="0">
              <a:latin typeface="Times New Roman" panose="02020603050405020304" pitchFamily="18" charset="0"/>
              <a:cs typeface="Times New Roman" panose="02020603050405020304" pitchFamily="18" charset="0"/>
            </a:endParaRPr>
          </a:p>
        </p:txBody>
      </p:sp>
      <p:sp>
        <p:nvSpPr>
          <p:cNvPr id="54" name="Shape 52"/>
          <p:cNvSpPr/>
          <p:nvPr/>
        </p:nvSpPr>
        <p:spPr>
          <a:xfrm>
            <a:off x="9235440" y="6492240"/>
            <a:ext cx="8595360" cy="3474720"/>
          </a:xfrm>
          <a:prstGeom prst="roundRect">
            <a:avLst>
              <a:gd name="adj" fmla="val 6316"/>
            </a:avLst>
          </a:prstGeom>
          <a:solidFill>
            <a:schemeClr val="bg2">
              <a:lumMod val="75000"/>
            </a:schemeClr>
          </a:solidFill>
          <a:ln w="19050">
            <a:solidFill>
              <a:srgbClr val="5EC48A"/>
            </a:solidFill>
            <a:prstDash val="solid"/>
          </a:ln>
          <a:effectLst>
            <a:outerShdw blurRad="101600" dist="38100" dir="2700000" algn="bl" rotWithShape="0">
              <a:srgbClr val="000000">
                <a:alpha val="30000"/>
              </a:srgbClr>
            </a:outerShdw>
          </a:effectLst>
        </p:spPr>
        <p:txBody>
          <a:bodyPr/>
          <a:lstStyle/>
          <a:p>
            <a:endParaRPr lang="en-IN" sz="3600">
              <a:latin typeface="Times New Roman" panose="02020603050405020304" pitchFamily="18" charset="0"/>
              <a:cs typeface="Times New Roman" panose="02020603050405020304" pitchFamily="18" charset="0"/>
            </a:endParaRPr>
          </a:p>
        </p:txBody>
      </p:sp>
      <p:sp>
        <p:nvSpPr>
          <p:cNvPr id="55" name="Text 53"/>
          <p:cNvSpPr/>
          <p:nvPr/>
        </p:nvSpPr>
        <p:spPr>
          <a:xfrm>
            <a:off x="9473184" y="6583680"/>
            <a:ext cx="8138160" cy="694944"/>
          </a:xfrm>
          <a:prstGeom prst="rect">
            <a:avLst/>
          </a:prstGeom>
          <a:noFill/>
          <a:ln/>
        </p:spPr>
        <p:txBody>
          <a:bodyPr wrap="square" rtlCol="0" anchor="ctr"/>
          <a:lstStyle/>
          <a:p>
            <a:pPr algn="ctr"/>
            <a:r>
              <a:rPr lang="en-US" sz="2600" b="1" dirty="0">
                <a:latin typeface="Times New Roman" panose="02020603050405020304" pitchFamily="18" charset="0"/>
                <a:ea typeface="Calibri" pitchFamily="34" charset="-122"/>
                <a:cs typeface="Times New Roman" panose="02020603050405020304" pitchFamily="18" charset="0"/>
              </a:rPr>
              <a:t>DeepWalk Learning Loop</a:t>
            </a:r>
            <a:endParaRPr lang="en-US" sz="2600" dirty="0">
              <a:latin typeface="Times New Roman" panose="02020603050405020304" pitchFamily="18" charset="0"/>
              <a:cs typeface="Times New Roman" panose="02020603050405020304" pitchFamily="18" charset="0"/>
            </a:endParaRPr>
          </a:p>
        </p:txBody>
      </p:sp>
      <p:sp>
        <p:nvSpPr>
          <p:cNvPr id="56" name="Text 54"/>
          <p:cNvSpPr/>
          <p:nvPr/>
        </p:nvSpPr>
        <p:spPr>
          <a:xfrm>
            <a:off x="9601200" y="7406640"/>
            <a:ext cx="7955280" cy="493776"/>
          </a:xfrm>
          <a:prstGeom prst="rect">
            <a:avLst/>
          </a:prstGeom>
          <a:noFill/>
          <a:ln/>
        </p:spPr>
        <p:txBody>
          <a:bodyPr wrap="square" rtlCol="0" anchor="ctr"/>
          <a:lstStyle/>
          <a:p>
            <a:r>
              <a:rPr lang="en-US" sz="2100" dirty="0">
                <a:latin typeface="Times New Roman" panose="02020603050405020304" pitchFamily="18" charset="0"/>
                <a:ea typeface="Calibri" pitchFamily="34" charset="-122"/>
                <a:cs typeface="Times New Roman" panose="02020603050405020304" pitchFamily="18" charset="0"/>
              </a:rPr>
              <a:t>1  Generate random walks on the graph</a:t>
            </a:r>
            <a:endParaRPr lang="en-US" sz="2100" dirty="0">
              <a:latin typeface="Times New Roman" panose="02020603050405020304" pitchFamily="18" charset="0"/>
              <a:cs typeface="Times New Roman" panose="02020603050405020304" pitchFamily="18" charset="0"/>
            </a:endParaRPr>
          </a:p>
        </p:txBody>
      </p:sp>
      <p:sp>
        <p:nvSpPr>
          <p:cNvPr id="57" name="Text 55"/>
          <p:cNvSpPr/>
          <p:nvPr/>
        </p:nvSpPr>
        <p:spPr>
          <a:xfrm>
            <a:off x="9601200" y="7900416"/>
            <a:ext cx="7955280" cy="493776"/>
          </a:xfrm>
          <a:prstGeom prst="rect">
            <a:avLst/>
          </a:prstGeom>
          <a:noFill/>
          <a:ln/>
        </p:spPr>
        <p:txBody>
          <a:bodyPr wrap="square" rtlCol="0" anchor="ctr"/>
          <a:lstStyle/>
          <a:p>
            <a:r>
              <a:rPr lang="en-US" sz="2100" dirty="0">
                <a:latin typeface="Times New Roman" panose="02020603050405020304" pitchFamily="18" charset="0"/>
                <a:ea typeface="Calibri" pitchFamily="34" charset="-122"/>
                <a:cs typeface="Times New Roman" panose="02020603050405020304" pitchFamily="18" charset="0"/>
              </a:rPr>
              <a:t>2  Extract context pairs within window</a:t>
            </a:r>
            <a:endParaRPr lang="en-US" sz="2100" dirty="0">
              <a:latin typeface="Times New Roman" panose="02020603050405020304" pitchFamily="18" charset="0"/>
              <a:cs typeface="Times New Roman" panose="02020603050405020304" pitchFamily="18" charset="0"/>
            </a:endParaRPr>
          </a:p>
        </p:txBody>
      </p:sp>
      <p:sp>
        <p:nvSpPr>
          <p:cNvPr id="58" name="Text 56"/>
          <p:cNvSpPr/>
          <p:nvPr/>
        </p:nvSpPr>
        <p:spPr>
          <a:xfrm>
            <a:off x="9601200" y="8394192"/>
            <a:ext cx="7955280" cy="493776"/>
          </a:xfrm>
          <a:prstGeom prst="rect">
            <a:avLst/>
          </a:prstGeom>
          <a:noFill/>
          <a:ln/>
        </p:spPr>
        <p:txBody>
          <a:bodyPr wrap="square" rtlCol="0" anchor="ctr"/>
          <a:lstStyle/>
          <a:p>
            <a:r>
              <a:rPr lang="en-US" sz="2100" dirty="0">
                <a:latin typeface="Times New Roman" panose="02020603050405020304" pitchFamily="18" charset="0"/>
                <a:ea typeface="Calibri" pitchFamily="34" charset="-122"/>
                <a:cs typeface="Times New Roman" panose="02020603050405020304" pitchFamily="18" charset="0"/>
              </a:rPr>
              <a:t>3  Compute softmax probabilities</a:t>
            </a:r>
            <a:endParaRPr lang="en-US" sz="2100" dirty="0">
              <a:latin typeface="Times New Roman" panose="02020603050405020304" pitchFamily="18" charset="0"/>
              <a:cs typeface="Times New Roman" panose="02020603050405020304" pitchFamily="18" charset="0"/>
            </a:endParaRPr>
          </a:p>
        </p:txBody>
      </p:sp>
      <p:sp>
        <p:nvSpPr>
          <p:cNvPr id="59" name="Text 57"/>
          <p:cNvSpPr/>
          <p:nvPr/>
        </p:nvSpPr>
        <p:spPr>
          <a:xfrm>
            <a:off x="9601200" y="8887968"/>
            <a:ext cx="7955280" cy="493776"/>
          </a:xfrm>
          <a:prstGeom prst="rect">
            <a:avLst/>
          </a:prstGeom>
          <a:noFill/>
          <a:ln/>
        </p:spPr>
        <p:txBody>
          <a:bodyPr wrap="square" rtlCol="0" anchor="ctr"/>
          <a:lstStyle/>
          <a:p>
            <a:r>
              <a:rPr lang="en-US" sz="2100" dirty="0">
                <a:latin typeface="Times New Roman" panose="02020603050405020304" pitchFamily="18" charset="0"/>
                <a:ea typeface="Calibri" pitchFamily="34" charset="-122"/>
                <a:cs typeface="Times New Roman" panose="02020603050405020304" pitchFamily="18" charset="0"/>
              </a:rPr>
              <a:t>4  Compute cross-entropy loss</a:t>
            </a:r>
            <a:endParaRPr lang="en-US" sz="2100" dirty="0">
              <a:latin typeface="Times New Roman" panose="02020603050405020304" pitchFamily="18" charset="0"/>
              <a:cs typeface="Times New Roman" panose="02020603050405020304" pitchFamily="18" charset="0"/>
            </a:endParaRPr>
          </a:p>
        </p:txBody>
      </p:sp>
      <p:sp>
        <p:nvSpPr>
          <p:cNvPr id="60" name="Text 58"/>
          <p:cNvSpPr/>
          <p:nvPr/>
        </p:nvSpPr>
        <p:spPr>
          <a:xfrm>
            <a:off x="9601200" y="9381744"/>
            <a:ext cx="7955280" cy="493776"/>
          </a:xfrm>
          <a:prstGeom prst="rect">
            <a:avLst/>
          </a:prstGeom>
          <a:noFill/>
          <a:ln/>
        </p:spPr>
        <p:txBody>
          <a:bodyPr wrap="square" rtlCol="0" anchor="ctr"/>
          <a:lstStyle/>
          <a:p>
            <a:r>
              <a:rPr lang="en-US" sz="2100" dirty="0">
                <a:latin typeface="Times New Roman" panose="02020603050405020304" pitchFamily="18" charset="0"/>
                <a:ea typeface="Calibri" pitchFamily="34" charset="-122"/>
                <a:cs typeface="Times New Roman" panose="02020603050405020304" pitchFamily="18" charset="0"/>
              </a:rPr>
              <a:t>5  SGD: move co-occurring nodes closer</a:t>
            </a:r>
            <a:endParaRPr lang="en-US" sz="21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253439"/>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0" y="0"/>
              <a:ext cx="24417910" cy="1789557"/>
            </a:xfrm>
            <a:custGeom>
              <a:avLst/>
              <a:gdLst/>
              <a:ahLst/>
              <a:cxnLst/>
              <a:rect l="l" t="t" r="r" b="b"/>
              <a:pathLst>
                <a:path w="24417910" h="1789557">
                  <a:moveTo>
                    <a:pt x="0" y="0"/>
                  </a:moveTo>
                  <a:lnTo>
                    <a:pt x="24417910" y="0"/>
                  </a:lnTo>
                  <a:lnTo>
                    <a:pt x="24417910" y="1789557"/>
                  </a:lnTo>
                  <a:lnTo>
                    <a:pt x="0" y="1789557"/>
                  </a:lnTo>
                  <a:close/>
                </a:path>
              </a:pathLst>
            </a:custGeom>
            <a:solidFill>
              <a:srgbClr val="FFFFFF"/>
            </a:solidFill>
            <a:ln w="25400" cap="sq">
              <a:solidFill>
                <a:srgbClr val="1A3461"/>
              </a:solidFill>
              <a:prstDash val="solid"/>
              <a:miter/>
            </a:ln>
          </p:spPr>
          <p:txBody>
            <a:bodyPr/>
            <a:lstStyle/>
            <a:p>
              <a:endParaRPr lang="en-IN"/>
            </a:p>
          </p:txBody>
        </p:sp>
      </p:grpSp>
      <p:grpSp>
        <p:nvGrpSpPr>
          <p:cNvPr id="4" name="Group 4"/>
          <p:cNvGrpSpPr/>
          <p:nvPr/>
        </p:nvGrpSpPr>
        <p:grpSpPr>
          <a:xfrm>
            <a:off x="731520" y="0"/>
            <a:ext cx="16824960" cy="1316736"/>
            <a:chOff x="0" y="0"/>
            <a:chExt cx="22433280" cy="1755648"/>
          </a:xfrm>
        </p:grpSpPr>
        <p:sp>
          <p:nvSpPr>
            <p:cNvPr id="5" name="Freeform 5"/>
            <p:cNvSpPr/>
            <p:nvPr/>
          </p:nvSpPr>
          <p:spPr>
            <a:xfrm>
              <a:off x="0" y="0"/>
              <a:ext cx="22433280" cy="1755648"/>
            </a:xfrm>
            <a:custGeom>
              <a:avLst/>
              <a:gdLst/>
              <a:ahLst/>
              <a:cxnLst/>
              <a:rect l="l" t="t" r="r" b="b"/>
              <a:pathLst>
                <a:path w="22433280" h="1755648">
                  <a:moveTo>
                    <a:pt x="0" y="0"/>
                  </a:moveTo>
                  <a:lnTo>
                    <a:pt x="22433280" y="0"/>
                  </a:lnTo>
                  <a:lnTo>
                    <a:pt x="22433280" y="1755648"/>
                  </a:lnTo>
                  <a:lnTo>
                    <a:pt x="0" y="1755648"/>
                  </a:lnTo>
                  <a:close/>
                </a:path>
              </a:pathLst>
            </a:custGeom>
            <a:blipFill>
              <a:blip r:embed="rId3">
                <a:alphaModFix amt="0"/>
              </a:blip>
              <a:stretch>
                <a:fillRect t="-198975" b="-198975"/>
              </a:stretch>
            </a:blipFill>
          </p:spPr>
          <p:txBody>
            <a:bodyPr/>
            <a:lstStyle/>
            <a:p>
              <a:endParaRPr lang="en-IN"/>
            </a:p>
          </p:txBody>
        </p:sp>
        <p:sp>
          <p:nvSpPr>
            <p:cNvPr id="6" name="TextBox 6"/>
            <p:cNvSpPr txBox="1"/>
            <p:nvPr/>
          </p:nvSpPr>
          <p:spPr>
            <a:xfrm>
              <a:off x="0" y="-9525"/>
              <a:ext cx="22433280" cy="1765173"/>
            </a:xfrm>
            <a:prstGeom prst="rect">
              <a:avLst/>
            </a:prstGeom>
          </p:spPr>
          <p:txBody>
            <a:bodyPr lIns="0" tIns="0" rIns="0" bIns="0" rtlCol="0" anchor="ctr"/>
            <a:lstStyle/>
            <a:p>
              <a:pPr algn="l">
                <a:lnSpc>
                  <a:spcPts val="4800"/>
                </a:lnSpc>
              </a:pPr>
              <a:r>
                <a:rPr lang="en-US" sz="4000" spc="560" dirty="0">
                  <a:solidFill>
                    <a:srgbClr val="253439"/>
                  </a:solidFill>
                  <a:latin typeface="Times New Roman" panose="02020603050405020304" pitchFamily="18" charset="0"/>
                  <a:ea typeface="Hammersmith One"/>
                  <a:cs typeface="Times New Roman" panose="02020603050405020304" pitchFamily="18" charset="0"/>
                  <a:sym typeface="Hammersmith One"/>
                </a:rPr>
                <a:t>Node2vec – Biased Random Walks</a:t>
              </a:r>
            </a:p>
          </p:txBody>
        </p:sp>
      </p:grpSp>
      <p:sp>
        <p:nvSpPr>
          <p:cNvPr id="8" name="Freeform 8"/>
          <p:cNvSpPr/>
          <p:nvPr/>
        </p:nvSpPr>
        <p:spPr>
          <a:xfrm>
            <a:off x="731520" y="73152"/>
            <a:ext cx="16459200" cy="402336"/>
          </a:xfrm>
          <a:custGeom>
            <a:avLst/>
            <a:gdLst/>
            <a:ahLst/>
            <a:cxnLst/>
            <a:rect l="l" t="t" r="r" b="b"/>
            <a:pathLst>
              <a:path w="21945600" h="536448">
                <a:moveTo>
                  <a:pt x="0" y="0"/>
                </a:moveTo>
                <a:lnTo>
                  <a:pt x="21945600" y="0"/>
                </a:lnTo>
                <a:lnTo>
                  <a:pt x="21945600" y="536448"/>
                </a:lnTo>
                <a:lnTo>
                  <a:pt x="0" y="536448"/>
                </a:lnTo>
                <a:close/>
              </a:path>
            </a:pathLst>
          </a:custGeom>
          <a:blipFill>
            <a:blip r:embed="rId3">
              <a:alphaModFix amt="0"/>
            </a:blip>
            <a:stretch>
              <a:fillRect t="-747115" b="-747115"/>
            </a:stretch>
          </a:blipFill>
        </p:spPr>
        <p:txBody>
          <a:bodyPr/>
          <a:lstStyle/>
          <a:p>
            <a:endParaRPr lang="en-IN">
              <a:latin typeface="Times New Roman" panose="02020603050405020304" pitchFamily="18" charset="0"/>
              <a:cs typeface="Times New Roman" panose="02020603050405020304" pitchFamily="18" charset="0"/>
            </a:endParaRPr>
          </a:p>
        </p:txBody>
      </p:sp>
      <p:grpSp>
        <p:nvGrpSpPr>
          <p:cNvPr id="10" name="Group 10"/>
          <p:cNvGrpSpPr/>
          <p:nvPr/>
        </p:nvGrpSpPr>
        <p:grpSpPr>
          <a:xfrm>
            <a:off x="731520" y="1499616"/>
            <a:ext cx="16824960" cy="983996"/>
            <a:chOff x="0" y="0"/>
            <a:chExt cx="22433280" cy="1311995"/>
          </a:xfrm>
        </p:grpSpPr>
        <p:sp>
          <p:nvSpPr>
            <p:cNvPr id="11" name="Freeform 11"/>
            <p:cNvSpPr/>
            <p:nvPr/>
          </p:nvSpPr>
          <p:spPr>
            <a:xfrm>
              <a:off x="0" y="0"/>
              <a:ext cx="22433280" cy="1311995"/>
            </a:xfrm>
            <a:custGeom>
              <a:avLst/>
              <a:gdLst/>
              <a:ahLst/>
              <a:cxnLst/>
              <a:rect l="l" t="t" r="r" b="b"/>
              <a:pathLst>
                <a:path w="22433280" h="1311995">
                  <a:moveTo>
                    <a:pt x="0" y="0"/>
                  </a:moveTo>
                  <a:lnTo>
                    <a:pt x="22433280" y="0"/>
                  </a:lnTo>
                  <a:lnTo>
                    <a:pt x="22433280" y="1311995"/>
                  </a:lnTo>
                  <a:lnTo>
                    <a:pt x="0" y="1311995"/>
                  </a:lnTo>
                  <a:close/>
                </a:path>
              </a:pathLst>
            </a:custGeom>
            <a:blipFill>
              <a:blip r:embed="rId3">
                <a:alphaModFix amt="0"/>
              </a:blip>
              <a:stretch>
                <a:fillRect t="-291349" b="-274984"/>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12" name="TextBox 12"/>
            <p:cNvSpPr txBox="1"/>
            <p:nvPr/>
          </p:nvSpPr>
          <p:spPr>
            <a:xfrm>
              <a:off x="0" y="9525"/>
              <a:ext cx="22433280" cy="1302470"/>
            </a:xfrm>
            <a:prstGeom prst="rect">
              <a:avLst/>
            </a:prstGeom>
          </p:spPr>
          <p:txBody>
            <a:bodyPr lIns="0" tIns="0" rIns="0" bIns="0" rtlCol="0" anchor="ctr"/>
            <a:lstStyle/>
            <a:p>
              <a:pPr algn="l">
                <a:lnSpc>
                  <a:spcPts val="3359"/>
                </a:lnSpc>
              </a:pPr>
              <a:r>
                <a:rPr lang="en-US" sz="2799" spc="55" dirty="0">
                  <a:latin typeface="Times New Roman" panose="02020603050405020304" pitchFamily="18" charset="0"/>
                  <a:ea typeface="Playfair Display"/>
                  <a:cs typeface="Times New Roman" panose="02020603050405020304" pitchFamily="18" charset="0"/>
                  <a:sym typeface="Playfair Display"/>
                </a:rPr>
                <a:t>node2vec builds on DeepWalk but introduces two hyperparameters p and q that control how the random walk explores the graph.</a:t>
              </a:r>
            </a:p>
          </p:txBody>
        </p:sp>
      </p:grpSp>
      <p:grpSp>
        <p:nvGrpSpPr>
          <p:cNvPr id="13" name="Group 13"/>
          <p:cNvGrpSpPr/>
          <p:nvPr/>
        </p:nvGrpSpPr>
        <p:grpSpPr>
          <a:xfrm>
            <a:off x="535943" y="2511047"/>
            <a:ext cx="8072123" cy="4597403"/>
            <a:chOff x="0" y="0"/>
            <a:chExt cx="10762831" cy="6129871"/>
          </a:xfrm>
          <a:solidFill>
            <a:schemeClr val="bg1">
              <a:lumMod val="75000"/>
            </a:schemeClr>
          </a:solidFill>
        </p:grpSpPr>
        <p:sp>
          <p:nvSpPr>
            <p:cNvPr id="14" name="Freeform 14"/>
            <p:cNvSpPr/>
            <p:nvPr/>
          </p:nvSpPr>
          <p:spPr>
            <a:xfrm>
              <a:off x="0" y="0"/>
              <a:ext cx="10762869" cy="6129909"/>
            </a:xfrm>
            <a:custGeom>
              <a:avLst/>
              <a:gdLst/>
              <a:ahLst/>
              <a:cxnLst/>
              <a:rect l="l" t="t" r="r" b="b"/>
              <a:pathLst>
                <a:path w="10762869" h="6129909">
                  <a:moveTo>
                    <a:pt x="0" y="245237"/>
                  </a:moveTo>
                  <a:cubicBezTo>
                    <a:pt x="0" y="109728"/>
                    <a:pt x="109728" y="0"/>
                    <a:pt x="245237" y="0"/>
                  </a:cubicBezTo>
                  <a:lnTo>
                    <a:pt x="10517632" y="0"/>
                  </a:lnTo>
                  <a:cubicBezTo>
                    <a:pt x="10653013" y="0"/>
                    <a:pt x="10762869" y="109728"/>
                    <a:pt x="10762869" y="245237"/>
                  </a:cubicBezTo>
                  <a:lnTo>
                    <a:pt x="10762869" y="5884672"/>
                  </a:lnTo>
                  <a:cubicBezTo>
                    <a:pt x="10762869" y="6020054"/>
                    <a:pt x="10653140" y="6129909"/>
                    <a:pt x="10517632" y="6129909"/>
                  </a:cubicBezTo>
                  <a:lnTo>
                    <a:pt x="245237" y="6129909"/>
                  </a:lnTo>
                  <a:cubicBezTo>
                    <a:pt x="109728" y="6129909"/>
                    <a:pt x="0" y="6020054"/>
                    <a:pt x="0" y="5884672"/>
                  </a:cubicBezTo>
                  <a:close/>
                </a:path>
              </a:pathLst>
            </a:custGeom>
            <a:grpFill/>
            <a:ln w="25400" cap="sq">
              <a:solidFill>
                <a:srgbClr val="D8E8F8"/>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15" name="Group 15"/>
          <p:cNvGrpSpPr/>
          <p:nvPr/>
        </p:nvGrpSpPr>
        <p:grpSpPr>
          <a:xfrm>
            <a:off x="914400" y="2615184"/>
            <a:ext cx="7315200" cy="694944"/>
            <a:chOff x="0" y="0"/>
            <a:chExt cx="9753600" cy="926592"/>
          </a:xfrm>
        </p:grpSpPr>
        <p:sp>
          <p:nvSpPr>
            <p:cNvPr id="16" name="Freeform 16"/>
            <p:cNvSpPr/>
            <p:nvPr/>
          </p:nvSpPr>
          <p:spPr>
            <a:xfrm>
              <a:off x="0" y="0"/>
              <a:ext cx="9753600" cy="926592"/>
            </a:xfrm>
            <a:custGeom>
              <a:avLst/>
              <a:gdLst/>
              <a:ahLst/>
              <a:cxnLst/>
              <a:rect l="l" t="t" r="r" b="b"/>
              <a:pathLst>
                <a:path w="9753600" h="926592">
                  <a:moveTo>
                    <a:pt x="0" y="0"/>
                  </a:moveTo>
                  <a:lnTo>
                    <a:pt x="9753600" y="0"/>
                  </a:lnTo>
                  <a:lnTo>
                    <a:pt x="9753600" y="926592"/>
                  </a:lnTo>
                  <a:lnTo>
                    <a:pt x="0" y="926592"/>
                  </a:lnTo>
                  <a:close/>
                </a:path>
              </a:pathLst>
            </a:custGeom>
            <a:blipFill>
              <a:blip r:embed="rId3">
                <a:alphaModFix amt="0"/>
              </a:blip>
              <a:stretch>
                <a:fillRect t="-155105" b="-155105"/>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17" name="TextBox 17"/>
            <p:cNvSpPr txBox="1"/>
            <p:nvPr/>
          </p:nvSpPr>
          <p:spPr>
            <a:xfrm>
              <a:off x="0" y="9525"/>
              <a:ext cx="9753600" cy="917067"/>
            </a:xfrm>
            <a:prstGeom prst="rect">
              <a:avLst/>
            </a:prstGeom>
          </p:spPr>
          <p:txBody>
            <a:bodyPr lIns="0" tIns="0" rIns="0" bIns="0" rtlCol="0" anchor="ctr"/>
            <a:lstStyle/>
            <a:p>
              <a:pPr algn="l">
                <a:lnSpc>
                  <a:spcPts val="3359"/>
                </a:lnSpc>
              </a:pPr>
              <a:r>
                <a:rPr lang="en-US" sz="2799" i="1" spc="140">
                  <a:latin typeface="Times New Roman" panose="02020603050405020304" pitchFamily="18" charset="0"/>
                  <a:ea typeface="Playfair Display Italics"/>
                  <a:cs typeface="Times New Roman" panose="02020603050405020304" pitchFamily="18" charset="0"/>
                  <a:sym typeface="Playfair Display Italics"/>
                </a:rPr>
                <a:t>BFS-like Walk  (high q, low p)</a:t>
              </a:r>
            </a:p>
          </p:txBody>
        </p:sp>
      </p:grpSp>
      <p:grpSp>
        <p:nvGrpSpPr>
          <p:cNvPr id="18" name="Group 18"/>
          <p:cNvGrpSpPr/>
          <p:nvPr/>
        </p:nvGrpSpPr>
        <p:grpSpPr>
          <a:xfrm>
            <a:off x="2730503" y="3827783"/>
            <a:ext cx="665483" cy="665483"/>
            <a:chOff x="0" y="0"/>
            <a:chExt cx="887311" cy="887311"/>
          </a:xfrm>
        </p:grpSpPr>
        <p:sp>
          <p:nvSpPr>
            <p:cNvPr id="19" name="Freeform 19"/>
            <p:cNvSpPr/>
            <p:nvPr/>
          </p:nvSpPr>
          <p:spPr>
            <a:xfrm>
              <a:off x="0" y="0"/>
              <a:ext cx="887349" cy="887349"/>
            </a:xfrm>
            <a:custGeom>
              <a:avLst/>
              <a:gdLst/>
              <a:ahLst/>
              <a:cxnLst/>
              <a:rect l="l" t="t" r="r" b="b"/>
              <a:pathLst>
                <a:path w="887349" h="887349">
                  <a:moveTo>
                    <a:pt x="0" y="443611"/>
                  </a:moveTo>
                  <a:cubicBezTo>
                    <a:pt x="0" y="198628"/>
                    <a:pt x="198628" y="0"/>
                    <a:pt x="443611" y="0"/>
                  </a:cubicBezTo>
                  <a:cubicBezTo>
                    <a:pt x="688594" y="0"/>
                    <a:pt x="887349" y="198628"/>
                    <a:pt x="887349" y="443611"/>
                  </a:cubicBezTo>
                  <a:cubicBezTo>
                    <a:pt x="887349" y="688594"/>
                    <a:pt x="688721" y="887349"/>
                    <a:pt x="443611" y="887349"/>
                  </a:cubicBezTo>
                  <a:cubicBezTo>
                    <a:pt x="198501" y="887349"/>
                    <a:pt x="0" y="688721"/>
                    <a:pt x="0" y="443611"/>
                  </a:cubicBezTo>
                  <a:close/>
                </a:path>
              </a:pathLst>
            </a:custGeom>
            <a:solidFill>
              <a:srgbClr val="FFFFFF"/>
            </a:solidFill>
            <a:ln w="25400" cap="sq">
              <a:solidFill>
                <a:srgbClr val="FFFFFF"/>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20" name="Group 20"/>
          <p:cNvGrpSpPr/>
          <p:nvPr/>
        </p:nvGrpSpPr>
        <p:grpSpPr>
          <a:xfrm>
            <a:off x="1267463" y="5290823"/>
            <a:ext cx="665483" cy="665483"/>
            <a:chOff x="0" y="0"/>
            <a:chExt cx="887311" cy="887311"/>
          </a:xfrm>
        </p:grpSpPr>
        <p:sp>
          <p:nvSpPr>
            <p:cNvPr id="21" name="Freeform 21"/>
            <p:cNvSpPr/>
            <p:nvPr/>
          </p:nvSpPr>
          <p:spPr>
            <a:xfrm>
              <a:off x="0" y="0"/>
              <a:ext cx="887349" cy="887349"/>
            </a:xfrm>
            <a:custGeom>
              <a:avLst/>
              <a:gdLst/>
              <a:ahLst/>
              <a:cxnLst/>
              <a:rect l="l" t="t" r="r" b="b"/>
              <a:pathLst>
                <a:path w="887349" h="887349">
                  <a:moveTo>
                    <a:pt x="0" y="443611"/>
                  </a:moveTo>
                  <a:cubicBezTo>
                    <a:pt x="0" y="198628"/>
                    <a:pt x="198628" y="0"/>
                    <a:pt x="443611" y="0"/>
                  </a:cubicBezTo>
                  <a:cubicBezTo>
                    <a:pt x="688594" y="0"/>
                    <a:pt x="887349" y="198628"/>
                    <a:pt x="887349" y="443611"/>
                  </a:cubicBezTo>
                  <a:cubicBezTo>
                    <a:pt x="887349" y="688594"/>
                    <a:pt x="688721" y="887349"/>
                    <a:pt x="443611" y="887349"/>
                  </a:cubicBezTo>
                  <a:cubicBezTo>
                    <a:pt x="198501" y="887349"/>
                    <a:pt x="0" y="688721"/>
                    <a:pt x="0" y="443611"/>
                  </a:cubicBezTo>
                  <a:close/>
                </a:path>
              </a:pathLst>
            </a:custGeom>
            <a:solidFill>
              <a:srgbClr val="FFFFFF"/>
            </a:solidFill>
            <a:ln w="25400" cap="sq">
              <a:solidFill>
                <a:srgbClr val="FFFFFF"/>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22" name="Group 22"/>
          <p:cNvGrpSpPr/>
          <p:nvPr/>
        </p:nvGrpSpPr>
        <p:grpSpPr>
          <a:xfrm>
            <a:off x="2730503" y="5290823"/>
            <a:ext cx="665483" cy="665483"/>
            <a:chOff x="0" y="0"/>
            <a:chExt cx="887311" cy="887311"/>
          </a:xfrm>
        </p:grpSpPr>
        <p:sp>
          <p:nvSpPr>
            <p:cNvPr id="23" name="Freeform 23"/>
            <p:cNvSpPr/>
            <p:nvPr/>
          </p:nvSpPr>
          <p:spPr>
            <a:xfrm>
              <a:off x="0" y="0"/>
              <a:ext cx="887349" cy="887349"/>
            </a:xfrm>
            <a:custGeom>
              <a:avLst/>
              <a:gdLst/>
              <a:ahLst/>
              <a:cxnLst/>
              <a:rect l="l" t="t" r="r" b="b"/>
              <a:pathLst>
                <a:path w="887349" h="887349">
                  <a:moveTo>
                    <a:pt x="0" y="443611"/>
                  </a:moveTo>
                  <a:cubicBezTo>
                    <a:pt x="0" y="198628"/>
                    <a:pt x="198628" y="0"/>
                    <a:pt x="443611" y="0"/>
                  </a:cubicBezTo>
                  <a:cubicBezTo>
                    <a:pt x="688594" y="0"/>
                    <a:pt x="887349" y="198628"/>
                    <a:pt x="887349" y="443611"/>
                  </a:cubicBezTo>
                  <a:cubicBezTo>
                    <a:pt x="887349" y="688594"/>
                    <a:pt x="688721" y="887349"/>
                    <a:pt x="443611" y="887349"/>
                  </a:cubicBezTo>
                  <a:cubicBezTo>
                    <a:pt x="198501" y="887349"/>
                    <a:pt x="0" y="688721"/>
                    <a:pt x="0" y="443611"/>
                  </a:cubicBezTo>
                  <a:close/>
                </a:path>
              </a:pathLst>
            </a:custGeom>
            <a:solidFill>
              <a:srgbClr val="FFFFFF"/>
            </a:solidFill>
            <a:ln w="25400" cap="sq">
              <a:solidFill>
                <a:srgbClr val="FFFFFF"/>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24" name="Group 24"/>
          <p:cNvGrpSpPr/>
          <p:nvPr/>
        </p:nvGrpSpPr>
        <p:grpSpPr>
          <a:xfrm>
            <a:off x="3044190" y="4141470"/>
            <a:ext cx="38100" cy="1501140"/>
            <a:chOff x="0" y="0"/>
            <a:chExt cx="50800" cy="2001520"/>
          </a:xfrm>
        </p:grpSpPr>
        <p:sp>
          <p:nvSpPr>
            <p:cNvPr id="25" name="Freeform 25"/>
            <p:cNvSpPr/>
            <p:nvPr/>
          </p:nvSpPr>
          <p:spPr>
            <a:xfrm>
              <a:off x="0" y="0"/>
              <a:ext cx="50800" cy="2001520"/>
            </a:xfrm>
            <a:custGeom>
              <a:avLst/>
              <a:gdLst/>
              <a:ahLst/>
              <a:cxnLst/>
              <a:rect l="l" t="t" r="r" b="b"/>
              <a:pathLst>
                <a:path w="50800" h="2001520">
                  <a:moveTo>
                    <a:pt x="0" y="0"/>
                  </a:moveTo>
                  <a:lnTo>
                    <a:pt x="50800" y="2001520"/>
                  </a:lnTo>
                </a:path>
              </a:pathLst>
            </a:custGeom>
            <a:blipFill>
              <a:blip r:embed="rId3">
                <a:alphaModFix amt="0"/>
              </a:blip>
              <a:stretch>
                <a:fillRect l="-5005160" r="-5005160"/>
              </a:stretch>
            </a:blipFill>
            <a:ln w="38100" cap="sq">
              <a:solidFill>
                <a:srgbClr val="3A9BD5"/>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26" name="Group 26"/>
          <p:cNvGrpSpPr/>
          <p:nvPr/>
        </p:nvGrpSpPr>
        <p:grpSpPr>
          <a:xfrm>
            <a:off x="4193543" y="5290823"/>
            <a:ext cx="665483" cy="665483"/>
            <a:chOff x="0" y="0"/>
            <a:chExt cx="887311" cy="887311"/>
          </a:xfrm>
        </p:grpSpPr>
        <p:sp>
          <p:nvSpPr>
            <p:cNvPr id="27" name="Freeform 27"/>
            <p:cNvSpPr/>
            <p:nvPr/>
          </p:nvSpPr>
          <p:spPr>
            <a:xfrm>
              <a:off x="0" y="0"/>
              <a:ext cx="887349" cy="887349"/>
            </a:xfrm>
            <a:custGeom>
              <a:avLst/>
              <a:gdLst/>
              <a:ahLst/>
              <a:cxnLst/>
              <a:rect l="l" t="t" r="r" b="b"/>
              <a:pathLst>
                <a:path w="887349" h="887349">
                  <a:moveTo>
                    <a:pt x="0" y="443611"/>
                  </a:moveTo>
                  <a:cubicBezTo>
                    <a:pt x="0" y="198628"/>
                    <a:pt x="198628" y="0"/>
                    <a:pt x="443611" y="0"/>
                  </a:cubicBezTo>
                  <a:cubicBezTo>
                    <a:pt x="688594" y="0"/>
                    <a:pt x="887349" y="198628"/>
                    <a:pt x="887349" y="443611"/>
                  </a:cubicBezTo>
                  <a:cubicBezTo>
                    <a:pt x="887349" y="688594"/>
                    <a:pt x="688721" y="887349"/>
                    <a:pt x="443611" y="887349"/>
                  </a:cubicBezTo>
                  <a:cubicBezTo>
                    <a:pt x="198501" y="887349"/>
                    <a:pt x="0" y="688721"/>
                    <a:pt x="0" y="443611"/>
                  </a:cubicBezTo>
                  <a:close/>
                </a:path>
              </a:pathLst>
            </a:custGeom>
            <a:solidFill>
              <a:srgbClr val="FFFFFF"/>
            </a:solidFill>
            <a:ln w="25400" cap="sq">
              <a:solidFill>
                <a:srgbClr val="FFFFFF"/>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28" name="Group 28"/>
          <p:cNvGrpSpPr/>
          <p:nvPr/>
        </p:nvGrpSpPr>
        <p:grpSpPr>
          <a:xfrm>
            <a:off x="3044190" y="4141470"/>
            <a:ext cx="1501140" cy="1501140"/>
            <a:chOff x="0" y="0"/>
            <a:chExt cx="2001520" cy="2001520"/>
          </a:xfrm>
        </p:grpSpPr>
        <p:sp>
          <p:nvSpPr>
            <p:cNvPr id="29" name="Freeform 29"/>
            <p:cNvSpPr/>
            <p:nvPr/>
          </p:nvSpPr>
          <p:spPr>
            <a:xfrm>
              <a:off x="0" y="0"/>
              <a:ext cx="2001520" cy="2001520"/>
            </a:xfrm>
            <a:custGeom>
              <a:avLst/>
              <a:gdLst/>
              <a:ahLst/>
              <a:cxnLst/>
              <a:rect l="l" t="t" r="r" b="b"/>
              <a:pathLst>
                <a:path w="2001520" h="2001520">
                  <a:moveTo>
                    <a:pt x="0" y="0"/>
                  </a:moveTo>
                  <a:lnTo>
                    <a:pt x="2001520" y="2001520"/>
                  </a:lnTo>
                </a:path>
              </a:pathLst>
            </a:custGeom>
            <a:blipFill>
              <a:blip r:embed="rId3">
                <a:alphaModFix amt="0"/>
              </a:blip>
              <a:stretch>
                <a:fillRect l="-78303" r="-78303"/>
              </a:stretch>
            </a:blipFill>
            <a:ln w="38100" cap="sq">
              <a:solidFill>
                <a:srgbClr val="3A9BD5"/>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30" name="Group 30"/>
          <p:cNvGrpSpPr/>
          <p:nvPr/>
        </p:nvGrpSpPr>
        <p:grpSpPr>
          <a:xfrm>
            <a:off x="1267463" y="3827783"/>
            <a:ext cx="665483" cy="665483"/>
            <a:chOff x="0" y="0"/>
            <a:chExt cx="887311" cy="887311"/>
          </a:xfrm>
        </p:grpSpPr>
        <p:sp>
          <p:nvSpPr>
            <p:cNvPr id="31" name="Freeform 31"/>
            <p:cNvSpPr/>
            <p:nvPr/>
          </p:nvSpPr>
          <p:spPr>
            <a:xfrm>
              <a:off x="0" y="0"/>
              <a:ext cx="887349" cy="887349"/>
            </a:xfrm>
            <a:custGeom>
              <a:avLst/>
              <a:gdLst/>
              <a:ahLst/>
              <a:cxnLst/>
              <a:rect l="l" t="t" r="r" b="b"/>
              <a:pathLst>
                <a:path w="887349" h="887349">
                  <a:moveTo>
                    <a:pt x="0" y="443611"/>
                  </a:moveTo>
                  <a:cubicBezTo>
                    <a:pt x="0" y="198628"/>
                    <a:pt x="198628" y="0"/>
                    <a:pt x="443611" y="0"/>
                  </a:cubicBezTo>
                  <a:cubicBezTo>
                    <a:pt x="688594" y="0"/>
                    <a:pt x="887349" y="198628"/>
                    <a:pt x="887349" y="443611"/>
                  </a:cubicBezTo>
                  <a:cubicBezTo>
                    <a:pt x="887349" y="688594"/>
                    <a:pt x="688721" y="887349"/>
                    <a:pt x="443611" y="887349"/>
                  </a:cubicBezTo>
                  <a:cubicBezTo>
                    <a:pt x="198501" y="887349"/>
                    <a:pt x="0" y="688721"/>
                    <a:pt x="0" y="443611"/>
                  </a:cubicBezTo>
                  <a:close/>
                </a:path>
              </a:pathLst>
            </a:custGeom>
            <a:solidFill>
              <a:srgbClr val="FFFFFF"/>
            </a:solidFill>
            <a:ln w="25400" cap="sq">
              <a:solidFill>
                <a:srgbClr val="FFFFFF"/>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32" name="Group 32"/>
          <p:cNvGrpSpPr/>
          <p:nvPr/>
        </p:nvGrpSpPr>
        <p:grpSpPr>
          <a:xfrm>
            <a:off x="4193543" y="3827783"/>
            <a:ext cx="665483" cy="665483"/>
            <a:chOff x="0" y="0"/>
            <a:chExt cx="887311" cy="887311"/>
          </a:xfrm>
        </p:grpSpPr>
        <p:sp>
          <p:nvSpPr>
            <p:cNvPr id="33" name="Freeform 33"/>
            <p:cNvSpPr/>
            <p:nvPr/>
          </p:nvSpPr>
          <p:spPr>
            <a:xfrm>
              <a:off x="0" y="0"/>
              <a:ext cx="887349" cy="887349"/>
            </a:xfrm>
            <a:custGeom>
              <a:avLst/>
              <a:gdLst/>
              <a:ahLst/>
              <a:cxnLst/>
              <a:rect l="l" t="t" r="r" b="b"/>
              <a:pathLst>
                <a:path w="887349" h="887349">
                  <a:moveTo>
                    <a:pt x="0" y="443611"/>
                  </a:moveTo>
                  <a:cubicBezTo>
                    <a:pt x="0" y="198628"/>
                    <a:pt x="198628" y="0"/>
                    <a:pt x="443611" y="0"/>
                  </a:cubicBezTo>
                  <a:cubicBezTo>
                    <a:pt x="688594" y="0"/>
                    <a:pt x="887349" y="198628"/>
                    <a:pt x="887349" y="443611"/>
                  </a:cubicBezTo>
                  <a:cubicBezTo>
                    <a:pt x="887349" y="688594"/>
                    <a:pt x="688721" y="887349"/>
                    <a:pt x="443611" y="887349"/>
                  </a:cubicBezTo>
                  <a:cubicBezTo>
                    <a:pt x="198501" y="887349"/>
                    <a:pt x="0" y="688721"/>
                    <a:pt x="0" y="443611"/>
                  </a:cubicBezTo>
                  <a:close/>
                </a:path>
              </a:pathLst>
            </a:custGeom>
            <a:solidFill>
              <a:srgbClr val="FFFFFF"/>
            </a:solidFill>
            <a:ln w="25400" cap="sq">
              <a:solidFill>
                <a:srgbClr val="FFFFFF"/>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34" name="Group 34"/>
          <p:cNvGrpSpPr/>
          <p:nvPr/>
        </p:nvGrpSpPr>
        <p:grpSpPr>
          <a:xfrm>
            <a:off x="3044190" y="4141470"/>
            <a:ext cx="1501140" cy="38100"/>
            <a:chOff x="0" y="0"/>
            <a:chExt cx="2001520" cy="50800"/>
          </a:xfrm>
        </p:grpSpPr>
        <p:sp>
          <p:nvSpPr>
            <p:cNvPr id="35" name="Freeform 35"/>
            <p:cNvSpPr/>
            <p:nvPr/>
          </p:nvSpPr>
          <p:spPr>
            <a:xfrm>
              <a:off x="0" y="0"/>
              <a:ext cx="2001520" cy="50800"/>
            </a:xfrm>
            <a:custGeom>
              <a:avLst/>
              <a:gdLst/>
              <a:ahLst/>
              <a:cxnLst/>
              <a:rect l="l" t="t" r="r" b="b"/>
              <a:pathLst>
                <a:path w="2001520" h="50800">
                  <a:moveTo>
                    <a:pt x="0" y="0"/>
                  </a:moveTo>
                  <a:lnTo>
                    <a:pt x="2001520" y="50800"/>
                  </a:lnTo>
                </a:path>
              </a:pathLst>
            </a:custGeom>
            <a:blipFill>
              <a:blip r:embed="rId3">
                <a:alphaModFix amt="0"/>
              </a:blip>
              <a:stretch>
                <a:fillRect t="-717710" b="-717710"/>
              </a:stretch>
            </a:blipFill>
            <a:ln w="38100" cap="sq">
              <a:solidFill>
                <a:srgbClr val="3A9BD5"/>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36" name="Group 36"/>
          <p:cNvGrpSpPr/>
          <p:nvPr/>
        </p:nvGrpSpPr>
        <p:grpSpPr>
          <a:xfrm>
            <a:off x="4937760" y="3438144"/>
            <a:ext cx="3291840" cy="2468880"/>
            <a:chOff x="0" y="0"/>
            <a:chExt cx="4389120" cy="3291840"/>
          </a:xfrm>
        </p:grpSpPr>
        <p:sp>
          <p:nvSpPr>
            <p:cNvPr id="37" name="Freeform 37"/>
            <p:cNvSpPr/>
            <p:nvPr/>
          </p:nvSpPr>
          <p:spPr>
            <a:xfrm>
              <a:off x="0" y="0"/>
              <a:ext cx="4389120" cy="3291840"/>
            </a:xfrm>
            <a:custGeom>
              <a:avLst/>
              <a:gdLst/>
              <a:ahLst/>
              <a:cxnLst/>
              <a:rect l="l" t="t" r="r" b="b"/>
              <a:pathLst>
                <a:path w="4389120" h="3291840">
                  <a:moveTo>
                    <a:pt x="0" y="0"/>
                  </a:moveTo>
                  <a:lnTo>
                    <a:pt x="4389120" y="0"/>
                  </a:lnTo>
                  <a:lnTo>
                    <a:pt x="4389120" y="3291840"/>
                  </a:lnTo>
                  <a:lnTo>
                    <a:pt x="0" y="3291840"/>
                  </a:lnTo>
                  <a:close/>
                </a:path>
              </a:pathLst>
            </a:custGeom>
            <a:blipFill>
              <a:blip r:embed="rId3">
                <a:alphaModFix amt="0"/>
              </a:blip>
              <a:stretch>
                <a:fillRect l="-46227" r="-46227"/>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38" name="TextBox 38"/>
            <p:cNvSpPr txBox="1"/>
            <p:nvPr/>
          </p:nvSpPr>
          <p:spPr>
            <a:xfrm>
              <a:off x="0" y="0"/>
              <a:ext cx="4389120" cy="3291840"/>
            </a:xfrm>
            <a:prstGeom prst="rect">
              <a:avLst/>
            </a:prstGeom>
          </p:spPr>
          <p:txBody>
            <a:bodyPr lIns="0" tIns="0" rIns="0" bIns="0" rtlCol="0" anchor="ctr"/>
            <a:lstStyle/>
            <a:p>
              <a:pPr algn="l">
                <a:lnSpc>
                  <a:spcPts val="2879"/>
                </a:lnSpc>
              </a:pPr>
              <a:r>
                <a:rPr lang="en-US" sz="2400" spc="48">
                  <a:latin typeface="Times New Roman" panose="02020603050405020304" pitchFamily="18" charset="0"/>
                  <a:ea typeface="Playfair Display"/>
                  <a:cs typeface="Times New Roman" panose="02020603050405020304" pitchFamily="18" charset="0"/>
                  <a:sym typeface="Playfair Display"/>
                </a:rPr>
                <a:t>Explores local neighborhood.</a:t>
              </a:r>
            </a:p>
            <a:p>
              <a:pPr algn="l">
                <a:lnSpc>
                  <a:spcPts val="2879"/>
                </a:lnSpc>
              </a:pPr>
              <a:r>
                <a:rPr lang="en-US" sz="2400" spc="48">
                  <a:latin typeface="Times New Roman" panose="02020603050405020304" pitchFamily="18" charset="0"/>
                  <a:ea typeface="Playfair Display"/>
                  <a:cs typeface="Times New Roman" panose="02020603050405020304" pitchFamily="18" charset="0"/>
                  <a:sym typeface="Playfair Display"/>
                </a:rPr>
                <a:t>Captures community structure.</a:t>
              </a:r>
            </a:p>
            <a:p>
              <a:pPr algn="l">
                <a:lnSpc>
                  <a:spcPts val="2879"/>
                </a:lnSpc>
              </a:pPr>
              <a:r>
                <a:rPr lang="en-US" sz="2400" spc="48">
                  <a:latin typeface="Times New Roman" panose="02020603050405020304" pitchFamily="18" charset="0"/>
                  <a:ea typeface="Playfair Display"/>
                  <a:cs typeface="Times New Roman" panose="02020603050405020304" pitchFamily="18" charset="0"/>
                  <a:sym typeface="Playfair Display"/>
                </a:rPr>
                <a:t>Good for node classification.</a:t>
              </a:r>
            </a:p>
          </p:txBody>
        </p:sp>
      </p:grpSp>
      <p:grpSp>
        <p:nvGrpSpPr>
          <p:cNvPr id="39" name="Group 39"/>
          <p:cNvGrpSpPr/>
          <p:nvPr/>
        </p:nvGrpSpPr>
        <p:grpSpPr>
          <a:xfrm>
            <a:off x="9131303" y="2511047"/>
            <a:ext cx="8437883" cy="4597403"/>
            <a:chOff x="0" y="0"/>
            <a:chExt cx="11250511" cy="6129871"/>
          </a:xfrm>
          <a:solidFill>
            <a:schemeClr val="bg1">
              <a:lumMod val="75000"/>
            </a:schemeClr>
          </a:solidFill>
        </p:grpSpPr>
        <p:sp>
          <p:nvSpPr>
            <p:cNvPr id="40" name="Freeform 40"/>
            <p:cNvSpPr/>
            <p:nvPr/>
          </p:nvSpPr>
          <p:spPr>
            <a:xfrm>
              <a:off x="0" y="0"/>
              <a:ext cx="11250549" cy="6129909"/>
            </a:xfrm>
            <a:custGeom>
              <a:avLst/>
              <a:gdLst/>
              <a:ahLst/>
              <a:cxnLst/>
              <a:rect l="l" t="t" r="r" b="b"/>
              <a:pathLst>
                <a:path w="11250549" h="6129909">
                  <a:moveTo>
                    <a:pt x="0" y="245237"/>
                  </a:moveTo>
                  <a:cubicBezTo>
                    <a:pt x="0" y="109728"/>
                    <a:pt x="109728" y="0"/>
                    <a:pt x="245237" y="0"/>
                  </a:cubicBezTo>
                  <a:lnTo>
                    <a:pt x="11005312" y="0"/>
                  </a:lnTo>
                  <a:cubicBezTo>
                    <a:pt x="11140694" y="0"/>
                    <a:pt x="11250549" y="109728"/>
                    <a:pt x="11250549" y="245237"/>
                  </a:cubicBezTo>
                  <a:lnTo>
                    <a:pt x="11250549" y="5884672"/>
                  </a:lnTo>
                  <a:cubicBezTo>
                    <a:pt x="11250549" y="6020054"/>
                    <a:pt x="11140821" y="6129909"/>
                    <a:pt x="11005312" y="6129909"/>
                  </a:cubicBezTo>
                  <a:lnTo>
                    <a:pt x="245237" y="6129909"/>
                  </a:lnTo>
                  <a:cubicBezTo>
                    <a:pt x="109728" y="6129909"/>
                    <a:pt x="0" y="6020054"/>
                    <a:pt x="0" y="5884672"/>
                  </a:cubicBezTo>
                  <a:close/>
                </a:path>
              </a:pathLst>
            </a:custGeom>
            <a:grpFill/>
            <a:ln w="25400" cap="sq">
              <a:solidFill>
                <a:srgbClr val="D8E8F8"/>
              </a:solidFill>
              <a:prstDash val="solid"/>
              <a:miter/>
            </a:ln>
          </p:spPr>
          <p:txBody>
            <a:bodyPr/>
            <a:lstStyle/>
            <a:p>
              <a:endParaRPr lang="en-IN" dirty="0">
                <a:latin typeface="Times New Roman" panose="02020603050405020304" pitchFamily="18" charset="0"/>
                <a:cs typeface="Times New Roman" panose="02020603050405020304" pitchFamily="18" charset="0"/>
              </a:endParaRPr>
            </a:p>
          </p:txBody>
        </p:sp>
      </p:grpSp>
      <p:grpSp>
        <p:nvGrpSpPr>
          <p:cNvPr id="41" name="Group 41"/>
          <p:cNvGrpSpPr/>
          <p:nvPr/>
        </p:nvGrpSpPr>
        <p:grpSpPr>
          <a:xfrm>
            <a:off x="9509760" y="2615184"/>
            <a:ext cx="7680960" cy="694944"/>
            <a:chOff x="0" y="0"/>
            <a:chExt cx="10241280" cy="926592"/>
          </a:xfrm>
        </p:grpSpPr>
        <p:sp>
          <p:nvSpPr>
            <p:cNvPr id="42" name="Freeform 42"/>
            <p:cNvSpPr/>
            <p:nvPr/>
          </p:nvSpPr>
          <p:spPr>
            <a:xfrm>
              <a:off x="0" y="0"/>
              <a:ext cx="10241280" cy="926592"/>
            </a:xfrm>
            <a:custGeom>
              <a:avLst/>
              <a:gdLst/>
              <a:ahLst/>
              <a:cxnLst/>
              <a:rect l="l" t="t" r="r" b="b"/>
              <a:pathLst>
                <a:path w="10241280" h="926592">
                  <a:moveTo>
                    <a:pt x="0" y="0"/>
                  </a:moveTo>
                  <a:lnTo>
                    <a:pt x="10241280" y="0"/>
                  </a:lnTo>
                  <a:lnTo>
                    <a:pt x="10241280" y="926592"/>
                  </a:lnTo>
                  <a:lnTo>
                    <a:pt x="0" y="926592"/>
                  </a:lnTo>
                  <a:close/>
                </a:path>
              </a:pathLst>
            </a:custGeom>
            <a:blipFill>
              <a:blip r:embed="rId3">
                <a:alphaModFix amt="0"/>
              </a:blip>
              <a:stretch>
                <a:fillRect t="-165360" b="-165360"/>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43" name="TextBox 43"/>
            <p:cNvSpPr txBox="1"/>
            <p:nvPr/>
          </p:nvSpPr>
          <p:spPr>
            <a:xfrm>
              <a:off x="0" y="9525"/>
              <a:ext cx="10241280" cy="917067"/>
            </a:xfrm>
            <a:prstGeom prst="rect">
              <a:avLst/>
            </a:prstGeom>
          </p:spPr>
          <p:txBody>
            <a:bodyPr lIns="0" tIns="0" rIns="0" bIns="0" rtlCol="0" anchor="ctr"/>
            <a:lstStyle/>
            <a:p>
              <a:pPr algn="l">
                <a:lnSpc>
                  <a:spcPts val="3359"/>
                </a:lnSpc>
              </a:pPr>
              <a:r>
                <a:rPr lang="en-US" sz="2799" i="1" spc="140">
                  <a:latin typeface="Times New Roman" panose="02020603050405020304" pitchFamily="18" charset="0"/>
                  <a:ea typeface="Playfair Display Italics"/>
                  <a:cs typeface="Times New Roman" panose="02020603050405020304" pitchFamily="18" charset="0"/>
                  <a:sym typeface="Playfair Display Italics"/>
                </a:rPr>
                <a:t>DFS-like Walk  (low q, high p)</a:t>
              </a:r>
            </a:p>
          </p:txBody>
        </p:sp>
      </p:grpSp>
      <p:grpSp>
        <p:nvGrpSpPr>
          <p:cNvPr id="44" name="Group 44"/>
          <p:cNvGrpSpPr/>
          <p:nvPr/>
        </p:nvGrpSpPr>
        <p:grpSpPr>
          <a:xfrm>
            <a:off x="10256557" y="3827783"/>
            <a:ext cx="628907" cy="628907"/>
            <a:chOff x="0" y="0"/>
            <a:chExt cx="838543" cy="838543"/>
          </a:xfrm>
        </p:grpSpPr>
        <p:sp>
          <p:nvSpPr>
            <p:cNvPr id="45" name="Freeform 45"/>
            <p:cNvSpPr/>
            <p:nvPr/>
          </p:nvSpPr>
          <p:spPr>
            <a:xfrm>
              <a:off x="0" y="0"/>
              <a:ext cx="838581" cy="838581"/>
            </a:xfrm>
            <a:custGeom>
              <a:avLst/>
              <a:gdLst/>
              <a:ahLst/>
              <a:cxnLst/>
              <a:rect l="l" t="t" r="r" b="b"/>
              <a:pathLst>
                <a:path w="838581" h="838581">
                  <a:moveTo>
                    <a:pt x="0" y="419227"/>
                  </a:moveTo>
                  <a:cubicBezTo>
                    <a:pt x="0" y="187706"/>
                    <a:pt x="187706" y="0"/>
                    <a:pt x="419227" y="0"/>
                  </a:cubicBezTo>
                  <a:cubicBezTo>
                    <a:pt x="650748" y="0"/>
                    <a:pt x="838581" y="187706"/>
                    <a:pt x="838581" y="419227"/>
                  </a:cubicBezTo>
                  <a:cubicBezTo>
                    <a:pt x="838581" y="650748"/>
                    <a:pt x="650875" y="838581"/>
                    <a:pt x="419227" y="838581"/>
                  </a:cubicBezTo>
                  <a:cubicBezTo>
                    <a:pt x="187579" y="838581"/>
                    <a:pt x="0" y="650875"/>
                    <a:pt x="0" y="419227"/>
                  </a:cubicBezTo>
                  <a:close/>
                </a:path>
              </a:pathLst>
            </a:custGeom>
            <a:solidFill>
              <a:srgbClr val="B29E84"/>
            </a:solidFill>
            <a:ln w="25400" cap="sq">
              <a:solidFill>
                <a:srgbClr val="FFFFFF"/>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46" name="Group 46"/>
          <p:cNvGrpSpPr/>
          <p:nvPr/>
        </p:nvGrpSpPr>
        <p:grpSpPr>
          <a:xfrm>
            <a:off x="11302544" y="5806765"/>
            <a:ext cx="628907" cy="628907"/>
            <a:chOff x="0" y="0"/>
            <a:chExt cx="838543" cy="838543"/>
          </a:xfrm>
        </p:grpSpPr>
        <p:sp>
          <p:nvSpPr>
            <p:cNvPr id="47" name="Freeform 47"/>
            <p:cNvSpPr/>
            <p:nvPr/>
          </p:nvSpPr>
          <p:spPr>
            <a:xfrm>
              <a:off x="0" y="0"/>
              <a:ext cx="838581" cy="838581"/>
            </a:xfrm>
            <a:custGeom>
              <a:avLst/>
              <a:gdLst/>
              <a:ahLst/>
              <a:cxnLst/>
              <a:rect l="l" t="t" r="r" b="b"/>
              <a:pathLst>
                <a:path w="838581" h="838581">
                  <a:moveTo>
                    <a:pt x="0" y="419227"/>
                  </a:moveTo>
                  <a:cubicBezTo>
                    <a:pt x="0" y="187706"/>
                    <a:pt x="187706" y="0"/>
                    <a:pt x="419227" y="0"/>
                  </a:cubicBezTo>
                  <a:cubicBezTo>
                    <a:pt x="650748" y="0"/>
                    <a:pt x="838581" y="187706"/>
                    <a:pt x="838581" y="419227"/>
                  </a:cubicBezTo>
                  <a:cubicBezTo>
                    <a:pt x="838581" y="650748"/>
                    <a:pt x="650875" y="838581"/>
                    <a:pt x="419227" y="838581"/>
                  </a:cubicBezTo>
                  <a:cubicBezTo>
                    <a:pt x="187579" y="838581"/>
                    <a:pt x="0" y="650875"/>
                    <a:pt x="0" y="419227"/>
                  </a:cubicBezTo>
                  <a:close/>
                </a:path>
              </a:pathLst>
            </a:custGeom>
            <a:solidFill>
              <a:srgbClr val="B29E84"/>
            </a:solidFill>
            <a:ln w="25400" cap="sq">
              <a:solidFill>
                <a:srgbClr val="FFFFFF"/>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48" name="Group 48"/>
          <p:cNvGrpSpPr/>
          <p:nvPr/>
        </p:nvGrpSpPr>
        <p:grpSpPr>
          <a:xfrm rot="7655235">
            <a:off x="11057919" y="3703131"/>
            <a:ext cx="769620" cy="952500"/>
            <a:chOff x="-728471" y="-7261"/>
            <a:chExt cx="1026160" cy="1270000"/>
          </a:xfrm>
        </p:grpSpPr>
        <p:sp>
          <p:nvSpPr>
            <p:cNvPr id="49" name="Freeform 49"/>
            <p:cNvSpPr/>
            <p:nvPr/>
          </p:nvSpPr>
          <p:spPr>
            <a:xfrm>
              <a:off x="-728471" y="-7261"/>
              <a:ext cx="1026160" cy="1270000"/>
            </a:xfrm>
            <a:custGeom>
              <a:avLst/>
              <a:gdLst/>
              <a:ahLst/>
              <a:cxnLst/>
              <a:rect l="l" t="t" r="r" b="b"/>
              <a:pathLst>
                <a:path w="1026160" h="1270000">
                  <a:moveTo>
                    <a:pt x="0" y="0"/>
                  </a:moveTo>
                  <a:lnTo>
                    <a:pt x="1026160" y="1270000"/>
                  </a:lnTo>
                </a:path>
              </a:pathLst>
            </a:custGeom>
            <a:blipFill>
              <a:blip r:embed="rId3">
                <a:alphaModFix amt="0"/>
              </a:blip>
              <a:stretch>
                <a:fillRect l="-108791" r="-108791"/>
              </a:stretch>
            </a:blipFill>
            <a:ln w="38100" cap="sq">
              <a:solidFill>
                <a:srgbClr val="2CB9A0"/>
              </a:solidFill>
              <a:prstDash val="solid"/>
              <a:miter/>
            </a:ln>
          </p:spPr>
          <p:txBody>
            <a:bodyPr/>
            <a:lstStyle/>
            <a:p>
              <a:endParaRPr lang="en-IN" dirty="0">
                <a:latin typeface="Times New Roman" panose="02020603050405020304" pitchFamily="18" charset="0"/>
                <a:cs typeface="Times New Roman" panose="02020603050405020304" pitchFamily="18" charset="0"/>
              </a:endParaRPr>
            </a:p>
          </p:txBody>
        </p:sp>
      </p:grpSp>
      <p:grpSp>
        <p:nvGrpSpPr>
          <p:cNvPr id="50" name="Group 50"/>
          <p:cNvGrpSpPr/>
          <p:nvPr/>
        </p:nvGrpSpPr>
        <p:grpSpPr>
          <a:xfrm>
            <a:off x="11808541" y="3837324"/>
            <a:ext cx="628907" cy="628907"/>
            <a:chOff x="0" y="0"/>
            <a:chExt cx="838543" cy="838543"/>
          </a:xfrm>
        </p:grpSpPr>
        <p:sp>
          <p:nvSpPr>
            <p:cNvPr id="51" name="Freeform 51"/>
            <p:cNvSpPr/>
            <p:nvPr/>
          </p:nvSpPr>
          <p:spPr>
            <a:xfrm>
              <a:off x="0" y="0"/>
              <a:ext cx="838581" cy="838581"/>
            </a:xfrm>
            <a:custGeom>
              <a:avLst/>
              <a:gdLst/>
              <a:ahLst/>
              <a:cxnLst/>
              <a:rect l="l" t="t" r="r" b="b"/>
              <a:pathLst>
                <a:path w="838581" h="838581">
                  <a:moveTo>
                    <a:pt x="0" y="419227"/>
                  </a:moveTo>
                  <a:cubicBezTo>
                    <a:pt x="0" y="187706"/>
                    <a:pt x="187706" y="0"/>
                    <a:pt x="419227" y="0"/>
                  </a:cubicBezTo>
                  <a:cubicBezTo>
                    <a:pt x="650748" y="0"/>
                    <a:pt x="838581" y="187706"/>
                    <a:pt x="838581" y="419227"/>
                  </a:cubicBezTo>
                  <a:cubicBezTo>
                    <a:pt x="838581" y="650748"/>
                    <a:pt x="650875" y="838581"/>
                    <a:pt x="419227" y="838581"/>
                  </a:cubicBezTo>
                  <a:cubicBezTo>
                    <a:pt x="187579" y="838581"/>
                    <a:pt x="0" y="650875"/>
                    <a:pt x="0" y="419227"/>
                  </a:cubicBezTo>
                  <a:close/>
                </a:path>
              </a:pathLst>
            </a:custGeom>
            <a:solidFill>
              <a:srgbClr val="B29E84"/>
            </a:solidFill>
            <a:ln w="25400" cap="sq">
              <a:solidFill>
                <a:srgbClr val="FFFFFF"/>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52" name="Group 52"/>
          <p:cNvGrpSpPr/>
          <p:nvPr/>
        </p:nvGrpSpPr>
        <p:grpSpPr>
          <a:xfrm>
            <a:off x="12553665" y="4994643"/>
            <a:ext cx="628935" cy="628935"/>
            <a:chOff x="136731" y="92773"/>
            <a:chExt cx="838580" cy="838580"/>
          </a:xfrm>
        </p:grpSpPr>
        <p:sp>
          <p:nvSpPr>
            <p:cNvPr id="53" name="Freeform 53"/>
            <p:cNvSpPr/>
            <p:nvPr/>
          </p:nvSpPr>
          <p:spPr>
            <a:xfrm>
              <a:off x="136731" y="92773"/>
              <a:ext cx="838580" cy="838580"/>
            </a:xfrm>
            <a:custGeom>
              <a:avLst/>
              <a:gdLst/>
              <a:ahLst/>
              <a:cxnLst/>
              <a:rect l="l" t="t" r="r" b="b"/>
              <a:pathLst>
                <a:path w="838581" h="838581">
                  <a:moveTo>
                    <a:pt x="0" y="419227"/>
                  </a:moveTo>
                  <a:cubicBezTo>
                    <a:pt x="0" y="187706"/>
                    <a:pt x="187706" y="0"/>
                    <a:pt x="419227" y="0"/>
                  </a:cubicBezTo>
                  <a:cubicBezTo>
                    <a:pt x="650748" y="0"/>
                    <a:pt x="838581" y="187706"/>
                    <a:pt x="838581" y="419227"/>
                  </a:cubicBezTo>
                  <a:cubicBezTo>
                    <a:pt x="838581" y="650748"/>
                    <a:pt x="650875" y="838581"/>
                    <a:pt x="419227" y="838581"/>
                  </a:cubicBezTo>
                  <a:cubicBezTo>
                    <a:pt x="187579" y="838581"/>
                    <a:pt x="0" y="650875"/>
                    <a:pt x="0" y="419227"/>
                  </a:cubicBezTo>
                  <a:close/>
                </a:path>
              </a:pathLst>
            </a:custGeom>
            <a:solidFill>
              <a:srgbClr val="B29E84"/>
            </a:solidFill>
            <a:ln w="25400" cap="sq">
              <a:solidFill>
                <a:srgbClr val="FFFFFF"/>
              </a:solidFill>
              <a:prstDash val="solid"/>
              <a:miter/>
            </a:ln>
          </p:spPr>
          <p:txBody>
            <a:bodyPr/>
            <a:lstStyle/>
            <a:p>
              <a:endParaRPr lang="en-IN" dirty="0">
                <a:latin typeface="Times New Roman" panose="02020603050405020304" pitchFamily="18" charset="0"/>
                <a:cs typeface="Times New Roman" panose="02020603050405020304" pitchFamily="18" charset="0"/>
              </a:endParaRPr>
            </a:p>
          </p:txBody>
        </p:sp>
      </p:grpSp>
      <p:grpSp>
        <p:nvGrpSpPr>
          <p:cNvPr id="54" name="Group 54"/>
          <p:cNvGrpSpPr/>
          <p:nvPr/>
        </p:nvGrpSpPr>
        <p:grpSpPr>
          <a:xfrm>
            <a:off x="12126819" y="4227071"/>
            <a:ext cx="769620" cy="1043940"/>
            <a:chOff x="0" y="0"/>
            <a:chExt cx="1026160" cy="1391920"/>
          </a:xfrm>
        </p:grpSpPr>
        <p:sp>
          <p:nvSpPr>
            <p:cNvPr id="55" name="Freeform 55"/>
            <p:cNvSpPr/>
            <p:nvPr/>
          </p:nvSpPr>
          <p:spPr>
            <a:xfrm>
              <a:off x="0" y="0"/>
              <a:ext cx="1026160" cy="1391920"/>
            </a:xfrm>
            <a:custGeom>
              <a:avLst/>
              <a:gdLst/>
              <a:ahLst/>
              <a:cxnLst/>
              <a:rect l="l" t="t" r="r" b="b"/>
              <a:pathLst>
                <a:path w="1026160" h="1391920">
                  <a:moveTo>
                    <a:pt x="0" y="0"/>
                  </a:moveTo>
                  <a:lnTo>
                    <a:pt x="1026160" y="1391920"/>
                  </a:lnTo>
                </a:path>
              </a:pathLst>
            </a:custGeom>
            <a:blipFill>
              <a:blip r:embed="rId3">
                <a:alphaModFix amt="0"/>
              </a:blip>
              <a:stretch>
                <a:fillRect l="-124035" r="-124035"/>
              </a:stretch>
            </a:blipFill>
            <a:ln w="38100" cap="sq">
              <a:solidFill>
                <a:srgbClr val="2CB9A0"/>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60" name="Group 60"/>
          <p:cNvGrpSpPr/>
          <p:nvPr/>
        </p:nvGrpSpPr>
        <p:grpSpPr>
          <a:xfrm rot="16503487">
            <a:off x="11831604" y="5242874"/>
            <a:ext cx="769620" cy="1043940"/>
            <a:chOff x="0" y="0"/>
            <a:chExt cx="1026160" cy="1391920"/>
          </a:xfrm>
        </p:grpSpPr>
        <p:sp>
          <p:nvSpPr>
            <p:cNvPr id="61" name="Freeform 61"/>
            <p:cNvSpPr/>
            <p:nvPr/>
          </p:nvSpPr>
          <p:spPr>
            <a:xfrm>
              <a:off x="0" y="0"/>
              <a:ext cx="1026160" cy="1391920"/>
            </a:xfrm>
            <a:custGeom>
              <a:avLst/>
              <a:gdLst/>
              <a:ahLst/>
              <a:cxnLst/>
              <a:rect l="l" t="t" r="r" b="b"/>
              <a:pathLst>
                <a:path w="1026160" h="1391920">
                  <a:moveTo>
                    <a:pt x="0" y="0"/>
                  </a:moveTo>
                  <a:lnTo>
                    <a:pt x="1026160" y="1391920"/>
                  </a:lnTo>
                </a:path>
              </a:pathLst>
            </a:custGeom>
            <a:blipFill>
              <a:blip r:embed="rId3">
                <a:alphaModFix amt="0"/>
              </a:blip>
              <a:stretch>
                <a:fillRect l="-124035" r="-124035"/>
              </a:stretch>
            </a:blipFill>
            <a:ln w="38100" cap="sq">
              <a:solidFill>
                <a:srgbClr val="2CB9A0"/>
              </a:solidFill>
              <a:prstDash val="solid"/>
              <a:miter/>
            </a:ln>
          </p:spPr>
          <p:txBody>
            <a:bodyPr/>
            <a:lstStyle/>
            <a:p>
              <a:endParaRPr lang="en-IN" dirty="0">
                <a:latin typeface="Times New Roman" panose="02020603050405020304" pitchFamily="18" charset="0"/>
                <a:cs typeface="Times New Roman" panose="02020603050405020304" pitchFamily="18" charset="0"/>
              </a:endParaRPr>
            </a:p>
          </p:txBody>
        </p:sp>
      </p:grpSp>
      <p:grpSp>
        <p:nvGrpSpPr>
          <p:cNvPr id="62" name="Group 62"/>
          <p:cNvGrpSpPr/>
          <p:nvPr/>
        </p:nvGrpSpPr>
        <p:grpSpPr>
          <a:xfrm>
            <a:off x="13807440" y="3438144"/>
            <a:ext cx="3291840" cy="2468880"/>
            <a:chOff x="0" y="0"/>
            <a:chExt cx="4389120" cy="3291840"/>
          </a:xfrm>
        </p:grpSpPr>
        <p:sp>
          <p:nvSpPr>
            <p:cNvPr id="63" name="Freeform 63"/>
            <p:cNvSpPr/>
            <p:nvPr/>
          </p:nvSpPr>
          <p:spPr>
            <a:xfrm>
              <a:off x="0" y="0"/>
              <a:ext cx="4389120" cy="3291840"/>
            </a:xfrm>
            <a:custGeom>
              <a:avLst/>
              <a:gdLst/>
              <a:ahLst/>
              <a:cxnLst/>
              <a:rect l="l" t="t" r="r" b="b"/>
              <a:pathLst>
                <a:path w="4389120" h="3291840">
                  <a:moveTo>
                    <a:pt x="0" y="0"/>
                  </a:moveTo>
                  <a:lnTo>
                    <a:pt x="4389120" y="0"/>
                  </a:lnTo>
                  <a:lnTo>
                    <a:pt x="4389120" y="3291840"/>
                  </a:lnTo>
                  <a:lnTo>
                    <a:pt x="0" y="3291840"/>
                  </a:lnTo>
                  <a:close/>
                </a:path>
              </a:pathLst>
            </a:custGeom>
            <a:blipFill>
              <a:blip r:embed="rId3">
                <a:alphaModFix amt="0"/>
              </a:blip>
              <a:stretch>
                <a:fillRect l="-46227" r="-46227"/>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64" name="TextBox 64"/>
            <p:cNvSpPr txBox="1"/>
            <p:nvPr/>
          </p:nvSpPr>
          <p:spPr>
            <a:xfrm>
              <a:off x="0" y="0"/>
              <a:ext cx="4389120" cy="3291840"/>
            </a:xfrm>
            <a:prstGeom prst="rect">
              <a:avLst/>
            </a:prstGeom>
          </p:spPr>
          <p:txBody>
            <a:bodyPr lIns="0" tIns="0" rIns="0" bIns="0" rtlCol="0" anchor="ctr"/>
            <a:lstStyle/>
            <a:p>
              <a:pPr algn="l">
                <a:lnSpc>
                  <a:spcPts val="2879"/>
                </a:lnSpc>
              </a:pPr>
              <a:r>
                <a:rPr lang="en-US" sz="2400" spc="48">
                  <a:latin typeface="Times New Roman" panose="02020603050405020304" pitchFamily="18" charset="0"/>
                  <a:ea typeface="Playfair Display"/>
                  <a:cs typeface="Times New Roman" panose="02020603050405020304" pitchFamily="18" charset="0"/>
                  <a:sym typeface="Playfair Display"/>
                </a:rPr>
                <a:t>Explores far-away regions.</a:t>
              </a:r>
            </a:p>
            <a:p>
              <a:pPr algn="l">
                <a:lnSpc>
                  <a:spcPts val="2879"/>
                </a:lnSpc>
              </a:pPr>
              <a:r>
                <a:rPr lang="en-US" sz="2400" spc="48">
                  <a:latin typeface="Times New Roman" panose="02020603050405020304" pitchFamily="18" charset="0"/>
                  <a:ea typeface="Playfair Display"/>
                  <a:cs typeface="Times New Roman" panose="02020603050405020304" pitchFamily="18" charset="0"/>
                  <a:sym typeface="Playfair Display"/>
                </a:rPr>
                <a:t>Captures structural roles.</a:t>
              </a:r>
            </a:p>
            <a:p>
              <a:pPr algn="l">
                <a:lnSpc>
                  <a:spcPts val="2879"/>
                </a:lnSpc>
              </a:pPr>
              <a:r>
                <a:rPr lang="en-US" sz="2400" spc="48">
                  <a:latin typeface="Times New Roman" panose="02020603050405020304" pitchFamily="18" charset="0"/>
                  <a:ea typeface="Playfair Display"/>
                  <a:cs typeface="Times New Roman" panose="02020603050405020304" pitchFamily="18" charset="0"/>
                  <a:sym typeface="Playfair Display"/>
                </a:rPr>
                <a:t>Good for link prediction.</a:t>
              </a:r>
            </a:p>
          </p:txBody>
        </p:sp>
      </p:grpSp>
      <p:grpSp>
        <p:nvGrpSpPr>
          <p:cNvPr id="65" name="Group 65"/>
          <p:cNvGrpSpPr/>
          <p:nvPr/>
        </p:nvGrpSpPr>
        <p:grpSpPr>
          <a:xfrm>
            <a:off x="744254" y="7054413"/>
            <a:ext cx="16824960" cy="694944"/>
            <a:chOff x="0" y="0"/>
            <a:chExt cx="22433280" cy="926592"/>
          </a:xfrm>
        </p:grpSpPr>
        <p:sp>
          <p:nvSpPr>
            <p:cNvPr id="66" name="Freeform 66"/>
            <p:cNvSpPr/>
            <p:nvPr/>
          </p:nvSpPr>
          <p:spPr>
            <a:xfrm>
              <a:off x="0" y="0"/>
              <a:ext cx="22433280" cy="926592"/>
            </a:xfrm>
            <a:custGeom>
              <a:avLst/>
              <a:gdLst/>
              <a:ahLst/>
              <a:cxnLst/>
              <a:rect l="l" t="t" r="r" b="b"/>
              <a:pathLst>
                <a:path w="22433280" h="926592">
                  <a:moveTo>
                    <a:pt x="0" y="0"/>
                  </a:moveTo>
                  <a:lnTo>
                    <a:pt x="22433280" y="0"/>
                  </a:lnTo>
                  <a:lnTo>
                    <a:pt x="22433280" y="926592"/>
                  </a:lnTo>
                  <a:lnTo>
                    <a:pt x="0" y="926592"/>
                  </a:lnTo>
                  <a:close/>
                </a:path>
              </a:pathLst>
            </a:custGeom>
            <a:blipFill>
              <a:blip r:embed="rId3">
                <a:alphaModFix amt="0"/>
              </a:blip>
              <a:stretch>
                <a:fillRect t="-421743" b="-421743"/>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67" name="TextBox 67"/>
            <p:cNvSpPr txBox="1"/>
            <p:nvPr/>
          </p:nvSpPr>
          <p:spPr>
            <a:xfrm>
              <a:off x="0" y="9525"/>
              <a:ext cx="22433280" cy="917067"/>
            </a:xfrm>
            <a:prstGeom prst="rect">
              <a:avLst/>
            </a:prstGeom>
          </p:spPr>
          <p:txBody>
            <a:bodyPr lIns="0" tIns="0" rIns="0" bIns="0" rtlCol="0" anchor="ctr"/>
            <a:lstStyle/>
            <a:p>
              <a:pPr algn="l">
                <a:lnSpc>
                  <a:spcPts val="3359"/>
                </a:lnSpc>
              </a:pPr>
              <a:r>
                <a:rPr lang="en-US" sz="2799" i="1" spc="140">
                  <a:latin typeface="Times New Roman" panose="02020603050405020304" pitchFamily="18" charset="0"/>
                  <a:ea typeface="Playfair Display Italics"/>
                  <a:cs typeface="Times New Roman" panose="02020603050405020304" pitchFamily="18" charset="0"/>
                  <a:sym typeface="Playfair Display Italics"/>
                </a:rPr>
                <a:t>Parameter Summary</a:t>
              </a:r>
            </a:p>
          </p:txBody>
        </p:sp>
      </p:grpSp>
      <p:graphicFrame>
        <p:nvGraphicFramePr>
          <p:cNvPr id="68" name="Table 68"/>
          <p:cNvGraphicFramePr>
            <a:graphicFrameLocks noGrp="1"/>
          </p:cNvGraphicFramePr>
          <p:nvPr>
            <p:extLst>
              <p:ext uri="{D42A27DB-BD31-4B8C-83A1-F6EECF244321}">
                <p14:modId xmlns:p14="http://schemas.microsoft.com/office/powerpoint/2010/main" val="1648252820"/>
              </p:ext>
            </p:extLst>
          </p:nvPr>
        </p:nvGraphicFramePr>
        <p:xfrm>
          <a:off x="579120" y="7809013"/>
          <a:ext cx="16764000" cy="2369566"/>
        </p:xfrm>
        <a:graphic>
          <a:graphicData uri="http://schemas.openxmlformats.org/drawingml/2006/table">
            <a:tbl>
              <a:tblPr/>
              <a:tblGrid>
                <a:gridCol w="5588000">
                  <a:extLst>
                    <a:ext uri="{9D8B030D-6E8A-4147-A177-3AD203B41FA5}">
                      <a16:colId xmlns:a16="http://schemas.microsoft.com/office/drawing/2014/main" val="20000"/>
                    </a:ext>
                  </a:extLst>
                </a:gridCol>
                <a:gridCol w="5588000">
                  <a:extLst>
                    <a:ext uri="{9D8B030D-6E8A-4147-A177-3AD203B41FA5}">
                      <a16:colId xmlns:a16="http://schemas.microsoft.com/office/drawing/2014/main" val="20001"/>
                    </a:ext>
                  </a:extLst>
                </a:gridCol>
                <a:gridCol w="5588000">
                  <a:extLst>
                    <a:ext uri="{9D8B030D-6E8A-4147-A177-3AD203B41FA5}">
                      <a16:colId xmlns:a16="http://schemas.microsoft.com/office/drawing/2014/main" val="20002"/>
                    </a:ext>
                  </a:extLst>
                </a:gridCol>
              </a:tblGrid>
              <a:tr h="558800">
                <a:tc>
                  <a:txBody>
                    <a:bodyPr/>
                    <a:lstStyle/>
                    <a:p>
                      <a:pPr algn="ctr">
                        <a:lnSpc>
                          <a:spcPts val="2879"/>
                        </a:lnSpc>
                        <a:defRPr/>
                      </a:pPr>
                      <a:r>
                        <a:rPr lang="en-US" sz="2400" i="1" spc="120">
                          <a:solidFill>
                            <a:srgbClr val="253439"/>
                          </a:solidFill>
                          <a:latin typeface="Playfair Display Italics"/>
                          <a:ea typeface="Playfair Display Italics"/>
                          <a:cs typeface="Playfair Display Italics"/>
                          <a:sym typeface="Playfair Display Italics"/>
                        </a:rPr>
                        <a:t>Parameter</a:t>
                      </a:r>
                      <a:endParaRPr lang="en-US" sz="1100"/>
                    </a:p>
                  </a:txBody>
                  <a:tcPr marT="91440" marB="91440">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tc>
                  <a:txBody>
                    <a:bodyPr/>
                    <a:lstStyle/>
                    <a:p>
                      <a:pPr algn="ctr">
                        <a:lnSpc>
                          <a:spcPts val="2879"/>
                        </a:lnSpc>
                        <a:defRPr/>
                      </a:pPr>
                      <a:r>
                        <a:rPr lang="en-US" sz="2400" i="1" spc="120">
                          <a:solidFill>
                            <a:srgbClr val="253439"/>
                          </a:solidFill>
                          <a:latin typeface="Playfair Display Italics"/>
                          <a:ea typeface="Playfair Display Italics"/>
                          <a:cs typeface="Playfair Display Italics"/>
                          <a:sym typeface="Playfair Display Italics"/>
                        </a:rPr>
                        <a:t>Name</a:t>
                      </a:r>
                      <a:endParaRPr lang="en-US" sz="1100"/>
                    </a:p>
                  </a:txBody>
                  <a:tcPr marT="91440" marB="91440">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tc>
                  <a:txBody>
                    <a:bodyPr/>
                    <a:lstStyle/>
                    <a:p>
                      <a:pPr algn="ctr">
                        <a:lnSpc>
                          <a:spcPts val="2879"/>
                        </a:lnSpc>
                        <a:defRPr/>
                      </a:pPr>
                      <a:r>
                        <a:rPr lang="en-US" sz="2400" i="1" spc="120">
                          <a:solidFill>
                            <a:srgbClr val="253439"/>
                          </a:solidFill>
                          <a:latin typeface="Playfair Display Italics"/>
                          <a:ea typeface="Playfair Display Italics"/>
                          <a:cs typeface="Playfair Display Italics"/>
                          <a:sym typeface="Playfair Display Italics"/>
                        </a:rPr>
                        <a:t>Effect</a:t>
                      </a:r>
                      <a:endParaRPr lang="en-US" sz="1100"/>
                    </a:p>
                  </a:txBody>
                  <a:tcPr marT="91440" marB="91440">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58800">
                <a:tc>
                  <a:txBody>
                    <a:bodyPr/>
                    <a:lstStyle/>
                    <a:p>
                      <a:pPr algn="ctr">
                        <a:lnSpc>
                          <a:spcPts val="2879"/>
                        </a:lnSpc>
                        <a:defRPr/>
                      </a:pPr>
                      <a:r>
                        <a:rPr lang="en-US" sz="2400" i="1" spc="120">
                          <a:solidFill>
                            <a:srgbClr val="FFFFFF"/>
                          </a:solidFill>
                          <a:latin typeface="Playfair Display Italics"/>
                          <a:ea typeface="Playfair Display Italics"/>
                          <a:cs typeface="Playfair Display Italics"/>
                          <a:sym typeface="Playfair Display Italics"/>
                        </a:rPr>
                        <a:t>p</a:t>
                      </a:r>
                      <a:endParaRPr lang="en-US" sz="1100"/>
                    </a:p>
                  </a:txBody>
                  <a:tcPr marT="91440" marB="91440">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7C898B"/>
                    </a:solidFill>
                  </a:tcPr>
                </a:tc>
                <a:tc>
                  <a:txBody>
                    <a:bodyPr/>
                    <a:lstStyle/>
                    <a:p>
                      <a:pPr algn="ctr">
                        <a:lnSpc>
                          <a:spcPts val="2879"/>
                        </a:lnSpc>
                        <a:defRPr/>
                      </a:pPr>
                      <a:r>
                        <a:rPr lang="en-US" sz="2400" spc="48">
                          <a:solidFill>
                            <a:srgbClr val="FFFFFF"/>
                          </a:solidFill>
                          <a:latin typeface="Playfair Display"/>
                          <a:ea typeface="Playfair Display"/>
                          <a:cs typeface="Playfair Display"/>
                          <a:sym typeface="Playfair Display"/>
                        </a:rPr>
                        <a:t>Return Parameter</a:t>
                      </a:r>
                      <a:endParaRPr lang="en-US" sz="1100"/>
                    </a:p>
                  </a:txBody>
                  <a:tcPr marT="91440" marB="91440">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7C898B"/>
                    </a:solidFill>
                  </a:tcPr>
                </a:tc>
                <a:tc>
                  <a:txBody>
                    <a:bodyPr/>
                    <a:lstStyle/>
                    <a:p>
                      <a:pPr algn="ctr">
                        <a:lnSpc>
                          <a:spcPts val="2879"/>
                        </a:lnSpc>
                        <a:defRPr/>
                      </a:pPr>
                      <a:r>
                        <a:rPr lang="en-US" sz="2400" spc="48">
                          <a:solidFill>
                            <a:srgbClr val="FFFFFF"/>
                          </a:solidFill>
                          <a:latin typeface="Playfair Display"/>
                          <a:ea typeface="Playfair Display"/>
                          <a:cs typeface="Playfair Display"/>
                          <a:sym typeface="Playfair Display"/>
                        </a:rPr>
                        <a:t>Controls likelihood of going back to previous node</a:t>
                      </a:r>
                      <a:endParaRPr lang="en-US" sz="1100"/>
                    </a:p>
                  </a:txBody>
                  <a:tcPr marT="91440" marB="91440">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7C898B"/>
                    </a:solidFill>
                  </a:tcPr>
                </a:tc>
                <a:extLst>
                  <a:ext uri="{0D108BD9-81ED-4DB2-BD59-A6C34878D82A}">
                    <a16:rowId xmlns:a16="http://schemas.microsoft.com/office/drawing/2014/main" val="10001"/>
                  </a:ext>
                </a:extLst>
              </a:tr>
              <a:tr h="558800">
                <a:tc>
                  <a:txBody>
                    <a:bodyPr/>
                    <a:lstStyle/>
                    <a:p>
                      <a:pPr algn="ctr">
                        <a:lnSpc>
                          <a:spcPts val="2879"/>
                        </a:lnSpc>
                        <a:defRPr/>
                      </a:pPr>
                      <a:r>
                        <a:rPr lang="en-US" sz="2400" i="1" spc="120">
                          <a:solidFill>
                            <a:srgbClr val="FFFFFF"/>
                          </a:solidFill>
                          <a:latin typeface="Playfair Display Italics"/>
                          <a:ea typeface="Playfair Display Italics"/>
                          <a:cs typeface="Playfair Display Italics"/>
                          <a:sym typeface="Playfair Display Italics"/>
                        </a:rPr>
                        <a:t>q</a:t>
                      </a:r>
                      <a:endParaRPr lang="en-US" sz="1100"/>
                    </a:p>
                  </a:txBody>
                  <a:tcPr marT="91440" marB="91440">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7C898B"/>
                    </a:solidFill>
                  </a:tcPr>
                </a:tc>
                <a:tc>
                  <a:txBody>
                    <a:bodyPr/>
                    <a:lstStyle/>
                    <a:p>
                      <a:pPr algn="ctr">
                        <a:lnSpc>
                          <a:spcPts val="2879"/>
                        </a:lnSpc>
                        <a:defRPr/>
                      </a:pPr>
                      <a:r>
                        <a:rPr lang="en-US" sz="2400" spc="48">
                          <a:solidFill>
                            <a:srgbClr val="FFFFFF"/>
                          </a:solidFill>
                          <a:latin typeface="Playfair Display"/>
                          <a:ea typeface="Playfair Display"/>
                          <a:cs typeface="Playfair Display"/>
                          <a:sym typeface="Playfair Display"/>
                        </a:rPr>
                        <a:t>In-Out Parameter</a:t>
                      </a:r>
                      <a:endParaRPr lang="en-US" sz="1100"/>
                    </a:p>
                  </a:txBody>
                  <a:tcPr marT="91440" marB="91440">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7C898B"/>
                    </a:solidFill>
                  </a:tcPr>
                </a:tc>
                <a:tc>
                  <a:txBody>
                    <a:bodyPr/>
                    <a:lstStyle/>
                    <a:p>
                      <a:pPr algn="ctr">
                        <a:lnSpc>
                          <a:spcPts val="2879"/>
                        </a:lnSpc>
                        <a:defRPr/>
                      </a:pPr>
                      <a:r>
                        <a:rPr lang="en-US" sz="2400" spc="48" dirty="0">
                          <a:solidFill>
                            <a:srgbClr val="FFFFFF"/>
                          </a:solidFill>
                          <a:latin typeface="Playfair Display"/>
                          <a:ea typeface="Playfair Display"/>
                          <a:cs typeface="Playfair Display"/>
                          <a:sym typeface="Playfair Display"/>
                        </a:rPr>
                        <a:t>Controls BFS (large q) vs DFS (small q) exploration</a:t>
                      </a:r>
                      <a:endParaRPr lang="en-US" sz="1100" dirty="0"/>
                    </a:p>
                  </a:txBody>
                  <a:tcPr marT="91440" marB="91440">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7C898B"/>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53439"/>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0" y="0"/>
              <a:ext cx="24417910" cy="1789557"/>
            </a:xfrm>
            <a:custGeom>
              <a:avLst/>
              <a:gdLst/>
              <a:ahLst/>
              <a:cxnLst/>
              <a:rect l="l" t="t" r="r" b="b"/>
              <a:pathLst>
                <a:path w="24417910" h="1789557">
                  <a:moveTo>
                    <a:pt x="0" y="0"/>
                  </a:moveTo>
                  <a:lnTo>
                    <a:pt x="24417910" y="0"/>
                  </a:lnTo>
                  <a:lnTo>
                    <a:pt x="24417910" y="1789557"/>
                  </a:lnTo>
                  <a:lnTo>
                    <a:pt x="0" y="1789557"/>
                  </a:lnTo>
                  <a:close/>
                </a:path>
              </a:pathLst>
            </a:custGeom>
            <a:solidFill>
              <a:srgbClr val="CEB99E"/>
            </a:solidFill>
            <a:ln w="25400" cap="sq">
              <a:solidFill>
                <a:srgbClr val="1A3461"/>
              </a:solidFill>
              <a:prstDash val="solid"/>
              <a:miter/>
            </a:ln>
          </p:spPr>
          <p:txBody>
            <a:bodyPr/>
            <a:lstStyle/>
            <a:p>
              <a:endParaRPr lang="en-IN"/>
            </a:p>
          </p:txBody>
        </p:sp>
      </p:grpSp>
      <p:grpSp>
        <p:nvGrpSpPr>
          <p:cNvPr id="4" name="Group 4"/>
          <p:cNvGrpSpPr/>
          <p:nvPr/>
        </p:nvGrpSpPr>
        <p:grpSpPr>
          <a:xfrm>
            <a:off x="731520" y="0"/>
            <a:ext cx="16824960" cy="1316736"/>
            <a:chOff x="0" y="0"/>
            <a:chExt cx="22433280" cy="1755648"/>
          </a:xfrm>
        </p:grpSpPr>
        <p:sp>
          <p:nvSpPr>
            <p:cNvPr id="5" name="Freeform 5"/>
            <p:cNvSpPr/>
            <p:nvPr/>
          </p:nvSpPr>
          <p:spPr>
            <a:xfrm>
              <a:off x="0" y="0"/>
              <a:ext cx="22433280" cy="1755648"/>
            </a:xfrm>
            <a:custGeom>
              <a:avLst/>
              <a:gdLst/>
              <a:ahLst/>
              <a:cxnLst/>
              <a:rect l="l" t="t" r="r" b="b"/>
              <a:pathLst>
                <a:path w="22433280" h="1755648">
                  <a:moveTo>
                    <a:pt x="0" y="0"/>
                  </a:moveTo>
                  <a:lnTo>
                    <a:pt x="22433280" y="0"/>
                  </a:lnTo>
                  <a:lnTo>
                    <a:pt x="22433280" y="1755648"/>
                  </a:lnTo>
                  <a:lnTo>
                    <a:pt x="0" y="1755648"/>
                  </a:lnTo>
                  <a:close/>
                </a:path>
              </a:pathLst>
            </a:custGeom>
            <a:blipFill>
              <a:blip r:embed="rId3">
                <a:alphaModFix amt="0"/>
              </a:blip>
              <a:stretch>
                <a:fillRect t="-198975" b="-198975"/>
              </a:stretch>
            </a:blipFill>
          </p:spPr>
          <p:txBody>
            <a:bodyPr/>
            <a:lstStyle/>
            <a:p>
              <a:endParaRPr lang="en-IN"/>
            </a:p>
          </p:txBody>
        </p:sp>
        <p:sp>
          <p:nvSpPr>
            <p:cNvPr id="6" name="TextBox 6"/>
            <p:cNvSpPr txBox="1"/>
            <p:nvPr/>
          </p:nvSpPr>
          <p:spPr>
            <a:xfrm>
              <a:off x="0" y="-9525"/>
              <a:ext cx="22433280" cy="1765173"/>
            </a:xfrm>
            <a:prstGeom prst="rect">
              <a:avLst/>
            </a:prstGeom>
          </p:spPr>
          <p:txBody>
            <a:bodyPr lIns="0" tIns="0" rIns="0" bIns="0" rtlCol="0" anchor="ctr"/>
            <a:lstStyle/>
            <a:p>
              <a:pPr algn="l">
                <a:lnSpc>
                  <a:spcPts val="4800"/>
                </a:lnSpc>
              </a:pPr>
              <a:r>
                <a:rPr lang="en-US" sz="4000" spc="560" dirty="0">
                  <a:solidFill>
                    <a:srgbClr val="253439"/>
                  </a:solidFill>
                  <a:latin typeface="Times New Roman" panose="02020603050405020304" pitchFamily="18" charset="0"/>
                  <a:ea typeface="Hammersmith One"/>
                  <a:cs typeface="Times New Roman" panose="02020603050405020304" pitchFamily="18" charset="0"/>
                  <a:sym typeface="Hammersmith One"/>
                </a:rPr>
                <a:t>P&amp;Q : Transition Probability Rules</a:t>
              </a:r>
            </a:p>
          </p:txBody>
        </p:sp>
      </p:grpSp>
      <p:sp>
        <p:nvSpPr>
          <p:cNvPr id="8" name="Freeform 8"/>
          <p:cNvSpPr/>
          <p:nvPr/>
        </p:nvSpPr>
        <p:spPr>
          <a:xfrm>
            <a:off x="731520" y="73152"/>
            <a:ext cx="16459200" cy="402336"/>
          </a:xfrm>
          <a:custGeom>
            <a:avLst/>
            <a:gdLst/>
            <a:ahLst/>
            <a:cxnLst/>
            <a:rect l="l" t="t" r="r" b="b"/>
            <a:pathLst>
              <a:path w="21945600" h="536448">
                <a:moveTo>
                  <a:pt x="0" y="0"/>
                </a:moveTo>
                <a:lnTo>
                  <a:pt x="21945600" y="0"/>
                </a:lnTo>
                <a:lnTo>
                  <a:pt x="21945600" y="536448"/>
                </a:lnTo>
                <a:lnTo>
                  <a:pt x="0" y="536448"/>
                </a:lnTo>
                <a:close/>
              </a:path>
            </a:pathLst>
          </a:custGeom>
          <a:blipFill>
            <a:blip r:embed="rId3">
              <a:alphaModFix amt="0"/>
            </a:blip>
            <a:stretch>
              <a:fillRect t="-747115" b="-747115"/>
            </a:stretch>
          </a:blipFill>
        </p:spPr>
        <p:txBody>
          <a:bodyPr/>
          <a:lstStyle/>
          <a:p>
            <a:endParaRPr lang="en-IN" dirty="0"/>
          </a:p>
        </p:txBody>
      </p:sp>
      <p:grpSp>
        <p:nvGrpSpPr>
          <p:cNvPr id="10" name="Group 10"/>
          <p:cNvGrpSpPr/>
          <p:nvPr/>
        </p:nvGrpSpPr>
        <p:grpSpPr>
          <a:xfrm>
            <a:off x="731520" y="1499616"/>
            <a:ext cx="16824960" cy="768096"/>
            <a:chOff x="0" y="0"/>
            <a:chExt cx="22433280" cy="1024128"/>
          </a:xfrm>
        </p:grpSpPr>
        <p:sp>
          <p:nvSpPr>
            <p:cNvPr id="11" name="Freeform 11"/>
            <p:cNvSpPr/>
            <p:nvPr/>
          </p:nvSpPr>
          <p:spPr>
            <a:xfrm>
              <a:off x="0" y="0"/>
              <a:ext cx="22433280" cy="1024128"/>
            </a:xfrm>
            <a:custGeom>
              <a:avLst/>
              <a:gdLst/>
              <a:ahLst/>
              <a:cxnLst/>
              <a:rect l="l" t="t" r="r" b="b"/>
              <a:pathLst>
                <a:path w="22433280" h="1024128">
                  <a:moveTo>
                    <a:pt x="0" y="0"/>
                  </a:moveTo>
                  <a:lnTo>
                    <a:pt x="22433280" y="0"/>
                  </a:lnTo>
                  <a:lnTo>
                    <a:pt x="22433280" y="1024128"/>
                  </a:lnTo>
                  <a:lnTo>
                    <a:pt x="0" y="1024128"/>
                  </a:lnTo>
                  <a:close/>
                </a:path>
              </a:pathLst>
            </a:custGeom>
            <a:blipFill>
              <a:blip r:embed="rId3">
                <a:alphaModFix amt="0"/>
              </a:blip>
              <a:stretch>
                <a:fillRect t="-376815" b="-376815"/>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12" name="TextBox 12"/>
            <p:cNvSpPr txBox="1"/>
            <p:nvPr/>
          </p:nvSpPr>
          <p:spPr>
            <a:xfrm>
              <a:off x="0" y="9525"/>
              <a:ext cx="22433280" cy="1014603"/>
            </a:xfrm>
            <a:prstGeom prst="rect">
              <a:avLst/>
            </a:prstGeom>
          </p:spPr>
          <p:txBody>
            <a:bodyPr lIns="0" tIns="0" rIns="0" bIns="0" rtlCol="0" anchor="ctr"/>
            <a:lstStyle/>
            <a:p>
              <a:pPr algn="l">
                <a:lnSpc>
                  <a:spcPts val="3359"/>
                </a:lnSpc>
              </a:pPr>
              <a:r>
                <a:rPr lang="en-US" sz="2799" spc="55">
                  <a:latin typeface="Times New Roman" panose="02020603050405020304" pitchFamily="18" charset="0"/>
                  <a:ea typeface="Playfair Display"/>
                  <a:cs typeface="Times New Roman" panose="02020603050405020304" pitchFamily="18" charset="0"/>
                  <a:sym typeface="Playfair Display"/>
                </a:rPr>
                <a:t>The walker was at node t, moved to node w. Now at w, which neighbor x does it visit next?</a:t>
              </a:r>
            </a:p>
          </p:txBody>
        </p:sp>
      </p:grpSp>
      <p:grpSp>
        <p:nvGrpSpPr>
          <p:cNvPr id="13" name="Group 13"/>
          <p:cNvGrpSpPr/>
          <p:nvPr/>
        </p:nvGrpSpPr>
        <p:grpSpPr>
          <a:xfrm>
            <a:off x="535943" y="2456183"/>
            <a:ext cx="8072123" cy="6883403"/>
            <a:chOff x="0" y="0"/>
            <a:chExt cx="10762831" cy="9177871"/>
          </a:xfrm>
        </p:grpSpPr>
        <p:sp>
          <p:nvSpPr>
            <p:cNvPr id="14" name="Freeform 14"/>
            <p:cNvSpPr/>
            <p:nvPr/>
          </p:nvSpPr>
          <p:spPr>
            <a:xfrm>
              <a:off x="0" y="0"/>
              <a:ext cx="10762742" cy="9177783"/>
            </a:xfrm>
            <a:custGeom>
              <a:avLst/>
              <a:gdLst/>
              <a:ahLst/>
              <a:cxnLst/>
              <a:rect l="l" t="t" r="r" b="b"/>
              <a:pathLst>
                <a:path w="10762742" h="9177783">
                  <a:moveTo>
                    <a:pt x="0" y="244729"/>
                  </a:moveTo>
                  <a:cubicBezTo>
                    <a:pt x="0" y="109601"/>
                    <a:pt x="109601" y="0"/>
                    <a:pt x="244729" y="0"/>
                  </a:cubicBezTo>
                  <a:lnTo>
                    <a:pt x="10518013" y="0"/>
                  </a:lnTo>
                  <a:cubicBezTo>
                    <a:pt x="10653141" y="0"/>
                    <a:pt x="10762742" y="109601"/>
                    <a:pt x="10762742" y="244729"/>
                  </a:cubicBezTo>
                  <a:lnTo>
                    <a:pt x="10762742" y="8933053"/>
                  </a:lnTo>
                  <a:cubicBezTo>
                    <a:pt x="10762742" y="9068181"/>
                    <a:pt x="10653141" y="9177782"/>
                    <a:pt x="10518013" y="9177782"/>
                  </a:cubicBezTo>
                  <a:lnTo>
                    <a:pt x="244729" y="9177782"/>
                  </a:lnTo>
                  <a:cubicBezTo>
                    <a:pt x="109601" y="9177909"/>
                    <a:pt x="0" y="9068308"/>
                    <a:pt x="0" y="8933053"/>
                  </a:cubicBezTo>
                  <a:close/>
                </a:path>
              </a:pathLst>
            </a:custGeom>
            <a:solidFill>
              <a:srgbClr val="595551"/>
            </a:solidFill>
            <a:ln w="25400" cap="sq">
              <a:solidFill>
                <a:srgbClr val="D8E8F8"/>
              </a:solidFill>
              <a:prstDash val="solid"/>
              <a:miter/>
            </a:ln>
          </p:spPr>
          <p:txBody>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Node2Vec examines the distance dist(t,x) between the previous node t and a candidate node x. Based on this distance, it assigns transition probabilities using parameters p and q, enabling the random walk to balance between local exploration (BFS-like) and global exploration (DFS-like).</a:t>
              </a:r>
              <a:endParaRPr lang="en-IN" sz="2000" dirty="0">
                <a:latin typeface="Times New Roman" panose="02020603050405020304" pitchFamily="18" charset="0"/>
                <a:cs typeface="Times New Roman" panose="02020603050405020304" pitchFamily="18" charset="0"/>
              </a:endParaRPr>
            </a:p>
          </p:txBody>
        </p:sp>
      </p:grpSp>
      <p:grpSp>
        <p:nvGrpSpPr>
          <p:cNvPr id="15" name="Group 15"/>
          <p:cNvGrpSpPr/>
          <p:nvPr/>
        </p:nvGrpSpPr>
        <p:grpSpPr>
          <a:xfrm>
            <a:off x="914400" y="2560320"/>
            <a:ext cx="7315200" cy="694944"/>
            <a:chOff x="0" y="0"/>
            <a:chExt cx="9753600" cy="926592"/>
          </a:xfrm>
        </p:grpSpPr>
        <p:sp>
          <p:nvSpPr>
            <p:cNvPr id="16" name="Freeform 16"/>
            <p:cNvSpPr/>
            <p:nvPr/>
          </p:nvSpPr>
          <p:spPr>
            <a:xfrm>
              <a:off x="0" y="0"/>
              <a:ext cx="9753600" cy="926592"/>
            </a:xfrm>
            <a:custGeom>
              <a:avLst/>
              <a:gdLst/>
              <a:ahLst/>
              <a:cxnLst/>
              <a:rect l="l" t="t" r="r" b="b"/>
              <a:pathLst>
                <a:path w="9753600" h="926592">
                  <a:moveTo>
                    <a:pt x="0" y="0"/>
                  </a:moveTo>
                  <a:lnTo>
                    <a:pt x="9753600" y="0"/>
                  </a:lnTo>
                  <a:lnTo>
                    <a:pt x="9753600" y="926592"/>
                  </a:lnTo>
                  <a:lnTo>
                    <a:pt x="0" y="926592"/>
                  </a:lnTo>
                  <a:close/>
                </a:path>
              </a:pathLst>
            </a:custGeom>
            <a:blipFill>
              <a:blip r:embed="rId3">
                <a:alphaModFix amt="0"/>
              </a:blip>
              <a:stretch>
                <a:fillRect t="-155105" b="-155105"/>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17" name="TextBox 17"/>
            <p:cNvSpPr txBox="1"/>
            <p:nvPr/>
          </p:nvSpPr>
          <p:spPr>
            <a:xfrm>
              <a:off x="0" y="9525"/>
              <a:ext cx="9753600" cy="917067"/>
            </a:xfrm>
            <a:prstGeom prst="rect">
              <a:avLst/>
            </a:prstGeom>
          </p:spPr>
          <p:txBody>
            <a:bodyPr lIns="0" tIns="0" rIns="0" bIns="0" rtlCol="0" anchor="ctr"/>
            <a:lstStyle/>
            <a:p>
              <a:pPr algn="l">
                <a:lnSpc>
                  <a:spcPts val="3359"/>
                </a:lnSpc>
              </a:pPr>
              <a:r>
                <a:rPr lang="en-US" sz="2799" i="1" spc="140">
                  <a:latin typeface="Times New Roman" panose="02020603050405020304" pitchFamily="18" charset="0"/>
                  <a:ea typeface="Playfair Display Italics"/>
                  <a:cs typeface="Times New Roman" panose="02020603050405020304" pitchFamily="18" charset="0"/>
                  <a:sym typeface="Playfair Display Italics"/>
                </a:rPr>
                <a:t>Walk Scenario</a:t>
              </a:r>
            </a:p>
          </p:txBody>
        </p:sp>
      </p:grpSp>
      <p:graphicFrame>
        <p:nvGraphicFramePr>
          <p:cNvPr id="55" name="Table 55"/>
          <p:cNvGraphicFramePr>
            <a:graphicFrameLocks noGrp="1"/>
          </p:cNvGraphicFramePr>
          <p:nvPr>
            <p:extLst>
              <p:ext uri="{D42A27DB-BD31-4B8C-83A1-F6EECF244321}">
                <p14:modId xmlns:p14="http://schemas.microsoft.com/office/powerpoint/2010/main" val="980540278"/>
              </p:ext>
            </p:extLst>
          </p:nvPr>
        </p:nvGraphicFramePr>
        <p:xfrm>
          <a:off x="9113520" y="2188992"/>
          <a:ext cx="8534400" cy="3561589"/>
        </p:xfrm>
        <a:graphic>
          <a:graphicData uri="http://schemas.openxmlformats.org/drawingml/2006/table">
            <a:tbl>
              <a:tblPr/>
              <a:tblGrid>
                <a:gridCol w="2133600">
                  <a:extLst>
                    <a:ext uri="{9D8B030D-6E8A-4147-A177-3AD203B41FA5}">
                      <a16:colId xmlns:a16="http://schemas.microsoft.com/office/drawing/2014/main" val="20000"/>
                    </a:ext>
                  </a:extLst>
                </a:gridCol>
                <a:gridCol w="2133600">
                  <a:extLst>
                    <a:ext uri="{9D8B030D-6E8A-4147-A177-3AD203B41FA5}">
                      <a16:colId xmlns:a16="http://schemas.microsoft.com/office/drawing/2014/main" val="20001"/>
                    </a:ext>
                  </a:extLst>
                </a:gridCol>
                <a:gridCol w="2133600">
                  <a:extLst>
                    <a:ext uri="{9D8B030D-6E8A-4147-A177-3AD203B41FA5}">
                      <a16:colId xmlns:a16="http://schemas.microsoft.com/office/drawing/2014/main" val="20002"/>
                    </a:ext>
                  </a:extLst>
                </a:gridCol>
                <a:gridCol w="2133600">
                  <a:extLst>
                    <a:ext uri="{9D8B030D-6E8A-4147-A177-3AD203B41FA5}">
                      <a16:colId xmlns:a16="http://schemas.microsoft.com/office/drawing/2014/main" val="20003"/>
                    </a:ext>
                  </a:extLst>
                </a:gridCol>
              </a:tblGrid>
              <a:tr h="863600">
                <a:tc>
                  <a:txBody>
                    <a:bodyPr/>
                    <a:lstStyle/>
                    <a:p>
                      <a:pPr algn="ctr">
                        <a:lnSpc>
                          <a:spcPts val="2879"/>
                        </a:lnSpc>
                        <a:defRPr/>
                      </a:pPr>
                      <a:r>
                        <a:rPr lang="en-US" sz="2400" i="1" spc="120" dirty="0">
                          <a:solidFill>
                            <a:srgbClr val="253439"/>
                          </a:solidFill>
                          <a:latin typeface="Playfair Display Italics"/>
                          <a:ea typeface="Playfair Display Italics"/>
                          <a:cs typeface="Playfair Display Italics"/>
                          <a:sym typeface="Playfair Display Italics"/>
                        </a:rPr>
                        <a:t>Case</a:t>
                      </a:r>
                      <a:endParaRPr lang="en-US" sz="1100" dirty="0"/>
                    </a:p>
                  </a:txBody>
                  <a:tcPr marT="91440" marB="91440">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CEB99E"/>
                    </a:solidFill>
                  </a:tcPr>
                </a:tc>
                <a:tc>
                  <a:txBody>
                    <a:bodyPr/>
                    <a:lstStyle/>
                    <a:p>
                      <a:pPr algn="ctr">
                        <a:lnSpc>
                          <a:spcPts val="2879"/>
                        </a:lnSpc>
                        <a:defRPr/>
                      </a:pPr>
                      <a:r>
                        <a:rPr lang="en-US" sz="2400" i="1" spc="120">
                          <a:solidFill>
                            <a:srgbClr val="253439"/>
                          </a:solidFill>
                          <a:latin typeface="Playfair Display Italics"/>
                          <a:ea typeface="Playfair Display Italics"/>
                          <a:cs typeface="Playfair Display Italics"/>
                          <a:sym typeface="Playfair Display Italics"/>
                        </a:rPr>
                        <a:t>Target x</a:t>
                      </a:r>
                      <a:endParaRPr lang="en-US" sz="1100"/>
                    </a:p>
                  </a:txBody>
                  <a:tcPr marT="91440" marB="91440">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CEB99E"/>
                    </a:solidFill>
                  </a:tcPr>
                </a:tc>
                <a:tc>
                  <a:txBody>
                    <a:bodyPr/>
                    <a:lstStyle/>
                    <a:p>
                      <a:pPr algn="ctr">
                        <a:lnSpc>
                          <a:spcPts val="2879"/>
                        </a:lnSpc>
                        <a:defRPr/>
                      </a:pPr>
                      <a:r>
                        <a:rPr lang="en-US" sz="2400" i="1" spc="120" dirty="0">
                          <a:solidFill>
                            <a:srgbClr val="253439"/>
                          </a:solidFill>
                          <a:latin typeface="Playfair Display Italics"/>
                          <a:ea typeface="Playfair Display Italics"/>
                          <a:cs typeface="Playfair Display Italics"/>
                          <a:sym typeface="Playfair Display Italics"/>
                        </a:rPr>
                        <a:t>dist(t,x)</a:t>
                      </a:r>
                      <a:endParaRPr lang="en-US" sz="1100" dirty="0"/>
                    </a:p>
                  </a:txBody>
                  <a:tcPr marT="91440" marB="91440">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CEB99E"/>
                    </a:solidFill>
                  </a:tcPr>
                </a:tc>
                <a:tc>
                  <a:txBody>
                    <a:bodyPr/>
                    <a:lstStyle/>
                    <a:p>
                      <a:pPr algn="ctr">
                        <a:lnSpc>
                          <a:spcPts val="2879"/>
                        </a:lnSpc>
                        <a:defRPr/>
                      </a:pPr>
                      <a:r>
                        <a:rPr lang="en-US" sz="2400" i="1" spc="120">
                          <a:solidFill>
                            <a:srgbClr val="253439"/>
                          </a:solidFill>
                          <a:latin typeface="Playfair Display Italics"/>
                          <a:ea typeface="Playfair Display Italics"/>
                          <a:cs typeface="Playfair Display Italics"/>
                          <a:sym typeface="Playfair Display Italics"/>
                        </a:rPr>
                        <a:t>Unnorm. weight</a:t>
                      </a:r>
                      <a:endParaRPr lang="en-US" sz="1100"/>
                    </a:p>
                  </a:txBody>
                  <a:tcPr marT="91440" marB="91440">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CEB99E"/>
                    </a:solidFill>
                  </a:tcPr>
                </a:tc>
                <a:extLst>
                  <a:ext uri="{0D108BD9-81ED-4DB2-BD59-A6C34878D82A}">
                    <a16:rowId xmlns:a16="http://schemas.microsoft.com/office/drawing/2014/main" val="10000"/>
                  </a:ext>
                </a:extLst>
              </a:tr>
              <a:tr h="863600">
                <a:tc>
                  <a:txBody>
                    <a:bodyPr/>
                    <a:lstStyle/>
                    <a:p>
                      <a:pPr algn="ctr">
                        <a:lnSpc>
                          <a:spcPts val="2879"/>
                        </a:lnSpc>
                        <a:defRPr/>
                      </a:pPr>
                      <a:r>
                        <a:rPr lang="en-US" sz="2400" spc="48">
                          <a:solidFill>
                            <a:srgbClr val="FFFFFF"/>
                          </a:solidFill>
                          <a:latin typeface="Playfair Display"/>
                          <a:ea typeface="Playfair Display"/>
                          <a:cs typeface="Playfair Display"/>
                          <a:sym typeface="Playfair Display"/>
                        </a:rPr>
                        <a:t>Go back</a:t>
                      </a:r>
                      <a:endParaRPr lang="en-US" sz="1100"/>
                    </a:p>
                  </a:txBody>
                  <a:tcPr marT="91440" marB="91440">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7C898B"/>
                    </a:solidFill>
                  </a:tcPr>
                </a:tc>
                <a:tc>
                  <a:txBody>
                    <a:bodyPr/>
                    <a:lstStyle/>
                    <a:p>
                      <a:pPr algn="ctr">
                        <a:lnSpc>
                          <a:spcPts val="2879"/>
                        </a:lnSpc>
                        <a:defRPr/>
                      </a:pPr>
                      <a:r>
                        <a:rPr lang="en-US" sz="2400" i="1" spc="120" dirty="0">
                          <a:solidFill>
                            <a:srgbClr val="FFFFFF"/>
                          </a:solidFill>
                          <a:latin typeface="Playfair Display Italics"/>
                          <a:ea typeface="Playfair Display Italics"/>
                          <a:cs typeface="Playfair Display Italics"/>
                          <a:sym typeface="Playfair Display Italics"/>
                        </a:rPr>
                        <a:t>x = t</a:t>
                      </a:r>
                      <a:endParaRPr lang="en-US" sz="1100" dirty="0"/>
                    </a:p>
                  </a:txBody>
                  <a:tcPr marT="91440" marB="91440">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7C898B"/>
                    </a:solidFill>
                  </a:tcPr>
                </a:tc>
                <a:tc>
                  <a:txBody>
                    <a:bodyPr/>
                    <a:lstStyle/>
                    <a:p>
                      <a:pPr algn="ctr">
                        <a:lnSpc>
                          <a:spcPts val="2879"/>
                        </a:lnSpc>
                        <a:defRPr/>
                      </a:pPr>
                      <a:r>
                        <a:rPr lang="en-US" sz="2400" spc="48" dirty="0">
                          <a:solidFill>
                            <a:srgbClr val="FFFFFF"/>
                          </a:solidFill>
                          <a:latin typeface="Playfair Display"/>
                          <a:ea typeface="Playfair Display"/>
                          <a:cs typeface="Playfair Display"/>
                          <a:sym typeface="Playfair Display"/>
                        </a:rPr>
                        <a:t>0</a:t>
                      </a:r>
                      <a:endParaRPr lang="en-US" sz="1100" dirty="0"/>
                    </a:p>
                  </a:txBody>
                  <a:tcPr marT="91440" marB="91440">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7C898B"/>
                    </a:solidFill>
                  </a:tcPr>
                </a:tc>
                <a:tc>
                  <a:txBody>
                    <a:bodyPr/>
                    <a:lstStyle/>
                    <a:p>
                      <a:pPr algn="ctr">
                        <a:lnSpc>
                          <a:spcPts val="3359"/>
                        </a:lnSpc>
                        <a:defRPr/>
                      </a:pPr>
                      <a:r>
                        <a:rPr lang="en-US" sz="2799" i="1" spc="140">
                          <a:solidFill>
                            <a:srgbClr val="FFFFFF"/>
                          </a:solidFill>
                          <a:latin typeface="Playfair Display Italics"/>
                          <a:ea typeface="Playfair Display Italics"/>
                          <a:cs typeface="Playfair Display Italics"/>
                          <a:sym typeface="Playfair Display Italics"/>
                        </a:rPr>
                        <a:t>1/p</a:t>
                      </a:r>
                      <a:endParaRPr lang="en-US" sz="1100"/>
                    </a:p>
                  </a:txBody>
                  <a:tcPr marT="91440" marB="91440">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7C898B"/>
                    </a:solidFill>
                  </a:tcPr>
                </a:tc>
                <a:extLst>
                  <a:ext uri="{0D108BD9-81ED-4DB2-BD59-A6C34878D82A}">
                    <a16:rowId xmlns:a16="http://schemas.microsoft.com/office/drawing/2014/main" val="10001"/>
                  </a:ext>
                </a:extLst>
              </a:tr>
              <a:tr h="863600">
                <a:tc>
                  <a:txBody>
                    <a:bodyPr/>
                    <a:lstStyle/>
                    <a:p>
                      <a:pPr algn="ctr">
                        <a:lnSpc>
                          <a:spcPts val="2879"/>
                        </a:lnSpc>
                        <a:defRPr/>
                      </a:pPr>
                      <a:r>
                        <a:rPr lang="en-US" sz="2400" spc="48">
                          <a:solidFill>
                            <a:srgbClr val="FFFFFF"/>
                          </a:solidFill>
                          <a:latin typeface="Playfair Display"/>
                          <a:ea typeface="Playfair Display"/>
                          <a:cs typeface="Playfair Display"/>
                          <a:sym typeface="Playfair Display"/>
                        </a:rPr>
                        <a:t>Neutral</a:t>
                      </a:r>
                      <a:endParaRPr lang="en-US" sz="1100"/>
                    </a:p>
                  </a:txBody>
                  <a:tcPr marT="91440" marB="91440">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7C898B"/>
                    </a:solidFill>
                  </a:tcPr>
                </a:tc>
                <a:tc>
                  <a:txBody>
                    <a:bodyPr/>
                    <a:lstStyle/>
                    <a:p>
                      <a:pPr algn="ctr">
                        <a:lnSpc>
                          <a:spcPts val="2879"/>
                        </a:lnSpc>
                        <a:defRPr/>
                      </a:pPr>
                      <a:r>
                        <a:rPr lang="en-US" sz="2400" spc="48">
                          <a:solidFill>
                            <a:srgbClr val="FFFFFF"/>
                          </a:solidFill>
                          <a:latin typeface="Playfair Display"/>
                          <a:ea typeface="Playfair Display"/>
                          <a:cs typeface="Playfair Display"/>
                          <a:sym typeface="Playfair Display"/>
                        </a:rPr>
                        <a:t>x = s₁</a:t>
                      </a:r>
                      <a:endParaRPr lang="en-US" sz="1100"/>
                    </a:p>
                    <a:p>
                      <a:pPr algn="ctr">
                        <a:lnSpc>
                          <a:spcPts val="2879"/>
                        </a:lnSpc>
                      </a:pPr>
                      <a:r>
                        <a:rPr lang="en-US" sz="2400" spc="48">
                          <a:solidFill>
                            <a:srgbClr val="FFFFFF"/>
                          </a:solidFill>
                          <a:latin typeface="Playfair Display"/>
                          <a:ea typeface="Playfair Display"/>
                          <a:cs typeface="Playfair Display"/>
                          <a:sym typeface="Playfair Display"/>
                        </a:rPr>
                        <a:t>(nbr of t)</a:t>
                      </a:r>
                    </a:p>
                  </a:txBody>
                  <a:tcPr marT="91440" marB="91440">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7C898B"/>
                    </a:solidFill>
                  </a:tcPr>
                </a:tc>
                <a:tc>
                  <a:txBody>
                    <a:bodyPr/>
                    <a:lstStyle/>
                    <a:p>
                      <a:pPr algn="ctr">
                        <a:lnSpc>
                          <a:spcPts val="2879"/>
                        </a:lnSpc>
                        <a:defRPr/>
                      </a:pPr>
                      <a:r>
                        <a:rPr lang="en-US" sz="2400" spc="48" dirty="0">
                          <a:solidFill>
                            <a:srgbClr val="FFFFFF"/>
                          </a:solidFill>
                          <a:latin typeface="Playfair Display"/>
                          <a:ea typeface="Playfair Display"/>
                          <a:cs typeface="Playfair Display"/>
                          <a:sym typeface="Playfair Display"/>
                        </a:rPr>
                        <a:t>1</a:t>
                      </a:r>
                      <a:endParaRPr lang="en-US" sz="1100" dirty="0"/>
                    </a:p>
                  </a:txBody>
                  <a:tcPr marT="91440" marB="91440">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7C898B"/>
                    </a:solidFill>
                  </a:tcPr>
                </a:tc>
                <a:tc>
                  <a:txBody>
                    <a:bodyPr/>
                    <a:lstStyle/>
                    <a:p>
                      <a:pPr algn="ctr">
                        <a:lnSpc>
                          <a:spcPts val="3359"/>
                        </a:lnSpc>
                        <a:defRPr/>
                      </a:pPr>
                      <a:r>
                        <a:rPr lang="en-US" sz="2799" i="1" spc="140" dirty="0">
                          <a:solidFill>
                            <a:srgbClr val="FFFFFF"/>
                          </a:solidFill>
                          <a:latin typeface="Playfair Display Italics"/>
                          <a:ea typeface="Playfair Display Italics"/>
                          <a:cs typeface="Playfair Display Italics"/>
                          <a:sym typeface="Playfair Display Italics"/>
                        </a:rPr>
                        <a:t>1</a:t>
                      </a:r>
                      <a:endParaRPr lang="en-US" sz="1100" dirty="0"/>
                    </a:p>
                  </a:txBody>
                  <a:tcPr marT="91440" marB="91440">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7C898B"/>
                    </a:solidFill>
                  </a:tcPr>
                </a:tc>
                <a:extLst>
                  <a:ext uri="{0D108BD9-81ED-4DB2-BD59-A6C34878D82A}">
                    <a16:rowId xmlns:a16="http://schemas.microsoft.com/office/drawing/2014/main" val="10002"/>
                  </a:ext>
                </a:extLst>
              </a:tr>
              <a:tr h="863600">
                <a:tc>
                  <a:txBody>
                    <a:bodyPr/>
                    <a:lstStyle/>
                    <a:p>
                      <a:pPr algn="ctr">
                        <a:lnSpc>
                          <a:spcPts val="2879"/>
                        </a:lnSpc>
                        <a:defRPr/>
                      </a:pPr>
                      <a:r>
                        <a:rPr lang="en-US" sz="2400" spc="48">
                          <a:solidFill>
                            <a:srgbClr val="FFFFFF"/>
                          </a:solidFill>
                          <a:latin typeface="Playfair Display"/>
                          <a:ea typeface="Playfair Display"/>
                          <a:cs typeface="Playfair Display"/>
                          <a:sym typeface="Playfair Display"/>
                        </a:rPr>
                        <a:t>Explore</a:t>
                      </a:r>
                      <a:endParaRPr lang="en-US" sz="1100"/>
                    </a:p>
                  </a:txBody>
                  <a:tcPr marT="91440" marB="91440">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7C898B"/>
                    </a:solidFill>
                  </a:tcPr>
                </a:tc>
                <a:tc>
                  <a:txBody>
                    <a:bodyPr/>
                    <a:lstStyle/>
                    <a:p>
                      <a:pPr algn="ctr">
                        <a:lnSpc>
                          <a:spcPts val="2879"/>
                        </a:lnSpc>
                        <a:defRPr/>
                      </a:pPr>
                      <a:r>
                        <a:rPr lang="en-US" sz="2400" spc="48">
                          <a:solidFill>
                            <a:srgbClr val="FFFFFF"/>
                          </a:solidFill>
                          <a:latin typeface="Playfair Display"/>
                          <a:ea typeface="Playfair Display"/>
                          <a:cs typeface="Playfair Display"/>
                          <a:sym typeface="Playfair Display"/>
                        </a:rPr>
                        <a:t>x = s₂</a:t>
                      </a:r>
                      <a:endParaRPr lang="en-US" sz="1100"/>
                    </a:p>
                    <a:p>
                      <a:pPr algn="ctr">
                        <a:lnSpc>
                          <a:spcPts val="2879"/>
                        </a:lnSpc>
                      </a:pPr>
                      <a:r>
                        <a:rPr lang="en-US" sz="2400" spc="48">
                          <a:solidFill>
                            <a:srgbClr val="FFFFFF"/>
                          </a:solidFill>
                          <a:latin typeface="Playfair Display"/>
                          <a:ea typeface="Playfair Display"/>
                          <a:cs typeface="Playfair Display"/>
                          <a:sym typeface="Playfair Display"/>
                        </a:rPr>
                        <a:t>(not nbr of t)</a:t>
                      </a:r>
                    </a:p>
                  </a:txBody>
                  <a:tcPr marT="91440" marB="91440">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7C898B"/>
                    </a:solidFill>
                  </a:tcPr>
                </a:tc>
                <a:tc>
                  <a:txBody>
                    <a:bodyPr/>
                    <a:lstStyle/>
                    <a:p>
                      <a:pPr algn="ctr">
                        <a:lnSpc>
                          <a:spcPts val="2879"/>
                        </a:lnSpc>
                        <a:defRPr/>
                      </a:pPr>
                      <a:r>
                        <a:rPr lang="en-US" sz="2400" spc="48">
                          <a:solidFill>
                            <a:srgbClr val="FFFFFF"/>
                          </a:solidFill>
                          <a:latin typeface="Playfair Display"/>
                          <a:ea typeface="Playfair Display"/>
                          <a:cs typeface="Playfair Display"/>
                          <a:sym typeface="Playfair Display"/>
                        </a:rPr>
                        <a:t>2</a:t>
                      </a:r>
                      <a:endParaRPr lang="en-US" sz="1100"/>
                    </a:p>
                  </a:txBody>
                  <a:tcPr marT="91440" marB="91440">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7C898B"/>
                    </a:solidFill>
                  </a:tcPr>
                </a:tc>
                <a:tc>
                  <a:txBody>
                    <a:bodyPr/>
                    <a:lstStyle/>
                    <a:p>
                      <a:pPr algn="ctr">
                        <a:lnSpc>
                          <a:spcPts val="3359"/>
                        </a:lnSpc>
                        <a:defRPr/>
                      </a:pPr>
                      <a:r>
                        <a:rPr lang="en-US" sz="2799" i="1" spc="140" dirty="0">
                          <a:solidFill>
                            <a:srgbClr val="FFFFFF"/>
                          </a:solidFill>
                          <a:latin typeface="Playfair Display Italics"/>
                          <a:ea typeface="Playfair Display Italics"/>
                          <a:cs typeface="Playfair Display Italics"/>
                          <a:sym typeface="Playfair Display Italics"/>
                        </a:rPr>
                        <a:t>1/q</a:t>
                      </a:r>
                      <a:endParaRPr lang="en-US" sz="1100" dirty="0"/>
                    </a:p>
                  </a:txBody>
                  <a:tcPr marT="91440" marB="91440">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7C898B"/>
                    </a:solidFill>
                  </a:tcPr>
                </a:tc>
                <a:extLst>
                  <a:ext uri="{0D108BD9-81ED-4DB2-BD59-A6C34878D82A}">
                    <a16:rowId xmlns:a16="http://schemas.microsoft.com/office/drawing/2014/main" val="10003"/>
                  </a:ext>
                </a:extLst>
              </a:tr>
            </a:tbl>
          </a:graphicData>
        </a:graphic>
      </p:graphicFrame>
      <p:grpSp>
        <p:nvGrpSpPr>
          <p:cNvPr id="56" name="Group 56"/>
          <p:cNvGrpSpPr/>
          <p:nvPr/>
        </p:nvGrpSpPr>
        <p:grpSpPr>
          <a:xfrm>
            <a:off x="8961120" y="5965193"/>
            <a:ext cx="9110977" cy="3551425"/>
            <a:chOff x="0" y="0"/>
            <a:chExt cx="11494351" cy="3496399"/>
          </a:xfrm>
        </p:grpSpPr>
        <p:sp>
          <p:nvSpPr>
            <p:cNvPr id="57" name="Freeform 57"/>
            <p:cNvSpPr/>
            <p:nvPr/>
          </p:nvSpPr>
          <p:spPr>
            <a:xfrm>
              <a:off x="0" y="0"/>
              <a:ext cx="11494389" cy="3496437"/>
            </a:xfrm>
            <a:custGeom>
              <a:avLst/>
              <a:gdLst/>
              <a:ahLst/>
              <a:cxnLst/>
              <a:rect l="l" t="t" r="r" b="b"/>
              <a:pathLst>
                <a:path w="11494389" h="3496437">
                  <a:moveTo>
                    <a:pt x="0" y="246253"/>
                  </a:moveTo>
                  <a:cubicBezTo>
                    <a:pt x="0" y="110236"/>
                    <a:pt x="110236" y="0"/>
                    <a:pt x="246253" y="0"/>
                  </a:cubicBezTo>
                  <a:lnTo>
                    <a:pt x="11248136" y="0"/>
                  </a:lnTo>
                  <a:cubicBezTo>
                    <a:pt x="11384153" y="0"/>
                    <a:pt x="11494389" y="110236"/>
                    <a:pt x="11494389" y="246253"/>
                  </a:cubicBezTo>
                  <a:lnTo>
                    <a:pt x="11494389" y="3250184"/>
                  </a:lnTo>
                  <a:cubicBezTo>
                    <a:pt x="11494389" y="3386201"/>
                    <a:pt x="11384153" y="3496437"/>
                    <a:pt x="11248136" y="3496437"/>
                  </a:cubicBezTo>
                  <a:lnTo>
                    <a:pt x="246253" y="3496437"/>
                  </a:lnTo>
                  <a:cubicBezTo>
                    <a:pt x="110236" y="3496437"/>
                    <a:pt x="0" y="3386201"/>
                    <a:pt x="0" y="3250184"/>
                  </a:cubicBezTo>
                  <a:close/>
                </a:path>
              </a:pathLst>
            </a:custGeom>
            <a:solidFill>
              <a:srgbClr val="B29E84"/>
            </a:solidFill>
            <a:ln w="25400" cap="sq">
              <a:solidFill>
                <a:srgbClr val="D8E8F8"/>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58" name="Group 58"/>
          <p:cNvGrpSpPr/>
          <p:nvPr/>
        </p:nvGrpSpPr>
        <p:grpSpPr>
          <a:xfrm>
            <a:off x="9113520" y="5924303"/>
            <a:ext cx="8077200" cy="1482337"/>
            <a:chOff x="-284480" y="-1123009"/>
            <a:chExt cx="10769600" cy="1976449"/>
          </a:xfrm>
        </p:grpSpPr>
        <p:sp>
          <p:nvSpPr>
            <p:cNvPr id="59" name="Freeform 59"/>
            <p:cNvSpPr/>
            <p:nvPr/>
          </p:nvSpPr>
          <p:spPr>
            <a:xfrm>
              <a:off x="0" y="0"/>
              <a:ext cx="10485120" cy="853440"/>
            </a:xfrm>
            <a:custGeom>
              <a:avLst/>
              <a:gdLst/>
              <a:ahLst/>
              <a:cxnLst/>
              <a:rect l="l" t="t" r="r" b="b"/>
              <a:pathLst>
                <a:path w="10485120" h="853440">
                  <a:moveTo>
                    <a:pt x="0" y="0"/>
                  </a:moveTo>
                  <a:lnTo>
                    <a:pt x="10485120" y="0"/>
                  </a:lnTo>
                  <a:lnTo>
                    <a:pt x="10485120" y="853440"/>
                  </a:lnTo>
                  <a:lnTo>
                    <a:pt x="0" y="853440"/>
                  </a:lnTo>
                  <a:close/>
                </a:path>
              </a:pathLst>
            </a:custGeom>
            <a:blipFill>
              <a:blip r:embed="rId3">
                <a:alphaModFix amt="0"/>
              </a:blip>
              <a:stretch>
                <a:fillRect t="-189387" b="-189387"/>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60" name="TextBox 60"/>
            <p:cNvSpPr txBox="1"/>
            <p:nvPr/>
          </p:nvSpPr>
          <p:spPr>
            <a:xfrm>
              <a:off x="-284480" y="-1123009"/>
              <a:ext cx="10485120" cy="853440"/>
            </a:xfrm>
            <a:prstGeom prst="rect">
              <a:avLst/>
            </a:prstGeom>
          </p:spPr>
          <p:txBody>
            <a:bodyPr lIns="0" tIns="0" rIns="0" bIns="0" rtlCol="0" anchor="ctr"/>
            <a:lstStyle/>
            <a:p>
              <a:pPr algn="l">
                <a:lnSpc>
                  <a:spcPts val="3120"/>
                </a:lnSpc>
              </a:pPr>
              <a:r>
                <a:rPr lang="en-US" sz="2600" i="1" spc="130" dirty="0">
                  <a:latin typeface="Times New Roman" panose="02020603050405020304" pitchFamily="18" charset="0"/>
                  <a:ea typeface="Playfair Display Italics"/>
                  <a:cs typeface="Times New Roman" panose="02020603050405020304" pitchFamily="18" charset="0"/>
                  <a:sym typeface="Playfair Display Italics"/>
                </a:rPr>
                <a:t>Intuitive Rules</a:t>
              </a:r>
            </a:p>
          </p:txBody>
        </p:sp>
      </p:grpSp>
      <p:grpSp>
        <p:nvGrpSpPr>
          <p:cNvPr id="61" name="Group 61"/>
          <p:cNvGrpSpPr/>
          <p:nvPr/>
        </p:nvGrpSpPr>
        <p:grpSpPr>
          <a:xfrm>
            <a:off x="9265920" y="6610103"/>
            <a:ext cx="7924800" cy="3546595"/>
            <a:chOff x="-81280" y="-1183969"/>
            <a:chExt cx="10566400" cy="4728793"/>
          </a:xfrm>
        </p:grpSpPr>
        <p:sp>
          <p:nvSpPr>
            <p:cNvPr id="62" name="Freeform 62"/>
            <p:cNvSpPr/>
            <p:nvPr/>
          </p:nvSpPr>
          <p:spPr>
            <a:xfrm>
              <a:off x="0" y="0"/>
              <a:ext cx="10485120" cy="3544824"/>
            </a:xfrm>
            <a:custGeom>
              <a:avLst/>
              <a:gdLst/>
              <a:ahLst/>
              <a:cxnLst/>
              <a:rect l="l" t="t" r="r" b="b"/>
              <a:pathLst>
                <a:path w="10485120" h="3544824">
                  <a:moveTo>
                    <a:pt x="0" y="0"/>
                  </a:moveTo>
                  <a:lnTo>
                    <a:pt x="10485120" y="0"/>
                  </a:lnTo>
                  <a:lnTo>
                    <a:pt x="10485120" y="3544824"/>
                  </a:lnTo>
                  <a:lnTo>
                    <a:pt x="0" y="3544824"/>
                  </a:lnTo>
                  <a:close/>
                </a:path>
              </a:pathLst>
            </a:custGeom>
            <a:blipFill>
              <a:blip r:embed="rId3">
                <a:alphaModFix amt="0"/>
              </a:blip>
              <a:stretch>
                <a:fillRect t="-26679" b="11411"/>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63" name="TextBox 63"/>
            <p:cNvSpPr txBox="1"/>
            <p:nvPr/>
          </p:nvSpPr>
          <p:spPr>
            <a:xfrm>
              <a:off x="-81280" y="-1183969"/>
              <a:ext cx="10485120" cy="3544824"/>
            </a:xfrm>
            <a:prstGeom prst="rect">
              <a:avLst/>
            </a:prstGeom>
          </p:spPr>
          <p:txBody>
            <a:bodyPr lIns="0" tIns="0" rIns="0" bIns="0" rtlCol="0" anchor="ctr"/>
            <a:lstStyle/>
            <a:p>
              <a:pPr algn="l">
                <a:lnSpc>
                  <a:spcPts val="2879"/>
                </a:lnSpc>
              </a:pPr>
              <a:r>
                <a:rPr lang="en-US" sz="2400" i="1" spc="120" dirty="0">
                  <a:latin typeface="Times New Roman" panose="02020603050405020304" pitchFamily="18" charset="0"/>
                  <a:ea typeface="Playfair Display Italics"/>
                  <a:cs typeface="Times New Roman" panose="02020603050405020304" pitchFamily="18" charset="0"/>
                  <a:sym typeface="Playfair Display Italics"/>
                </a:rPr>
                <a:t>Small p → 1/p large → loves returning → BFS-like (local)</a:t>
              </a:r>
            </a:p>
            <a:p>
              <a:pPr algn="l">
                <a:lnSpc>
                  <a:spcPts val="2879"/>
                </a:lnSpc>
              </a:pPr>
              <a:endParaRPr lang="en-US" sz="2400" i="1" spc="120" dirty="0">
                <a:latin typeface="Times New Roman" panose="02020603050405020304" pitchFamily="18" charset="0"/>
                <a:ea typeface="Playfair Display Italics"/>
                <a:cs typeface="Times New Roman" panose="02020603050405020304" pitchFamily="18" charset="0"/>
                <a:sym typeface="Playfair Display Italics"/>
              </a:endParaRPr>
            </a:p>
            <a:p>
              <a:pPr algn="l">
                <a:lnSpc>
                  <a:spcPts val="2879"/>
                </a:lnSpc>
              </a:pPr>
              <a:r>
                <a:rPr lang="en-US" sz="2400" i="1" spc="120" dirty="0">
                  <a:latin typeface="Times New Roman" panose="02020603050405020304" pitchFamily="18" charset="0"/>
                  <a:ea typeface="Playfair Display Italics"/>
                  <a:cs typeface="Times New Roman" panose="02020603050405020304" pitchFamily="18" charset="0"/>
                  <a:sym typeface="Playfair Display Italics"/>
                </a:rPr>
                <a:t>Small q → 1/q large → loves exploring → DFS-like (global)</a:t>
              </a:r>
            </a:p>
            <a:p>
              <a:pPr algn="l">
                <a:lnSpc>
                  <a:spcPts val="2879"/>
                </a:lnSpc>
              </a:pPr>
              <a:endParaRPr lang="en-US" sz="2400" i="1" spc="120" dirty="0">
                <a:latin typeface="Times New Roman" panose="02020603050405020304" pitchFamily="18" charset="0"/>
                <a:ea typeface="Playfair Display Italics"/>
                <a:cs typeface="Times New Roman" panose="02020603050405020304" pitchFamily="18" charset="0"/>
                <a:sym typeface="Playfair Display Italics"/>
              </a:endParaRPr>
            </a:p>
            <a:p>
              <a:pPr algn="l">
                <a:lnSpc>
                  <a:spcPts val="2879"/>
                </a:lnSpc>
              </a:pPr>
              <a:r>
                <a:rPr lang="en-US" sz="2400" i="1" spc="120" dirty="0">
                  <a:latin typeface="Times New Roman" panose="02020603050405020304" pitchFamily="18" charset="0"/>
                  <a:ea typeface="Playfair Display Italics"/>
                  <a:cs typeface="Times New Roman" panose="02020603050405020304" pitchFamily="18" charset="0"/>
                  <a:sym typeface="Playfair Display Italics"/>
                </a:rPr>
                <a:t>p=q=1 → standard DeepWalk (uniform walk)(common neighbour)</a:t>
              </a:r>
            </a:p>
          </p:txBody>
        </p:sp>
      </p:grpSp>
      <p:grpSp>
        <p:nvGrpSpPr>
          <p:cNvPr id="64" name="Group 64"/>
          <p:cNvGrpSpPr/>
          <p:nvPr/>
        </p:nvGrpSpPr>
        <p:grpSpPr>
          <a:xfrm>
            <a:off x="731520" y="9546336"/>
            <a:ext cx="16824960" cy="640080"/>
            <a:chOff x="0" y="0"/>
            <a:chExt cx="22433280" cy="853440"/>
          </a:xfrm>
        </p:grpSpPr>
        <p:sp>
          <p:nvSpPr>
            <p:cNvPr id="65" name="Freeform 65"/>
            <p:cNvSpPr/>
            <p:nvPr/>
          </p:nvSpPr>
          <p:spPr>
            <a:xfrm>
              <a:off x="0" y="0"/>
              <a:ext cx="22433280" cy="853440"/>
            </a:xfrm>
            <a:custGeom>
              <a:avLst/>
              <a:gdLst/>
              <a:ahLst/>
              <a:cxnLst/>
              <a:rect l="l" t="t" r="r" b="b"/>
              <a:pathLst>
                <a:path w="22433280" h="853440">
                  <a:moveTo>
                    <a:pt x="0" y="0"/>
                  </a:moveTo>
                  <a:lnTo>
                    <a:pt x="22433280" y="0"/>
                  </a:lnTo>
                  <a:lnTo>
                    <a:pt x="22433280" y="853440"/>
                  </a:lnTo>
                  <a:lnTo>
                    <a:pt x="0" y="853440"/>
                  </a:lnTo>
                  <a:close/>
                </a:path>
              </a:pathLst>
            </a:custGeom>
            <a:blipFill>
              <a:blip r:embed="rId3">
                <a:alphaModFix amt="0"/>
              </a:blip>
              <a:stretch>
                <a:fillRect t="-462178" b="-462178"/>
              </a:stretch>
            </a:blipFill>
          </p:spPr>
          <p:txBody>
            <a:bodyPr/>
            <a:lstStyle/>
            <a:p>
              <a:endParaRPr lang="en-IN"/>
            </a:p>
          </p:txBody>
        </p:sp>
        <p:sp>
          <p:nvSpPr>
            <p:cNvPr id="66" name="TextBox 66"/>
            <p:cNvSpPr txBox="1"/>
            <p:nvPr/>
          </p:nvSpPr>
          <p:spPr>
            <a:xfrm>
              <a:off x="0" y="0"/>
              <a:ext cx="22433280" cy="853440"/>
            </a:xfrm>
            <a:prstGeom prst="rect">
              <a:avLst/>
            </a:prstGeom>
          </p:spPr>
          <p:txBody>
            <a:bodyPr lIns="0" tIns="0" rIns="0" bIns="0" rtlCol="0" anchor="ctr"/>
            <a:lstStyle/>
            <a:p>
              <a:pPr algn="ctr">
                <a:lnSpc>
                  <a:spcPts val="2879"/>
                </a:lnSpc>
              </a:pPr>
              <a:r>
                <a:rPr lang="en-US" sz="2400" spc="48">
                  <a:solidFill>
                    <a:srgbClr val="FFFFFF"/>
                  </a:solidFill>
                  <a:latin typeface="Playfair Display"/>
                  <a:ea typeface="Playfair Display"/>
                  <a:cs typeface="Playfair Display"/>
                  <a:sym typeface="Playfair Display"/>
                </a:rPr>
                <a:t>Weights are normalized → final transition probabilities for each edge.</a:t>
              </a:r>
            </a:p>
          </p:txBody>
        </p:sp>
      </p:grpSp>
      <p:pic>
        <p:nvPicPr>
          <p:cNvPr id="68" name="Picture 67">
            <a:extLst>
              <a:ext uri="{FF2B5EF4-FFF2-40B4-BE49-F238E27FC236}">
                <a16:creationId xmlns:a16="http://schemas.microsoft.com/office/drawing/2014/main" id="{0BA27EEA-2CDD-0509-C2C0-9ABA553A5216}"/>
              </a:ext>
            </a:extLst>
          </p:cNvPr>
          <p:cNvPicPr>
            <a:picLocks noChangeAspect="1"/>
          </p:cNvPicPr>
          <p:nvPr/>
        </p:nvPicPr>
        <p:blipFill>
          <a:blip r:embed="rId4"/>
          <a:stretch>
            <a:fillRect/>
          </a:stretch>
        </p:blipFill>
        <p:spPr>
          <a:xfrm>
            <a:off x="914400" y="3375560"/>
            <a:ext cx="7411764" cy="412252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253439"/>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0" y="0"/>
              <a:ext cx="24417910" cy="1789557"/>
            </a:xfrm>
            <a:custGeom>
              <a:avLst/>
              <a:gdLst/>
              <a:ahLst/>
              <a:cxnLst/>
              <a:rect l="l" t="t" r="r" b="b"/>
              <a:pathLst>
                <a:path w="24417910" h="1789557">
                  <a:moveTo>
                    <a:pt x="0" y="0"/>
                  </a:moveTo>
                  <a:lnTo>
                    <a:pt x="24417910" y="0"/>
                  </a:lnTo>
                  <a:lnTo>
                    <a:pt x="24417910" y="1789557"/>
                  </a:lnTo>
                  <a:lnTo>
                    <a:pt x="0" y="1789557"/>
                  </a:lnTo>
                  <a:close/>
                </a:path>
              </a:pathLst>
            </a:custGeom>
            <a:solidFill>
              <a:srgbClr val="FFFFFF"/>
            </a:solidFill>
            <a:ln w="25400" cap="sq">
              <a:solidFill>
                <a:srgbClr val="1A3461"/>
              </a:solidFill>
              <a:prstDash val="solid"/>
              <a:miter/>
            </a:ln>
          </p:spPr>
          <p:txBody>
            <a:bodyPr/>
            <a:lstStyle/>
            <a:p>
              <a:endParaRPr lang="en-IN"/>
            </a:p>
          </p:txBody>
        </p:sp>
      </p:grpSp>
      <p:grpSp>
        <p:nvGrpSpPr>
          <p:cNvPr id="4" name="Group 4"/>
          <p:cNvGrpSpPr/>
          <p:nvPr/>
        </p:nvGrpSpPr>
        <p:grpSpPr>
          <a:xfrm>
            <a:off x="731520" y="0"/>
            <a:ext cx="16824960" cy="1316736"/>
            <a:chOff x="0" y="0"/>
            <a:chExt cx="22433280" cy="1755648"/>
          </a:xfrm>
        </p:grpSpPr>
        <p:sp>
          <p:nvSpPr>
            <p:cNvPr id="5" name="Freeform 5"/>
            <p:cNvSpPr/>
            <p:nvPr/>
          </p:nvSpPr>
          <p:spPr>
            <a:xfrm>
              <a:off x="0" y="0"/>
              <a:ext cx="22433280" cy="1755648"/>
            </a:xfrm>
            <a:custGeom>
              <a:avLst/>
              <a:gdLst/>
              <a:ahLst/>
              <a:cxnLst/>
              <a:rect l="l" t="t" r="r" b="b"/>
              <a:pathLst>
                <a:path w="22433280" h="1755648">
                  <a:moveTo>
                    <a:pt x="0" y="0"/>
                  </a:moveTo>
                  <a:lnTo>
                    <a:pt x="22433280" y="0"/>
                  </a:lnTo>
                  <a:lnTo>
                    <a:pt x="22433280" y="1755648"/>
                  </a:lnTo>
                  <a:lnTo>
                    <a:pt x="0" y="1755648"/>
                  </a:lnTo>
                  <a:close/>
                </a:path>
              </a:pathLst>
            </a:custGeom>
            <a:blipFill>
              <a:blip r:embed="rId3">
                <a:alphaModFix amt="0"/>
              </a:blip>
              <a:stretch>
                <a:fillRect t="-198975" b="-198975"/>
              </a:stretch>
            </a:blipFill>
          </p:spPr>
          <p:txBody>
            <a:bodyPr/>
            <a:lstStyle/>
            <a:p>
              <a:endParaRPr lang="en-IN"/>
            </a:p>
          </p:txBody>
        </p:sp>
        <p:sp>
          <p:nvSpPr>
            <p:cNvPr id="6" name="TextBox 6"/>
            <p:cNvSpPr txBox="1"/>
            <p:nvPr/>
          </p:nvSpPr>
          <p:spPr>
            <a:xfrm>
              <a:off x="0" y="-9525"/>
              <a:ext cx="22433280" cy="1765173"/>
            </a:xfrm>
            <a:prstGeom prst="rect">
              <a:avLst/>
            </a:prstGeom>
          </p:spPr>
          <p:txBody>
            <a:bodyPr lIns="0" tIns="0" rIns="0" bIns="0" rtlCol="0" anchor="ctr"/>
            <a:lstStyle/>
            <a:p>
              <a:pPr algn="l">
                <a:lnSpc>
                  <a:spcPts val="4800"/>
                </a:lnSpc>
              </a:pPr>
              <a:r>
                <a:rPr lang="en-US" sz="4000" spc="560" dirty="0">
                  <a:latin typeface="Times New Roman" panose="02020603050405020304" pitchFamily="18" charset="0"/>
                  <a:ea typeface="Hammersmith One"/>
                  <a:cs typeface="Times New Roman" panose="02020603050405020304" pitchFamily="18" charset="0"/>
                  <a:sym typeface="Hammersmith One"/>
                </a:rPr>
                <a:t>Node2vec – Full Algorithm</a:t>
              </a:r>
            </a:p>
          </p:txBody>
        </p:sp>
      </p:grpSp>
      <p:grpSp>
        <p:nvGrpSpPr>
          <p:cNvPr id="10" name="Group 10"/>
          <p:cNvGrpSpPr/>
          <p:nvPr/>
        </p:nvGrpSpPr>
        <p:grpSpPr>
          <a:xfrm>
            <a:off x="535943" y="1541783"/>
            <a:ext cx="16484603" cy="2512571"/>
            <a:chOff x="0" y="0"/>
            <a:chExt cx="21979471" cy="3350095"/>
          </a:xfrm>
        </p:grpSpPr>
        <p:sp>
          <p:nvSpPr>
            <p:cNvPr id="11" name="Freeform 11"/>
            <p:cNvSpPr/>
            <p:nvPr/>
          </p:nvSpPr>
          <p:spPr>
            <a:xfrm>
              <a:off x="0" y="0"/>
              <a:ext cx="21979510" cy="3350133"/>
            </a:xfrm>
            <a:custGeom>
              <a:avLst/>
              <a:gdLst/>
              <a:ahLst/>
              <a:cxnLst/>
              <a:rect l="l" t="t" r="r" b="b"/>
              <a:pathLst>
                <a:path w="21979510" h="3350133">
                  <a:moveTo>
                    <a:pt x="0" y="246380"/>
                  </a:moveTo>
                  <a:cubicBezTo>
                    <a:pt x="0" y="110236"/>
                    <a:pt x="110236" y="0"/>
                    <a:pt x="246380" y="0"/>
                  </a:cubicBezTo>
                  <a:lnTo>
                    <a:pt x="21733129" y="0"/>
                  </a:lnTo>
                  <a:cubicBezTo>
                    <a:pt x="21869146" y="0"/>
                    <a:pt x="21979510" y="110236"/>
                    <a:pt x="21979510" y="246380"/>
                  </a:cubicBezTo>
                  <a:lnTo>
                    <a:pt x="21979510" y="3103753"/>
                  </a:lnTo>
                  <a:cubicBezTo>
                    <a:pt x="21979510" y="3239770"/>
                    <a:pt x="21869273" y="3350133"/>
                    <a:pt x="21733129" y="3350133"/>
                  </a:cubicBezTo>
                  <a:lnTo>
                    <a:pt x="246380" y="3350133"/>
                  </a:lnTo>
                  <a:cubicBezTo>
                    <a:pt x="110236" y="3350133"/>
                    <a:pt x="0" y="3239770"/>
                    <a:pt x="0" y="3103753"/>
                  </a:cubicBezTo>
                  <a:close/>
                </a:path>
              </a:pathLst>
            </a:custGeom>
            <a:solidFill>
              <a:srgbClr val="B29E84"/>
            </a:solidFill>
            <a:ln w="25400" cap="sq">
              <a:solidFill>
                <a:srgbClr val="D8E8F8"/>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12" name="Group 12"/>
          <p:cNvGrpSpPr/>
          <p:nvPr/>
        </p:nvGrpSpPr>
        <p:grpSpPr>
          <a:xfrm>
            <a:off x="901703" y="1779527"/>
            <a:ext cx="1214123" cy="1214123"/>
            <a:chOff x="0" y="0"/>
            <a:chExt cx="1618831" cy="1618831"/>
          </a:xfrm>
        </p:grpSpPr>
        <p:sp>
          <p:nvSpPr>
            <p:cNvPr id="13" name="Freeform 13"/>
            <p:cNvSpPr/>
            <p:nvPr/>
          </p:nvSpPr>
          <p:spPr>
            <a:xfrm>
              <a:off x="0" y="0"/>
              <a:ext cx="1618742" cy="1618742"/>
            </a:xfrm>
            <a:custGeom>
              <a:avLst/>
              <a:gdLst/>
              <a:ahLst/>
              <a:cxnLst/>
              <a:rect l="l" t="t" r="r" b="b"/>
              <a:pathLst>
                <a:path w="1618742" h="1618742">
                  <a:moveTo>
                    <a:pt x="0" y="809371"/>
                  </a:moveTo>
                  <a:cubicBezTo>
                    <a:pt x="0" y="362331"/>
                    <a:pt x="362331" y="0"/>
                    <a:pt x="809371" y="0"/>
                  </a:cubicBezTo>
                  <a:cubicBezTo>
                    <a:pt x="1256411" y="0"/>
                    <a:pt x="1618742" y="362331"/>
                    <a:pt x="1618742" y="809371"/>
                  </a:cubicBezTo>
                  <a:cubicBezTo>
                    <a:pt x="1618742" y="1256411"/>
                    <a:pt x="1256411" y="1618742"/>
                    <a:pt x="809371" y="1618742"/>
                  </a:cubicBezTo>
                  <a:cubicBezTo>
                    <a:pt x="362331" y="1618742"/>
                    <a:pt x="0" y="1256411"/>
                    <a:pt x="0" y="809371"/>
                  </a:cubicBezTo>
                  <a:close/>
                </a:path>
              </a:pathLst>
            </a:custGeom>
            <a:solidFill>
              <a:srgbClr val="FFFFFF"/>
            </a:solidFill>
            <a:ln w="25400" cap="sq">
              <a:solidFill>
                <a:srgbClr val="FFFFFF"/>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14" name="Group 14"/>
          <p:cNvGrpSpPr/>
          <p:nvPr/>
        </p:nvGrpSpPr>
        <p:grpSpPr>
          <a:xfrm>
            <a:off x="914400" y="1792224"/>
            <a:ext cx="1188720" cy="1188720"/>
            <a:chOff x="0" y="0"/>
            <a:chExt cx="1584960" cy="1584960"/>
          </a:xfrm>
        </p:grpSpPr>
        <p:sp>
          <p:nvSpPr>
            <p:cNvPr id="15" name="Freeform 15"/>
            <p:cNvSpPr/>
            <p:nvPr/>
          </p:nvSpPr>
          <p:spPr>
            <a:xfrm>
              <a:off x="0" y="0"/>
              <a:ext cx="1584960" cy="1584960"/>
            </a:xfrm>
            <a:custGeom>
              <a:avLst/>
              <a:gdLst/>
              <a:ahLst/>
              <a:cxnLst/>
              <a:rect l="l" t="t" r="r" b="b"/>
              <a:pathLst>
                <a:path w="1584960" h="1584960">
                  <a:moveTo>
                    <a:pt x="0" y="0"/>
                  </a:moveTo>
                  <a:lnTo>
                    <a:pt x="1584960" y="0"/>
                  </a:lnTo>
                  <a:lnTo>
                    <a:pt x="1584960" y="1584960"/>
                  </a:lnTo>
                  <a:lnTo>
                    <a:pt x="0" y="1584960"/>
                  </a:lnTo>
                  <a:close/>
                </a:path>
              </a:pathLst>
            </a:custGeom>
            <a:blipFill>
              <a:blip r:embed="rId3">
                <a:alphaModFix amt="0"/>
              </a:blip>
              <a:stretch>
                <a:fillRect l="-78303" r="-78303"/>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16" name="TextBox 16"/>
            <p:cNvSpPr txBox="1"/>
            <p:nvPr/>
          </p:nvSpPr>
          <p:spPr>
            <a:xfrm>
              <a:off x="0" y="0"/>
              <a:ext cx="1584960" cy="1584960"/>
            </a:xfrm>
            <a:prstGeom prst="rect">
              <a:avLst/>
            </a:prstGeom>
          </p:spPr>
          <p:txBody>
            <a:bodyPr lIns="0" tIns="0" rIns="0" bIns="0" rtlCol="0" anchor="ctr"/>
            <a:lstStyle/>
            <a:p>
              <a:pPr algn="ctr">
                <a:lnSpc>
                  <a:spcPts val="4320"/>
                </a:lnSpc>
              </a:pPr>
              <a:r>
                <a:rPr lang="en-US" sz="3600" i="1" spc="179">
                  <a:latin typeface="Times New Roman" panose="02020603050405020304" pitchFamily="18" charset="0"/>
                  <a:ea typeface="Playfair Display Italics"/>
                  <a:cs typeface="Times New Roman" panose="02020603050405020304" pitchFamily="18" charset="0"/>
                  <a:sym typeface="Playfair Display Italics"/>
                </a:rPr>
                <a:t>1</a:t>
              </a:r>
            </a:p>
          </p:txBody>
        </p:sp>
      </p:grpSp>
      <p:grpSp>
        <p:nvGrpSpPr>
          <p:cNvPr id="17" name="Group 17"/>
          <p:cNvGrpSpPr/>
          <p:nvPr/>
        </p:nvGrpSpPr>
        <p:grpSpPr>
          <a:xfrm>
            <a:off x="2377440" y="1645920"/>
            <a:ext cx="11887200" cy="768096"/>
            <a:chOff x="0" y="0"/>
            <a:chExt cx="15849600" cy="1024128"/>
          </a:xfrm>
        </p:grpSpPr>
        <p:sp>
          <p:nvSpPr>
            <p:cNvPr id="18" name="Freeform 18"/>
            <p:cNvSpPr/>
            <p:nvPr/>
          </p:nvSpPr>
          <p:spPr>
            <a:xfrm>
              <a:off x="0" y="0"/>
              <a:ext cx="15849600" cy="1024128"/>
            </a:xfrm>
            <a:custGeom>
              <a:avLst/>
              <a:gdLst/>
              <a:ahLst/>
              <a:cxnLst/>
              <a:rect l="l" t="t" r="r" b="b"/>
              <a:pathLst>
                <a:path w="15849600" h="1024128">
                  <a:moveTo>
                    <a:pt x="0" y="0"/>
                  </a:moveTo>
                  <a:lnTo>
                    <a:pt x="15849600" y="0"/>
                  </a:lnTo>
                  <a:lnTo>
                    <a:pt x="15849600" y="1024128"/>
                  </a:lnTo>
                  <a:lnTo>
                    <a:pt x="0" y="1024128"/>
                  </a:lnTo>
                  <a:close/>
                </a:path>
              </a:pathLst>
            </a:custGeom>
            <a:blipFill>
              <a:blip r:embed="rId3">
                <a:alphaModFix amt="0"/>
              </a:blip>
              <a:stretch>
                <a:fillRect t="-251554" b="-251554"/>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19" name="TextBox 19"/>
            <p:cNvSpPr txBox="1"/>
            <p:nvPr/>
          </p:nvSpPr>
          <p:spPr>
            <a:xfrm>
              <a:off x="0" y="9525"/>
              <a:ext cx="15849600" cy="1014603"/>
            </a:xfrm>
            <a:prstGeom prst="rect">
              <a:avLst/>
            </a:prstGeom>
          </p:spPr>
          <p:txBody>
            <a:bodyPr lIns="0" tIns="0" rIns="0" bIns="0" rtlCol="0" anchor="ctr"/>
            <a:lstStyle/>
            <a:p>
              <a:pPr algn="l">
                <a:lnSpc>
                  <a:spcPts val="3359"/>
                </a:lnSpc>
              </a:pPr>
              <a:r>
                <a:rPr lang="en-US" sz="2799" i="1" spc="140">
                  <a:latin typeface="Times New Roman" panose="02020603050405020304" pitchFamily="18" charset="0"/>
                  <a:ea typeface="Playfair Display Italics"/>
                  <a:cs typeface="Times New Roman" panose="02020603050405020304" pitchFamily="18" charset="0"/>
                  <a:sym typeface="Playfair Display Italics"/>
                </a:rPr>
                <a:t>Pre-compute Probabilities</a:t>
              </a:r>
            </a:p>
          </p:txBody>
        </p:sp>
      </p:grpSp>
      <p:grpSp>
        <p:nvGrpSpPr>
          <p:cNvPr id="20" name="Group 20"/>
          <p:cNvGrpSpPr/>
          <p:nvPr/>
        </p:nvGrpSpPr>
        <p:grpSpPr>
          <a:xfrm>
            <a:off x="2377440" y="2414016"/>
            <a:ext cx="11887200" cy="1426464"/>
            <a:chOff x="0" y="0"/>
            <a:chExt cx="15849600" cy="1901952"/>
          </a:xfrm>
        </p:grpSpPr>
        <p:sp>
          <p:nvSpPr>
            <p:cNvPr id="21" name="Freeform 21"/>
            <p:cNvSpPr/>
            <p:nvPr/>
          </p:nvSpPr>
          <p:spPr>
            <a:xfrm>
              <a:off x="0" y="0"/>
              <a:ext cx="15849600" cy="1901952"/>
            </a:xfrm>
            <a:custGeom>
              <a:avLst/>
              <a:gdLst/>
              <a:ahLst/>
              <a:cxnLst/>
              <a:rect l="l" t="t" r="r" b="b"/>
              <a:pathLst>
                <a:path w="15849600" h="1901952">
                  <a:moveTo>
                    <a:pt x="0" y="0"/>
                  </a:moveTo>
                  <a:lnTo>
                    <a:pt x="15849600" y="0"/>
                  </a:lnTo>
                  <a:lnTo>
                    <a:pt x="15849600" y="1901952"/>
                  </a:lnTo>
                  <a:lnTo>
                    <a:pt x="0" y="1901952"/>
                  </a:lnTo>
                  <a:close/>
                </a:path>
              </a:pathLst>
            </a:custGeom>
            <a:blipFill>
              <a:blip r:embed="rId3">
                <a:alphaModFix amt="0"/>
              </a:blip>
              <a:stretch>
                <a:fillRect t="-112375" b="-112375"/>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22" name="TextBox 22"/>
            <p:cNvSpPr txBox="1"/>
            <p:nvPr/>
          </p:nvSpPr>
          <p:spPr>
            <a:xfrm>
              <a:off x="0" y="0"/>
              <a:ext cx="15849600" cy="1901952"/>
            </a:xfrm>
            <a:prstGeom prst="rect">
              <a:avLst/>
            </a:prstGeom>
          </p:spPr>
          <p:txBody>
            <a:bodyPr lIns="0" tIns="0" rIns="0" bIns="0" rtlCol="0" anchor="ctr"/>
            <a:lstStyle/>
            <a:p>
              <a:pPr algn="l">
                <a:lnSpc>
                  <a:spcPts val="3120"/>
                </a:lnSpc>
              </a:pPr>
              <a:r>
                <a:rPr lang="en-US" sz="2600" spc="52" dirty="0">
                  <a:latin typeface="Times New Roman" panose="02020603050405020304" pitchFamily="18" charset="0"/>
                  <a:ea typeface="Playfair Display"/>
                  <a:cs typeface="Times New Roman" panose="02020603050405020304" pitchFamily="18" charset="0"/>
                  <a:sym typeface="Playfair Display"/>
                </a:rPr>
                <a:t>For every edge (t,v,x) triplet, compute the p,q-based unnormalized transition weights and normalize them. Store these per-edge probabilities. This is done once before training.</a:t>
              </a:r>
            </a:p>
          </p:txBody>
        </p:sp>
      </p:grpSp>
      <p:grpSp>
        <p:nvGrpSpPr>
          <p:cNvPr id="23" name="Group 23"/>
          <p:cNvGrpSpPr/>
          <p:nvPr/>
        </p:nvGrpSpPr>
        <p:grpSpPr>
          <a:xfrm>
            <a:off x="14447520" y="1737360"/>
            <a:ext cx="2194560" cy="1133856"/>
            <a:chOff x="0" y="0"/>
            <a:chExt cx="2926080" cy="1511808"/>
          </a:xfrm>
        </p:grpSpPr>
        <p:sp>
          <p:nvSpPr>
            <p:cNvPr id="24" name="Freeform 24"/>
            <p:cNvSpPr/>
            <p:nvPr/>
          </p:nvSpPr>
          <p:spPr>
            <a:xfrm>
              <a:off x="0" y="0"/>
              <a:ext cx="2926080" cy="1511808"/>
            </a:xfrm>
            <a:custGeom>
              <a:avLst/>
              <a:gdLst/>
              <a:ahLst/>
              <a:cxnLst/>
              <a:rect l="l" t="t" r="r" b="b"/>
              <a:pathLst>
                <a:path w="2926080" h="1511808">
                  <a:moveTo>
                    <a:pt x="0" y="0"/>
                  </a:moveTo>
                  <a:lnTo>
                    <a:pt x="2926080" y="0"/>
                  </a:lnTo>
                  <a:lnTo>
                    <a:pt x="2926080" y="1511808"/>
                  </a:lnTo>
                  <a:lnTo>
                    <a:pt x="0" y="1511808"/>
                  </a:lnTo>
                  <a:close/>
                </a:path>
              </a:pathLst>
            </a:custGeom>
            <a:blipFill>
              <a:blip r:embed="rId3">
                <a:alphaModFix amt="0"/>
              </a:blip>
              <a:stretch>
                <a:fillRect l="-16290" r="-16290"/>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25" name="TextBox 25"/>
            <p:cNvSpPr txBox="1"/>
            <p:nvPr/>
          </p:nvSpPr>
          <p:spPr>
            <a:xfrm>
              <a:off x="0" y="0"/>
              <a:ext cx="2926080" cy="1511808"/>
            </a:xfrm>
            <a:prstGeom prst="rect">
              <a:avLst/>
            </a:prstGeom>
          </p:spPr>
          <p:txBody>
            <a:bodyPr lIns="0" tIns="0" rIns="0" bIns="0" rtlCol="0" anchor="ctr"/>
            <a:lstStyle/>
            <a:p>
              <a:pPr algn="ctr">
                <a:lnSpc>
                  <a:spcPts val="2640"/>
                </a:lnSpc>
              </a:pPr>
              <a:r>
                <a:rPr lang="en-US" sz="2200" spc="43">
                  <a:latin typeface="Times New Roman" panose="02020603050405020304" pitchFamily="18" charset="0"/>
                  <a:ea typeface="Playfair Display"/>
                  <a:cs typeface="Times New Roman" panose="02020603050405020304" pitchFamily="18" charset="0"/>
                  <a:sym typeface="Playfair Display"/>
                </a:rPr>
                <a:t>O(|E|)</a:t>
              </a:r>
            </a:p>
          </p:txBody>
        </p:sp>
      </p:grpSp>
      <p:grpSp>
        <p:nvGrpSpPr>
          <p:cNvPr id="26" name="Group 26"/>
          <p:cNvGrpSpPr/>
          <p:nvPr/>
        </p:nvGrpSpPr>
        <p:grpSpPr>
          <a:xfrm>
            <a:off x="535943" y="4248407"/>
            <a:ext cx="16484603" cy="2512571"/>
            <a:chOff x="0" y="0"/>
            <a:chExt cx="21979471" cy="3350095"/>
          </a:xfrm>
        </p:grpSpPr>
        <p:sp>
          <p:nvSpPr>
            <p:cNvPr id="27" name="Freeform 27"/>
            <p:cNvSpPr/>
            <p:nvPr/>
          </p:nvSpPr>
          <p:spPr>
            <a:xfrm>
              <a:off x="0" y="0"/>
              <a:ext cx="21979510" cy="3350133"/>
            </a:xfrm>
            <a:custGeom>
              <a:avLst/>
              <a:gdLst/>
              <a:ahLst/>
              <a:cxnLst/>
              <a:rect l="l" t="t" r="r" b="b"/>
              <a:pathLst>
                <a:path w="21979510" h="3350133">
                  <a:moveTo>
                    <a:pt x="0" y="246380"/>
                  </a:moveTo>
                  <a:cubicBezTo>
                    <a:pt x="0" y="110236"/>
                    <a:pt x="110236" y="0"/>
                    <a:pt x="246380" y="0"/>
                  </a:cubicBezTo>
                  <a:lnTo>
                    <a:pt x="21733129" y="0"/>
                  </a:lnTo>
                  <a:cubicBezTo>
                    <a:pt x="21869146" y="0"/>
                    <a:pt x="21979510" y="110236"/>
                    <a:pt x="21979510" y="246380"/>
                  </a:cubicBezTo>
                  <a:lnTo>
                    <a:pt x="21979510" y="3103753"/>
                  </a:lnTo>
                  <a:cubicBezTo>
                    <a:pt x="21979510" y="3239770"/>
                    <a:pt x="21869273" y="3350133"/>
                    <a:pt x="21733129" y="3350133"/>
                  </a:cubicBezTo>
                  <a:lnTo>
                    <a:pt x="246380" y="3350133"/>
                  </a:lnTo>
                  <a:cubicBezTo>
                    <a:pt x="110236" y="3350133"/>
                    <a:pt x="0" y="3239770"/>
                    <a:pt x="0" y="3103753"/>
                  </a:cubicBezTo>
                  <a:close/>
                </a:path>
              </a:pathLst>
            </a:custGeom>
            <a:solidFill>
              <a:srgbClr val="B29E84"/>
            </a:solidFill>
            <a:ln w="25400" cap="sq">
              <a:solidFill>
                <a:srgbClr val="D8E8F8"/>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28" name="Group 28"/>
          <p:cNvGrpSpPr/>
          <p:nvPr/>
        </p:nvGrpSpPr>
        <p:grpSpPr>
          <a:xfrm>
            <a:off x="901703" y="4486151"/>
            <a:ext cx="1214123" cy="1214123"/>
            <a:chOff x="0" y="0"/>
            <a:chExt cx="1618831" cy="1618831"/>
          </a:xfrm>
        </p:grpSpPr>
        <p:sp>
          <p:nvSpPr>
            <p:cNvPr id="29" name="Freeform 29"/>
            <p:cNvSpPr/>
            <p:nvPr/>
          </p:nvSpPr>
          <p:spPr>
            <a:xfrm>
              <a:off x="0" y="0"/>
              <a:ext cx="1618742" cy="1618742"/>
            </a:xfrm>
            <a:custGeom>
              <a:avLst/>
              <a:gdLst/>
              <a:ahLst/>
              <a:cxnLst/>
              <a:rect l="l" t="t" r="r" b="b"/>
              <a:pathLst>
                <a:path w="1618742" h="1618742">
                  <a:moveTo>
                    <a:pt x="0" y="809371"/>
                  </a:moveTo>
                  <a:cubicBezTo>
                    <a:pt x="0" y="362331"/>
                    <a:pt x="362331" y="0"/>
                    <a:pt x="809371" y="0"/>
                  </a:cubicBezTo>
                  <a:cubicBezTo>
                    <a:pt x="1256411" y="0"/>
                    <a:pt x="1618742" y="362331"/>
                    <a:pt x="1618742" y="809371"/>
                  </a:cubicBezTo>
                  <a:cubicBezTo>
                    <a:pt x="1618742" y="1256411"/>
                    <a:pt x="1256411" y="1618742"/>
                    <a:pt x="809371" y="1618742"/>
                  </a:cubicBezTo>
                  <a:cubicBezTo>
                    <a:pt x="362331" y="1618742"/>
                    <a:pt x="0" y="1256411"/>
                    <a:pt x="0" y="809371"/>
                  </a:cubicBezTo>
                  <a:close/>
                </a:path>
              </a:pathLst>
            </a:custGeom>
            <a:solidFill>
              <a:srgbClr val="FFFFFF"/>
            </a:solidFill>
            <a:ln w="25400" cap="sq">
              <a:solidFill>
                <a:srgbClr val="FFFFFF"/>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30" name="Group 30"/>
          <p:cNvGrpSpPr/>
          <p:nvPr/>
        </p:nvGrpSpPr>
        <p:grpSpPr>
          <a:xfrm>
            <a:off x="914400" y="4498848"/>
            <a:ext cx="1188720" cy="1188720"/>
            <a:chOff x="0" y="0"/>
            <a:chExt cx="1584960" cy="1584960"/>
          </a:xfrm>
        </p:grpSpPr>
        <p:sp>
          <p:nvSpPr>
            <p:cNvPr id="31" name="Freeform 31"/>
            <p:cNvSpPr/>
            <p:nvPr/>
          </p:nvSpPr>
          <p:spPr>
            <a:xfrm>
              <a:off x="0" y="0"/>
              <a:ext cx="1584960" cy="1584960"/>
            </a:xfrm>
            <a:custGeom>
              <a:avLst/>
              <a:gdLst/>
              <a:ahLst/>
              <a:cxnLst/>
              <a:rect l="l" t="t" r="r" b="b"/>
              <a:pathLst>
                <a:path w="1584960" h="1584960">
                  <a:moveTo>
                    <a:pt x="0" y="0"/>
                  </a:moveTo>
                  <a:lnTo>
                    <a:pt x="1584960" y="0"/>
                  </a:lnTo>
                  <a:lnTo>
                    <a:pt x="1584960" y="1584960"/>
                  </a:lnTo>
                  <a:lnTo>
                    <a:pt x="0" y="1584960"/>
                  </a:lnTo>
                  <a:close/>
                </a:path>
              </a:pathLst>
            </a:custGeom>
            <a:blipFill>
              <a:blip r:embed="rId3">
                <a:alphaModFix amt="0"/>
              </a:blip>
              <a:stretch>
                <a:fillRect l="-78303" r="-78303"/>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32" name="TextBox 32"/>
            <p:cNvSpPr txBox="1"/>
            <p:nvPr/>
          </p:nvSpPr>
          <p:spPr>
            <a:xfrm>
              <a:off x="0" y="0"/>
              <a:ext cx="1584960" cy="1584960"/>
            </a:xfrm>
            <a:prstGeom prst="rect">
              <a:avLst/>
            </a:prstGeom>
          </p:spPr>
          <p:txBody>
            <a:bodyPr lIns="0" tIns="0" rIns="0" bIns="0" rtlCol="0" anchor="ctr"/>
            <a:lstStyle/>
            <a:p>
              <a:pPr algn="ctr">
                <a:lnSpc>
                  <a:spcPts val="4320"/>
                </a:lnSpc>
              </a:pPr>
              <a:r>
                <a:rPr lang="en-US" sz="3600" i="1" spc="179">
                  <a:latin typeface="Times New Roman" panose="02020603050405020304" pitchFamily="18" charset="0"/>
                  <a:ea typeface="Playfair Display Italics"/>
                  <a:cs typeface="Times New Roman" panose="02020603050405020304" pitchFamily="18" charset="0"/>
                  <a:sym typeface="Playfair Display Italics"/>
                </a:rPr>
                <a:t>2</a:t>
              </a:r>
            </a:p>
          </p:txBody>
        </p:sp>
      </p:grpSp>
      <p:grpSp>
        <p:nvGrpSpPr>
          <p:cNvPr id="33" name="Group 33"/>
          <p:cNvGrpSpPr/>
          <p:nvPr/>
        </p:nvGrpSpPr>
        <p:grpSpPr>
          <a:xfrm>
            <a:off x="2377440" y="4352544"/>
            <a:ext cx="11887200" cy="768096"/>
            <a:chOff x="0" y="0"/>
            <a:chExt cx="15849600" cy="1024128"/>
          </a:xfrm>
        </p:grpSpPr>
        <p:sp>
          <p:nvSpPr>
            <p:cNvPr id="34" name="Freeform 34"/>
            <p:cNvSpPr/>
            <p:nvPr/>
          </p:nvSpPr>
          <p:spPr>
            <a:xfrm>
              <a:off x="0" y="0"/>
              <a:ext cx="15849600" cy="1024128"/>
            </a:xfrm>
            <a:custGeom>
              <a:avLst/>
              <a:gdLst/>
              <a:ahLst/>
              <a:cxnLst/>
              <a:rect l="l" t="t" r="r" b="b"/>
              <a:pathLst>
                <a:path w="15849600" h="1024128">
                  <a:moveTo>
                    <a:pt x="0" y="0"/>
                  </a:moveTo>
                  <a:lnTo>
                    <a:pt x="15849600" y="0"/>
                  </a:lnTo>
                  <a:lnTo>
                    <a:pt x="15849600" y="1024128"/>
                  </a:lnTo>
                  <a:lnTo>
                    <a:pt x="0" y="1024128"/>
                  </a:lnTo>
                  <a:close/>
                </a:path>
              </a:pathLst>
            </a:custGeom>
            <a:blipFill>
              <a:blip r:embed="rId3">
                <a:alphaModFix amt="0"/>
              </a:blip>
              <a:stretch>
                <a:fillRect t="-251554" b="-251554"/>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35" name="TextBox 35"/>
            <p:cNvSpPr txBox="1"/>
            <p:nvPr/>
          </p:nvSpPr>
          <p:spPr>
            <a:xfrm>
              <a:off x="0" y="9525"/>
              <a:ext cx="15849600" cy="1014603"/>
            </a:xfrm>
            <a:prstGeom prst="rect">
              <a:avLst/>
            </a:prstGeom>
          </p:spPr>
          <p:txBody>
            <a:bodyPr lIns="0" tIns="0" rIns="0" bIns="0" rtlCol="0" anchor="ctr"/>
            <a:lstStyle/>
            <a:p>
              <a:pPr algn="l">
                <a:lnSpc>
                  <a:spcPts val="3359"/>
                </a:lnSpc>
              </a:pPr>
              <a:r>
                <a:rPr lang="en-US" sz="2799" i="1" spc="140">
                  <a:latin typeface="Times New Roman" panose="02020603050405020304" pitchFamily="18" charset="0"/>
                  <a:ea typeface="Playfair Display Italics"/>
                  <a:cs typeface="Times New Roman" panose="02020603050405020304" pitchFamily="18" charset="0"/>
                  <a:sym typeface="Playfair Display Italics"/>
                </a:rPr>
                <a:t>Simulate Biased Walks</a:t>
              </a:r>
            </a:p>
          </p:txBody>
        </p:sp>
      </p:grpSp>
      <p:grpSp>
        <p:nvGrpSpPr>
          <p:cNvPr id="36" name="Group 36"/>
          <p:cNvGrpSpPr/>
          <p:nvPr/>
        </p:nvGrpSpPr>
        <p:grpSpPr>
          <a:xfrm>
            <a:off x="2377440" y="5120640"/>
            <a:ext cx="11887200" cy="1426464"/>
            <a:chOff x="0" y="0"/>
            <a:chExt cx="15849600" cy="1901952"/>
          </a:xfrm>
        </p:grpSpPr>
        <p:sp>
          <p:nvSpPr>
            <p:cNvPr id="37" name="Freeform 37"/>
            <p:cNvSpPr/>
            <p:nvPr/>
          </p:nvSpPr>
          <p:spPr>
            <a:xfrm>
              <a:off x="0" y="0"/>
              <a:ext cx="15849600" cy="1901952"/>
            </a:xfrm>
            <a:custGeom>
              <a:avLst/>
              <a:gdLst/>
              <a:ahLst/>
              <a:cxnLst/>
              <a:rect l="l" t="t" r="r" b="b"/>
              <a:pathLst>
                <a:path w="15849600" h="1901952">
                  <a:moveTo>
                    <a:pt x="0" y="0"/>
                  </a:moveTo>
                  <a:lnTo>
                    <a:pt x="15849600" y="0"/>
                  </a:lnTo>
                  <a:lnTo>
                    <a:pt x="15849600" y="1901952"/>
                  </a:lnTo>
                  <a:lnTo>
                    <a:pt x="0" y="1901952"/>
                  </a:lnTo>
                  <a:close/>
                </a:path>
              </a:pathLst>
            </a:custGeom>
            <a:blipFill>
              <a:blip r:embed="rId3">
                <a:alphaModFix amt="0"/>
              </a:blip>
              <a:stretch>
                <a:fillRect t="-112375" b="-112375"/>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38" name="TextBox 38"/>
            <p:cNvSpPr txBox="1"/>
            <p:nvPr/>
          </p:nvSpPr>
          <p:spPr>
            <a:xfrm>
              <a:off x="0" y="0"/>
              <a:ext cx="15849600" cy="1901952"/>
            </a:xfrm>
            <a:prstGeom prst="rect">
              <a:avLst/>
            </a:prstGeom>
          </p:spPr>
          <p:txBody>
            <a:bodyPr lIns="0" tIns="0" rIns="0" bIns="0" rtlCol="0" anchor="ctr"/>
            <a:lstStyle/>
            <a:p>
              <a:pPr algn="l">
                <a:lnSpc>
                  <a:spcPts val="3120"/>
                </a:lnSpc>
              </a:pPr>
              <a:r>
                <a:rPr lang="en-US" sz="2600" spc="52">
                  <a:latin typeface="Times New Roman" panose="02020603050405020304" pitchFamily="18" charset="0"/>
                  <a:ea typeface="Playfair Display"/>
                  <a:cs typeface="Times New Roman" panose="02020603050405020304" pitchFamily="18" charset="0"/>
                  <a:sym typeface="Playfair Display"/>
                </a:rPr>
                <a:t>For each node u, run r random walks of length l. At each step, use the pre-computed probabilities to choose the next node. This is 2nd-order Markov — the next step depends on both the current and previous node.</a:t>
              </a:r>
            </a:p>
          </p:txBody>
        </p:sp>
      </p:grpSp>
      <p:grpSp>
        <p:nvGrpSpPr>
          <p:cNvPr id="39" name="Group 39"/>
          <p:cNvGrpSpPr/>
          <p:nvPr/>
        </p:nvGrpSpPr>
        <p:grpSpPr>
          <a:xfrm>
            <a:off x="14447520" y="4443984"/>
            <a:ext cx="2194560" cy="1133856"/>
            <a:chOff x="0" y="0"/>
            <a:chExt cx="2926080" cy="1511808"/>
          </a:xfrm>
        </p:grpSpPr>
        <p:sp>
          <p:nvSpPr>
            <p:cNvPr id="40" name="Freeform 40"/>
            <p:cNvSpPr/>
            <p:nvPr/>
          </p:nvSpPr>
          <p:spPr>
            <a:xfrm>
              <a:off x="0" y="0"/>
              <a:ext cx="2926080" cy="1511808"/>
            </a:xfrm>
            <a:custGeom>
              <a:avLst/>
              <a:gdLst/>
              <a:ahLst/>
              <a:cxnLst/>
              <a:rect l="l" t="t" r="r" b="b"/>
              <a:pathLst>
                <a:path w="2926080" h="1511808">
                  <a:moveTo>
                    <a:pt x="0" y="0"/>
                  </a:moveTo>
                  <a:lnTo>
                    <a:pt x="2926080" y="0"/>
                  </a:lnTo>
                  <a:lnTo>
                    <a:pt x="2926080" y="1511808"/>
                  </a:lnTo>
                  <a:lnTo>
                    <a:pt x="0" y="1511808"/>
                  </a:lnTo>
                  <a:close/>
                </a:path>
              </a:pathLst>
            </a:custGeom>
            <a:blipFill>
              <a:blip r:embed="rId3">
                <a:alphaModFix amt="0"/>
              </a:blip>
              <a:stretch>
                <a:fillRect l="-16290" r="-16290"/>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41" name="TextBox 41"/>
            <p:cNvSpPr txBox="1"/>
            <p:nvPr/>
          </p:nvSpPr>
          <p:spPr>
            <a:xfrm>
              <a:off x="0" y="0"/>
              <a:ext cx="2926080" cy="1511808"/>
            </a:xfrm>
            <a:prstGeom prst="rect">
              <a:avLst/>
            </a:prstGeom>
          </p:spPr>
          <p:txBody>
            <a:bodyPr lIns="0" tIns="0" rIns="0" bIns="0" rtlCol="0" anchor="ctr"/>
            <a:lstStyle/>
            <a:p>
              <a:pPr algn="ctr">
                <a:lnSpc>
                  <a:spcPts val="2640"/>
                </a:lnSpc>
              </a:pPr>
              <a:r>
                <a:rPr lang="en-US" sz="2200" spc="43">
                  <a:latin typeface="Times New Roman" panose="02020603050405020304" pitchFamily="18" charset="0"/>
                  <a:ea typeface="Playfair Display"/>
                  <a:cs typeface="Times New Roman" panose="02020603050405020304" pitchFamily="18" charset="0"/>
                  <a:sym typeface="Playfair Display"/>
                </a:rPr>
                <a:t>O(r·l·|V|)</a:t>
              </a:r>
            </a:p>
          </p:txBody>
        </p:sp>
      </p:grpSp>
      <p:grpSp>
        <p:nvGrpSpPr>
          <p:cNvPr id="42" name="Group 42"/>
          <p:cNvGrpSpPr/>
          <p:nvPr/>
        </p:nvGrpSpPr>
        <p:grpSpPr>
          <a:xfrm>
            <a:off x="535943" y="6955031"/>
            <a:ext cx="16484603" cy="2512571"/>
            <a:chOff x="0" y="0"/>
            <a:chExt cx="21979471" cy="3350095"/>
          </a:xfrm>
        </p:grpSpPr>
        <p:sp>
          <p:nvSpPr>
            <p:cNvPr id="43" name="Freeform 43"/>
            <p:cNvSpPr/>
            <p:nvPr/>
          </p:nvSpPr>
          <p:spPr>
            <a:xfrm>
              <a:off x="0" y="0"/>
              <a:ext cx="21979510" cy="3350133"/>
            </a:xfrm>
            <a:custGeom>
              <a:avLst/>
              <a:gdLst/>
              <a:ahLst/>
              <a:cxnLst/>
              <a:rect l="l" t="t" r="r" b="b"/>
              <a:pathLst>
                <a:path w="21979510" h="3350133">
                  <a:moveTo>
                    <a:pt x="0" y="246380"/>
                  </a:moveTo>
                  <a:cubicBezTo>
                    <a:pt x="0" y="110236"/>
                    <a:pt x="110236" y="0"/>
                    <a:pt x="246380" y="0"/>
                  </a:cubicBezTo>
                  <a:lnTo>
                    <a:pt x="21733129" y="0"/>
                  </a:lnTo>
                  <a:cubicBezTo>
                    <a:pt x="21869146" y="0"/>
                    <a:pt x="21979510" y="110236"/>
                    <a:pt x="21979510" y="246380"/>
                  </a:cubicBezTo>
                  <a:lnTo>
                    <a:pt x="21979510" y="3103753"/>
                  </a:lnTo>
                  <a:cubicBezTo>
                    <a:pt x="21979510" y="3239770"/>
                    <a:pt x="21869273" y="3350133"/>
                    <a:pt x="21733129" y="3350133"/>
                  </a:cubicBezTo>
                  <a:lnTo>
                    <a:pt x="246380" y="3350133"/>
                  </a:lnTo>
                  <a:cubicBezTo>
                    <a:pt x="110236" y="3350133"/>
                    <a:pt x="0" y="3239770"/>
                    <a:pt x="0" y="3103753"/>
                  </a:cubicBezTo>
                  <a:close/>
                </a:path>
              </a:pathLst>
            </a:custGeom>
            <a:solidFill>
              <a:srgbClr val="B29E84"/>
            </a:solidFill>
            <a:ln w="25400" cap="sq">
              <a:solidFill>
                <a:srgbClr val="D8E8F8"/>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44" name="Group 44"/>
          <p:cNvGrpSpPr/>
          <p:nvPr/>
        </p:nvGrpSpPr>
        <p:grpSpPr>
          <a:xfrm>
            <a:off x="901703" y="7192775"/>
            <a:ext cx="1214123" cy="1214123"/>
            <a:chOff x="0" y="0"/>
            <a:chExt cx="1618831" cy="1618831"/>
          </a:xfrm>
        </p:grpSpPr>
        <p:sp>
          <p:nvSpPr>
            <p:cNvPr id="45" name="Freeform 45"/>
            <p:cNvSpPr/>
            <p:nvPr/>
          </p:nvSpPr>
          <p:spPr>
            <a:xfrm>
              <a:off x="0" y="0"/>
              <a:ext cx="1618742" cy="1618742"/>
            </a:xfrm>
            <a:custGeom>
              <a:avLst/>
              <a:gdLst/>
              <a:ahLst/>
              <a:cxnLst/>
              <a:rect l="l" t="t" r="r" b="b"/>
              <a:pathLst>
                <a:path w="1618742" h="1618742">
                  <a:moveTo>
                    <a:pt x="0" y="809371"/>
                  </a:moveTo>
                  <a:cubicBezTo>
                    <a:pt x="0" y="362331"/>
                    <a:pt x="362331" y="0"/>
                    <a:pt x="809371" y="0"/>
                  </a:cubicBezTo>
                  <a:cubicBezTo>
                    <a:pt x="1256411" y="0"/>
                    <a:pt x="1618742" y="362331"/>
                    <a:pt x="1618742" y="809371"/>
                  </a:cubicBezTo>
                  <a:cubicBezTo>
                    <a:pt x="1618742" y="1256411"/>
                    <a:pt x="1256411" y="1618742"/>
                    <a:pt x="809371" y="1618742"/>
                  </a:cubicBezTo>
                  <a:cubicBezTo>
                    <a:pt x="362331" y="1618742"/>
                    <a:pt x="0" y="1256411"/>
                    <a:pt x="0" y="809371"/>
                  </a:cubicBezTo>
                  <a:close/>
                </a:path>
              </a:pathLst>
            </a:custGeom>
            <a:solidFill>
              <a:srgbClr val="FFFFFF"/>
            </a:solidFill>
            <a:ln w="25400" cap="sq">
              <a:solidFill>
                <a:srgbClr val="FFFFFF"/>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46" name="Group 46"/>
          <p:cNvGrpSpPr/>
          <p:nvPr/>
        </p:nvGrpSpPr>
        <p:grpSpPr>
          <a:xfrm>
            <a:off x="914400" y="7205472"/>
            <a:ext cx="1188720" cy="1188720"/>
            <a:chOff x="0" y="0"/>
            <a:chExt cx="1584960" cy="1584960"/>
          </a:xfrm>
        </p:grpSpPr>
        <p:sp>
          <p:nvSpPr>
            <p:cNvPr id="47" name="Freeform 47"/>
            <p:cNvSpPr/>
            <p:nvPr/>
          </p:nvSpPr>
          <p:spPr>
            <a:xfrm>
              <a:off x="0" y="0"/>
              <a:ext cx="1584960" cy="1584960"/>
            </a:xfrm>
            <a:custGeom>
              <a:avLst/>
              <a:gdLst/>
              <a:ahLst/>
              <a:cxnLst/>
              <a:rect l="l" t="t" r="r" b="b"/>
              <a:pathLst>
                <a:path w="1584960" h="1584960">
                  <a:moveTo>
                    <a:pt x="0" y="0"/>
                  </a:moveTo>
                  <a:lnTo>
                    <a:pt x="1584960" y="0"/>
                  </a:lnTo>
                  <a:lnTo>
                    <a:pt x="1584960" y="1584960"/>
                  </a:lnTo>
                  <a:lnTo>
                    <a:pt x="0" y="1584960"/>
                  </a:lnTo>
                  <a:close/>
                </a:path>
              </a:pathLst>
            </a:custGeom>
            <a:blipFill>
              <a:blip r:embed="rId3">
                <a:alphaModFix amt="0"/>
              </a:blip>
              <a:stretch>
                <a:fillRect l="-78303" r="-78303"/>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48" name="TextBox 48"/>
            <p:cNvSpPr txBox="1"/>
            <p:nvPr/>
          </p:nvSpPr>
          <p:spPr>
            <a:xfrm>
              <a:off x="0" y="0"/>
              <a:ext cx="1584960" cy="1584960"/>
            </a:xfrm>
            <a:prstGeom prst="rect">
              <a:avLst/>
            </a:prstGeom>
          </p:spPr>
          <p:txBody>
            <a:bodyPr lIns="0" tIns="0" rIns="0" bIns="0" rtlCol="0" anchor="ctr"/>
            <a:lstStyle/>
            <a:p>
              <a:pPr algn="ctr">
                <a:lnSpc>
                  <a:spcPts val="4320"/>
                </a:lnSpc>
              </a:pPr>
              <a:r>
                <a:rPr lang="en-US" sz="3600" i="1" spc="179">
                  <a:latin typeface="Times New Roman" panose="02020603050405020304" pitchFamily="18" charset="0"/>
                  <a:ea typeface="Playfair Display Italics"/>
                  <a:cs typeface="Times New Roman" panose="02020603050405020304" pitchFamily="18" charset="0"/>
                  <a:sym typeface="Playfair Display Italics"/>
                </a:rPr>
                <a:t>3</a:t>
              </a:r>
            </a:p>
          </p:txBody>
        </p:sp>
      </p:grpSp>
      <p:grpSp>
        <p:nvGrpSpPr>
          <p:cNvPr id="49" name="Group 49"/>
          <p:cNvGrpSpPr/>
          <p:nvPr/>
        </p:nvGrpSpPr>
        <p:grpSpPr>
          <a:xfrm>
            <a:off x="2377440" y="7059168"/>
            <a:ext cx="11887200" cy="768096"/>
            <a:chOff x="0" y="0"/>
            <a:chExt cx="15849600" cy="1024128"/>
          </a:xfrm>
        </p:grpSpPr>
        <p:sp>
          <p:nvSpPr>
            <p:cNvPr id="50" name="Freeform 50"/>
            <p:cNvSpPr/>
            <p:nvPr/>
          </p:nvSpPr>
          <p:spPr>
            <a:xfrm>
              <a:off x="0" y="0"/>
              <a:ext cx="15849600" cy="1024128"/>
            </a:xfrm>
            <a:custGeom>
              <a:avLst/>
              <a:gdLst/>
              <a:ahLst/>
              <a:cxnLst/>
              <a:rect l="l" t="t" r="r" b="b"/>
              <a:pathLst>
                <a:path w="15849600" h="1024128">
                  <a:moveTo>
                    <a:pt x="0" y="0"/>
                  </a:moveTo>
                  <a:lnTo>
                    <a:pt x="15849600" y="0"/>
                  </a:lnTo>
                  <a:lnTo>
                    <a:pt x="15849600" y="1024128"/>
                  </a:lnTo>
                  <a:lnTo>
                    <a:pt x="0" y="1024128"/>
                  </a:lnTo>
                  <a:close/>
                </a:path>
              </a:pathLst>
            </a:custGeom>
            <a:blipFill>
              <a:blip r:embed="rId3">
                <a:alphaModFix amt="0"/>
              </a:blip>
              <a:stretch>
                <a:fillRect t="-251554" b="-251554"/>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51" name="TextBox 51"/>
            <p:cNvSpPr txBox="1"/>
            <p:nvPr/>
          </p:nvSpPr>
          <p:spPr>
            <a:xfrm>
              <a:off x="0" y="9525"/>
              <a:ext cx="15849600" cy="1014603"/>
            </a:xfrm>
            <a:prstGeom prst="rect">
              <a:avLst/>
            </a:prstGeom>
          </p:spPr>
          <p:txBody>
            <a:bodyPr lIns="0" tIns="0" rIns="0" bIns="0" rtlCol="0" anchor="ctr"/>
            <a:lstStyle/>
            <a:p>
              <a:pPr algn="l">
                <a:lnSpc>
                  <a:spcPts val="3359"/>
                </a:lnSpc>
              </a:pPr>
              <a:r>
                <a:rPr lang="en-US" sz="2799" i="1" spc="140">
                  <a:latin typeface="Times New Roman" panose="02020603050405020304" pitchFamily="18" charset="0"/>
                  <a:ea typeface="Playfair Display Italics"/>
                  <a:cs typeface="Times New Roman" panose="02020603050405020304" pitchFamily="18" charset="0"/>
                  <a:sym typeface="Playfair Display Italics"/>
                </a:rPr>
                <a:t>Optimize with SGD</a:t>
              </a:r>
            </a:p>
          </p:txBody>
        </p:sp>
      </p:grpSp>
      <p:grpSp>
        <p:nvGrpSpPr>
          <p:cNvPr id="52" name="Group 52"/>
          <p:cNvGrpSpPr/>
          <p:nvPr/>
        </p:nvGrpSpPr>
        <p:grpSpPr>
          <a:xfrm>
            <a:off x="2377440" y="7827264"/>
            <a:ext cx="11887200" cy="1426464"/>
            <a:chOff x="0" y="0"/>
            <a:chExt cx="15849600" cy="1901952"/>
          </a:xfrm>
        </p:grpSpPr>
        <p:sp>
          <p:nvSpPr>
            <p:cNvPr id="53" name="Freeform 53"/>
            <p:cNvSpPr/>
            <p:nvPr/>
          </p:nvSpPr>
          <p:spPr>
            <a:xfrm>
              <a:off x="0" y="0"/>
              <a:ext cx="15849600" cy="1901952"/>
            </a:xfrm>
            <a:custGeom>
              <a:avLst/>
              <a:gdLst/>
              <a:ahLst/>
              <a:cxnLst/>
              <a:rect l="l" t="t" r="r" b="b"/>
              <a:pathLst>
                <a:path w="15849600" h="1901952">
                  <a:moveTo>
                    <a:pt x="0" y="0"/>
                  </a:moveTo>
                  <a:lnTo>
                    <a:pt x="15849600" y="0"/>
                  </a:lnTo>
                  <a:lnTo>
                    <a:pt x="15849600" y="1901952"/>
                  </a:lnTo>
                  <a:lnTo>
                    <a:pt x="0" y="1901952"/>
                  </a:lnTo>
                  <a:close/>
                </a:path>
              </a:pathLst>
            </a:custGeom>
            <a:blipFill>
              <a:blip r:embed="rId3">
                <a:alphaModFix amt="0"/>
              </a:blip>
              <a:stretch>
                <a:fillRect t="-112375" b="-112375"/>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54" name="TextBox 54"/>
            <p:cNvSpPr txBox="1"/>
            <p:nvPr/>
          </p:nvSpPr>
          <p:spPr>
            <a:xfrm>
              <a:off x="0" y="0"/>
              <a:ext cx="15849600" cy="1901952"/>
            </a:xfrm>
            <a:prstGeom prst="rect">
              <a:avLst/>
            </a:prstGeom>
          </p:spPr>
          <p:txBody>
            <a:bodyPr lIns="0" tIns="0" rIns="0" bIns="0" rtlCol="0" anchor="ctr"/>
            <a:lstStyle/>
            <a:p>
              <a:pPr algn="l">
                <a:lnSpc>
                  <a:spcPts val="3120"/>
                </a:lnSpc>
              </a:pPr>
              <a:r>
                <a:rPr lang="en-US" sz="2600" spc="52">
                  <a:latin typeface="Times New Roman" panose="02020603050405020304" pitchFamily="18" charset="0"/>
                  <a:ea typeface="Playfair Display"/>
                  <a:cs typeface="Times New Roman" panose="02020603050405020304" pitchFamily="18" charset="0"/>
                  <a:sym typeface="Playfair Display"/>
                </a:rPr>
                <a:t>Collect co-occurring node pairs. Minimize the negative sampling loss using Stochastic Gradient Descent. Update the embedding matrix Z after each batch.</a:t>
              </a:r>
            </a:p>
          </p:txBody>
        </p:sp>
      </p:grpSp>
      <p:grpSp>
        <p:nvGrpSpPr>
          <p:cNvPr id="55" name="Group 55"/>
          <p:cNvGrpSpPr/>
          <p:nvPr/>
        </p:nvGrpSpPr>
        <p:grpSpPr>
          <a:xfrm>
            <a:off x="14447520" y="7150608"/>
            <a:ext cx="2194560" cy="1133856"/>
            <a:chOff x="0" y="0"/>
            <a:chExt cx="2926080" cy="1511808"/>
          </a:xfrm>
        </p:grpSpPr>
        <p:sp>
          <p:nvSpPr>
            <p:cNvPr id="56" name="Freeform 56"/>
            <p:cNvSpPr/>
            <p:nvPr/>
          </p:nvSpPr>
          <p:spPr>
            <a:xfrm>
              <a:off x="0" y="0"/>
              <a:ext cx="2926080" cy="1511808"/>
            </a:xfrm>
            <a:custGeom>
              <a:avLst/>
              <a:gdLst/>
              <a:ahLst/>
              <a:cxnLst/>
              <a:rect l="l" t="t" r="r" b="b"/>
              <a:pathLst>
                <a:path w="2926080" h="1511808">
                  <a:moveTo>
                    <a:pt x="0" y="0"/>
                  </a:moveTo>
                  <a:lnTo>
                    <a:pt x="2926080" y="0"/>
                  </a:lnTo>
                  <a:lnTo>
                    <a:pt x="2926080" y="1511808"/>
                  </a:lnTo>
                  <a:lnTo>
                    <a:pt x="0" y="1511808"/>
                  </a:lnTo>
                  <a:close/>
                </a:path>
              </a:pathLst>
            </a:custGeom>
            <a:blipFill>
              <a:blip r:embed="rId3">
                <a:alphaModFix amt="0"/>
              </a:blip>
              <a:stretch>
                <a:fillRect l="-16290" r="-16290"/>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57" name="TextBox 57"/>
            <p:cNvSpPr txBox="1"/>
            <p:nvPr/>
          </p:nvSpPr>
          <p:spPr>
            <a:xfrm>
              <a:off x="0" y="0"/>
              <a:ext cx="2926080" cy="1511808"/>
            </a:xfrm>
            <a:prstGeom prst="rect">
              <a:avLst/>
            </a:prstGeom>
          </p:spPr>
          <p:txBody>
            <a:bodyPr lIns="0" tIns="0" rIns="0" bIns="0" rtlCol="0" anchor="ctr"/>
            <a:lstStyle/>
            <a:p>
              <a:pPr algn="ctr">
                <a:lnSpc>
                  <a:spcPts val="2640"/>
                </a:lnSpc>
              </a:pPr>
              <a:r>
                <a:rPr lang="en-US" sz="2200" spc="43">
                  <a:latin typeface="Times New Roman" panose="02020603050405020304" pitchFamily="18" charset="0"/>
                  <a:ea typeface="Playfair Display"/>
                  <a:cs typeface="Times New Roman" panose="02020603050405020304" pitchFamily="18" charset="0"/>
                  <a:sym typeface="Playfair Display"/>
                </a:rPr>
                <a:t>O(r·l·|V|·d)</a:t>
              </a:r>
            </a:p>
          </p:txBody>
        </p:sp>
      </p:grpSp>
      <p:grpSp>
        <p:nvGrpSpPr>
          <p:cNvPr id="58" name="Group 58"/>
          <p:cNvGrpSpPr/>
          <p:nvPr/>
        </p:nvGrpSpPr>
        <p:grpSpPr>
          <a:xfrm>
            <a:off x="535943" y="9679943"/>
            <a:ext cx="16484603" cy="720347"/>
            <a:chOff x="0" y="0"/>
            <a:chExt cx="21979471" cy="960463"/>
          </a:xfrm>
        </p:grpSpPr>
        <p:sp>
          <p:nvSpPr>
            <p:cNvPr id="59" name="Freeform 59"/>
            <p:cNvSpPr/>
            <p:nvPr/>
          </p:nvSpPr>
          <p:spPr>
            <a:xfrm>
              <a:off x="0" y="0"/>
              <a:ext cx="21979382" cy="960374"/>
            </a:xfrm>
            <a:custGeom>
              <a:avLst/>
              <a:gdLst/>
              <a:ahLst/>
              <a:cxnLst/>
              <a:rect l="l" t="t" r="r" b="b"/>
              <a:pathLst>
                <a:path w="21979382" h="960374">
                  <a:moveTo>
                    <a:pt x="0" y="252730"/>
                  </a:moveTo>
                  <a:cubicBezTo>
                    <a:pt x="0" y="113157"/>
                    <a:pt x="113157" y="0"/>
                    <a:pt x="252730" y="0"/>
                  </a:cubicBezTo>
                  <a:lnTo>
                    <a:pt x="21726652" y="0"/>
                  </a:lnTo>
                  <a:cubicBezTo>
                    <a:pt x="21866225" y="0"/>
                    <a:pt x="21979382" y="113157"/>
                    <a:pt x="21979382" y="252730"/>
                  </a:cubicBezTo>
                  <a:lnTo>
                    <a:pt x="21979382" y="707644"/>
                  </a:lnTo>
                  <a:cubicBezTo>
                    <a:pt x="21979382" y="847217"/>
                    <a:pt x="21866225" y="960374"/>
                    <a:pt x="21726652" y="960374"/>
                  </a:cubicBezTo>
                  <a:lnTo>
                    <a:pt x="252730" y="960374"/>
                  </a:lnTo>
                  <a:cubicBezTo>
                    <a:pt x="113157" y="960501"/>
                    <a:pt x="0" y="847344"/>
                    <a:pt x="0" y="707644"/>
                  </a:cubicBezTo>
                  <a:close/>
                </a:path>
              </a:pathLst>
            </a:custGeom>
            <a:solidFill>
              <a:srgbClr val="FFFFFF"/>
            </a:solidFill>
            <a:ln w="25400" cap="sq">
              <a:solidFill>
                <a:srgbClr val="D8E8F8"/>
              </a:solidFill>
              <a:prstDash val="solid"/>
              <a:miter/>
            </a:ln>
          </p:spPr>
          <p:txBody>
            <a:bodyPr/>
            <a:lstStyle/>
            <a:p>
              <a:endParaRPr lang="en-IN"/>
            </a:p>
          </p:txBody>
        </p:sp>
      </p:grpSp>
      <p:grpSp>
        <p:nvGrpSpPr>
          <p:cNvPr id="60" name="Group 60"/>
          <p:cNvGrpSpPr/>
          <p:nvPr/>
        </p:nvGrpSpPr>
        <p:grpSpPr>
          <a:xfrm>
            <a:off x="914400" y="9692640"/>
            <a:ext cx="15727680" cy="694944"/>
            <a:chOff x="0" y="0"/>
            <a:chExt cx="20970240" cy="926592"/>
          </a:xfrm>
        </p:grpSpPr>
        <p:sp>
          <p:nvSpPr>
            <p:cNvPr id="61" name="Freeform 61"/>
            <p:cNvSpPr/>
            <p:nvPr/>
          </p:nvSpPr>
          <p:spPr>
            <a:xfrm>
              <a:off x="0" y="0"/>
              <a:ext cx="20970239" cy="926592"/>
            </a:xfrm>
            <a:custGeom>
              <a:avLst/>
              <a:gdLst/>
              <a:ahLst/>
              <a:cxnLst/>
              <a:rect l="l" t="t" r="r" b="b"/>
              <a:pathLst>
                <a:path w="20970239" h="926592">
                  <a:moveTo>
                    <a:pt x="0" y="0"/>
                  </a:moveTo>
                  <a:lnTo>
                    <a:pt x="20970239" y="0"/>
                  </a:lnTo>
                  <a:lnTo>
                    <a:pt x="20970239" y="926592"/>
                  </a:lnTo>
                  <a:lnTo>
                    <a:pt x="0" y="926592"/>
                  </a:lnTo>
                  <a:close/>
                </a:path>
              </a:pathLst>
            </a:custGeom>
            <a:blipFill>
              <a:blip r:embed="rId3">
                <a:alphaModFix amt="0"/>
              </a:blip>
              <a:stretch>
                <a:fillRect t="-390977" b="-390977"/>
              </a:stretch>
            </a:blipFill>
          </p:spPr>
          <p:txBody>
            <a:bodyPr/>
            <a:lstStyle/>
            <a:p>
              <a:endParaRPr lang="en-IN"/>
            </a:p>
          </p:txBody>
        </p:sp>
        <p:sp>
          <p:nvSpPr>
            <p:cNvPr id="62" name="TextBox 62"/>
            <p:cNvSpPr txBox="1"/>
            <p:nvPr/>
          </p:nvSpPr>
          <p:spPr>
            <a:xfrm>
              <a:off x="0" y="0"/>
              <a:ext cx="20970240" cy="926592"/>
            </a:xfrm>
            <a:prstGeom prst="rect">
              <a:avLst/>
            </a:prstGeom>
          </p:spPr>
          <p:txBody>
            <a:bodyPr lIns="0" tIns="0" rIns="0" bIns="0" rtlCol="0" anchor="ctr"/>
            <a:lstStyle/>
            <a:p>
              <a:pPr algn="ctr">
                <a:lnSpc>
                  <a:spcPts val="3120"/>
                </a:lnSpc>
              </a:pPr>
              <a:r>
                <a:rPr lang="en-US" sz="2600" spc="52">
                  <a:solidFill>
                    <a:srgbClr val="253439"/>
                  </a:solidFill>
                  <a:latin typeface="Playfair Display"/>
                  <a:ea typeface="Playfair Display"/>
                  <a:cs typeface="Playfair Display"/>
                  <a:sym typeface="Playfair Display"/>
                </a:rPr>
                <a:t>All 3 steps are individually parallelizable — runs in linear time O(|V|)</a:t>
              </a: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253439"/>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0" y="0"/>
              <a:ext cx="24417910" cy="1789557"/>
            </a:xfrm>
            <a:custGeom>
              <a:avLst/>
              <a:gdLst/>
              <a:ahLst/>
              <a:cxnLst/>
              <a:rect l="l" t="t" r="r" b="b"/>
              <a:pathLst>
                <a:path w="24417910" h="1789557">
                  <a:moveTo>
                    <a:pt x="0" y="0"/>
                  </a:moveTo>
                  <a:lnTo>
                    <a:pt x="24417910" y="0"/>
                  </a:lnTo>
                  <a:lnTo>
                    <a:pt x="24417910" y="1789557"/>
                  </a:lnTo>
                  <a:lnTo>
                    <a:pt x="0" y="1789557"/>
                  </a:lnTo>
                  <a:close/>
                </a:path>
              </a:pathLst>
            </a:custGeom>
            <a:solidFill>
              <a:srgbClr val="B29E84"/>
            </a:solidFill>
            <a:ln w="25400" cap="sq">
              <a:solidFill>
                <a:srgbClr val="1A3461"/>
              </a:solidFill>
              <a:prstDash val="solid"/>
              <a:miter/>
            </a:ln>
          </p:spPr>
          <p:txBody>
            <a:bodyPr/>
            <a:lstStyle/>
            <a:p>
              <a:endParaRPr lang="en-IN"/>
            </a:p>
          </p:txBody>
        </p:sp>
      </p:grpSp>
      <p:grpSp>
        <p:nvGrpSpPr>
          <p:cNvPr id="4" name="Group 4"/>
          <p:cNvGrpSpPr/>
          <p:nvPr/>
        </p:nvGrpSpPr>
        <p:grpSpPr>
          <a:xfrm>
            <a:off x="731520" y="-7144"/>
            <a:ext cx="16824960" cy="1323880"/>
            <a:chOff x="0" y="-9525"/>
            <a:chExt cx="22433280" cy="1765173"/>
          </a:xfrm>
        </p:grpSpPr>
        <p:sp>
          <p:nvSpPr>
            <p:cNvPr id="5" name="Freeform 5"/>
            <p:cNvSpPr/>
            <p:nvPr/>
          </p:nvSpPr>
          <p:spPr>
            <a:xfrm>
              <a:off x="0" y="0"/>
              <a:ext cx="22433280" cy="1755648"/>
            </a:xfrm>
            <a:custGeom>
              <a:avLst/>
              <a:gdLst/>
              <a:ahLst/>
              <a:cxnLst/>
              <a:rect l="l" t="t" r="r" b="b"/>
              <a:pathLst>
                <a:path w="22433280" h="1755648">
                  <a:moveTo>
                    <a:pt x="0" y="0"/>
                  </a:moveTo>
                  <a:lnTo>
                    <a:pt x="22433280" y="0"/>
                  </a:lnTo>
                  <a:lnTo>
                    <a:pt x="22433280" y="1755648"/>
                  </a:lnTo>
                  <a:lnTo>
                    <a:pt x="0" y="1755648"/>
                  </a:lnTo>
                  <a:close/>
                </a:path>
              </a:pathLst>
            </a:custGeom>
            <a:blipFill>
              <a:blip r:embed="rId3">
                <a:alphaModFix amt="0"/>
              </a:blip>
              <a:stretch>
                <a:fillRect t="-198975" b="-198975"/>
              </a:stretch>
            </a:blipFill>
          </p:spPr>
          <p:txBody>
            <a:bodyPr/>
            <a:lstStyle/>
            <a:p>
              <a:endParaRPr lang="en-IN"/>
            </a:p>
          </p:txBody>
        </p:sp>
        <p:sp>
          <p:nvSpPr>
            <p:cNvPr id="6" name="TextBox 6"/>
            <p:cNvSpPr txBox="1"/>
            <p:nvPr/>
          </p:nvSpPr>
          <p:spPr>
            <a:xfrm>
              <a:off x="0" y="-9525"/>
              <a:ext cx="22433280" cy="1765173"/>
            </a:xfrm>
            <a:prstGeom prst="rect">
              <a:avLst/>
            </a:prstGeom>
          </p:spPr>
          <p:txBody>
            <a:bodyPr lIns="0" tIns="0" rIns="0" bIns="0" rtlCol="0" anchor="ctr"/>
            <a:lstStyle/>
            <a:p>
              <a:pPr algn="l">
                <a:lnSpc>
                  <a:spcPts val="4800"/>
                </a:lnSpc>
              </a:pPr>
              <a:r>
                <a:rPr lang="en-US" sz="4000" spc="560" dirty="0">
                  <a:latin typeface="Times New Roman" panose="02020603050405020304" pitchFamily="18" charset="0"/>
                  <a:ea typeface="Hammersmith One"/>
                  <a:cs typeface="Times New Roman" panose="02020603050405020304" pitchFamily="18" charset="0"/>
                  <a:sym typeface="Hammersmith One"/>
                </a:rPr>
                <a:t>Negative Sampling – How Node2vec Trains</a:t>
              </a:r>
            </a:p>
          </p:txBody>
        </p:sp>
      </p:grpSp>
      <p:sp>
        <p:nvSpPr>
          <p:cNvPr id="8" name="Freeform 8"/>
          <p:cNvSpPr/>
          <p:nvPr/>
        </p:nvSpPr>
        <p:spPr>
          <a:xfrm>
            <a:off x="731520" y="73152"/>
            <a:ext cx="16459200" cy="402336"/>
          </a:xfrm>
          <a:custGeom>
            <a:avLst/>
            <a:gdLst/>
            <a:ahLst/>
            <a:cxnLst/>
            <a:rect l="l" t="t" r="r" b="b"/>
            <a:pathLst>
              <a:path w="21945600" h="536448">
                <a:moveTo>
                  <a:pt x="0" y="0"/>
                </a:moveTo>
                <a:lnTo>
                  <a:pt x="21945600" y="0"/>
                </a:lnTo>
                <a:lnTo>
                  <a:pt x="21945600" y="536448"/>
                </a:lnTo>
                <a:lnTo>
                  <a:pt x="0" y="536448"/>
                </a:lnTo>
                <a:close/>
              </a:path>
            </a:pathLst>
          </a:custGeom>
          <a:blipFill>
            <a:blip r:embed="rId3">
              <a:alphaModFix amt="0"/>
            </a:blip>
            <a:stretch>
              <a:fillRect t="-747115" b="-747115"/>
            </a:stretch>
          </a:blipFill>
        </p:spPr>
        <p:txBody>
          <a:bodyPr/>
          <a:lstStyle/>
          <a:p>
            <a:endParaRPr lang="en-IN"/>
          </a:p>
        </p:txBody>
      </p:sp>
      <p:grpSp>
        <p:nvGrpSpPr>
          <p:cNvPr id="10" name="Group 10"/>
          <p:cNvGrpSpPr/>
          <p:nvPr/>
        </p:nvGrpSpPr>
        <p:grpSpPr>
          <a:xfrm>
            <a:off x="731520" y="1499616"/>
            <a:ext cx="16824960" cy="916432"/>
            <a:chOff x="0" y="0"/>
            <a:chExt cx="22433280" cy="1221909"/>
          </a:xfrm>
        </p:grpSpPr>
        <p:sp>
          <p:nvSpPr>
            <p:cNvPr id="11" name="Freeform 11"/>
            <p:cNvSpPr/>
            <p:nvPr/>
          </p:nvSpPr>
          <p:spPr>
            <a:xfrm>
              <a:off x="0" y="0"/>
              <a:ext cx="22433280" cy="1221909"/>
            </a:xfrm>
            <a:custGeom>
              <a:avLst/>
              <a:gdLst/>
              <a:ahLst/>
              <a:cxnLst/>
              <a:rect l="l" t="t" r="r" b="b"/>
              <a:pathLst>
                <a:path w="22433280" h="1221909">
                  <a:moveTo>
                    <a:pt x="0" y="0"/>
                  </a:moveTo>
                  <a:lnTo>
                    <a:pt x="22433280" y="0"/>
                  </a:lnTo>
                  <a:lnTo>
                    <a:pt x="22433280" y="1221909"/>
                  </a:lnTo>
                  <a:lnTo>
                    <a:pt x="0" y="1221909"/>
                  </a:lnTo>
                  <a:close/>
                </a:path>
              </a:pathLst>
            </a:custGeom>
            <a:blipFill>
              <a:blip r:embed="rId3">
                <a:alphaModFix amt="0"/>
              </a:blip>
              <a:stretch>
                <a:fillRect t="-312829" b="-302629"/>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12" name="TextBox 12"/>
            <p:cNvSpPr txBox="1"/>
            <p:nvPr/>
          </p:nvSpPr>
          <p:spPr>
            <a:xfrm>
              <a:off x="0" y="0"/>
              <a:ext cx="22433280" cy="1221909"/>
            </a:xfrm>
            <a:prstGeom prst="rect">
              <a:avLst/>
            </a:prstGeom>
          </p:spPr>
          <p:txBody>
            <a:bodyPr lIns="0" tIns="0" rIns="0" bIns="0" rtlCol="0" anchor="ctr"/>
            <a:lstStyle/>
            <a:p>
              <a:pPr algn="l">
                <a:lnSpc>
                  <a:spcPts val="3120"/>
                </a:lnSpc>
              </a:pPr>
              <a:r>
                <a:rPr lang="en-US" sz="2600" spc="52" dirty="0">
                  <a:solidFill>
                    <a:srgbClr val="FFFFFF"/>
                  </a:solidFill>
                  <a:latin typeface="Times New Roman" panose="02020603050405020304" pitchFamily="18" charset="0"/>
                  <a:ea typeface="Playfair Display"/>
                  <a:cs typeface="Times New Roman" panose="02020603050405020304" pitchFamily="18" charset="0"/>
                  <a:sym typeface="Playfair Display"/>
                </a:rPr>
                <a:t>Problem: The Softmax denominator Σ exp(zᵤᵀzₖ) over all |V| nodes makes each update O(|V|) — too slow for large graphs.</a:t>
              </a:r>
            </a:p>
          </p:txBody>
        </p:sp>
      </p:grpSp>
      <p:grpSp>
        <p:nvGrpSpPr>
          <p:cNvPr id="13" name="Group 13"/>
          <p:cNvGrpSpPr/>
          <p:nvPr/>
        </p:nvGrpSpPr>
        <p:grpSpPr>
          <a:xfrm>
            <a:off x="535943" y="2511047"/>
            <a:ext cx="16484603" cy="2494283"/>
            <a:chOff x="0" y="0"/>
            <a:chExt cx="21979471" cy="3325711"/>
          </a:xfrm>
        </p:grpSpPr>
        <p:sp>
          <p:nvSpPr>
            <p:cNvPr id="14" name="Freeform 14"/>
            <p:cNvSpPr/>
            <p:nvPr/>
          </p:nvSpPr>
          <p:spPr>
            <a:xfrm>
              <a:off x="0" y="0"/>
              <a:ext cx="21979510" cy="3325749"/>
            </a:xfrm>
            <a:custGeom>
              <a:avLst/>
              <a:gdLst/>
              <a:ahLst/>
              <a:cxnLst/>
              <a:rect l="l" t="t" r="r" b="b"/>
              <a:pathLst>
                <a:path w="21979510" h="3325749">
                  <a:moveTo>
                    <a:pt x="0" y="246380"/>
                  </a:moveTo>
                  <a:cubicBezTo>
                    <a:pt x="0" y="110236"/>
                    <a:pt x="110236" y="0"/>
                    <a:pt x="246380" y="0"/>
                  </a:cubicBezTo>
                  <a:lnTo>
                    <a:pt x="21733129" y="0"/>
                  </a:lnTo>
                  <a:cubicBezTo>
                    <a:pt x="21869146" y="0"/>
                    <a:pt x="21979510" y="110236"/>
                    <a:pt x="21979510" y="246380"/>
                  </a:cubicBezTo>
                  <a:lnTo>
                    <a:pt x="21979510" y="3079369"/>
                  </a:lnTo>
                  <a:cubicBezTo>
                    <a:pt x="21979510" y="3215386"/>
                    <a:pt x="21869273" y="3325749"/>
                    <a:pt x="21733129" y="3325749"/>
                  </a:cubicBezTo>
                  <a:lnTo>
                    <a:pt x="246380" y="3325749"/>
                  </a:lnTo>
                  <a:cubicBezTo>
                    <a:pt x="110363" y="3325749"/>
                    <a:pt x="0" y="3215513"/>
                    <a:pt x="0" y="3079369"/>
                  </a:cubicBezTo>
                  <a:close/>
                </a:path>
              </a:pathLst>
            </a:custGeom>
            <a:solidFill>
              <a:srgbClr val="7C898B"/>
            </a:solidFill>
            <a:ln w="25400" cap="sq">
              <a:solidFill>
                <a:srgbClr val="D8E8F8"/>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15" name="Group 15"/>
          <p:cNvGrpSpPr/>
          <p:nvPr/>
        </p:nvGrpSpPr>
        <p:grpSpPr>
          <a:xfrm>
            <a:off x="914400" y="2615184"/>
            <a:ext cx="15727680" cy="694944"/>
            <a:chOff x="0" y="0"/>
            <a:chExt cx="20970240" cy="926592"/>
          </a:xfrm>
        </p:grpSpPr>
        <p:sp>
          <p:nvSpPr>
            <p:cNvPr id="16" name="Freeform 16"/>
            <p:cNvSpPr/>
            <p:nvPr/>
          </p:nvSpPr>
          <p:spPr>
            <a:xfrm>
              <a:off x="0" y="0"/>
              <a:ext cx="20970239" cy="926592"/>
            </a:xfrm>
            <a:custGeom>
              <a:avLst/>
              <a:gdLst/>
              <a:ahLst/>
              <a:cxnLst/>
              <a:rect l="l" t="t" r="r" b="b"/>
              <a:pathLst>
                <a:path w="20970239" h="926592">
                  <a:moveTo>
                    <a:pt x="0" y="0"/>
                  </a:moveTo>
                  <a:lnTo>
                    <a:pt x="20970239" y="0"/>
                  </a:lnTo>
                  <a:lnTo>
                    <a:pt x="20970239" y="926592"/>
                  </a:lnTo>
                  <a:lnTo>
                    <a:pt x="0" y="926592"/>
                  </a:lnTo>
                  <a:close/>
                </a:path>
              </a:pathLst>
            </a:custGeom>
            <a:blipFill>
              <a:blip r:embed="rId3">
                <a:alphaModFix amt="0"/>
              </a:blip>
              <a:stretch>
                <a:fillRect t="-390977" b="-390977"/>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17" name="TextBox 17"/>
            <p:cNvSpPr txBox="1"/>
            <p:nvPr/>
          </p:nvSpPr>
          <p:spPr>
            <a:xfrm>
              <a:off x="0" y="9525"/>
              <a:ext cx="20970240" cy="917067"/>
            </a:xfrm>
            <a:prstGeom prst="rect">
              <a:avLst/>
            </a:prstGeom>
          </p:spPr>
          <p:txBody>
            <a:bodyPr lIns="0" tIns="0" rIns="0" bIns="0" rtlCol="0" anchor="ctr"/>
            <a:lstStyle/>
            <a:p>
              <a:pPr algn="l">
                <a:lnSpc>
                  <a:spcPts val="3359"/>
                </a:lnSpc>
              </a:pPr>
              <a:r>
                <a:rPr lang="en-US" sz="2799" i="1" spc="140">
                  <a:solidFill>
                    <a:srgbClr val="FFFFFF"/>
                  </a:solidFill>
                  <a:latin typeface="Times New Roman" panose="02020603050405020304" pitchFamily="18" charset="0"/>
                  <a:ea typeface="Playfair Display Italics"/>
                  <a:cs typeface="Times New Roman" panose="02020603050405020304" pitchFamily="18" charset="0"/>
                  <a:sym typeface="Playfair Display Italics"/>
                </a:rPr>
                <a:t>The Fix: Treat it as Binary Classification</a:t>
              </a:r>
            </a:p>
          </p:txBody>
        </p:sp>
      </p:grpSp>
      <p:grpSp>
        <p:nvGrpSpPr>
          <p:cNvPr id="18" name="Group 18"/>
          <p:cNvGrpSpPr/>
          <p:nvPr/>
        </p:nvGrpSpPr>
        <p:grpSpPr>
          <a:xfrm>
            <a:off x="914400" y="3383280"/>
            <a:ext cx="15727680" cy="1316736"/>
            <a:chOff x="0" y="0"/>
            <a:chExt cx="20970240" cy="1755648"/>
          </a:xfrm>
        </p:grpSpPr>
        <p:sp>
          <p:nvSpPr>
            <p:cNvPr id="19" name="Freeform 19"/>
            <p:cNvSpPr/>
            <p:nvPr/>
          </p:nvSpPr>
          <p:spPr>
            <a:xfrm>
              <a:off x="0" y="0"/>
              <a:ext cx="20970239" cy="1755648"/>
            </a:xfrm>
            <a:custGeom>
              <a:avLst/>
              <a:gdLst/>
              <a:ahLst/>
              <a:cxnLst/>
              <a:rect l="l" t="t" r="r" b="b"/>
              <a:pathLst>
                <a:path w="20970239" h="1755648">
                  <a:moveTo>
                    <a:pt x="0" y="0"/>
                  </a:moveTo>
                  <a:lnTo>
                    <a:pt x="20970239" y="0"/>
                  </a:lnTo>
                  <a:lnTo>
                    <a:pt x="20970239" y="1755648"/>
                  </a:lnTo>
                  <a:lnTo>
                    <a:pt x="0" y="1755648"/>
                  </a:lnTo>
                  <a:close/>
                </a:path>
              </a:pathLst>
            </a:custGeom>
            <a:blipFill>
              <a:blip r:embed="rId3">
                <a:alphaModFix amt="0"/>
              </a:blip>
              <a:stretch>
                <a:fillRect t="-182737" b="-182737"/>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20" name="TextBox 20"/>
            <p:cNvSpPr txBox="1"/>
            <p:nvPr/>
          </p:nvSpPr>
          <p:spPr>
            <a:xfrm>
              <a:off x="0" y="0"/>
              <a:ext cx="20970240" cy="1755648"/>
            </a:xfrm>
            <a:prstGeom prst="rect">
              <a:avLst/>
            </a:prstGeom>
          </p:spPr>
          <p:txBody>
            <a:bodyPr lIns="0" tIns="0" rIns="0" bIns="0" rtlCol="0" anchor="ctr"/>
            <a:lstStyle/>
            <a:p>
              <a:pPr algn="l">
                <a:lnSpc>
                  <a:spcPts val="3120"/>
                </a:lnSpc>
              </a:pPr>
              <a:r>
                <a:rPr lang="en-US" sz="2600" spc="52">
                  <a:solidFill>
                    <a:srgbClr val="FFFFFF"/>
                  </a:solidFill>
                  <a:latin typeface="Times New Roman" panose="02020603050405020304" pitchFamily="18" charset="0"/>
                  <a:ea typeface="Playfair Display"/>
                  <a:cs typeface="Times New Roman" panose="02020603050405020304" pitchFamily="18" charset="0"/>
                  <a:sym typeface="Playfair Display"/>
                </a:rPr>
                <a:t>Positive pair (u,v): v appeared in u's random walk → target = 1  |  Negative pair (u,vₙ): vₙ is a random node not related to u → target = 0</a:t>
              </a:r>
            </a:p>
          </p:txBody>
        </p:sp>
      </p:grpSp>
      <p:grpSp>
        <p:nvGrpSpPr>
          <p:cNvPr id="21" name="Group 21"/>
          <p:cNvGrpSpPr/>
          <p:nvPr/>
        </p:nvGrpSpPr>
        <p:grpSpPr>
          <a:xfrm>
            <a:off x="731520" y="5212080"/>
            <a:ext cx="16824960" cy="694944"/>
            <a:chOff x="0" y="0"/>
            <a:chExt cx="22433280" cy="926592"/>
          </a:xfrm>
        </p:grpSpPr>
        <p:sp>
          <p:nvSpPr>
            <p:cNvPr id="22" name="Freeform 22"/>
            <p:cNvSpPr/>
            <p:nvPr/>
          </p:nvSpPr>
          <p:spPr>
            <a:xfrm>
              <a:off x="0" y="0"/>
              <a:ext cx="22433280" cy="926592"/>
            </a:xfrm>
            <a:custGeom>
              <a:avLst/>
              <a:gdLst/>
              <a:ahLst/>
              <a:cxnLst/>
              <a:rect l="l" t="t" r="r" b="b"/>
              <a:pathLst>
                <a:path w="22433280" h="926592">
                  <a:moveTo>
                    <a:pt x="0" y="0"/>
                  </a:moveTo>
                  <a:lnTo>
                    <a:pt x="22433280" y="0"/>
                  </a:lnTo>
                  <a:lnTo>
                    <a:pt x="22433280" y="926592"/>
                  </a:lnTo>
                  <a:lnTo>
                    <a:pt x="0" y="926592"/>
                  </a:lnTo>
                  <a:close/>
                </a:path>
              </a:pathLst>
            </a:custGeom>
            <a:blipFill>
              <a:blip r:embed="rId3">
                <a:alphaModFix amt="0"/>
              </a:blip>
              <a:stretch>
                <a:fillRect t="-421743" b="-421743"/>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23" name="TextBox 23"/>
            <p:cNvSpPr txBox="1"/>
            <p:nvPr/>
          </p:nvSpPr>
          <p:spPr>
            <a:xfrm>
              <a:off x="0" y="9525"/>
              <a:ext cx="22433280" cy="917067"/>
            </a:xfrm>
            <a:prstGeom prst="rect">
              <a:avLst/>
            </a:prstGeom>
          </p:spPr>
          <p:txBody>
            <a:bodyPr lIns="0" tIns="0" rIns="0" bIns="0" rtlCol="0" anchor="ctr"/>
            <a:lstStyle/>
            <a:p>
              <a:pPr algn="l">
                <a:lnSpc>
                  <a:spcPts val="3359"/>
                </a:lnSpc>
              </a:pPr>
              <a:r>
                <a:rPr lang="en-US" sz="2799" i="1" spc="140" dirty="0">
                  <a:solidFill>
                    <a:srgbClr val="FFFFFF"/>
                  </a:solidFill>
                  <a:latin typeface="Times New Roman" panose="02020603050405020304" pitchFamily="18" charset="0"/>
                  <a:ea typeface="Playfair Display Italics"/>
                  <a:cs typeface="Times New Roman" panose="02020603050405020304" pitchFamily="18" charset="0"/>
                  <a:sym typeface="Playfair Display Italics"/>
                </a:rPr>
                <a:t>The Negative Sampling Loss :</a:t>
              </a:r>
            </a:p>
          </p:txBody>
        </p:sp>
      </p:grpSp>
      <p:grpSp>
        <p:nvGrpSpPr>
          <p:cNvPr id="24" name="Group 24"/>
          <p:cNvGrpSpPr/>
          <p:nvPr/>
        </p:nvGrpSpPr>
        <p:grpSpPr>
          <a:xfrm>
            <a:off x="712470" y="5979414"/>
            <a:ext cx="16863060" cy="1226820"/>
            <a:chOff x="0" y="0"/>
            <a:chExt cx="22484080" cy="1635760"/>
          </a:xfrm>
        </p:grpSpPr>
        <p:sp>
          <p:nvSpPr>
            <p:cNvPr id="25" name="Freeform 25"/>
            <p:cNvSpPr/>
            <p:nvPr/>
          </p:nvSpPr>
          <p:spPr>
            <a:xfrm>
              <a:off x="0" y="0"/>
              <a:ext cx="22484080" cy="1635633"/>
            </a:xfrm>
            <a:custGeom>
              <a:avLst/>
              <a:gdLst/>
              <a:ahLst/>
              <a:cxnLst/>
              <a:rect l="l" t="t" r="r" b="b"/>
              <a:pathLst>
                <a:path w="22484080" h="1635633">
                  <a:moveTo>
                    <a:pt x="0" y="201295"/>
                  </a:moveTo>
                  <a:cubicBezTo>
                    <a:pt x="0" y="90170"/>
                    <a:pt x="90170" y="0"/>
                    <a:pt x="201295" y="0"/>
                  </a:cubicBezTo>
                  <a:lnTo>
                    <a:pt x="22282786" y="0"/>
                  </a:lnTo>
                  <a:cubicBezTo>
                    <a:pt x="22394038" y="0"/>
                    <a:pt x="22484080" y="90170"/>
                    <a:pt x="22484080" y="201295"/>
                  </a:cubicBezTo>
                  <a:lnTo>
                    <a:pt x="22484080" y="1434338"/>
                  </a:lnTo>
                  <a:cubicBezTo>
                    <a:pt x="22484080" y="1545590"/>
                    <a:pt x="22393911" y="1635633"/>
                    <a:pt x="22282786" y="1635633"/>
                  </a:cubicBezTo>
                  <a:lnTo>
                    <a:pt x="201295" y="1635633"/>
                  </a:lnTo>
                  <a:cubicBezTo>
                    <a:pt x="90170" y="1635760"/>
                    <a:pt x="0" y="1545590"/>
                    <a:pt x="0" y="1434465"/>
                  </a:cubicBezTo>
                  <a:close/>
                </a:path>
              </a:pathLst>
            </a:custGeom>
            <a:solidFill>
              <a:srgbClr val="FFFFFF"/>
            </a:solidFill>
            <a:ln w="38100" cap="sq">
              <a:solidFill>
                <a:srgbClr val="C8DDF5"/>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26" name="Group 26"/>
          <p:cNvGrpSpPr/>
          <p:nvPr/>
        </p:nvGrpSpPr>
        <p:grpSpPr>
          <a:xfrm>
            <a:off x="1005840" y="5998464"/>
            <a:ext cx="16276320" cy="1188720"/>
            <a:chOff x="0" y="0"/>
            <a:chExt cx="21701760" cy="1584960"/>
          </a:xfrm>
        </p:grpSpPr>
        <p:sp>
          <p:nvSpPr>
            <p:cNvPr id="27" name="Freeform 27"/>
            <p:cNvSpPr/>
            <p:nvPr/>
          </p:nvSpPr>
          <p:spPr>
            <a:xfrm>
              <a:off x="0" y="0"/>
              <a:ext cx="21701761" cy="1584960"/>
            </a:xfrm>
            <a:custGeom>
              <a:avLst/>
              <a:gdLst/>
              <a:ahLst/>
              <a:cxnLst/>
              <a:rect l="l" t="t" r="r" b="b"/>
              <a:pathLst>
                <a:path w="21701761" h="1584960">
                  <a:moveTo>
                    <a:pt x="0" y="0"/>
                  </a:moveTo>
                  <a:lnTo>
                    <a:pt x="21701761" y="0"/>
                  </a:lnTo>
                  <a:lnTo>
                    <a:pt x="21701761" y="1584960"/>
                  </a:lnTo>
                  <a:lnTo>
                    <a:pt x="0" y="1584960"/>
                  </a:lnTo>
                  <a:close/>
                </a:path>
              </a:pathLst>
            </a:custGeom>
            <a:blipFill>
              <a:blip r:embed="rId3">
                <a:alphaModFix amt="0"/>
              </a:blip>
              <a:stretch>
                <a:fillRect t="-216795" b="-216795"/>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28" name="TextBox 28"/>
            <p:cNvSpPr txBox="1"/>
            <p:nvPr/>
          </p:nvSpPr>
          <p:spPr>
            <a:xfrm>
              <a:off x="0" y="0"/>
              <a:ext cx="21701760" cy="1584960"/>
            </a:xfrm>
            <a:prstGeom prst="rect">
              <a:avLst/>
            </a:prstGeom>
          </p:spPr>
          <p:txBody>
            <a:bodyPr lIns="0" tIns="0" rIns="0" bIns="0" rtlCol="0" anchor="ctr"/>
            <a:lstStyle/>
            <a:p>
              <a:pPr algn="l">
                <a:lnSpc>
                  <a:spcPts val="3600"/>
                </a:lnSpc>
              </a:pPr>
              <a:r>
                <a:rPr lang="en-US" sz="3000" i="1" spc="150">
                  <a:solidFill>
                    <a:srgbClr val="253439"/>
                  </a:solidFill>
                  <a:latin typeface="Times New Roman" panose="02020603050405020304" pitchFamily="18" charset="0"/>
                  <a:ea typeface="Playfair Display Italics"/>
                  <a:cs typeface="Times New Roman" panose="02020603050405020304" pitchFamily="18" charset="0"/>
                  <a:sym typeface="Playfair Display Italics"/>
                </a:rPr>
                <a:t>L  =  Σ  −log(σ(zᵤᵀ z_v))  −  γ · E[log(−σ(zᵤᵀ z_vₙ))]</a:t>
              </a:r>
            </a:p>
          </p:txBody>
        </p:sp>
      </p:grpSp>
      <p:grpSp>
        <p:nvGrpSpPr>
          <p:cNvPr id="29" name="Group 29"/>
          <p:cNvGrpSpPr/>
          <p:nvPr/>
        </p:nvGrpSpPr>
        <p:grpSpPr>
          <a:xfrm>
            <a:off x="535943" y="7393943"/>
            <a:ext cx="8072123" cy="2494283"/>
            <a:chOff x="0" y="0"/>
            <a:chExt cx="10762831" cy="3325711"/>
          </a:xfrm>
        </p:grpSpPr>
        <p:sp>
          <p:nvSpPr>
            <p:cNvPr id="30" name="Freeform 30"/>
            <p:cNvSpPr/>
            <p:nvPr/>
          </p:nvSpPr>
          <p:spPr>
            <a:xfrm>
              <a:off x="0" y="0"/>
              <a:ext cx="10762869" cy="3325749"/>
            </a:xfrm>
            <a:custGeom>
              <a:avLst/>
              <a:gdLst/>
              <a:ahLst/>
              <a:cxnLst/>
              <a:rect l="l" t="t" r="r" b="b"/>
              <a:pathLst>
                <a:path w="10762869" h="3325749">
                  <a:moveTo>
                    <a:pt x="0" y="246380"/>
                  </a:moveTo>
                  <a:cubicBezTo>
                    <a:pt x="0" y="110236"/>
                    <a:pt x="110236" y="0"/>
                    <a:pt x="246380" y="0"/>
                  </a:cubicBezTo>
                  <a:lnTo>
                    <a:pt x="10516489" y="0"/>
                  </a:lnTo>
                  <a:cubicBezTo>
                    <a:pt x="10652506" y="0"/>
                    <a:pt x="10762869" y="110236"/>
                    <a:pt x="10762869" y="246380"/>
                  </a:cubicBezTo>
                  <a:lnTo>
                    <a:pt x="10762869" y="3079369"/>
                  </a:lnTo>
                  <a:cubicBezTo>
                    <a:pt x="10762869" y="3215386"/>
                    <a:pt x="10652633" y="3325749"/>
                    <a:pt x="10516489" y="3325749"/>
                  </a:cubicBezTo>
                  <a:lnTo>
                    <a:pt x="246380" y="3325749"/>
                  </a:lnTo>
                  <a:cubicBezTo>
                    <a:pt x="110363" y="3325749"/>
                    <a:pt x="0" y="3215513"/>
                    <a:pt x="0" y="3079369"/>
                  </a:cubicBezTo>
                  <a:close/>
                </a:path>
              </a:pathLst>
            </a:custGeom>
            <a:solidFill>
              <a:srgbClr val="7C898B"/>
            </a:solidFill>
            <a:ln w="25400" cap="sq">
              <a:solidFill>
                <a:srgbClr val="D8E8F8"/>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31" name="Group 31"/>
          <p:cNvGrpSpPr/>
          <p:nvPr/>
        </p:nvGrpSpPr>
        <p:grpSpPr>
          <a:xfrm>
            <a:off x="914400" y="7350766"/>
            <a:ext cx="7315200" cy="787394"/>
            <a:chOff x="0" y="-196419"/>
            <a:chExt cx="9753600" cy="1049859"/>
          </a:xfrm>
        </p:grpSpPr>
        <p:sp>
          <p:nvSpPr>
            <p:cNvPr id="32" name="Freeform 32"/>
            <p:cNvSpPr/>
            <p:nvPr/>
          </p:nvSpPr>
          <p:spPr>
            <a:xfrm>
              <a:off x="0" y="0"/>
              <a:ext cx="9753600" cy="853440"/>
            </a:xfrm>
            <a:custGeom>
              <a:avLst/>
              <a:gdLst/>
              <a:ahLst/>
              <a:cxnLst/>
              <a:rect l="l" t="t" r="r" b="b"/>
              <a:pathLst>
                <a:path w="9753600" h="853440">
                  <a:moveTo>
                    <a:pt x="0" y="0"/>
                  </a:moveTo>
                  <a:lnTo>
                    <a:pt x="9753600" y="0"/>
                  </a:lnTo>
                  <a:lnTo>
                    <a:pt x="9753600" y="853440"/>
                  </a:lnTo>
                  <a:lnTo>
                    <a:pt x="0" y="853440"/>
                  </a:lnTo>
                  <a:close/>
                </a:path>
              </a:pathLst>
            </a:custGeom>
            <a:blipFill>
              <a:blip r:embed="rId3">
                <a:alphaModFix amt="0"/>
              </a:blip>
              <a:stretch>
                <a:fillRect t="-172686" b="-172686"/>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33" name="TextBox 33"/>
            <p:cNvSpPr txBox="1"/>
            <p:nvPr/>
          </p:nvSpPr>
          <p:spPr>
            <a:xfrm>
              <a:off x="0" y="-196419"/>
              <a:ext cx="9753600" cy="853440"/>
            </a:xfrm>
            <a:prstGeom prst="rect">
              <a:avLst/>
            </a:prstGeom>
          </p:spPr>
          <p:txBody>
            <a:bodyPr lIns="0" tIns="0" rIns="0" bIns="0" rtlCol="0" anchor="ctr"/>
            <a:lstStyle/>
            <a:p>
              <a:pPr algn="l">
                <a:lnSpc>
                  <a:spcPts val="3120"/>
                </a:lnSpc>
              </a:pPr>
              <a:r>
                <a:rPr lang="en-US" sz="2600" i="1" spc="130" dirty="0">
                  <a:solidFill>
                    <a:srgbClr val="FFFFFF"/>
                  </a:solidFill>
                  <a:latin typeface="Times New Roman" panose="02020603050405020304" pitchFamily="18" charset="0"/>
                  <a:ea typeface="Playfair Display Italics"/>
                  <a:cs typeface="Times New Roman" panose="02020603050405020304" pitchFamily="18" charset="0"/>
                  <a:sym typeface="Playfair Display Italics"/>
                </a:rPr>
                <a:t>Term 1 — Positive Pairs</a:t>
              </a:r>
            </a:p>
          </p:txBody>
        </p:sp>
      </p:grpSp>
      <p:grpSp>
        <p:nvGrpSpPr>
          <p:cNvPr id="34" name="Group 34"/>
          <p:cNvGrpSpPr/>
          <p:nvPr/>
        </p:nvGrpSpPr>
        <p:grpSpPr>
          <a:xfrm>
            <a:off x="914400" y="7842504"/>
            <a:ext cx="7315200" cy="2285238"/>
            <a:chOff x="0" y="-467360"/>
            <a:chExt cx="9753600" cy="3046984"/>
          </a:xfrm>
        </p:grpSpPr>
        <p:sp>
          <p:nvSpPr>
            <p:cNvPr id="35" name="Freeform 35"/>
            <p:cNvSpPr/>
            <p:nvPr/>
          </p:nvSpPr>
          <p:spPr>
            <a:xfrm>
              <a:off x="0" y="0"/>
              <a:ext cx="9753600" cy="2579624"/>
            </a:xfrm>
            <a:custGeom>
              <a:avLst/>
              <a:gdLst/>
              <a:ahLst/>
              <a:cxnLst/>
              <a:rect l="l" t="t" r="r" b="b"/>
              <a:pathLst>
                <a:path w="9753600" h="2579624">
                  <a:moveTo>
                    <a:pt x="0" y="0"/>
                  </a:moveTo>
                  <a:lnTo>
                    <a:pt x="9753600" y="0"/>
                  </a:lnTo>
                  <a:lnTo>
                    <a:pt x="9753600" y="2579624"/>
                  </a:lnTo>
                  <a:lnTo>
                    <a:pt x="0" y="2579624"/>
                  </a:lnTo>
                  <a:close/>
                </a:path>
              </a:pathLst>
            </a:custGeom>
            <a:blipFill>
              <a:blip r:embed="rId3">
                <a:alphaModFix amt="0"/>
              </a:blip>
              <a:stretch>
                <a:fillRect t="-33499" b="-13846"/>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36" name="TextBox 36"/>
            <p:cNvSpPr txBox="1"/>
            <p:nvPr/>
          </p:nvSpPr>
          <p:spPr>
            <a:xfrm>
              <a:off x="0" y="-467360"/>
              <a:ext cx="9753600" cy="2579624"/>
            </a:xfrm>
            <a:prstGeom prst="rect">
              <a:avLst/>
            </a:prstGeom>
          </p:spPr>
          <p:txBody>
            <a:bodyPr lIns="0" tIns="0" rIns="0" bIns="0" rtlCol="0" anchor="ctr"/>
            <a:lstStyle/>
            <a:p>
              <a:pPr algn="l">
                <a:lnSpc>
                  <a:spcPts val="2879"/>
                </a:lnSpc>
              </a:pPr>
              <a:r>
                <a:rPr lang="en-US" sz="2400" spc="48" dirty="0">
                  <a:solidFill>
                    <a:srgbClr val="FFFFFF"/>
                  </a:solidFill>
                  <a:latin typeface="Times New Roman" panose="02020603050405020304" pitchFamily="18" charset="0"/>
                  <a:ea typeface="Playfair Display"/>
                  <a:cs typeface="Times New Roman" panose="02020603050405020304" pitchFamily="18" charset="0"/>
                  <a:sym typeface="Playfair Display"/>
                </a:rPr>
                <a:t>−log(σ(zᵤᵀz_v))</a:t>
              </a:r>
            </a:p>
            <a:p>
              <a:pPr algn="l">
                <a:lnSpc>
                  <a:spcPts val="2879"/>
                </a:lnSpc>
              </a:pPr>
              <a:endParaRPr lang="en-US" sz="2400" spc="48" dirty="0">
                <a:solidFill>
                  <a:srgbClr val="FFFFFF"/>
                </a:solidFill>
                <a:latin typeface="Times New Roman" panose="02020603050405020304" pitchFamily="18" charset="0"/>
                <a:ea typeface="Playfair Display"/>
                <a:cs typeface="Times New Roman" panose="02020603050405020304" pitchFamily="18" charset="0"/>
                <a:sym typeface="Playfair Display"/>
              </a:endParaRPr>
            </a:p>
            <a:p>
              <a:pPr algn="l">
                <a:lnSpc>
                  <a:spcPts val="2879"/>
                </a:lnSpc>
              </a:pPr>
              <a:r>
                <a:rPr lang="en-US" sz="2400" spc="48" dirty="0">
                  <a:solidFill>
                    <a:srgbClr val="FFFFFF"/>
                  </a:solidFill>
                  <a:latin typeface="Times New Roman" panose="02020603050405020304" pitchFamily="18" charset="0"/>
                  <a:ea typeface="Playfair Display"/>
                  <a:cs typeface="Times New Roman" panose="02020603050405020304" pitchFamily="18" charset="0"/>
                  <a:sym typeface="Playfair Display"/>
                </a:rPr>
                <a:t>Pulls real walk-pairs closer.</a:t>
              </a:r>
            </a:p>
            <a:p>
              <a:pPr algn="l">
                <a:lnSpc>
                  <a:spcPts val="2879"/>
                </a:lnSpc>
              </a:pPr>
              <a:r>
                <a:rPr lang="en-US" sz="2400" spc="48" dirty="0">
                  <a:solidFill>
                    <a:srgbClr val="FFFFFF"/>
                  </a:solidFill>
                  <a:latin typeface="Times New Roman" panose="02020603050405020304" pitchFamily="18" charset="0"/>
                  <a:ea typeface="Playfair Display"/>
                  <a:cs typeface="Times New Roman" panose="02020603050405020304" pitchFamily="18" charset="0"/>
                  <a:sym typeface="Playfair Display"/>
                </a:rPr>
                <a:t>If sigmoid→1: loss→0 (good)</a:t>
              </a:r>
            </a:p>
            <a:p>
              <a:pPr algn="l">
                <a:lnSpc>
                  <a:spcPts val="2879"/>
                </a:lnSpc>
              </a:pPr>
              <a:r>
                <a:rPr lang="en-US" sz="2400" spc="48" dirty="0">
                  <a:solidFill>
                    <a:srgbClr val="FFFFFF"/>
                  </a:solidFill>
                  <a:latin typeface="Times New Roman" panose="02020603050405020304" pitchFamily="18" charset="0"/>
                  <a:ea typeface="Playfair Display"/>
                  <a:cs typeface="Times New Roman" panose="02020603050405020304" pitchFamily="18" charset="0"/>
                  <a:sym typeface="Playfair Display"/>
                </a:rPr>
                <a:t>If sigmoid→0: loss large (bad)</a:t>
              </a:r>
            </a:p>
          </p:txBody>
        </p:sp>
      </p:grpSp>
      <p:grpSp>
        <p:nvGrpSpPr>
          <p:cNvPr id="37" name="Group 37"/>
          <p:cNvGrpSpPr/>
          <p:nvPr/>
        </p:nvGrpSpPr>
        <p:grpSpPr>
          <a:xfrm>
            <a:off x="9039863" y="7393943"/>
            <a:ext cx="8620763" cy="2494283"/>
            <a:chOff x="0" y="0"/>
            <a:chExt cx="11494351" cy="3325711"/>
          </a:xfrm>
        </p:grpSpPr>
        <p:sp>
          <p:nvSpPr>
            <p:cNvPr id="38" name="Freeform 38"/>
            <p:cNvSpPr/>
            <p:nvPr/>
          </p:nvSpPr>
          <p:spPr>
            <a:xfrm>
              <a:off x="0" y="0"/>
              <a:ext cx="11494389" cy="3325749"/>
            </a:xfrm>
            <a:custGeom>
              <a:avLst/>
              <a:gdLst/>
              <a:ahLst/>
              <a:cxnLst/>
              <a:rect l="l" t="t" r="r" b="b"/>
              <a:pathLst>
                <a:path w="11494389" h="3325749">
                  <a:moveTo>
                    <a:pt x="0" y="246380"/>
                  </a:moveTo>
                  <a:cubicBezTo>
                    <a:pt x="0" y="110236"/>
                    <a:pt x="110236" y="0"/>
                    <a:pt x="246380" y="0"/>
                  </a:cubicBezTo>
                  <a:lnTo>
                    <a:pt x="11248009" y="0"/>
                  </a:lnTo>
                  <a:cubicBezTo>
                    <a:pt x="11384026" y="0"/>
                    <a:pt x="11494389" y="110236"/>
                    <a:pt x="11494389" y="246380"/>
                  </a:cubicBezTo>
                  <a:lnTo>
                    <a:pt x="11494389" y="3079369"/>
                  </a:lnTo>
                  <a:cubicBezTo>
                    <a:pt x="11494389" y="3215386"/>
                    <a:pt x="11384152" y="3325749"/>
                    <a:pt x="11248009" y="3325749"/>
                  </a:cubicBezTo>
                  <a:lnTo>
                    <a:pt x="246380" y="3325749"/>
                  </a:lnTo>
                  <a:cubicBezTo>
                    <a:pt x="110363" y="3325749"/>
                    <a:pt x="0" y="3215513"/>
                    <a:pt x="0" y="3079369"/>
                  </a:cubicBezTo>
                  <a:close/>
                </a:path>
              </a:pathLst>
            </a:custGeom>
            <a:solidFill>
              <a:srgbClr val="7C898B"/>
            </a:solidFill>
            <a:ln w="25400" cap="sq">
              <a:solidFill>
                <a:srgbClr val="D8E8F8"/>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39" name="Group 39"/>
          <p:cNvGrpSpPr/>
          <p:nvPr/>
        </p:nvGrpSpPr>
        <p:grpSpPr>
          <a:xfrm>
            <a:off x="9326880" y="7350766"/>
            <a:ext cx="7955280" cy="787394"/>
            <a:chOff x="0" y="-196419"/>
            <a:chExt cx="10607040" cy="1049859"/>
          </a:xfrm>
        </p:grpSpPr>
        <p:sp>
          <p:nvSpPr>
            <p:cNvPr id="40" name="Freeform 40"/>
            <p:cNvSpPr/>
            <p:nvPr/>
          </p:nvSpPr>
          <p:spPr>
            <a:xfrm>
              <a:off x="0" y="0"/>
              <a:ext cx="10607040" cy="853440"/>
            </a:xfrm>
            <a:custGeom>
              <a:avLst/>
              <a:gdLst/>
              <a:ahLst/>
              <a:cxnLst/>
              <a:rect l="l" t="t" r="r" b="b"/>
              <a:pathLst>
                <a:path w="10607040" h="853440">
                  <a:moveTo>
                    <a:pt x="0" y="0"/>
                  </a:moveTo>
                  <a:lnTo>
                    <a:pt x="10607040" y="0"/>
                  </a:lnTo>
                  <a:lnTo>
                    <a:pt x="10607040" y="853440"/>
                  </a:lnTo>
                  <a:lnTo>
                    <a:pt x="0" y="853440"/>
                  </a:lnTo>
                  <a:close/>
                </a:path>
              </a:pathLst>
            </a:custGeom>
            <a:blipFill>
              <a:blip r:embed="rId3">
                <a:alphaModFix amt="0"/>
              </a:blip>
              <a:stretch>
                <a:fillRect t="-192171" b="-192171"/>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41" name="TextBox 41"/>
            <p:cNvSpPr txBox="1"/>
            <p:nvPr/>
          </p:nvSpPr>
          <p:spPr>
            <a:xfrm>
              <a:off x="0" y="-196419"/>
              <a:ext cx="10607040" cy="853440"/>
            </a:xfrm>
            <a:prstGeom prst="rect">
              <a:avLst/>
            </a:prstGeom>
          </p:spPr>
          <p:txBody>
            <a:bodyPr lIns="0" tIns="0" rIns="0" bIns="0" rtlCol="0" anchor="ctr"/>
            <a:lstStyle/>
            <a:p>
              <a:pPr algn="l">
                <a:lnSpc>
                  <a:spcPts val="3120"/>
                </a:lnSpc>
              </a:pPr>
              <a:r>
                <a:rPr lang="en-US" sz="2600" i="1" spc="130" dirty="0">
                  <a:solidFill>
                    <a:srgbClr val="FFFFFF"/>
                  </a:solidFill>
                  <a:latin typeface="Times New Roman" panose="02020603050405020304" pitchFamily="18" charset="0"/>
                  <a:ea typeface="Playfair Display Italics"/>
                  <a:cs typeface="Times New Roman" panose="02020603050405020304" pitchFamily="18" charset="0"/>
                  <a:sym typeface="Playfair Display Italics"/>
                </a:rPr>
                <a:t>Term 2 — Negative Samples</a:t>
              </a:r>
            </a:p>
          </p:txBody>
        </p:sp>
      </p:grpSp>
      <p:grpSp>
        <p:nvGrpSpPr>
          <p:cNvPr id="42" name="Group 42"/>
          <p:cNvGrpSpPr/>
          <p:nvPr/>
        </p:nvGrpSpPr>
        <p:grpSpPr>
          <a:xfrm>
            <a:off x="9311640" y="7842504"/>
            <a:ext cx="7970520" cy="2285238"/>
            <a:chOff x="-20320" y="-467360"/>
            <a:chExt cx="10627360" cy="3046984"/>
          </a:xfrm>
        </p:grpSpPr>
        <p:sp>
          <p:nvSpPr>
            <p:cNvPr id="43" name="Freeform 43"/>
            <p:cNvSpPr/>
            <p:nvPr/>
          </p:nvSpPr>
          <p:spPr>
            <a:xfrm>
              <a:off x="0" y="0"/>
              <a:ext cx="10607040" cy="2579624"/>
            </a:xfrm>
            <a:custGeom>
              <a:avLst/>
              <a:gdLst/>
              <a:ahLst/>
              <a:cxnLst/>
              <a:rect l="l" t="t" r="r" b="b"/>
              <a:pathLst>
                <a:path w="10607040" h="2579624">
                  <a:moveTo>
                    <a:pt x="0" y="0"/>
                  </a:moveTo>
                  <a:lnTo>
                    <a:pt x="10607040" y="0"/>
                  </a:lnTo>
                  <a:lnTo>
                    <a:pt x="10607040" y="2579624"/>
                  </a:lnTo>
                  <a:lnTo>
                    <a:pt x="0" y="2579624"/>
                  </a:lnTo>
                  <a:close/>
                </a:path>
              </a:pathLst>
            </a:custGeom>
            <a:blipFill>
              <a:blip r:embed="rId3">
                <a:alphaModFix amt="0"/>
              </a:blip>
              <a:stretch>
                <a:fillRect t="-39946" b="-20292"/>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44" name="TextBox 44"/>
            <p:cNvSpPr txBox="1"/>
            <p:nvPr/>
          </p:nvSpPr>
          <p:spPr>
            <a:xfrm>
              <a:off x="-20320" y="-467360"/>
              <a:ext cx="10607040" cy="2579624"/>
            </a:xfrm>
            <a:prstGeom prst="rect">
              <a:avLst/>
            </a:prstGeom>
          </p:spPr>
          <p:txBody>
            <a:bodyPr lIns="0" tIns="0" rIns="0" bIns="0" rtlCol="0" anchor="ctr"/>
            <a:lstStyle/>
            <a:p>
              <a:pPr algn="l">
                <a:lnSpc>
                  <a:spcPts val="2879"/>
                </a:lnSpc>
              </a:pPr>
              <a:r>
                <a:rPr lang="en-US" sz="2400" spc="48" dirty="0">
                  <a:solidFill>
                    <a:srgbClr val="FFFFFF"/>
                  </a:solidFill>
                  <a:latin typeface="Times New Roman" panose="02020603050405020304" pitchFamily="18" charset="0"/>
                  <a:ea typeface="Playfair Display"/>
                  <a:cs typeface="Times New Roman" panose="02020603050405020304" pitchFamily="18" charset="0"/>
                  <a:sym typeface="Playfair Display"/>
                </a:rPr>
                <a:t>γ random nodes vₙ sampled from Pₙ(V)</a:t>
              </a:r>
            </a:p>
            <a:p>
              <a:pPr algn="l">
                <a:lnSpc>
                  <a:spcPts val="2879"/>
                </a:lnSpc>
              </a:pPr>
              <a:endParaRPr lang="en-US" sz="2400" spc="48" dirty="0">
                <a:solidFill>
                  <a:srgbClr val="FFFFFF"/>
                </a:solidFill>
                <a:latin typeface="Times New Roman" panose="02020603050405020304" pitchFamily="18" charset="0"/>
                <a:ea typeface="Playfair Display"/>
                <a:cs typeface="Times New Roman" panose="02020603050405020304" pitchFamily="18" charset="0"/>
                <a:sym typeface="Playfair Display"/>
              </a:endParaRPr>
            </a:p>
            <a:p>
              <a:pPr algn="l">
                <a:lnSpc>
                  <a:spcPts val="2879"/>
                </a:lnSpc>
              </a:pPr>
              <a:r>
                <a:rPr lang="en-US" sz="2400" spc="48" dirty="0">
                  <a:solidFill>
                    <a:srgbClr val="FFFFFF"/>
                  </a:solidFill>
                  <a:latin typeface="Times New Roman" panose="02020603050405020304" pitchFamily="18" charset="0"/>
                  <a:ea typeface="Playfair Display"/>
                  <a:cs typeface="Times New Roman" panose="02020603050405020304" pitchFamily="18" charset="0"/>
                  <a:sym typeface="Playfair Display"/>
                </a:rPr>
                <a:t>Pushes random pairs apart.</a:t>
              </a:r>
            </a:p>
            <a:p>
              <a:pPr algn="l">
                <a:lnSpc>
                  <a:spcPts val="2879"/>
                </a:lnSpc>
              </a:pPr>
              <a:r>
                <a:rPr lang="en-US" sz="2400" spc="48" dirty="0">
                  <a:solidFill>
                    <a:srgbClr val="FFFFFF"/>
                  </a:solidFill>
                  <a:latin typeface="Times New Roman" panose="02020603050405020304" pitchFamily="18" charset="0"/>
                  <a:ea typeface="Playfair Display"/>
                  <a:cs typeface="Times New Roman" panose="02020603050405020304" pitchFamily="18" charset="0"/>
                  <a:sym typeface="Playfair Display"/>
                </a:rPr>
                <a:t>γ = 5–20 in practice (vs all |V|)</a:t>
              </a:r>
            </a:p>
            <a:p>
              <a:pPr algn="l">
                <a:lnSpc>
                  <a:spcPts val="2879"/>
                </a:lnSpc>
              </a:pPr>
              <a:r>
                <a:rPr lang="en-US" sz="2400" spc="48" dirty="0">
                  <a:solidFill>
                    <a:srgbClr val="FFFFFF"/>
                  </a:solidFill>
                  <a:latin typeface="Times New Roman" panose="02020603050405020304" pitchFamily="18" charset="0"/>
                  <a:ea typeface="Playfair Display"/>
                  <a:cs typeface="Times New Roman" panose="02020603050405020304" pitchFamily="18" charset="0"/>
                  <a:sym typeface="Playfair Display"/>
                </a:rPr>
                <a:t>Complexity per update: O(γ) not O(|V|)</a:t>
              </a: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lumMod val="5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18288000" cy="1316736"/>
          </a:xfrm>
          <a:prstGeom prst="rect">
            <a:avLst/>
          </a:prstGeom>
          <a:solidFill>
            <a:schemeClr val="bg1"/>
          </a:solidFill>
          <a:ln w="12700">
            <a:solidFill>
              <a:srgbClr val="2D3561"/>
            </a:solidFill>
            <a:prstDash val="solid"/>
          </a:ln>
        </p:spPr>
        <p:txBody>
          <a:bodyPr/>
          <a:lstStyle/>
          <a:p>
            <a:endParaRPr lang="en-IN" sz="3600"/>
          </a:p>
        </p:txBody>
      </p:sp>
      <p:sp>
        <p:nvSpPr>
          <p:cNvPr id="3" name="Text 1"/>
          <p:cNvSpPr/>
          <p:nvPr/>
        </p:nvSpPr>
        <p:spPr>
          <a:xfrm>
            <a:off x="548640" y="0"/>
            <a:ext cx="17190720" cy="1316736"/>
          </a:xfrm>
          <a:prstGeom prst="rect">
            <a:avLst/>
          </a:prstGeom>
          <a:noFill/>
          <a:ln/>
        </p:spPr>
        <p:txBody>
          <a:bodyPr wrap="square" rtlCol="0" anchor="ctr"/>
          <a:lstStyle/>
          <a:p>
            <a:r>
              <a:rPr lang="en-US" sz="4200" b="1" dirty="0">
                <a:latin typeface="Times New Roman" panose="02020603050405020304" pitchFamily="18" charset="0"/>
                <a:ea typeface="Cambria" pitchFamily="34" charset="-122"/>
                <a:cs typeface="Times New Roman" panose="02020603050405020304" pitchFamily="18" charset="0"/>
              </a:rPr>
              <a:t>Node2Vec  —  Biased Random Walk &amp; Transition Probabilities</a:t>
            </a:r>
            <a:endParaRPr lang="en-US" sz="4200" dirty="0">
              <a:latin typeface="Times New Roman" panose="02020603050405020304" pitchFamily="18" charset="0"/>
              <a:cs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402336" y="1499616"/>
            <a:ext cx="7315200" cy="6126480"/>
          </a:xfrm>
          <a:prstGeom prst="rect">
            <a:avLst/>
          </a:prstGeom>
        </p:spPr>
      </p:pic>
      <p:sp>
        <p:nvSpPr>
          <p:cNvPr id="5" name="Shape 2"/>
          <p:cNvSpPr/>
          <p:nvPr/>
        </p:nvSpPr>
        <p:spPr>
          <a:xfrm>
            <a:off x="402336" y="7717536"/>
            <a:ext cx="7315200" cy="2194560"/>
          </a:xfrm>
          <a:prstGeom prst="roundRect">
            <a:avLst>
              <a:gd name="adj" fmla="val 8333"/>
            </a:avLst>
          </a:prstGeom>
          <a:solidFill>
            <a:schemeClr val="bg2">
              <a:lumMod val="75000"/>
            </a:schemeClr>
          </a:solidFill>
          <a:ln w="15240">
            <a:solidFill>
              <a:srgbClr val="4A90D9"/>
            </a:solidFill>
            <a:prstDash val="solid"/>
          </a:ln>
          <a:effectLst>
            <a:outerShdw blurRad="101600" dist="38100" dir="2700000" algn="bl" rotWithShape="0">
              <a:srgbClr val="000000">
                <a:alpha val="30000"/>
              </a:srgbClr>
            </a:outerShdw>
          </a:effectLst>
        </p:spPr>
        <p:txBody>
          <a:bodyPr/>
          <a:lstStyle/>
          <a:p>
            <a:endParaRPr lang="en-IN" sz="3600">
              <a:latin typeface="Times New Roman" panose="02020603050405020304" pitchFamily="18" charset="0"/>
              <a:cs typeface="Times New Roman" panose="02020603050405020304" pitchFamily="18" charset="0"/>
            </a:endParaRPr>
          </a:p>
        </p:txBody>
      </p:sp>
      <p:sp>
        <p:nvSpPr>
          <p:cNvPr id="6" name="Text 3"/>
          <p:cNvSpPr/>
          <p:nvPr/>
        </p:nvSpPr>
        <p:spPr>
          <a:xfrm>
            <a:off x="585216" y="7772400"/>
            <a:ext cx="6949440" cy="621792"/>
          </a:xfrm>
          <a:prstGeom prst="rect">
            <a:avLst/>
          </a:prstGeom>
          <a:noFill/>
          <a:ln/>
        </p:spPr>
        <p:txBody>
          <a:bodyPr wrap="square" rtlCol="0" anchor="ctr"/>
          <a:lstStyle/>
          <a:p>
            <a:pPr algn="ctr"/>
            <a:r>
              <a:rPr lang="en-US" sz="2400" b="1" dirty="0">
                <a:latin typeface="Times New Roman" panose="02020603050405020304" pitchFamily="18" charset="0"/>
                <a:ea typeface="Calibri" pitchFamily="34" charset="-122"/>
                <a:cs typeface="Times New Roman" panose="02020603050405020304" pitchFamily="18" charset="0"/>
              </a:rPr>
              <a:t>Parameters  p  and  q</a:t>
            </a:r>
            <a:endParaRPr lang="en-US" sz="2400" dirty="0">
              <a:latin typeface="Times New Roman" panose="02020603050405020304" pitchFamily="18" charset="0"/>
              <a:cs typeface="Times New Roman" panose="02020603050405020304" pitchFamily="18" charset="0"/>
            </a:endParaRPr>
          </a:p>
        </p:txBody>
      </p:sp>
      <p:sp>
        <p:nvSpPr>
          <p:cNvPr id="7" name="Text 4"/>
          <p:cNvSpPr/>
          <p:nvPr/>
        </p:nvSpPr>
        <p:spPr>
          <a:xfrm>
            <a:off x="640080" y="8522208"/>
            <a:ext cx="6949440" cy="585216"/>
          </a:xfrm>
          <a:prstGeom prst="rect">
            <a:avLst/>
          </a:prstGeom>
          <a:noFill/>
          <a:ln/>
        </p:spPr>
        <p:txBody>
          <a:bodyPr wrap="square" rtlCol="0" anchor="ctr"/>
          <a:lstStyle/>
          <a:p>
            <a:r>
              <a:rPr lang="en-US" sz="1900" b="1" dirty="0">
                <a:latin typeface="Times New Roman" panose="02020603050405020304" pitchFamily="18" charset="0"/>
                <a:ea typeface="Calibri" pitchFamily="34" charset="-122"/>
                <a:cs typeface="Times New Roman" panose="02020603050405020304" pitchFamily="18" charset="0"/>
              </a:rPr>
              <a:t>p  (return): </a:t>
            </a:r>
            <a:r>
              <a:rPr lang="en-US" sz="1900" dirty="0">
                <a:latin typeface="Times New Roman" panose="02020603050405020304" pitchFamily="18" charset="0"/>
                <a:ea typeface="Calibri" pitchFamily="34" charset="-122"/>
                <a:cs typeface="Times New Roman" panose="02020603050405020304" pitchFamily="18" charset="0"/>
              </a:rPr>
              <a:t>Controls backtracking.  p&gt;1 → less backtrack;  p&lt;1 → more</a:t>
            </a:r>
            <a:endParaRPr lang="en-US" sz="1900" dirty="0">
              <a:latin typeface="Times New Roman" panose="02020603050405020304" pitchFamily="18" charset="0"/>
              <a:cs typeface="Times New Roman" panose="02020603050405020304" pitchFamily="18" charset="0"/>
            </a:endParaRPr>
          </a:p>
        </p:txBody>
      </p:sp>
      <p:sp>
        <p:nvSpPr>
          <p:cNvPr id="8" name="Text 5"/>
          <p:cNvSpPr/>
          <p:nvPr/>
        </p:nvSpPr>
        <p:spPr>
          <a:xfrm>
            <a:off x="640080" y="9144000"/>
            <a:ext cx="6949440" cy="585216"/>
          </a:xfrm>
          <a:prstGeom prst="rect">
            <a:avLst/>
          </a:prstGeom>
          <a:noFill/>
          <a:ln/>
        </p:spPr>
        <p:txBody>
          <a:bodyPr wrap="square" rtlCol="0" anchor="ctr"/>
          <a:lstStyle/>
          <a:p>
            <a:r>
              <a:rPr lang="en-US" sz="1900" b="1" dirty="0">
                <a:latin typeface="Times New Roman" panose="02020603050405020304" pitchFamily="18" charset="0"/>
                <a:ea typeface="Calibri" pitchFamily="34" charset="-122"/>
                <a:cs typeface="Times New Roman" panose="02020603050405020304" pitchFamily="18" charset="0"/>
              </a:rPr>
              <a:t>q  (in-out): </a:t>
            </a:r>
            <a:r>
              <a:rPr lang="en-US" sz="1900" dirty="0">
                <a:latin typeface="Times New Roman" panose="02020603050405020304" pitchFamily="18" charset="0"/>
                <a:ea typeface="Calibri" pitchFamily="34" charset="-122"/>
                <a:cs typeface="Times New Roman" panose="02020603050405020304" pitchFamily="18" charset="0"/>
              </a:rPr>
              <a:t>Controls DFS vs BFS.  q&gt;1 → BFS (local);  q&lt;1 → DFS (global)</a:t>
            </a:r>
            <a:endParaRPr lang="en-US" sz="1900" dirty="0">
              <a:latin typeface="Times New Roman" panose="02020603050405020304" pitchFamily="18" charset="0"/>
              <a:cs typeface="Times New Roman" panose="02020603050405020304" pitchFamily="18" charset="0"/>
            </a:endParaRPr>
          </a:p>
        </p:txBody>
      </p:sp>
      <p:sp>
        <p:nvSpPr>
          <p:cNvPr id="9" name="Shape 6"/>
          <p:cNvSpPr/>
          <p:nvPr/>
        </p:nvSpPr>
        <p:spPr>
          <a:xfrm>
            <a:off x="8083296" y="1316736"/>
            <a:ext cx="9784080" cy="8970264"/>
          </a:xfrm>
          <a:prstGeom prst="roundRect">
            <a:avLst>
              <a:gd name="adj" fmla="val 2609"/>
            </a:avLst>
          </a:prstGeom>
          <a:solidFill>
            <a:schemeClr val="bg2">
              <a:lumMod val="75000"/>
            </a:schemeClr>
          </a:solidFill>
          <a:ln w="15240">
            <a:solidFill>
              <a:srgbClr val="4A90D9"/>
            </a:solidFill>
            <a:prstDash val="solid"/>
          </a:ln>
          <a:effectLst>
            <a:outerShdw blurRad="101600" dist="38100" dir="2700000" algn="bl" rotWithShape="0">
              <a:srgbClr val="000000">
                <a:alpha val="30000"/>
              </a:srgbClr>
            </a:outerShdw>
          </a:effectLst>
        </p:spPr>
        <p:txBody>
          <a:bodyPr/>
          <a:lstStyle/>
          <a:p>
            <a:endParaRPr lang="en-IN" sz="3600">
              <a:latin typeface="Times New Roman" panose="02020603050405020304" pitchFamily="18" charset="0"/>
              <a:cs typeface="Times New Roman" panose="02020603050405020304" pitchFamily="18" charset="0"/>
            </a:endParaRPr>
          </a:p>
        </p:txBody>
      </p:sp>
      <p:sp>
        <p:nvSpPr>
          <p:cNvPr id="10" name="Text 7"/>
          <p:cNvSpPr/>
          <p:nvPr/>
        </p:nvSpPr>
        <p:spPr>
          <a:xfrm>
            <a:off x="8321040" y="1417320"/>
            <a:ext cx="9326880" cy="658368"/>
          </a:xfrm>
          <a:prstGeom prst="rect">
            <a:avLst/>
          </a:prstGeom>
          <a:noFill/>
          <a:ln/>
        </p:spPr>
        <p:txBody>
          <a:bodyPr wrap="square" rtlCol="0" anchor="ctr"/>
          <a:lstStyle/>
          <a:p>
            <a:pPr algn="ctr"/>
            <a:r>
              <a:rPr lang="en-US" sz="2600" b="1" dirty="0">
                <a:latin typeface="Times New Roman" panose="02020603050405020304" pitchFamily="18" charset="0"/>
                <a:ea typeface="Calibri" pitchFamily="34" charset="-122"/>
                <a:cs typeface="Times New Roman" panose="02020603050405020304" pitchFamily="18" charset="0"/>
              </a:rPr>
              <a:t>Transition Probability Formula</a:t>
            </a:r>
            <a:endParaRPr lang="en-US" sz="2600" dirty="0">
              <a:latin typeface="Times New Roman" panose="02020603050405020304" pitchFamily="18" charset="0"/>
              <a:cs typeface="Times New Roman" panose="02020603050405020304" pitchFamily="18" charset="0"/>
            </a:endParaRPr>
          </a:p>
        </p:txBody>
      </p:sp>
      <p:sp>
        <p:nvSpPr>
          <p:cNvPr id="11" name="Shape 8"/>
          <p:cNvSpPr/>
          <p:nvPr/>
        </p:nvSpPr>
        <p:spPr>
          <a:xfrm>
            <a:off x="8412480" y="2103120"/>
            <a:ext cx="9144000" cy="768096"/>
          </a:xfrm>
          <a:prstGeom prst="roundRect">
            <a:avLst>
              <a:gd name="adj" fmla="val 12903"/>
            </a:avLst>
          </a:prstGeom>
          <a:solidFill>
            <a:schemeClr val="accent3">
              <a:lumMod val="40000"/>
              <a:lumOff val="60000"/>
            </a:schemeClr>
          </a:solidFill>
          <a:ln w="12700">
            <a:solidFill>
              <a:srgbClr val="4A90D9"/>
            </a:solidFill>
            <a:prstDash val="solid"/>
          </a:ln>
        </p:spPr>
        <p:txBody>
          <a:bodyPr/>
          <a:lstStyle/>
          <a:p>
            <a:endParaRPr lang="en-IN" sz="3600">
              <a:latin typeface="Times New Roman" panose="02020603050405020304" pitchFamily="18" charset="0"/>
              <a:cs typeface="Times New Roman" panose="02020603050405020304" pitchFamily="18" charset="0"/>
            </a:endParaRPr>
          </a:p>
        </p:txBody>
      </p:sp>
      <p:sp>
        <p:nvSpPr>
          <p:cNvPr id="12" name="Text 9"/>
          <p:cNvSpPr/>
          <p:nvPr/>
        </p:nvSpPr>
        <p:spPr>
          <a:xfrm>
            <a:off x="8403336" y="1892808"/>
            <a:ext cx="9144000" cy="1133856"/>
          </a:xfrm>
          <a:prstGeom prst="rect">
            <a:avLst/>
          </a:prstGeom>
          <a:noFill/>
          <a:ln/>
        </p:spPr>
        <p:txBody>
          <a:bodyPr wrap="square" rtlCol="0" anchor="ctr"/>
          <a:lstStyle/>
          <a:p>
            <a:pPr algn="ctr"/>
            <a:r>
              <a:rPr lang="en-US" sz="2600" b="1" i="1" dirty="0">
                <a:latin typeface="Times New Roman" panose="02020603050405020304" pitchFamily="18" charset="0"/>
                <a:ea typeface="Cambria" pitchFamily="34" charset="-122"/>
                <a:cs typeface="Times New Roman" panose="02020603050405020304" pitchFamily="18" charset="0"/>
              </a:rPr>
              <a:t>π(t→v→x)  =  α(t, x)  ·  w(v, x)</a:t>
            </a:r>
            <a:endParaRPr lang="en-US" sz="2600" dirty="0">
              <a:latin typeface="Times New Roman" panose="02020603050405020304" pitchFamily="18" charset="0"/>
              <a:cs typeface="Times New Roman" panose="02020603050405020304" pitchFamily="18" charset="0"/>
            </a:endParaRPr>
          </a:p>
        </p:txBody>
      </p:sp>
      <p:sp>
        <p:nvSpPr>
          <p:cNvPr id="13" name="Text 10"/>
          <p:cNvSpPr/>
          <p:nvPr/>
        </p:nvSpPr>
        <p:spPr>
          <a:xfrm>
            <a:off x="8449056" y="2878836"/>
            <a:ext cx="9144000" cy="512064"/>
          </a:xfrm>
          <a:prstGeom prst="rect">
            <a:avLst/>
          </a:prstGeom>
          <a:noFill/>
          <a:ln/>
        </p:spPr>
        <p:txBody>
          <a:bodyPr wrap="square" rtlCol="0" anchor="ctr"/>
          <a:lstStyle/>
          <a:p>
            <a:pPr algn="ctr"/>
            <a:r>
              <a:rPr lang="en-US" sz="2100" b="1" dirty="0">
                <a:latin typeface="Times New Roman" panose="02020603050405020304" pitchFamily="18" charset="0"/>
                <a:ea typeface="Calibri" pitchFamily="34" charset="-122"/>
                <a:cs typeface="Times New Roman" panose="02020603050405020304" pitchFamily="18" charset="0"/>
              </a:rPr>
              <a:t>t </a:t>
            </a:r>
            <a:r>
              <a:rPr lang="en-US" sz="2100" dirty="0">
                <a:latin typeface="Times New Roman" panose="02020603050405020304" pitchFamily="18" charset="0"/>
                <a:ea typeface="Calibri" pitchFamily="34" charset="-122"/>
                <a:cs typeface="Times New Roman" panose="02020603050405020304" pitchFamily="18" charset="0"/>
              </a:rPr>
              <a:t>= previous node,  </a:t>
            </a:r>
            <a:r>
              <a:rPr lang="en-US" sz="2100" b="1" dirty="0">
                <a:latin typeface="Times New Roman" panose="02020603050405020304" pitchFamily="18" charset="0"/>
                <a:ea typeface="Calibri" pitchFamily="34" charset="-122"/>
                <a:cs typeface="Times New Roman" panose="02020603050405020304" pitchFamily="18" charset="0"/>
              </a:rPr>
              <a:t>v </a:t>
            </a:r>
            <a:r>
              <a:rPr lang="en-US" sz="2100" dirty="0">
                <a:latin typeface="Times New Roman" panose="02020603050405020304" pitchFamily="18" charset="0"/>
                <a:ea typeface="Calibri" pitchFamily="34" charset="-122"/>
                <a:cs typeface="Times New Roman" panose="02020603050405020304" pitchFamily="18" charset="0"/>
              </a:rPr>
              <a:t>= current,  </a:t>
            </a:r>
            <a:r>
              <a:rPr lang="en-US" sz="2100" b="1" dirty="0">
                <a:latin typeface="Times New Roman" panose="02020603050405020304" pitchFamily="18" charset="0"/>
                <a:ea typeface="Calibri" pitchFamily="34" charset="-122"/>
                <a:cs typeface="Times New Roman" panose="02020603050405020304" pitchFamily="18" charset="0"/>
              </a:rPr>
              <a:t>x </a:t>
            </a:r>
            <a:r>
              <a:rPr lang="en-US" sz="2100" dirty="0">
                <a:latin typeface="Times New Roman" panose="02020603050405020304" pitchFamily="18" charset="0"/>
                <a:ea typeface="Calibri" pitchFamily="34" charset="-122"/>
                <a:cs typeface="Times New Roman" panose="02020603050405020304" pitchFamily="18" charset="0"/>
              </a:rPr>
              <a:t>= candidate next</a:t>
            </a:r>
            <a:endParaRPr lang="en-US" sz="2100" dirty="0">
              <a:latin typeface="Times New Roman" panose="02020603050405020304" pitchFamily="18" charset="0"/>
              <a:cs typeface="Times New Roman" panose="02020603050405020304" pitchFamily="18" charset="0"/>
            </a:endParaRPr>
          </a:p>
        </p:txBody>
      </p:sp>
      <p:sp>
        <p:nvSpPr>
          <p:cNvPr id="14" name="Shape 11"/>
          <p:cNvSpPr/>
          <p:nvPr/>
        </p:nvSpPr>
        <p:spPr>
          <a:xfrm>
            <a:off x="8449056" y="3493008"/>
            <a:ext cx="9144000" cy="603504"/>
          </a:xfrm>
          <a:prstGeom prst="rect">
            <a:avLst/>
          </a:prstGeom>
          <a:solidFill>
            <a:schemeClr val="accent3">
              <a:lumMod val="40000"/>
              <a:lumOff val="60000"/>
            </a:schemeClr>
          </a:solidFill>
          <a:ln w="12700">
            <a:solidFill>
              <a:srgbClr val="4A90D9"/>
            </a:solidFill>
            <a:prstDash val="solid"/>
          </a:ln>
        </p:spPr>
        <p:txBody>
          <a:bodyPr/>
          <a:lstStyle/>
          <a:p>
            <a:endParaRPr lang="en-IN" sz="3600">
              <a:latin typeface="Times New Roman" panose="02020603050405020304" pitchFamily="18" charset="0"/>
              <a:cs typeface="Times New Roman" panose="02020603050405020304" pitchFamily="18" charset="0"/>
            </a:endParaRPr>
          </a:p>
        </p:txBody>
      </p:sp>
      <p:sp>
        <p:nvSpPr>
          <p:cNvPr id="15" name="Text 12"/>
          <p:cNvSpPr/>
          <p:nvPr/>
        </p:nvSpPr>
        <p:spPr>
          <a:xfrm>
            <a:off x="8503920" y="3493008"/>
            <a:ext cx="1005840" cy="603504"/>
          </a:xfrm>
          <a:prstGeom prst="rect">
            <a:avLst/>
          </a:prstGeom>
          <a:noFill/>
          <a:ln/>
        </p:spPr>
        <p:txBody>
          <a:bodyPr wrap="square" rtlCol="0" anchor="ctr"/>
          <a:lstStyle/>
          <a:p>
            <a:pPr algn="ctr"/>
            <a:r>
              <a:rPr lang="en-US" sz="2000" b="1" dirty="0">
                <a:latin typeface="Times New Roman" panose="02020603050405020304" pitchFamily="18" charset="0"/>
                <a:ea typeface="Calibri" pitchFamily="34" charset="-122"/>
                <a:cs typeface="Times New Roman" panose="02020603050405020304" pitchFamily="18" charset="0"/>
              </a:rPr>
              <a:t>Case</a:t>
            </a:r>
            <a:endParaRPr lang="en-US" sz="2000" dirty="0">
              <a:latin typeface="Times New Roman" panose="02020603050405020304" pitchFamily="18" charset="0"/>
              <a:cs typeface="Times New Roman" panose="02020603050405020304" pitchFamily="18" charset="0"/>
            </a:endParaRPr>
          </a:p>
        </p:txBody>
      </p:sp>
      <p:sp>
        <p:nvSpPr>
          <p:cNvPr id="16" name="Text 13"/>
          <p:cNvSpPr/>
          <p:nvPr/>
        </p:nvSpPr>
        <p:spPr>
          <a:xfrm>
            <a:off x="9509760" y="3493008"/>
            <a:ext cx="2743200" cy="603504"/>
          </a:xfrm>
          <a:prstGeom prst="rect">
            <a:avLst/>
          </a:prstGeom>
          <a:noFill/>
          <a:ln/>
        </p:spPr>
        <p:txBody>
          <a:bodyPr wrap="square" rtlCol="0" anchor="ctr"/>
          <a:lstStyle/>
          <a:p>
            <a:pPr algn="ctr"/>
            <a:r>
              <a:rPr lang="en-US" sz="2000" b="1" dirty="0">
                <a:latin typeface="Times New Roman" panose="02020603050405020304" pitchFamily="18" charset="0"/>
                <a:ea typeface="Calibri" pitchFamily="34" charset="-122"/>
                <a:cs typeface="Times New Roman" panose="02020603050405020304" pitchFamily="18" charset="0"/>
              </a:rPr>
              <a:t>Condition</a:t>
            </a:r>
            <a:endParaRPr lang="en-US" sz="2000" dirty="0">
              <a:latin typeface="Times New Roman" panose="02020603050405020304" pitchFamily="18" charset="0"/>
              <a:cs typeface="Times New Roman" panose="02020603050405020304" pitchFamily="18" charset="0"/>
            </a:endParaRPr>
          </a:p>
        </p:txBody>
      </p:sp>
      <p:sp>
        <p:nvSpPr>
          <p:cNvPr id="17" name="Text 14"/>
          <p:cNvSpPr/>
          <p:nvPr/>
        </p:nvSpPr>
        <p:spPr>
          <a:xfrm>
            <a:off x="12289536" y="3493008"/>
            <a:ext cx="1645920" cy="603504"/>
          </a:xfrm>
          <a:prstGeom prst="rect">
            <a:avLst/>
          </a:prstGeom>
          <a:noFill/>
          <a:ln/>
        </p:spPr>
        <p:txBody>
          <a:bodyPr wrap="square" rtlCol="0" anchor="ctr"/>
          <a:lstStyle/>
          <a:p>
            <a:pPr algn="ctr"/>
            <a:r>
              <a:rPr lang="en-US" sz="2000" b="1" dirty="0">
                <a:latin typeface="Times New Roman" panose="02020603050405020304" pitchFamily="18" charset="0"/>
                <a:ea typeface="Calibri" pitchFamily="34" charset="-122"/>
                <a:cs typeface="Times New Roman" panose="02020603050405020304" pitchFamily="18" charset="0"/>
              </a:rPr>
              <a:t>α value</a:t>
            </a:r>
            <a:endParaRPr lang="en-US" sz="2000" dirty="0">
              <a:latin typeface="Times New Roman" panose="02020603050405020304" pitchFamily="18" charset="0"/>
              <a:cs typeface="Times New Roman" panose="02020603050405020304" pitchFamily="18" charset="0"/>
            </a:endParaRPr>
          </a:p>
        </p:txBody>
      </p:sp>
      <p:sp>
        <p:nvSpPr>
          <p:cNvPr id="18" name="Text 15"/>
          <p:cNvSpPr/>
          <p:nvPr/>
        </p:nvSpPr>
        <p:spPr>
          <a:xfrm>
            <a:off x="13990320" y="3493008"/>
            <a:ext cx="3657600" cy="603504"/>
          </a:xfrm>
          <a:prstGeom prst="rect">
            <a:avLst/>
          </a:prstGeom>
          <a:noFill/>
          <a:ln/>
        </p:spPr>
        <p:txBody>
          <a:bodyPr wrap="square" rtlCol="0" anchor="ctr"/>
          <a:lstStyle/>
          <a:p>
            <a:pPr algn="ctr"/>
            <a:r>
              <a:rPr lang="en-US" sz="2000" b="1" dirty="0">
                <a:latin typeface="Times New Roman" panose="02020603050405020304" pitchFamily="18" charset="0"/>
                <a:ea typeface="Calibri" pitchFamily="34" charset="-122"/>
                <a:cs typeface="Times New Roman" panose="02020603050405020304" pitchFamily="18" charset="0"/>
              </a:rPr>
              <a:t>Meaning</a:t>
            </a:r>
            <a:endParaRPr lang="en-US" sz="2000" dirty="0">
              <a:latin typeface="Times New Roman" panose="02020603050405020304" pitchFamily="18" charset="0"/>
              <a:cs typeface="Times New Roman" panose="02020603050405020304" pitchFamily="18" charset="0"/>
            </a:endParaRPr>
          </a:p>
        </p:txBody>
      </p:sp>
      <p:sp>
        <p:nvSpPr>
          <p:cNvPr id="19" name="Shape 16"/>
          <p:cNvSpPr/>
          <p:nvPr/>
        </p:nvSpPr>
        <p:spPr>
          <a:xfrm>
            <a:off x="8449056" y="4133088"/>
            <a:ext cx="9144000" cy="786384"/>
          </a:xfrm>
          <a:prstGeom prst="rect">
            <a:avLst/>
          </a:prstGeom>
          <a:solidFill>
            <a:schemeClr val="accent3">
              <a:lumMod val="40000"/>
              <a:lumOff val="60000"/>
            </a:schemeClr>
          </a:solidFill>
          <a:ln w="12700">
            <a:solidFill>
              <a:srgbClr val="2D3561"/>
            </a:solidFill>
            <a:prstDash val="solid"/>
          </a:ln>
        </p:spPr>
        <p:txBody>
          <a:bodyPr/>
          <a:lstStyle/>
          <a:p>
            <a:endParaRPr lang="en-IN" sz="3600">
              <a:latin typeface="Times New Roman" panose="02020603050405020304" pitchFamily="18" charset="0"/>
              <a:cs typeface="Times New Roman" panose="02020603050405020304" pitchFamily="18" charset="0"/>
            </a:endParaRPr>
          </a:p>
        </p:txBody>
      </p:sp>
      <p:sp>
        <p:nvSpPr>
          <p:cNvPr id="20" name="Text 17"/>
          <p:cNvSpPr/>
          <p:nvPr/>
        </p:nvSpPr>
        <p:spPr>
          <a:xfrm>
            <a:off x="8503920" y="4133088"/>
            <a:ext cx="950976" cy="786384"/>
          </a:xfrm>
          <a:prstGeom prst="rect">
            <a:avLst/>
          </a:prstGeom>
          <a:noFill/>
          <a:ln/>
        </p:spPr>
        <p:txBody>
          <a:bodyPr wrap="square" rtlCol="0" anchor="ctr"/>
          <a:lstStyle/>
          <a:p>
            <a:pPr algn="ctr"/>
            <a:r>
              <a:rPr lang="en-US" sz="1900" dirty="0">
                <a:latin typeface="Times New Roman" panose="02020603050405020304" pitchFamily="18" charset="0"/>
                <a:ea typeface="Calibri" pitchFamily="34" charset="-122"/>
                <a:cs typeface="Times New Roman" panose="02020603050405020304" pitchFamily="18" charset="0"/>
              </a:rPr>
              <a:t>1</a:t>
            </a:r>
            <a:endParaRPr lang="en-US" sz="1900" dirty="0">
              <a:latin typeface="Times New Roman" panose="02020603050405020304" pitchFamily="18" charset="0"/>
              <a:cs typeface="Times New Roman" panose="02020603050405020304" pitchFamily="18" charset="0"/>
            </a:endParaRPr>
          </a:p>
        </p:txBody>
      </p:sp>
      <p:sp>
        <p:nvSpPr>
          <p:cNvPr id="21" name="Text 18"/>
          <p:cNvSpPr/>
          <p:nvPr/>
        </p:nvSpPr>
        <p:spPr>
          <a:xfrm>
            <a:off x="9509760" y="4133088"/>
            <a:ext cx="2779776" cy="786384"/>
          </a:xfrm>
          <a:prstGeom prst="rect">
            <a:avLst/>
          </a:prstGeom>
          <a:noFill/>
          <a:ln/>
        </p:spPr>
        <p:txBody>
          <a:bodyPr wrap="square" rtlCol="0" anchor="ctr"/>
          <a:lstStyle/>
          <a:p>
            <a:pPr algn="ctr"/>
            <a:r>
              <a:rPr lang="en-US" sz="1900" dirty="0">
                <a:latin typeface="Times New Roman" panose="02020603050405020304" pitchFamily="18" charset="0"/>
                <a:ea typeface="Calibri" pitchFamily="34" charset="-122"/>
                <a:cs typeface="Times New Roman" panose="02020603050405020304" pitchFamily="18" charset="0"/>
              </a:rPr>
              <a:t>d(t,x) = 0 (x = t)</a:t>
            </a:r>
            <a:endParaRPr lang="en-US" sz="1900" dirty="0">
              <a:latin typeface="Times New Roman" panose="02020603050405020304" pitchFamily="18" charset="0"/>
              <a:cs typeface="Times New Roman" panose="02020603050405020304" pitchFamily="18" charset="0"/>
            </a:endParaRPr>
          </a:p>
        </p:txBody>
      </p:sp>
      <p:sp>
        <p:nvSpPr>
          <p:cNvPr id="22" name="Text 19"/>
          <p:cNvSpPr/>
          <p:nvPr/>
        </p:nvSpPr>
        <p:spPr>
          <a:xfrm>
            <a:off x="12289536" y="4133088"/>
            <a:ext cx="1645920" cy="786384"/>
          </a:xfrm>
          <a:prstGeom prst="rect">
            <a:avLst/>
          </a:prstGeom>
          <a:noFill/>
          <a:ln/>
        </p:spPr>
        <p:txBody>
          <a:bodyPr wrap="square" rtlCol="0" anchor="ctr"/>
          <a:lstStyle/>
          <a:p>
            <a:pPr algn="ctr"/>
            <a:r>
              <a:rPr lang="en-US" sz="1900" dirty="0">
                <a:latin typeface="Times New Roman" panose="02020603050405020304" pitchFamily="18" charset="0"/>
                <a:ea typeface="Calibri" pitchFamily="34" charset="-122"/>
                <a:cs typeface="Times New Roman" panose="02020603050405020304" pitchFamily="18" charset="0"/>
              </a:rPr>
              <a:t>1/p</a:t>
            </a:r>
            <a:endParaRPr lang="en-US" sz="1900" dirty="0">
              <a:latin typeface="Times New Roman" panose="02020603050405020304" pitchFamily="18" charset="0"/>
              <a:cs typeface="Times New Roman" panose="02020603050405020304" pitchFamily="18" charset="0"/>
            </a:endParaRPr>
          </a:p>
        </p:txBody>
      </p:sp>
      <p:sp>
        <p:nvSpPr>
          <p:cNvPr id="23" name="Text 20"/>
          <p:cNvSpPr/>
          <p:nvPr/>
        </p:nvSpPr>
        <p:spPr>
          <a:xfrm>
            <a:off x="13990320" y="4133088"/>
            <a:ext cx="3657600" cy="786384"/>
          </a:xfrm>
          <a:prstGeom prst="rect">
            <a:avLst/>
          </a:prstGeom>
          <a:noFill/>
          <a:ln/>
        </p:spPr>
        <p:txBody>
          <a:bodyPr wrap="square" rtlCol="0" anchor="ctr"/>
          <a:lstStyle/>
          <a:p>
            <a:pPr algn="ctr"/>
            <a:r>
              <a:rPr lang="en-US" sz="1900" dirty="0">
                <a:latin typeface="Times New Roman" panose="02020603050405020304" pitchFamily="18" charset="0"/>
                <a:ea typeface="Calibri" pitchFamily="34" charset="-122"/>
                <a:cs typeface="Times New Roman" panose="02020603050405020304" pitchFamily="18" charset="0"/>
              </a:rPr>
              <a:t>Return to previous node</a:t>
            </a:r>
            <a:endParaRPr lang="en-US" sz="1900" dirty="0">
              <a:latin typeface="Times New Roman" panose="02020603050405020304" pitchFamily="18" charset="0"/>
              <a:cs typeface="Times New Roman" panose="02020603050405020304" pitchFamily="18" charset="0"/>
            </a:endParaRPr>
          </a:p>
        </p:txBody>
      </p:sp>
      <p:sp>
        <p:nvSpPr>
          <p:cNvPr id="24" name="Shape 21"/>
          <p:cNvSpPr/>
          <p:nvPr/>
        </p:nvSpPr>
        <p:spPr>
          <a:xfrm>
            <a:off x="8449056" y="4974336"/>
            <a:ext cx="9144000" cy="786384"/>
          </a:xfrm>
          <a:prstGeom prst="rect">
            <a:avLst/>
          </a:prstGeom>
          <a:solidFill>
            <a:schemeClr val="accent3">
              <a:lumMod val="40000"/>
              <a:lumOff val="60000"/>
            </a:schemeClr>
          </a:solidFill>
          <a:ln w="12700">
            <a:solidFill>
              <a:srgbClr val="2D3561"/>
            </a:solidFill>
            <a:prstDash val="solid"/>
          </a:ln>
        </p:spPr>
        <p:txBody>
          <a:bodyPr/>
          <a:lstStyle/>
          <a:p>
            <a:endParaRPr lang="en-IN" sz="3600">
              <a:latin typeface="Times New Roman" panose="02020603050405020304" pitchFamily="18" charset="0"/>
              <a:cs typeface="Times New Roman" panose="02020603050405020304" pitchFamily="18" charset="0"/>
            </a:endParaRPr>
          </a:p>
        </p:txBody>
      </p:sp>
      <p:sp>
        <p:nvSpPr>
          <p:cNvPr id="25" name="Text 22"/>
          <p:cNvSpPr/>
          <p:nvPr/>
        </p:nvSpPr>
        <p:spPr>
          <a:xfrm>
            <a:off x="8503920" y="4974336"/>
            <a:ext cx="950976" cy="786384"/>
          </a:xfrm>
          <a:prstGeom prst="rect">
            <a:avLst/>
          </a:prstGeom>
          <a:noFill/>
          <a:ln/>
        </p:spPr>
        <p:txBody>
          <a:bodyPr wrap="square" rtlCol="0" anchor="ctr"/>
          <a:lstStyle/>
          <a:p>
            <a:pPr algn="ctr"/>
            <a:r>
              <a:rPr lang="en-US" sz="1900" dirty="0">
                <a:latin typeface="Times New Roman" panose="02020603050405020304" pitchFamily="18" charset="0"/>
                <a:ea typeface="Calibri" pitchFamily="34" charset="-122"/>
                <a:cs typeface="Times New Roman" panose="02020603050405020304" pitchFamily="18" charset="0"/>
              </a:rPr>
              <a:t>2</a:t>
            </a:r>
            <a:endParaRPr lang="en-US" sz="1900" dirty="0">
              <a:latin typeface="Times New Roman" panose="02020603050405020304" pitchFamily="18" charset="0"/>
              <a:cs typeface="Times New Roman" panose="02020603050405020304" pitchFamily="18" charset="0"/>
            </a:endParaRPr>
          </a:p>
        </p:txBody>
      </p:sp>
      <p:sp>
        <p:nvSpPr>
          <p:cNvPr id="26" name="Text 23"/>
          <p:cNvSpPr/>
          <p:nvPr/>
        </p:nvSpPr>
        <p:spPr>
          <a:xfrm>
            <a:off x="9509760" y="4974336"/>
            <a:ext cx="2779776" cy="786384"/>
          </a:xfrm>
          <a:prstGeom prst="rect">
            <a:avLst/>
          </a:prstGeom>
          <a:noFill/>
          <a:ln/>
        </p:spPr>
        <p:txBody>
          <a:bodyPr wrap="square" rtlCol="0" anchor="ctr"/>
          <a:lstStyle/>
          <a:p>
            <a:pPr algn="ctr"/>
            <a:r>
              <a:rPr lang="en-US" sz="1900" dirty="0">
                <a:latin typeface="Times New Roman" panose="02020603050405020304" pitchFamily="18" charset="0"/>
                <a:ea typeface="Calibri" pitchFamily="34" charset="-122"/>
                <a:cs typeface="Times New Roman" panose="02020603050405020304" pitchFamily="18" charset="0"/>
              </a:rPr>
              <a:t>d(t,x) = 1 (x~t &amp; x~v)</a:t>
            </a:r>
            <a:endParaRPr lang="en-US" sz="1900" dirty="0">
              <a:latin typeface="Times New Roman" panose="02020603050405020304" pitchFamily="18" charset="0"/>
              <a:cs typeface="Times New Roman" panose="02020603050405020304" pitchFamily="18" charset="0"/>
            </a:endParaRPr>
          </a:p>
        </p:txBody>
      </p:sp>
      <p:sp>
        <p:nvSpPr>
          <p:cNvPr id="27" name="Text 24"/>
          <p:cNvSpPr/>
          <p:nvPr/>
        </p:nvSpPr>
        <p:spPr>
          <a:xfrm>
            <a:off x="12289536" y="4974336"/>
            <a:ext cx="1645920" cy="786384"/>
          </a:xfrm>
          <a:prstGeom prst="rect">
            <a:avLst/>
          </a:prstGeom>
          <a:noFill/>
          <a:ln/>
        </p:spPr>
        <p:txBody>
          <a:bodyPr wrap="square" rtlCol="0" anchor="ctr"/>
          <a:lstStyle/>
          <a:p>
            <a:pPr algn="ctr"/>
            <a:r>
              <a:rPr lang="en-US" sz="1900" dirty="0">
                <a:latin typeface="Times New Roman" panose="02020603050405020304" pitchFamily="18" charset="0"/>
                <a:ea typeface="Calibri" pitchFamily="34" charset="-122"/>
                <a:cs typeface="Times New Roman" panose="02020603050405020304" pitchFamily="18" charset="0"/>
              </a:rPr>
              <a:t>1.0</a:t>
            </a:r>
            <a:endParaRPr lang="en-US" sz="1900" dirty="0">
              <a:latin typeface="Times New Roman" panose="02020603050405020304" pitchFamily="18" charset="0"/>
              <a:cs typeface="Times New Roman" panose="02020603050405020304" pitchFamily="18" charset="0"/>
            </a:endParaRPr>
          </a:p>
        </p:txBody>
      </p:sp>
      <p:sp>
        <p:nvSpPr>
          <p:cNvPr id="28" name="Text 25"/>
          <p:cNvSpPr/>
          <p:nvPr/>
        </p:nvSpPr>
        <p:spPr>
          <a:xfrm>
            <a:off x="13990320" y="4974336"/>
            <a:ext cx="3657600" cy="786384"/>
          </a:xfrm>
          <a:prstGeom prst="rect">
            <a:avLst/>
          </a:prstGeom>
          <a:noFill/>
          <a:ln/>
        </p:spPr>
        <p:txBody>
          <a:bodyPr wrap="square" rtlCol="0" anchor="ctr"/>
          <a:lstStyle/>
          <a:p>
            <a:pPr algn="ctr"/>
            <a:r>
              <a:rPr lang="en-US" sz="1900" dirty="0">
                <a:latin typeface="Times New Roman" panose="02020603050405020304" pitchFamily="18" charset="0"/>
                <a:ea typeface="Calibri" pitchFamily="34" charset="-122"/>
                <a:cs typeface="Times New Roman" panose="02020603050405020304" pitchFamily="18" charset="0"/>
              </a:rPr>
              <a:t>Neighbor of both t and v</a:t>
            </a:r>
            <a:endParaRPr lang="en-US" sz="1900" dirty="0">
              <a:latin typeface="Times New Roman" panose="02020603050405020304" pitchFamily="18" charset="0"/>
              <a:cs typeface="Times New Roman" panose="02020603050405020304" pitchFamily="18" charset="0"/>
            </a:endParaRPr>
          </a:p>
        </p:txBody>
      </p:sp>
      <p:sp>
        <p:nvSpPr>
          <p:cNvPr id="29" name="Shape 26"/>
          <p:cNvSpPr/>
          <p:nvPr/>
        </p:nvSpPr>
        <p:spPr>
          <a:xfrm>
            <a:off x="8449056" y="5815584"/>
            <a:ext cx="9144000" cy="786384"/>
          </a:xfrm>
          <a:prstGeom prst="rect">
            <a:avLst/>
          </a:prstGeom>
          <a:solidFill>
            <a:schemeClr val="accent3">
              <a:lumMod val="40000"/>
              <a:lumOff val="60000"/>
            </a:schemeClr>
          </a:solidFill>
          <a:ln w="12700">
            <a:solidFill>
              <a:srgbClr val="2D3561"/>
            </a:solidFill>
            <a:prstDash val="solid"/>
          </a:ln>
        </p:spPr>
        <p:txBody>
          <a:bodyPr/>
          <a:lstStyle/>
          <a:p>
            <a:endParaRPr lang="en-IN" sz="3600">
              <a:latin typeface="Times New Roman" panose="02020603050405020304" pitchFamily="18" charset="0"/>
              <a:cs typeface="Times New Roman" panose="02020603050405020304" pitchFamily="18" charset="0"/>
            </a:endParaRPr>
          </a:p>
        </p:txBody>
      </p:sp>
      <p:sp>
        <p:nvSpPr>
          <p:cNvPr id="30" name="Text 27"/>
          <p:cNvSpPr/>
          <p:nvPr/>
        </p:nvSpPr>
        <p:spPr>
          <a:xfrm>
            <a:off x="8503920" y="5815584"/>
            <a:ext cx="950976" cy="786384"/>
          </a:xfrm>
          <a:prstGeom prst="rect">
            <a:avLst/>
          </a:prstGeom>
          <a:noFill/>
          <a:ln/>
        </p:spPr>
        <p:txBody>
          <a:bodyPr wrap="square" rtlCol="0" anchor="ctr"/>
          <a:lstStyle/>
          <a:p>
            <a:pPr algn="ctr"/>
            <a:r>
              <a:rPr lang="en-US" sz="1900" dirty="0">
                <a:latin typeface="Times New Roman" panose="02020603050405020304" pitchFamily="18" charset="0"/>
                <a:ea typeface="Calibri" pitchFamily="34" charset="-122"/>
                <a:cs typeface="Times New Roman" panose="02020603050405020304" pitchFamily="18" charset="0"/>
              </a:rPr>
              <a:t>3</a:t>
            </a:r>
            <a:endParaRPr lang="en-US" sz="1900" dirty="0">
              <a:latin typeface="Times New Roman" panose="02020603050405020304" pitchFamily="18" charset="0"/>
              <a:cs typeface="Times New Roman" panose="02020603050405020304" pitchFamily="18" charset="0"/>
            </a:endParaRPr>
          </a:p>
        </p:txBody>
      </p:sp>
      <p:sp>
        <p:nvSpPr>
          <p:cNvPr id="31" name="Text 28"/>
          <p:cNvSpPr/>
          <p:nvPr/>
        </p:nvSpPr>
        <p:spPr>
          <a:xfrm>
            <a:off x="9509760" y="5815584"/>
            <a:ext cx="2779776" cy="786384"/>
          </a:xfrm>
          <a:prstGeom prst="rect">
            <a:avLst/>
          </a:prstGeom>
          <a:noFill/>
          <a:ln/>
        </p:spPr>
        <p:txBody>
          <a:bodyPr wrap="square" rtlCol="0" anchor="ctr"/>
          <a:lstStyle/>
          <a:p>
            <a:pPr algn="ctr"/>
            <a:r>
              <a:rPr lang="en-US" sz="1900" dirty="0">
                <a:latin typeface="Times New Roman" panose="02020603050405020304" pitchFamily="18" charset="0"/>
                <a:ea typeface="Calibri" pitchFamily="34" charset="-122"/>
                <a:cs typeface="Times New Roman" panose="02020603050405020304" pitchFamily="18" charset="0"/>
              </a:rPr>
              <a:t>d(t,x) = 2 (x not near t)</a:t>
            </a:r>
            <a:endParaRPr lang="en-US" sz="1900" dirty="0">
              <a:latin typeface="Times New Roman" panose="02020603050405020304" pitchFamily="18" charset="0"/>
              <a:cs typeface="Times New Roman" panose="02020603050405020304" pitchFamily="18" charset="0"/>
            </a:endParaRPr>
          </a:p>
        </p:txBody>
      </p:sp>
      <p:sp>
        <p:nvSpPr>
          <p:cNvPr id="32" name="Text 29"/>
          <p:cNvSpPr/>
          <p:nvPr/>
        </p:nvSpPr>
        <p:spPr>
          <a:xfrm>
            <a:off x="12289536" y="5815584"/>
            <a:ext cx="1645920" cy="786384"/>
          </a:xfrm>
          <a:prstGeom prst="rect">
            <a:avLst/>
          </a:prstGeom>
          <a:noFill/>
          <a:ln/>
        </p:spPr>
        <p:txBody>
          <a:bodyPr wrap="square" rtlCol="0" anchor="ctr"/>
          <a:lstStyle/>
          <a:p>
            <a:pPr algn="ctr"/>
            <a:r>
              <a:rPr lang="en-US" sz="1900" dirty="0">
                <a:latin typeface="Times New Roman" panose="02020603050405020304" pitchFamily="18" charset="0"/>
                <a:ea typeface="Calibri" pitchFamily="34" charset="-122"/>
                <a:cs typeface="Times New Roman" panose="02020603050405020304" pitchFamily="18" charset="0"/>
              </a:rPr>
              <a:t>1/q</a:t>
            </a:r>
            <a:endParaRPr lang="en-US" sz="1900" dirty="0">
              <a:latin typeface="Times New Roman" panose="02020603050405020304" pitchFamily="18" charset="0"/>
              <a:cs typeface="Times New Roman" panose="02020603050405020304" pitchFamily="18" charset="0"/>
            </a:endParaRPr>
          </a:p>
        </p:txBody>
      </p:sp>
      <p:sp>
        <p:nvSpPr>
          <p:cNvPr id="33" name="Text 30"/>
          <p:cNvSpPr/>
          <p:nvPr/>
        </p:nvSpPr>
        <p:spPr>
          <a:xfrm>
            <a:off x="13990320" y="5815584"/>
            <a:ext cx="3657600" cy="786384"/>
          </a:xfrm>
          <a:prstGeom prst="rect">
            <a:avLst/>
          </a:prstGeom>
          <a:noFill/>
          <a:ln/>
        </p:spPr>
        <p:txBody>
          <a:bodyPr wrap="square" rtlCol="0" anchor="ctr"/>
          <a:lstStyle/>
          <a:p>
            <a:pPr algn="ctr"/>
            <a:r>
              <a:rPr lang="en-US" sz="1900" dirty="0">
                <a:latin typeface="Times New Roman" panose="02020603050405020304" pitchFamily="18" charset="0"/>
                <a:ea typeface="Calibri" pitchFamily="34" charset="-122"/>
                <a:cs typeface="Times New Roman" panose="02020603050405020304" pitchFamily="18" charset="0"/>
              </a:rPr>
              <a:t>Explore further away</a:t>
            </a:r>
            <a:endParaRPr lang="en-US" sz="1900" dirty="0">
              <a:latin typeface="Times New Roman" panose="02020603050405020304" pitchFamily="18" charset="0"/>
              <a:cs typeface="Times New Roman" panose="02020603050405020304" pitchFamily="18" charset="0"/>
            </a:endParaRPr>
          </a:p>
        </p:txBody>
      </p:sp>
      <p:sp>
        <p:nvSpPr>
          <p:cNvPr id="34" name="Text 31"/>
          <p:cNvSpPr/>
          <p:nvPr/>
        </p:nvSpPr>
        <p:spPr>
          <a:xfrm>
            <a:off x="8403336" y="6711696"/>
            <a:ext cx="9144000" cy="548640"/>
          </a:xfrm>
          <a:prstGeom prst="rect">
            <a:avLst/>
          </a:prstGeom>
          <a:noFill/>
          <a:ln/>
        </p:spPr>
        <p:txBody>
          <a:bodyPr wrap="square" rtlCol="0" anchor="ctr"/>
          <a:lstStyle/>
          <a:p>
            <a:pPr algn="ctr"/>
            <a:r>
              <a:rPr lang="en-US" sz="2400" b="1" dirty="0">
                <a:latin typeface="Times New Roman" panose="02020603050405020304" pitchFamily="18" charset="0"/>
                <a:ea typeface="Calibri" pitchFamily="34" charset="-122"/>
                <a:cs typeface="Times New Roman" panose="02020603050405020304" pitchFamily="18" charset="0"/>
              </a:rPr>
              <a:t>Worked Example  (p = 2,  q = 0.5)</a:t>
            </a:r>
            <a:endParaRPr lang="en-US" sz="2400" dirty="0">
              <a:latin typeface="Times New Roman" panose="02020603050405020304" pitchFamily="18" charset="0"/>
              <a:cs typeface="Times New Roman" panose="02020603050405020304" pitchFamily="18" charset="0"/>
            </a:endParaRPr>
          </a:p>
        </p:txBody>
      </p:sp>
      <p:sp>
        <p:nvSpPr>
          <p:cNvPr id="35" name="Text 32"/>
          <p:cNvSpPr/>
          <p:nvPr/>
        </p:nvSpPr>
        <p:spPr>
          <a:xfrm>
            <a:off x="8412480" y="7062216"/>
            <a:ext cx="9144000" cy="457200"/>
          </a:xfrm>
          <a:prstGeom prst="rect">
            <a:avLst/>
          </a:prstGeom>
          <a:noFill/>
          <a:ln/>
        </p:spPr>
        <p:txBody>
          <a:bodyPr wrap="square" rtlCol="0" anchor="ctr"/>
          <a:lstStyle/>
          <a:p>
            <a:pPr algn="ctr"/>
            <a:r>
              <a:rPr lang="en-US" sz="2100" dirty="0">
                <a:latin typeface="Times New Roman" panose="02020603050405020304" pitchFamily="18" charset="0"/>
                <a:ea typeface="Calibri" pitchFamily="34" charset="-122"/>
                <a:cs typeface="Times New Roman" panose="02020603050405020304" pitchFamily="18" charset="0"/>
              </a:rPr>
              <a:t>Previous node t = A,  Current node v = B</a:t>
            </a:r>
            <a:endParaRPr lang="en-US" sz="2100" dirty="0">
              <a:latin typeface="Times New Roman" panose="02020603050405020304" pitchFamily="18" charset="0"/>
              <a:cs typeface="Times New Roman" panose="02020603050405020304" pitchFamily="18" charset="0"/>
            </a:endParaRPr>
          </a:p>
        </p:txBody>
      </p:sp>
      <p:sp>
        <p:nvSpPr>
          <p:cNvPr id="36" name="Shape 33"/>
          <p:cNvSpPr/>
          <p:nvPr/>
        </p:nvSpPr>
        <p:spPr>
          <a:xfrm>
            <a:off x="8449056" y="7574280"/>
            <a:ext cx="9144000" cy="512064"/>
          </a:xfrm>
          <a:prstGeom prst="rect">
            <a:avLst/>
          </a:prstGeom>
          <a:solidFill>
            <a:schemeClr val="accent3">
              <a:lumMod val="40000"/>
              <a:lumOff val="60000"/>
            </a:schemeClr>
          </a:solidFill>
          <a:ln w="12700">
            <a:solidFill>
              <a:srgbClr val="2D3561"/>
            </a:solidFill>
            <a:prstDash val="solid"/>
          </a:ln>
        </p:spPr>
        <p:txBody>
          <a:bodyPr/>
          <a:lstStyle/>
          <a:p>
            <a:endParaRPr lang="en-IN" sz="3600">
              <a:latin typeface="Times New Roman" panose="02020603050405020304" pitchFamily="18" charset="0"/>
              <a:cs typeface="Times New Roman" panose="02020603050405020304" pitchFamily="18" charset="0"/>
            </a:endParaRPr>
          </a:p>
        </p:txBody>
      </p:sp>
      <p:sp>
        <p:nvSpPr>
          <p:cNvPr id="37" name="Text 34"/>
          <p:cNvSpPr/>
          <p:nvPr/>
        </p:nvSpPr>
        <p:spPr>
          <a:xfrm>
            <a:off x="8503920" y="7574280"/>
            <a:ext cx="2523744" cy="512064"/>
          </a:xfrm>
          <a:prstGeom prst="rect">
            <a:avLst/>
          </a:prstGeom>
          <a:noFill/>
          <a:ln/>
        </p:spPr>
        <p:txBody>
          <a:bodyPr wrap="square" rtlCol="0" anchor="ctr"/>
          <a:lstStyle/>
          <a:p>
            <a:pPr algn="ctr"/>
            <a:r>
              <a:rPr lang="en-US" b="1" dirty="0">
                <a:latin typeface="Times New Roman" panose="02020603050405020304" pitchFamily="18" charset="0"/>
                <a:ea typeface="Calibri" pitchFamily="34" charset="-122"/>
                <a:cs typeface="Times New Roman" panose="02020603050405020304" pitchFamily="18" charset="0"/>
              </a:rPr>
              <a:t>Neighbor x</a:t>
            </a:r>
            <a:endParaRPr lang="en-US" dirty="0">
              <a:latin typeface="Times New Roman" panose="02020603050405020304" pitchFamily="18" charset="0"/>
              <a:cs typeface="Times New Roman" panose="02020603050405020304" pitchFamily="18" charset="0"/>
            </a:endParaRPr>
          </a:p>
        </p:txBody>
      </p:sp>
      <p:sp>
        <p:nvSpPr>
          <p:cNvPr id="38" name="Text 35"/>
          <p:cNvSpPr/>
          <p:nvPr/>
        </p:nvSpPr>
        <p:spPr>
          <a:xfrm>
            <a:off x="11064240" y="7574280"/>
            <a:ext cx="2523744" cy="512064"/>
          </a:xfrm>
          <a:prstGeom prst="rect">
            <a:avLst/>
          </a:prstGeom>
          <a:noFill/>
          <a:ln/>
        </p:spPr>
        <p:txBody>
          <a:bodyPr wrap="square" rtlCol="0" anchor="ctr"/>
          <a:lstStyle/>
          <a:p>
            <a:pPr algn="ctr"/>
            <a:r>
              <a:rPr lang="en-US" b="1" dirty="0">
                <a:latin typeface="Times New Roman" panose="02020603050405020304" pitchFamily="18" charset="0"/>
                <a:ea typeface="Calibri" pitchFamily="34" charset="-122"/>
                <a:cs typeface="Times New Roman" panose="02020603050405020304" pitchFamily="18" charset="0"/>
              </a:rPr>
              <a:t>α(t,x)</a:t>
            </a:r>
            <a:endParaRPr lang="en-US" dirty="0">
              <a:latin typeface="Times New Roman" panose="02020603050405020304" pitchFamily="18" charset="0"/>
              <a:cs typeface="Times New Roman" panose="02020603050405020304" pitchFamily="18" charset="0"/>
            </a:endParaRPr>
          </a:p>
        </p:txBody>
      </p:sp>
      <p:sp>
        <p:nvSpPr>
          <p:cNvPr id="39" name="Text 36"/>
          <p:cNvSpPr/>
          <p:nvPr/>
        </p:nvSpPr>
        <p:spPr>
          <a:xfrm>
            <a:off x="13624560" y="7574280"/>
            <a:ext cx="2523744" cy="512064"/>
          </a:xfrm>
          <a:prstGeom prst="rect">
            <a:avLst/>
          </a:prstGeom>
          <a:noFill/>
          <a:ln/>
        </p:spPr>
        <p:txBody>
          <a:bodyPr wrap="square" rtlCol="0" anchor="ctr"/>
          <a:lstStyle/>
          <a:p>
            <a:pPr algn="ctr"/>
            <a:r>
              <a:rPr lang="en-US" b="1" dirty="0">
                <a:latin typeface="Times New Roman" panose="02020603050405020304" pitchFamily="18" charset="0"/>
                <a:ea typeface="Calibri" pitchFamily="34" charset="-122"/>
                <a:cs typeface="Times New Roman" panose="02020603050405020304" pitchFamily="18" charset="0"/>
              </a:rPr>
              <a:t>Unnorm. weight</a:t>
            </a:r>
            <a:endParaRPr lang="en-US" dirty="0">
              <a:latin typeface="Times New Roman" panose="02020603050405020304" pitchFamily="18" charset="0"/>
              <a:cs typeface="Times New Roman" panose="02020603050405020304" pitchFamily="18" charset="0"/>
            </a:endParaRPr>
          </a:p>
        </p:txBody>
      </p:sp>
      <p:sp>
        <p:nvSpPr>
          <p:cNvPr id="40" name="Text 37"/>
          <p:cNvSpPr/>
          <p:nvPr/>
        </p:nvSpPr>
        <p:spPr>
          <a:xfrm>
            <a:off x="17007840" y="7574280"/>
            <a:ext cx="548640" cy="512064"/>
          </a:xfrm>
          <a:prstGeom prst="rect">
            <a:avLst/>
          </a:prstGeom>
          <a:noFill/>
          <a:ln/>
        </p:spPr>
        <p:txBody>
          <a:bodyPr wrap="square" rtlCol="0" anchor="ctr"/>
          <a:lstStyle/>
          <a:p>
            <a:pPr algn="ctr"/>
            <a:endParaRPr lang="en-US" dirty="0">
              <a:latin typeface="Times New Roman" panose="02020603050405020304" pitchFamily="18" charset="0"/>
              <a:cs typeface="Times New Roman" panose="02020603050405020304" pitchFamily="18" charset="0"/>
            </a:endParaRPr>
          </a:p>
        </p:txBody>
      </p:sp>
      <p:sp>
        <p:nvSpPr>
          <p:cNvPr id="41" name="Shape 38"/>
          <p:cNvSpPr/>
          <p:nvPr/>
        </p:nvSpPr>
        <p:spPr>
          <a:xfrm>
            <a:off x="8449056" y="8122920"/>
            <a:ext cx="9144000" cy="493776"/>
          </a:xfrm>
          <a:prstGeom prst="rect">
            <a:avLst/>
          </a:prstGeom>
          <a:solidFill>
            <a:schemeClr val="accent3">
              <a:lumMod val="40000"/>
              <a:lumOff val="60000"/>
            </a:schemeClr>
          </a:solidFill>
          <a:ln w="12700">
            <a:solidFill>
              <a:srgbClr val="2D3561"/>
            </a:solidFill>
            <a:prstDash val="solid"/>
          </a:ln>
        </p:spPr>
        <p:txBody>
          <a:bodyPr/>
          <a:lstStyle/>
          <a:p>
            <a:endParaRPr lang="en-IN" sz="3600">
              <a:latin typeface="Times New Roman" panose="02020603050405020304" pitchFamily="18" charset="0"/>
              <a:cs typeface="Times New Roman" panose="02020603050405020304" pitchFamily="18" charset="0"/>
            </a:endParaRPr>
          </a:p>
        </p:txBody>
      </p:sp>
      <p:sp>
        <p:nvSpPr>
          <p:cNvPr id="42" name="Text 39"/>
          <p:cNvSpPr/>
          <p:nvPr/>
        </p:nvSpPr>
        <p:spPr>
          <a:xfrm>
            <a:off x="8503920" y="8122920"/>
            <a:ext cx="2523744" cy="493776"/>
          </a:xfrm>
          <a:prstGeom prst="rect">
            <a:avLst/>
          </a:prstGeom>
          <a:noFill/>
          <a:ln/>
        </p:spPr>
        <p:txBody>
          <a:bodyPr wrap="square" rtlCol="0" anchor="ctr"/>
          <a:lstStyle/>
          <a:p>
            <a:pPr algn="ctr"/>
            <a:r>
              <a:rPr lang="en-US" sz="1900" dirty="0">
                <a:latin typeface="Times New Roman" panose="02020603050405020304" pitchFamily="18" charset="0"/>
                <a:ea typeface="Calibri" pitchFamily="34" charset="-122"/>
                <a:cs typeface="Times New Roman" panose="02020603050405020304" pitchFamily="18" charset="0"/>
              </a:rPr>
              <a:t>A (x=t, d=0)</a:t>
            </a:r>
            <a:endParaRPr lang="en-US" sz="1900" dirty="0">
              <a:latin typeface="Times New Roman" panose="02020603050405020304" pitchFamily="18" charset="0"/>
              <a:cs typeface="Times New Roman" panose="02020603050405020304" pitchFamily="18" charset="0"/>
            </a:endParaRPr>
          </a:p>
        </p:txBody>
      </p:sp>
      <p:sp>
        <p:nvSpPr>
          <p:cNvPr id="43" name="Text 40"/>
          <p:cNvSpPr/>
          <p:nvPr/>
        </p:nvSpPr>
        <p:spPr>
          <a:xfrm>
            <a:off x="11064240" y="8122920"/>
            <a:ext cx="2523744" cy="493776"/>
          </a:xfrm>
          <a:prstGeom prst="rect">
            <a:avLst/>
          </a:prstGeom>
          <a:noFill/>
          <a:ln/>
        </p:spPr>
        <p:txBody>
          <a:bodyPr wrap="square" rtlCol="0" anchor="ctr"/>
          <a:lstStyle/>
          <a:p>
            <a:pPr algn="ctr"/>
            <a:r>
              <a:rPr lang="en-US" sz="1900" dirty="0">
                <a:latin typeface="Times New Roman" panose="02020603050405020304" pitchFamily="18" charset="0"/>
                <a:ea typeface="Calibri" pitchFamily="34" charset="-122"/>
                <a:cs typeface="Times New Roman" panose="02020603050405020304" pitchFamily="18" charset="0"/>
              </a:rPr>
              <a:t>α = 1/p = 1/2 = 0.5</a:t>
            </a:r>
            <a:endParaRPr lang="en-US" sz="1900" dirty="0">
              <a:latin typeface="Times New Roman" panose="02020603050405020304" pitchFamily="18" charset="0"/>
              <a:cs typeface="Times New Roman" panose="02020603050405020304" pitchFamily="18" charset="0"/>
            </a:endParaRPr>
          </a:p>
        </p:txBody>
      </p:sp>
      <p:sp>
        <p:nvSpPr>
          <p:cNvPr id="44" name="Text 41"/>
          <p:cNvSpPr/>
          <p:nvPr/>
        </p:nvSpPr>
        <p:spPr>
          <a:xfrm>
            <a:off x="13624560" y="8122920"/>
            <a:ext cx="2560320" cy="493776"/>
          </a:xfrm>
          <a:prstGeom prst="rect">
            <a:avLst/>
          </a:prstGeom>
          <a:noFill/>
          <a:ln/>
        </p:spPr>
        <p:txBody>
          <a:bodyPr wrap="square" rtlCol="0" anchor="ctr"/>
          <a:lstStyle/>
          <a:p>
            <a:pPr algn="ctr"/>
            <a:r>
              <a:rPr lang="en-US" sz="1900" dirty="0">
                <a:latin typeface="Times New Roman" panose="02020603050405020304" pitchFamily="18" charset="0"/>
                <a:ea typeface="Calibri" pitchFamily="34" charset="-122"/>
                <a:cs typeface="Times New Roman" panose="02020603050405020304" pitchFamily="18" charset="0"/>
              </a:rPr>
              <a:t>0.5 × 1 = 0.50</a:t>
            </a:r>
            <a:endParaRPr lang="en-US" sz="1900" dirty="0">
              <a:latin typeface="Times New Roman" panose="02020603050405020304" pitchFamily="18" charset="0"/>
              <a:cs typeface="Times New Roman" panose="02020603050405020304" pitchFamily="18" charset="0"/>
            </a:endParaRPr>
          </a:p>
        </p:txBody>
      </p:sp>
      <p:sp>
        <p:nvSpPr>
          <p:cNvPr id="45" name="Shape 42"/>
          <p:cNvSpPr/>
          <p:nvPr/>
        </p:nvSpPr>
        <p:spPr>
          <a:xfrm>
            <a:off x="8449056" y="8671560"/>
            <a:ext cx="9144000" cy="493776"/>
          </a:xfrm>
          <a:prstGeom prst="rect">
            <a:avLst/>
          </a:prstGeom>
          <a:solidFill>
            <a:schemeClr val="accent3">
              <a:lumMod val="40000"/>
              <a:lumOff val="60000"/>
            </a:schemeClr>
          </a:solidFill>
          <a:ln w="12700">
            <a:solidFill>
              <a:srgbClr val="2D3561"/>
            </a:solidFill>
            <a:prstDash val="solid"/>
          </a:ln>
        </p:spPr>
        <p:txBody>
          <a:bodyPr/>
          <a:lstStyle/>
          <a:p>
            <a:endParaRPr lang="en-IN" sz="3600">
              <a:latin typeface="Times New Roman" panose="02020603050405020304" pitchFamily="18" charset="0"/>
              <a:cs typeface="Times New Roman" panose="02020603050405020304" pitchFamily="18" charset="0"/>
            </a:endParaRPr>
          </a:p>
        </p:txBody>
      </p:sp>
      <p:sp>
        <p:nvSpPr>
          <p:cNvPr id="46" name="Text 43"/>
          <p:cNvSpPr/>
          <p:nvPr/>
        </p:nvSpPr>
        <p:spPr>
          <a:xfrm>
            <a:off x="8503920" y="8671560"/>
            <a:ext cx="2523744" cy="493776"/>
          </a:xfrm>
          <a:prstGeom prst="rect">
            <a:avLst/>
          </a:prstGeom>
          <a:noFill/>
          <a:ln/>
        </p:spPr>
        <p:txBody>
          <a:bodyPr wrap="square" rtlCol="0" anchor="ctr"/>
          <a:lstStyle/>
          <a:p>
            <a:pPr algn="ctr"/>
            <a:r>
              <a:rPr lang="en-US" sz="1900" dirty="0">
                <a:latin typeface="Times New Roman" panose="02020603050405020304" pitchFamily="18" charset="0"/>
                <a:ea typeface="Calibri" pitchFamily="34" charset="-122"/>
                <a:cs typeface="Times New Roman" panose="02020603050405020304" pitchFamily="18" charset="0"/>
              </a:rPr>
              <a:t>C (d=1, shared)</a:t>
            </a:r>
            <a:endParaRPr lang="en-US" sz="1900" dirty="0">
              <a:latin typeface="Times New Roman" panose="02020603050405020304" pitchFamily="18" charset="0"/>
              <a:cs typeface="Times New Roman" panose="02020603050405020304" pitchFamily="18" charset="0"/>
            </a:endParaRPr>
          </a:p>
        </p:txBody>
      </p:sp>
      <p:sp>
        <p:nvSpPr>
          <p:cNvPr id="47" name="Text 44"/>
          <p:cNvSpPr/>
          <p:nvPr/>
        </p:nvSpPr>
        <p:spPr>
          <a:xfrm>
            <a:off x="11064240" y="8671560"/>
            <a:ext cx="2523744" cy="493776"/>
          </a:xfrm>
          <a:prstGeom prst="rect">
            <a:avLst/>
          </a:prstGeom>
          <a:noFill/>
          <a:ln/>
        </p:spPr>
        <p:txBody>
          <a:bodyPr wrap="square" rtlCol="0" anchor="ctr"/>
          <a:lstStyle/>
          <a:p>
            <a:pPr algn="ctr"/>
            <a:r>
              <a:rPr lang="en-US" sz="1900" dirty="0">
                <a:latin typeface="Times New Roman" panose="02020603050405020304" pitchFamily="18" charset="0"/>
                <a:ea typeface="Calibri" pitchFamily="34" charset="-122"/>
                <a:cs typeface="Times New Roman" panose="02020603050405020304" pitchFamily="18" charset="0"/>
              </a:rPr>
              <a:t>α = 1.0</a:t>
            </a:r>
            <a:endParaRPr lang="en-US" sz="1900" dirty="0">
              <a:latin typeface="Times New Roman" panose="02020603050405020304" pitchFamily="18" charset="0"/>
              <a:cs typeface="Times New Roman" panose="02020603050405020304" pitchFamily="18" charset="0"/>
            </a:endParaRPr>
          </a:p>
        </p:txBody>
      </p:sp>
      <p:sp>
        <p:nvSpPr>
          <p:cNvPr id="48" name="Text 45"/>
          <p:cNvSpPr/>
          <p:nvPr/>
        </p:nvSpPr>
        <p:spPr>
          <a:xfrm>
            <a:off x="13624560" y="8671560"/>
            <a:ext cx="2560320" cy="493776"/>
          </a:xfrm>
          <a:prstGeom prst="rect">
            <a:avLst/>
          </a:prstGeom>
          <a:noFill/>
          <a:ln/>
        </p:spPr>
        <p:txBody>
          <a:bodyPr wrap="square" rtlCol="0" anchor="ctr"/>
          <a:lstStyle/>
          <a:p>
            <a:pPr algn="ctr"/>
            <a:r>
              <a:rPr lang="en-US" sz="1900" dirty="0">
                <a:latin typeface="Times New Roman" panose="02020603050405020304" pitchFamily="18" charset="0"/>
                <a:ea typeface="Calibri" pitchFamily="34" charset="-122"/>
                <a:cs typeface="Times New Roman" panose="02020603050405020304" pitchFamily="18" charset="0"/>
              </a:rPr>
              <a:t>1.0 × 1 = 1.00</a:t>
            </a:r>
            <a:endParaRPr lang="en-US" sz="1900" dirty="0">
              <a:latin typeface="Times New Roman" panose="02020603050405020304" pitchFamily="18" charset="0"/>
              <a:cs typeface="Times New Roman" panose="02020603050405020304" pitchFamily="18" charset="0"/>
            </a:endParaRPr>
          </a:p>
        </p:txBody>
      </p:sp>
      <p:sp>
        <p:nvSpPr>
          <p:cNvPr id="49" name="Shape 46"/>
          <p:cNvSpPr/>
          <p:nvPr/>
        </p:nvSpPr>
        <p:spPr>
          <a:xfrm>
            <a:off x="8449056" y="9220200"/>
            <a:ext cx="9144000" cy="493776"/>
          </a:xfrm>
          <a:prstGeom prst="rect">
            <a:avLst/>
          </a:prstGeom>
          <a:solidFill>
            <a:schemeClr val="accent3">
              <a:lumMod val="40000"/>
              <a:lumOff val="60000"/>
            </a:schemeClr>
          </a:solidFill>
          <a:ln w="12700">
            <a:solidFill>
              <a:srgbClr val="2D3561"/>
            </a:solidFill>
            <a:prstDash val="solid"/>
          </a:ln>
        </p:spPr>
        <p:txBody>
          <a:bodyPr/>
          <a:lstStyle/>
          <a:p>
            <a:endParaRPr lang="en-IN" sz="3600">
              <a:latin typeface="Times New Roman" panose="02020603050405020304" pitchFamily="18" charset="0"/>
              <a:cs typeface="Times New Roman" panose="02020603050405020304" pitchFamily="18" charset="0"/>
            </a:endParaRPr>
          </a:p>
        </p:txBody>
      </p:sp>
      <p:sp>
        <p:nvSpPr>
          <p:cNvPr id="50" name="Text 47"/>
          <p:cNvSpPr/>
          <p:nvPr/>
        </p:nvSpPr>
        <p:spPr>
          <a:xfrm>
            <a:off x="8503920" y="9220200"/>
            <a:ext cx="2523744" cy="493776"/>
          </a:xfrm>
          <a:prstGeom prst="rect">
            <a:avLst/>
          </a:prstGeom>
          <a:noFill/>
          <a:ln/>
        </p:spPr>
        <p:txBody>
          <a:bodyPr wrap="square" rtlCol="0" anchor="ctr"/>
          <a:lstStyle/>
          <a:p>
            <a:pPr algn="ctr"/>
            <a:r>
              <a:rPr lang="en-US" sz="1900" dirty="0">
                <a:latin typeface="Times New Roman" panose="02020603050405020304" pitchFamily="18" charset="0"/>
                <a:ea typeface="Calibri" pitchFamily="34" charset="-122"/>
                <a:cs typeface="Times New Roman" panose="02020603050405020304" pitchFamily="18" charset="0"/>
              </a:rPr>
              <a:t>E (d=2, far)</a:t>
            </a:r>
            <a:endParaRPr lang="en-US" sz="1900" dirty="0">
              <a:latin typeface="Times New Roman" panose="02020603050405020304" pitchFamily="18" charset="0"/>
              <a:cs typeface="Times New Roman" panose="02020603050405020304" pitchFamily="18" charset="0"/>
            </a:endParaRPr>
          </a:p>
        </p:txBody>
      </p:sp>
      <p:sp>
        <p:nvSpPr>
          <p:cNvPr id="51" name="Text 48"/>
          <p:cNvSpPr/>
          <p:nvPr/>
        </p:nvSpPr>
        <p:spPr>
          <a:xfrm>
            <a:off x="11064240" y="9220200"/>
            <a:ext cx="2523744" cy="493776"/>
          </a:xfrm>
          <a:prstGeom prst="rect">
            <a:avLst/>
          </a:prstGeom>
          <a:noFill/>
          <a:ln/>
        </p:spPr>
        <p:txBody>
          <a:bodyPr wrap="square" rtlCol="0" anchor="ctr"/>
          <a:lstStyle/>
          <a:p>
            <a:pPr algn="ctr"/>
            <a:r>
              <a:rPr lang="en-US" sz="1900" dirty="0">
                <a:latin typeface="Times New Roman" panose="02020603050405020304" pitchFamily="18" charset="0"/>
                <a:ea typeface="Calibri" pitchFamily="34" charset="-122"/>
                <a:cs typeface="Times New Roman" panose="02020603050405020304" pitchFamily="18" charset="0"/>
              </a:rPr>
              <a:t>α = 1/q = 1/0.5 = 2</a:t>
            </a:r>
            <a:endParaRPr lang="en-US" sz="1900" dirty="0">
              <a:latin typeface="Times New Roman" panose="02020603050405020304" pitchFamily="18" charset="0"/>
              <a:cs typeface="Times New Roman" panose="02020603050405020304" pitchFamily="18" charset="0"/>
            </a:endParaRPr>
          </a:p>
        </p:txBody>
      </p:sp>
      <p:sp>
        <p:nvSpPr>
          <p:cNvPr id="52" name="Text 49"/>
          <p:cNvSpPr/>
          <p:nvPr/>
        </p:nvSpPr>
        <p:spPr>
          <a:xfrm>
            <a:off x="13624560" y="9220200"/>
            <a:ext cx="2560320" cy="493776"/>
          </a:xfrm>
          <a:prstGeom prst="rect">
            <a:avLst/>
          </a:prstGeom>
          <a:noFill/>
          <a:ln/>
        </p:spPr>
        <p:txBody>
          <a:bodyPr wrap="square" rtlCol="0" anchor="ctr"/>
          <a:lstStyle/>
          <a:p>
            <a:pPr algn="ctr"/>
            <a:r>
              <a:rPr lang="en-US" sz="1900" dirty="0">
                <a:latin typeface="Times New Roman" panose="02020603050405020304" pitchFamily="18" charset="0"/>
                <a:ea typeface="Calibri" pitchFamily="34" charset="-122"/>
                <a:cs typeface="Times New Roman" panose="02020603050405020304" pitchFamily="18" charset="0"/>
              </a:rPr>
              <a:t>2.0 × 1 = 2.00</a:t>
            </a:r>
            <a:endParaRPr lang="en-US" sz="1900" dirty="0">
              <a:latin typeface="Times New Roman" panose="02020603050405020304" pitchFamily="18" charset="0"/>
              <a:cs typeface="Times New Roman" panose="02020603050405020304" pitchFamily="18" charset="0"/>
            </a:endParaRPr>
          </a:p>
        </p:txBody>
      </p:sp>
      <p:sp>
        <p:nvSpPr>
          <p:cNvPr id="53" name="Text 50"/>
          <p:cNvSpPr/>
          <p:nvPr/>
        </p:nvSpPr>
        <p:spPr>
          <a:xfrm>
            <a:off x="8138160" y="9784080"/>
            <a:ext cx="9144000" cy="493776"/>
          </a:xfrm>
          <a:prstGeom prst="rect">
            <a:avLst/>
          </a:prstGeom>
          <a:noFill/>
          <a:ln/>
        </p:spPr>
        <p:txBody>
          <a:bodyPr wrap="square" rtlCol="0" anchor="ctr"/>
          <a:lstStyle/>
          <a:p>
            <a:pPr algn="ctr"/>
            <a:r>
              <a:rPr lang="en-US" sz="1900" b="1" i="1" dirty="0">
                <a:latin typeface="Calibri" pitchFamily="34" charset="0"/>
                <a:ea typeface="Calibri" pitchFamily="34" charset="-122"/>
                <a:cs typeface="Calibri" pitchFamily="34" charset="-120"/>
              </a:rPr>
              <a:t>Sum = 3.50  →  p(A|B) = 0.14,  p(C|B) = 0.29,  p(E|B) = 0.57</a:t>
            </a:r>
            <a:endParaRPr lang="en-US" sz="1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lumMod val="5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18288000" cy="1316736"/>
          </a:xfrm>
          <a:prstGeom prst="rect">
            <a:avLst/>
          </a:prstGeom>
          <a:solidFill>
            <a:schemeClr val="bg1"/>
          </a:solidFill>
          <a:ln w="12700">
            <a:solidFill>
              <a:srgbClr val="2D3561"/>
            </a:solidFill>
            <a:prstDash val="solid"/>
          </a:ln>
        </p:spPr>
        <p:txBody>
          <a:bodyPr/>
          <a:lstStyle/>
          <a:p>
            <a:endParaRPr lang="en-IN" sz="3600"/>
          </a:p>
        </p:txBody>
      </p:sp>
      <p:sp>
        <p:nvSpPr>
          <p:cNvPr id="3" name="Text 1"/>
          <p:cNvSpPr/>
          <p:nvPr/>
        </p:nvSpPr>
        <p:spPr>
          <a:xfrm>
            <a:off x="548640" y="0"/>
            <a:ext cx="17190720" cy="1316736"/>
          </a:xfrm>
          <a:prstGeom prst="rect">
            <a:avLst/>
          </a:prstGeom>
          <a:noFill/>
          <a:ln/>
        </p:spPr>
        <p:txBody>
          <a:bodyPr wrap="square" rtlCol="0" anchor="ctr"/>
          <a:lstStyle/>
          <a:p>
            <a:r>
              <a:rPr lang="en-US" sz="4200" b="1" dirty="0">
                <a:latin typeface="Times New Roman" panose="02020603050405020304" pitchFamily="18" charset="0"/>
                <a:ea typeface="Cambria" pitchFamily="34" charset="-122"/>
                <a:cs typeface="Times New Roman" panose="02020603050405020304" pitchFamily="18" charset="0"/>
              </a:rPr>
              <a:t>Node2Vec  —  Walk Execution,  Context Pairs  &amp;  Negative Sampling</a:t>
            </a:r>
            <a:endParaRPr lang="en-US" sz="4200" dirty="0">
              <a:latin typeface="Times New Roman" panose="02020603050405020304" pitchFamily="18" charset="0"/>
              <a:cs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402336" y="1499616"/>
            <a:ext cx="7132320" cy="6035040"/>
          </a:xfrm>
          <a:prstGeom prst="rect">
            <a:avLst/>
          </a:prstGeom>
          <a:solidFill>
            <a:schemeClr val="accent3">
              <a:lumMod val="40000"/>
              <a:lumOff val="60000"/>
            </a:schemeClr>
          </a:solidFill>
        </p:spPr>
      </p:pic>
      <p:sp>
        <p:nvSpPr>
          <p:cNvPr id="5" name="Shape 2"/>
          <p:cNvSpPr/>
          <p:nvPr/>
        </p:nvSpPr>
        <p:spPr>
          <a:xfrm>
            <a:off x="402336" y="7644384"/>
            <a:ext cx="7132320" cy="2286000"/>
          </a:xfrm>
          <a:prstGeom prst="roundRect">
            <a:avLst>
              <a:gd name="adj" fmla="val 8000"/>
            </a:avLst>
          </a:prstGeom>
          <a:solidFill>
            <a:schemeClr val="accent3">
              <a:lumMod val="40000"/>
              <a:lumOff val="60000"/>
            </a:schemeClr>
          </a:solidFill>
          <a:ln w="15240">
            <a:solidFill>
              <a:srgbClr val="5EC48A"/>
            </a:solidFill>
            <a:prstDash val="solid"/>
          </a:ln>
          <a:effectLst>
            <a:outerShdw blurRad="101600" dist="38100" dir="2700000" algn="bl" rotWithShape="0">
              <a:srgbClr val="000000">
                <a:alpha val="30000"/>
              </a:srgbClr>
            </a:outerShdw>
          </a:effectLst>
        </p:spPr>
        <p:txBody>
          <a:bodyPr/>
          <a:lstStyle/>
          <a:p>
            <a:endParaRPr lang="en-IN" sz="3600"/>
          </a:p>
        </p:txBody>
      </p:sp>
      <p:sp>
        <p:nvSpPr>
          <p:cNvPr id="6" name="Text 3"/>
          <p:cNvSpPr/>
          <p:nvPr/>
        </p:nvSpPr>
        <p:spPr>
          <a:xfrm>
            <a:off x="585216" y="7717536"/>
            <a:ext cx="6766560" cy="585216"/>
          </a:xfrm>
          <a:prstGeom prst="rect">
            <a:avLst/>
          </a:prstGeom>
          <a:solidFill>
            <a:schemeClr val="accent3">
              <a:lumMod val="40000"/>
              <a:lumOff val="60000"/>
            </a:schemeClr>
          </a:solidFill>
          <a:ln/>
        </p:spPr>
        <p:txBody>
          <a:bodyPr wrap="square" rtlCol="0" anchor="ctr"/>
          <a:lstStyle/>
          <a:p>
            <a:pPr algn="ctr"/>
            <a:r>
              <a:rPr lang="en-US" sz="2100" b="1" dirty="0">
                <a:latin typeface="Calibri" pitchFamily="34" charset="0"/>
                <a:ea typeface="Calibri" pitchFamily="34" charset="-122"/>
                <a:cs typeface="Calibri" pitchFamily="34" charset="-120"/>
              </a:rPr>
              <a:t>Walk Sequence  (length = 5,  p=2,  q=0.5)</a:t>
            </a:r>
            <a:endParaRPr lang="en-US" sz="2100" dirty="0"/>
          </a:p>
        </p:txBody>
      </p:sp>
      <p:sp>
        <p:nvSpPr>
          <p:cNvPr id="7" name="Shape 4"/>
          <p:cNvSpPr/>
          <p:nvPr/>
        </p:nvSpPr>
        <p:spPr>
          <a:xfrm>
            <a:off x="1005840" y="8412480"/>
            <a:ext cx="694944" cy="694944"/>
          </a:xfrm>
          <a:prstGeom prst="ellipse">
            <a:avLst/>
          </a:prstGeom>
          <a:solidFill>
            <a:schemeClr val="accent3">
              <a:lumMod val="40000"/>
              <a:lumOff val="60000"/>
            </a:schemeClr>
          </a:solidFill>
          <a:ln w="12700">
            <a:solidFill>
              <a:srgbClr val="FFFFFF"/>
            </a:solidFill>
            <a:prstDash val="solid"/>
          </a:ln>
        </p:spPr>
        <p:txBody>
          <a:bodyPr/>
          <a:lstStyle/>
          <a:p>
            <a:endParaRPr lang="en-IN" sz="3600"/>
          </a:p>
        </p:txBody>
      </p:sp>
      <p:sp>
        <p:nvSpPr>
          <p:cNvPr id="8" name="Text 5"/>
          <p:cNvSpPr/>
          <p:nvPr/>
        </p:nvSpPr>
        <p:spPr>
          <a:xfrm>
            <a:off x="1005840" y="8412480"/>
            <a:ext cx="694944" cy="694944"/>
          </a:xfrm>
          <a:prstGeom prst="rect">
            <a:avLst/>
          </a:prstGeom>
          <a:solidFill>
            <a:schemeClr val="accent3">
              <a:lumMod val="40000"/>
              <a:lumOff val="60000"/>
            </a:schemeClr>
          </a:solidFill>
          <a:ln/>
        </p:spPr>
        <p:txBody>
          <a:bodyPr wrap="square" rtlCol="0" anchor="ctr"/>
          <a:lstStyle/>
          <a:p>
            <a:pPr algn="ctr"/>
            <a:r>
              <a:rPr lang="en-US" sz="2400" b="1" dirty="0">
                <a:latin typeface="Calibri" pitchFamily="34" charset="0"/>
                <a:ea typeface="Calibri" pitchFamily="34" charset="-122"/>
                <a:cs typeface="Calibri" pitchFamily="34" charset="-120"/>
              </a:rPr>
              <a:t>D</a:t>
            </a:r>
            <a:endParaRPr lang="en-US" sz="2400" dirty="0"/>
          </a:p>
        </p:txBody>
      </p:sp>
      <p:sp>
        <p:nvSpPr>
          <p:cNvPr id="9" name="Shape 6"/>
          <p:cNvSpPr/>
          <p:nvPr/>
        </p:nvSpPr>
        <p:spPr>
          <a:xfrm>
            <a:off x="1700784" y="8759952"/>
            <a:ext cx="585216" cy="0"/>
          </a:xfrm>
          <a:prstGeom prst="line">
            <a:avLst/>
          </a:prstGeom>
          <a:noFill/>
          <a:ln w="19050">
            <a:solidFill>
              <a:srgbClr val="C8D0E0"/>
            </a:solidFill>
            <a:prstDash val="solid"/>
          </a:ln>
        </p:spPr>
        <p:txBody>
          <a:bodyPr/>
          <a:lstStyle/>
          <a:p>
            <a:endParaRPr lang="en-IN" sz="3600"/>
          </a:p>
        </p:txBody>
      </p:sp>
      <p:sp>
        <p:nvSpPr>
          <p:cNvPr id="10" name="Shape 7"/>
          <p:cNvSpPr/>
          <p:nvPr/>
        </p:nvSpPr>
        <p:spPr>
          <a:xfrm>
            <a:off x="2286000" y="8412480"/>
            <a:ext cx="694944" cy="694944"/>
          </a:xfrm>
          <a:prstGeom prst="ellipse">
            <a:avLst/>
          </a:prstGeom>
          <a:solidFill>
            <a:schemeClr val="accent3">
              <a:lumMod val="40000"/>
              <a:lumOff val="60000"/>
            </a:schemeClr>
          </a:solidFill>
          <a:ln w="12700">
            <a:solidFill>
              <a:srgbClr val="FFFFFF"/>
            </a:solidFill>
            <a:prstDash val="solid"/>
          </a:ln>
        </p:spPr>
        <p:txBody>
          <a:bodyPr/>
          <a:lstStyle/>
          <a:p>
            <a:endParaRPr lang="en-IN" sz="3600"/>
          </a:p>
        </p:txBody>
      </p:sp>
      <p:sp>
        <p:nvSpPr>
          <p:cNvPr id="11" name="Text 8"/>
          <p:cNvSpPr/>
          <p:nvPr/>
        </p:nvSpPr>
        <p:spPr>
          <a:xfrm>
            <a:off x="2286000" y="8412480"/>
            <a:ext cx="694944" cy="694944"/>
          </a:xfrm>
          <a:prstGeom prst="rect">
            <a:avLst/>
          </a:prstGeom>
          <a:solidFill>
            <a:schemeClr val="accent3">
              <a:lumMod val="40000"/>
              <a:lumOff val="60000"/>
            </a:schemeClr>
          </a:solidFill>
          <a:ln/>
        </p:spPr>
        <p:txBody>
          <a:bodyPr wrap="square" rtlCol="0" anchor="ctr"/>
          <a:lstStyle/>
          <a:p>
            <a:pPr algn="ctr"/>
            <a:r>
              <a:rPr lang="en-US" sz="2400" b="1" dirty="0">
                <a:latin typeface="Calibri" pitchFamily="34" charset="0"/>
                <a:ea typeface="Calibri" pitchFamily="34" charset="-122"/>
                <a:cs typeface="Calibri" pitchFamily="34" charset="-120"/>
              </a:rPr>
              <a:t>A</a:t>
            </a:r>
            <a:endParaRPr lang="en-US" sz="2400" dirty="0"/>
          </a:p>
        </p:txBody>
      </p:sp>
      <p:sp>
        <p:nvSpPr>
          <p:cNvPr id="12" name="Shape 9"/>
          <p:cNvSpPr/>
          <p:nvPr/>
        </p:nvSpPr>
        <p:spPr>
          <a:xfrm>
            <a:off x="2980944" y="8759952"/>
            <a:ext cx="585216" cy="0"/>
          </a:xfrm>
          <a:prstGeom prst="line">
            <a:avLst/>
          </a:prstGeom>
          <a:noFill/>
          <a:ln w="19050">
            <a:solidFill>
              <a:srgbClr val="C8D0E0"/>
            </a:solidFill>
            <a:prstDash val="solid"/>
          </a:ln>
        </p:spPr>
        <p:txBody>
          <a:bodyPr/>
          <a:lstStyle/>
          <a:p>
            <a:endParaRPr lang="en-IN" sz="3600"/>
          </a:p>
        </p:txBody>
      </p:sp>
      <p:sp>
        <p:nvSpPr>
          <p:cNvPr id="13" name="Shape 10"/>
          <p:cNvSpPr/>
          <p:nvPr/>
        </p:nvSpPr>
        <p:spPr>
          <a:xfrm>
            <a:off x="3566160" y="8412480"/>
            <a:ext cx="694944" cy="694944"/>
          </a:xfrm>
          <a:prstGeom prst="ellipse">
            <a:avLst/>
          </a:prstGeom>
          <a:solidFill>
            <a:schemeClr val="accent3">
              <a:lumMod val="40000"/>
              <a:lumOff val="60000"/>
            </a:schemeClr>
          </a:solidFill>
          <a:ln w="12700">
            <a:solidFill>
              <a:srgbClr val="FFFFFF"/>
            </a:solidFill>
            <a:prstDash val="solid"/>
          </a:ln>
        </p:spPr>
        <p:txBody>
          <a:bodyPr/>
          <a:lstStyle/>
          <a:p>
            <a:endParaRPr lang="en-IN" sz="3600"/>
          </a:p>
        </p:txBody>
      </p:sp>
      <p:sp>
        <p:nvSpPr>
          <p:cNvPr id="14" name="Text 11"/>
          <p:cNvSpPr/>
          <p:nvPr/>
        </p:nvSpPr>
        <p:spPr>
          <a:xfrm>
            <a:off x="3566160" y="8412480"/>
            <a:ext cx="694944" cy="694944"/>
          </a:xfrm>
          <a:prstGeom prst="rect">
            <a:avLst/>
          </a:prstGeom>
          <a:solidFill>
            <a:schemeClr val="accent3">
              <a:lumMod val="40000"/>
              <a:lumOff val="60000"/>
            </a:schemeClr>
          </a:solidFill>
          <a:ln/>
        </p:spPr>
        <p:txBody>
          <a:bodyPr wrap="square" rtlCol="0" anchor="ctr"/>
          <a:lstStyle/>
          <a:p>
            <a:pPr algn="ctr"/>
            <a:r>
              <a:rPr lang="en-US" sz="2400" b="1" dirty="0">
                <a:latin typeface="Calibri" pitchFamily="34" charset="0"/>
                <a:ea typeface="Calibri" pitchFamily="34" charset="-122"/>
                <a:cs typeface="Calibri" pitchFamily="34" charset="-120"/>
              </a:rPr>
              <a:t>B</a:t>
            </a:r>
            <a:endParaRPr lang="en-US" sz="2400" dirty="0"/>
          </a:p>
        </p:txBody>
      </p:sp>
      <p:sp>
        <p:nvSpPr>
          <p:cNvPr id="15" name="Shape 12"/>
          <p:cNvSpPr/>
          <p:nvPr/>
        </p:nvSpPr>
        <p:spPr>
          <a:xfrm>
            <a:off x="4261104" y="8759952"/>
            <a:ext cx="585216" cy="0"/>
          </a:xfrm>
          <a:prstGeom prst="line">
            <a:avLst/>
          </a:prstGeom>
          <a:noFill/>
          <a:ln w="19050">
            <a:solidFill>
              <a:srgbClr val="C8D0E0"/>
            </a:solidFill>
            <a:prstDash val="solid"/>
          </a:ln>
        </p:spPr>
        <p:txBody>
          <a:bodyPr/>
          <a:lstStyle/>
          <a:p>
            <a:endParaRPr lang="en-IN" sz="3600"/>
          </a:p>
        </p:txBody>
      </p:sp>
      <p:sp>
        <p:nvSpPr>
          <p:cNvPr id="16" name="Shape 13"/>
          <p:cNvSpPr/>
          <p:nvPr/>
        </p:nvSpPr>
        <p:spPr>
          <a:xfrm>
            <a:off x="4846320" y="8412480"/>
            <a:ext cx="694944" cy="694944"/>
          </a:xfrm>
          <a:prstGeom prst="ellipse">
            <a:avLst/>
          </a:prstGeom>
          <a:solidFill>
            <a:schemeClr val="accent3">
              <a:lumMod val="40000"/>
              <a:lumOff val="60000"/>
            </a:schemeClr>
          </a:solidFill>
          <a:ln w="12700">
            <a:solidFill>
              <a:srgbClr val="FFFFFF"/>
            </a:solidFill>
            <a:prstDash val="solid"/>
          </a:ln>
        </p:spPr>
        <p:txBody>
          <a:bodyPr/>
          <a:lstStyle/>
          <a:p>
            <a:endParaRPr lang="en-IN" sz="3600"/>
          </a:p>
        </p:txBody>
      </p:sp>
      <p:sp>
        <p:nvSpPr>
          <p:cNvPr id="17" name="Text 14"/>
          <p:cNvSpPr/>
          <p:nvPr/>
        </p:nvSpPr>
        <p:spPr>
          <a:xfrm>
            <a:off x="4846320" y="8412480"/>
            <a:ext cx="694944" cy="694944"/>
          </a:xfrm>
          <a:prstGeom prst="rect">
            <a:avLst/>
          </a:prstGeom>
          <a:solidFill>
            <a:schemeClr val="accent3">
              <a:lumMod val="40000"/>
              <a:lumOff val="60000"/>
            </a:schemeClr>
          </a:solidFill>
          <a:ln/>
        </p:spPr>
        <p:txBody>
          <a:bodyPr wrap="square" rtlCol="0" anchor="ctr"/>
          <a:lstStyle/>
          <a:p>
            <a:pPr algn="ctr"/>
            <a:r>
              <a:rPr lang="en-US" sz="2400" b="1" dirty="0">
                <a:latin typeface="Calibri" pitchFamily="34" charset="0"/>
                <a:ea typeface="Calibri" pitchFamily="34" charset="-122"/>
                <a:cs typeface="Calibri" pitchFamily="34" charset="-120"/>
              </a:rPr>
              <a:t>C</a:t>
            </a:r>
            <a:endParaRPr lang="en-US" sz="2400" dirty="0"/>
          </a:p>
        </p:txBody>
      </p:sp>
      <p:sp>
        <p:nvSpPr>
          <p:cNvPr id="18" name="Shape 15"/>
          <p:cNvSpPr/>
          <p:nvPr/>
        </p:nvSpPr>
        <p:spPr>
          <a:xfrm>
            <a:off x="5541264" y="8759952"/>
            <a:ext cx="585216" cy="0"/>
          </a:xfrm>
          <a:prstGeom prst="line">
            <a:avLst/>
          </a:prstGeom>
          <a:noFill/>
          <a:ln w="19050">
            <a:solidFill>
              <a:srgbClr val="C8D0E0"/>
            </a:solidFill>
            <a:prstDash val="solid"/>
          </a:ln>
        </p:spPr>
        <p:txBody>
          <a:bodyPr/>
          <a:lstStyle/>
          <a:p>
            <a:endParaRPr lang="en-IN" sz="3600"/>
          </a:p>
        </p:txBody>
      </p:sp>
      <p:sp>
        <p:nvSpPr>
          <p:cNvPr id="19" name="Shape 16"/>
          <p:cNvSpPr/>
          <p:nvPr/>
        </p:nvSpPr>
        <p:spPr>
          <a:xfrm>
            <a:off x="6126480" y="8412480"/>
            <a:ext cx="694944" cy="694944"/>
          </a:xfrm>
          <a:prstGeom prst="ellipse">
            <a:avLst/>
          </a:prstGeom>
          <a:solidFill>
            <a:schemeClr val="accent3">
              <a:lumMod val="40000"/>
              <a:lumOff val="60000"/>
            </a:schemeClr>
          </a:solidFill>
          <a:ln w="12700">
            <a:solidFill>
              <a:srgbClr val="FFFFFF"/>
            </a:solidFill>
            <a:prstDash val="solid"/>
          </a:ln>
        </p:spPr>
        <p:txBody>
          <a:bodyPr/>
          <a:lstStyle/>
          <a:p>
            <a:endParaRPr lang="en-IN" sz="3600"/>
          </a:p>
        </p:txBody>
      </p:sp>
      <p:sp>
        <p:nvSpPr>
          <p:cNvPr id="20" name="Text 17"/>
          <p:cNvSpPr/>
          <p:nvPr/>
        </p:nvSpPr>
        <p:spPr>
          <a:xfrm>
            <a:off x="6126480" y="8412480"/>
            <a:ext cx="694944" cy="694944"/>
          </a:xfrm>
          <a:prstGeom prst="rect">
            <a:avLst/>
          </a:prstGeom>
          <a:solidFill>
            <a:schemeClr val="accent3">
              <a:lumMod val="40000"/>
              <a:lumOff val="60000"/>
            </a:schemeClr>
          </a:solidFill>
          <a:ln/>
        </p:spPr>
        <p:txBody>
          <a:bodyPr wrap="square" rtlCol="0" anchor="ctr"/>
          <a:lstStyle/>
          <a:p>
            <a:pPr algn="ctr"/>
            <a:r>
              <a:rPr lang="en-US" sz="2400" b="1" dirty="0">
                <a:latin typeface="Calibri" pitchFamily="34" charset="0"/>
                <a:ea typeface="Calibri" pitchFamily="34" charset="-122"/>
                <a:cs typeface="Calibri" pitchFamily="34" charset="-120"/>
              </a:rPr>
              <a:t>F</a:t>
            </a:r>
            <a:endParaRPr lang="en-US" sz="2400" dirty="0"/>
          </a:p>
        </p:txBody>
      </p:sp>
      <p:sp>
        <p:nvSpPr>
          <p:cNvPr id="21" name="Text 18"/>
          <p:cNvSpPr/>
          <p:nvPr/>
        </p:nvSpPr>
        <p:spPr>
          <a:xfrm>
            <a:off x="585216" y="9235440"/>
            <a:ext cx="6766560" cy="585216"/>
          </a:xfrm>
          <a:prstGeom prst="rect">
            <a:avLst/>
          </a:prstGeom>
          <a:solidFill>
            <a:schemeClr val="accent3">
              <a:lumMod val="40000"/>
              <a:lumOff val="60000"/>
            </a:schemeClr>
          </a:solidFill>
          <a:ln/>
        </p:spPr>
        <p:txBody>
          <a:bodyPr wrap="square" rtlCol="0" anchor="ctr"/>
          <a:lstStyle/>
          <a:p>
            <a:pPr algn="ctr"/>
            <a:r>
              <a:rPr lang="en-US" i="1" dirty="0">
                <a:latin typeface="Calibri" pitchFamily="34" charset="0"/>
                <a:ea typeface="Calibri" pitchFamily="34" charset="-122"/>
                <a:cs typeface="Calibri" pitchFamily="34" charset="-120"/>
              </a:rPr>
              <a:t>Biased walk prefers DFS (q&lt;1): goes D→A→B→C→F exploring far structure</a:t>
            </a:r>
            <a:endParaRPr lang="en-US" dirty="0"/>
          </a:p>
        </p:txBody>
      </p:sp>
      <p:sp>
        <p:nvSpPr>
          <p:cNvPr id="22" name="Shape 19"/>
          <p:cNvSpPr/>
          <p:nvPr/>
        </p:nvSpPr>
        <p:spPr>
          <a:xfrm>
            <a:off x="7863840" y="1499616"/>
            <a:ext cx="4754880" cy="4754880"/>
          </a:xfrm>
          <a:prstGeom prst="roundRect">
            <a:avLst>
              <a:gd name="adj" fmla="val 4615"/>
            </a:avLst>
          </a:prstGeom>
          <a:solidFill>
            <a:schemeClr val="accent3">
              <a:lumMod val="40000"/>
              <a:lumOff val="60000"/>
            </a:schemeClr>
          </a:solidFill>
          <a:ln w="15240">
            <a:solidFill>
              <a:srgbClr val="4A90D9"/>
            </a:solidFill>
            <a:prstDash val="solid"/>
          </a:ln>
          <a:effectLst>
            <a:outerShdw blurRad="101600" dist="38100" dir="2700000" algn="bl" rotWithShape="0">
              <a:srgbClr val="000000">
                <a:alpha val="30000"/>
              </a:srgbClr>
            </a:outerShdw>
          </a:effectLst>
        </p:spPr>
        <p:txBody>
          <a:bodyPr/>
          <a:lstStyle/>
          <a:p>
            <a:endParaRPr lang="en-IN" sz="3600"/>
          </a:p>
        </p:txBody>
      </p:sp>
      <p:sp>
        <p:nvSpPr>
          <p:cNvPr id="23" name="Text 20"/>
          <p:cNvSpPr/>
          <p:nvPr/>
        </p:nvSpPr>
        <p:spPr>
          <a:xfrm>
            <a:off x="8083296" y="1591056"/>
            <a:ext cx="4352544" cy="621792"/>
          </a:xfrm>
          <a:prstGeom prst="rect">
            <a:avLst/>
          </a:prstGeom>
          <a:solidFill>
            <a:schemeClr val="accent3">
              <a:lumMod val="40000"/>
              <a:lumOff val="60000"/>
            </a:schemeClr>
          </a:solidFill>
          <a:ln/>
        </p:spPr>
        <p:txBody>
          <a:bodyPr wrap="square" rtlCol="0" anchor="ctr"/>
          <a:lstStyle/>
          <a:p>
            <a:pPr algn="ctr"/>
            <a:r>
              <a:rPr lang="en-US" sz="2200" b="1" dirty="0">
                <a:latin typeface="Calibri" pitchFamily="34" charset="0"/>
                <a:ea typeface="Calibri" pitchFamily="34" charset="-122"/>
                <a:cs typeface="Calibri" pitchFamily="34" charset="-120"/>
              </a:rPr>
              <a:t>Context Pairs  (window = 2)</a:t>
            </a:r>
            <a:endParaRPr lang="en-US" sz="2200" dirty="0"/>
          </a:p>
        </p:txBody>
      </p:sp>
      <p:sp>
        <p:nvSpPr>
          <p:cNvPr id="24" name="Text 21"/>
          <p:cNvSpPr/>
          <p:nvPr/>
        </p:nvSpPr>
        <p:spPr>
          <a:xfrm>
            <a:off x="8083296" y="2377440"/>
            <a:ext cx="4352544" cy="493776"/>
          </a:xfrm>
          <a:prstGeom prst="rect">
            <a:avLst/>
          </a:prstGeom>
          <a:solidFill>
            <a:schemeClr val="accent3">
              <a:lumMod val="40000"/>
              <a:lumOff val="60000"/>
            </a:schemeClr>
          </a:solidFill>
          <a:ln/>
        </p:spPr>
        <p:txBody>
          <a:bodyPr wrap="square" rtlCol="0" anchor="ctr"/>
          <a:lstStyle/>
          <a:p>
            <a:r>
              <a:rPr lang="en-US" sz="1900" b="1" dirty="0">
                <a:latin typeface="Calibri" pitchFamily="34" charset="0"/>
                <a:ea typeface="Calibri" pitchFamily="34" charset="-122"/>
                <a:cs typeface="Calibri" pitchFamily="34" charset="-120"/>
              </a:rPr>
              <a:t>D: </a:t>
            </a:r>
            <a:r>
              <a:rPr lang="en-US" sz="1900" dirty="0">
                <a:latin typeface="Calibri" pitchFamily="34" charset="0"/>
                <a:ea typeface="Calibri" pitchFamily="34" charset="-122"/>
                <a:cs typeface="Calibri" pitchFamily="34" charset="-120"/>
              </a:rPr>
              <a:t>(D,A)  (D,B)</a:t>
            </a:r>
            <a:endParaRPr lang="en-US" sz="1900" dirty="0"/>
          </a:p>
        </p:txBody>
      </p:sp>
      <p:sp>
        <p:nvSpPr>
          <p:cNvPr id="25" name="Text 22"/>
          <p:cNvSpPr/>
          <p:nvPr/>
        </p:nvSpPr>
        <p:spPr>
          <a:xfrm>
            <a:off x="8083296" y="2871216"/>
            <a:ext cx="4352544" cy="493776"/>
          </a:xfrm>
          <a:prstGeom prst="rect">
            <a:avLst/>
          </a:prstGeom>
          <a:solidFill>
            <a:schemeClr val="accent3">
              <a:lumMod val="40000"/>
              <a:lumOff val="60000"/>
            </a:schemeClr>
          </a:solidFill>
          <a:ln/>
        </p:spPr>
        <p:txBody>
          <a:bodyPr wrap="square" rtlCol="0" anchor="ctr"/>
          <a:lstStyle/>
          <a:p>
            <a:r>
              <a:rPr lang="en-US" sz="1900" b="1" dirty="0">
                <a:latin typeface="Calibri" pitchFamily="34" charset="0"/>
                <a:ea typeface="Calibri" pitchFamily="34" charset="-122"/>
                <a:cs typeface="Calibri" pitchFamily="34" charset="-120"/>
              </a:rPr>
              <a:t>A: </a:t>
            </a:r>
            <a:r>
              <a:rPr lang="en-US" sz="1900" dirty="0">
                <a:latin typeface="Calibri" pitchFamily="34" charset="0"/>
                <a:ea typeface="Calibri" pitchFamily="34" charset="-122"/>
                <a:cs typeface="Calibri" pitchFamily="34" charset="-120"/>
              </a:rPr>
              <a:t>(A,D)  (A,B)  (A,C)</a:t>
            </a:r>
            <a:endParaRPr lang="en-US" sz="1900" dirty="0"/>
          </a:p>
        </p:txBody>
      </p:sp>
      <p:sp>
        <p:nvSpPr>
          <p:cNvPr id="26" name="Text 23"/>
          <p:cNvSpPr/>
          <p:nvPr/>
        </p:nvSpPr>
        <p:spPr>
          <a:xfrm>
            <a:off x="8083296" y="3364992"/>
            <a:ext cx="4352544" cy="493776"/>
          </a:xfrm>
          <a:prstGeom prst="rect">
            <a:avLst/>
          </a:prstGeom>
          <a:solidFill>
            <a:schemeClr val="accent3">
              <a:lumMod val="40000"/>
              <a:lumOff val="60000"/>
            </a:schemeClr>
          </a:solidFill>
          <a:ln/>
        </p:spPr>
        <p:txBody>
          <a:bodyPr wrap="square" rtlCol="0" anchor="ctr"/>
          <a:lstStyle/>
          <a:p>
            <a:r>
              <a:rPr lang="en-US" sz="1900" b="1" dirty="0">
                <a:latin typeface="Calibri" pitchFamily="34" charset="0"/>
                <a:ea typeface="Calibri" pitchFamily="34" charset="-122"/>
                <a:cs typeface="Calibri" pitchFamily="34" charset="-120"/>
              </a:rPr>
              <a:t>B: </a:t>
            </a:r>
            <a:r>
              <a:rPr lang="en-US" sz="1900" dirty="0">
                <a:latin typeface="Calibri" pitchFamily="34" charset="0"/>
                <a:ea typeface="Calibri" pitchFamily="34" charset="-122"/>
                <a:cs typeface="Calibri" pitchFamily="34" charset="-120"/>
              </a:rPr>
              <a:t>(B,A)  (B,C)  (B,F)</a:t>
            </a:r>
            <a:endParaRPr lang="en-US" sz="1900" dirty="0"/>
          </a:p>
        </p:txBody>
      </p:sp>
      <p:sp>
        <p:nvSpPr>
          <p:cNvPr id="27" name="Text 24"/>
          <p:cNvSpPr/>
          <p:nvPr/>
        </p:nvSpPr>
        <p:spPr>
          <a:xfrm>
            <a:off x="8083296" y="3858768"/>
            <a:ext cx="4352544" cy="493776"/>
          </a:xfrm>
          <a:prstGeom prst="rect">
            <a:avLst/>
          </a:prstGeom>
          <a:solidFill>
            <a:schemeClr val="accent3">
              <a:lumMod val="40000"/>
              <a:lumOff val="60000"/>
            </a:schemeClr>
          </a:solidFill>
          <a:ln/>
        </p:spPr>
        <p:txBody>
          <a:bodyPr wrap="square" rtlCol="0" anchor="ctr"/>
          <a:lstStyle/>
          <a:p>
            <a:r>
              <a:rPr lang="en-US" sz="1900" b="1" dirty="0">
                <a:latin typeface="Calibri" pitchFamily="34" charset="0"/>
                <a:ea typeface="Calibri" pitchFamily="34" charset="-122"/>
                <a:cs typeface="Calibri" pitchFamily="34" charset="-120"/>
              </a:rPr>
              <a:t>C: </a:t>
            </a:r>
            <a:r>
              <a:rPr lang="en-US" sz="1900" dirty="0">
                <a:latin typeface="Calibri" pitchFamily="34" charset="0"/>
                <a:ea typeface="Calibri" pitchFamily="34" charset="-122"/>
                <a:cs typeface="Calibri" pitchFamily="34" charset="-120"/>
              </a:rPr>
              <a:t>(C,B)  (C,F)  (C,A)</a:t>
            </a:r>
            <a:endParaRPr lang="en-US" sz="1900" dirty="0"/>
          </a:p>
        </p:txBody>
      </p:sp>
      <p:sp>
        <p:nvSpPr>
          <p:cNvPr id="28" name="Text 25"/>
          <p:cNvSpPr/>
          <p:nvPr/>
        </p:nvSpPr>
        <p:spPr>
          <a:xfrm>
            <a:off x="8083296" y="4352544"/>
            <a:ext cx="4352544" cy="493776"/>
          </a:xfrm>
          <a:prstGeom prst="rect">
            <a:avLst/>
          </a:prstGeom>
          <a:solidFill>
            <a:schemeClr val="accent3">
              <a:lumMod val="40000"/>
              <a:lumOff val="60000"/>
            </a:schemeClr>
          </a:solidFill>
          <a:ln/>
        </p:spPr>
        <p:txBody>
          <a:bodyPr wrap="square" rtlCol="0" anchor="ctr"/>
          <a:lstStyle/>
          <a:p>
            <a:r>
              <a:rPr lang="en-US" sz="1900" b="1" dirty="0">
                <a:latin typeface="Calibri" pitchFamily="34" charset="0"/>
                <a:ea typeface="Calibri" pitchFamily="34" charset="-122"/>
                <a:cs typeface="Calibri" pitchFamily="34" charset="-120"/>
              </a:rPr>
              <a:t>F: </a:t>
            </a:r>
            <a:r>
              <a:rPr lang="en-US" sz="1900" dirty="0">
                <a:latin typeface="Calibri" pitchFamily="34" charset="0"/>
                <a:ea typeface="Calibri" pitchFamily="34" charset="-122"/>
                <a:cs typeface="Calibri" pitchFamily="34" charset="-120"/>
              </a:rPr>
              <a:t>(F,C)  (F,B)</a:t>
            </a:r>
            <a:endParaRPr lang="en-US" sz="1900" dirty="0"/>
          </a:p>
        </p:txBody>
      </p:sp>
      <p:sp>
        <p:nvSpPr>
          <p:cNvPr id="29" name="Text 26"/>
          <p:cNvSpPr/>
          <p:nvPr/>
        </p:nvSpPr>
        <p:spPr>
          <a:xfrm>
            <a:off x="8083296" y="4937760"/>
            <a:ext cx="4352544" cy="768096"/>
          </a:xfrm>
          <a:prstGeom prst="rect">
            <a:avLst/>
          </a:prstGeom>
          <a:solidFill>
            <a:schemeClr val="accent3">
              <a:lumMod val="40000"/>
              <a:lumOff val="60000"/>
            </a:schemeClr>
          </a:solidFill>
          <a:ln/>
        </p:spPr>
        <p:txBody>
          <a:bodyPr wrap="square" rtlCol="0" anchor="ctr"/>
          <a:lstStyle/>
          <a:p>
            <a:pPr algn="ctr"/>
            <a:r>
              <a:rPr lang="en-US" sz="1900" i="1" dirty="0">
                <a:latin typeface="Calibri" pitchFamily="34" charset="0"/>
                <a:ea typeface="Calibri" pitchFamily="34" charset="-122"/>
                <a:cs typeface="Calibri" pitchFamily="34" charset="-120"/>
              </a:rPr>
              <a:t>→ All pairs feed the</a:t>
            </a:r>
            <a:endParaRPr lang="en-US" sz="1900" dirty="0"/>
          </a:p>
          <a:p>
            <a:pPr algn="ctr"/>
            <a:r>
              <a:rPr lang="en-US" sz="1900" i="1" dirty="0">
                <a:latin typeface="Calibri" pitchFamily="34" charset="0"/>
                <a:ea typeface="Calibri" pitchFamily="34" charset="-122"/>
                <a:cs typeface="Calibri" pitchFamily="34" charset="-120"/>
              </a:rPr>
              <a:t>negative sampling loss</a:t>
            </a:r>
            <a:endParaRPr lang="en-US" sz="1900" dirty="0"/>
          </a:p>
        </p:txBody>
      </p:sp>
      <p:sp>
        <p:nvSpPr>
          <p:cNvPr id="30" name="Shape 27"/>
          <p:cNvSpPr/>
          <p:nvPr/>
        </p:nvSpPr>
        <p:spPr>
          <a:xfrm>
            <a:off x="7863840" y="6492240"/>
            <a:ext cx="4754880" cy="3474720"/>
          </a:xfrm>
          <a:prstGeom prst="roundRect">
            <a:avLst>
              <a:gd name="adj" fmla="val 6316"/>
            </a:avLst>
          </a:prstGeom>
          <a:solidFill>
            <a:schemeClr val="accent3">
              <a:lumMod val="40000"/>
              <a:lumOff val="60000"/>
            </a:schemeClr>
          </a:solidFill>
          <a:ln w="15240">
            <a:solidFill>
              <a:srgbClr val="E07070"/>
            </a:solidFill>
            <a:prstDash val="solid"/>
          </a:ln>
          <a:effectLst>
            <a:outerShdw blurRad="101600" dist="38100" dir="2700000" algn="bl" rotWithShape="0">
              <a:srgbClr val="000000">
                <a:alpha val="30000"/>
              </a:srgbClr>
            </a:outerShdw>
          </a:effectLst>
        </p:spPr>
        <p:txBody>
          <a:bodyPr/>
          <a:lstStyle/>
          <a:p>
            <a:endParaRPr lang="en-IN" sz="3600"/>
          </a:p>
        </p:txBody>
      </p:sp>
      <p:sp>
        <p:nvSpPr>
          <p:cNvPr id="31" name="Text 28"/>
          <p:cNvSpPr/>
          <p:nvPr/>
        </p:nvSpPr>
        <p:spPr>
          <a:xfrm>
            <a:off x="8083296" y="6583680"/>
            <a:ext cx="4352544" cy="621792"/>
          </a:xfrm>
          <a:prstGeom prst="rect">
            <a:avLst/>
          </a:prstGeom>
          <a:solidFill>
            <a:schemeClr val="accent3">
              <a:lumMod val="40000"/>
              <a:lumOff val="60000"/>
            </a:schemeClr>
          </a:solidFill>
          <a:ln/>
        </p:spPr>
        <p:txBody>
          <a:bodyPr wrap="square" rtlCol="0" anchor="ctr"/>
          <a:lstStyle/>
          <a:p>
            <a:pPr algn="ctr"/>
            <a:r>
              <a:rPr lang="en-US" sz="2200" b="1" dirty="0">
                <a:latin typeface="Calibri" pitchFamily="34" charset="0"/>
                <a:ea typeface="Calibri" pitchFamily="34" charset="-122"/>
                <a:cs typeface="Calibri" pitchFamily="34" charset="-120"/>
              </a:rPr>
              <a:t>Why Negative Sampling?</a:t>
            </a:r>
            <a:endParaRPr lang="en-US" sz="2200" dirty="0"/>
          </a:p>
        </p:txBody>
      </p:sp>
      <p:sp>
        <p:nvSpPr>
          <p:cNvPr id="32" name="Text 29"/>
          <p:cNvSpPr/>
          <p:nvPr/>
        </p:nvSpPr>
        <p:spPr>
          <a:xfrm>
            <a:off x="8083296" y="7351776"/>
            <a:ext cx="4352544" cy="694944"/>
          </a:xfrm>
          <a:prstGeom prst="rect">
            <a:avLst/>
          </a:prstGeom>
          <a:solidFill>
            <a:schemeClr val="accent3">
              <a:lumMod val="40000"/>
              <a:lumOff val="60000"/>
            </a:schemeClr>
          </a:solidFill>
          <a:ln/>
        </p:spPr>
        <p:txBody>
          <a:bodyPr wrap="square" rtlCol="0" anchor="ctr"/>
          <a:lstStyle/>
          <a:p>
            <a:r>
              <a:rPr lang="en-US" b="1" dirty="0">
                <a:latin typeface="Calibri" pitchFamily="34" charset="0"/>
                <a:ea typeface="Calibri" pitchFamily="34" charset="-122"/>
                <a:cs typeface="Calibri" pitchFamily="34" charset="-120"/>
              </a:rPr>
              <a:t>Softmax
</a:t>
            </a:r>
            <a:r>
              <a:rPr lang="en-US" dirty="0">
                <a:latin typeface="Calibri" pitchFamily="34" charset="0"/>
                <a:ea typeface="Calibri" pitchFamily="34" charset="-122"/>
                <a:cs typeface="Calibri" pitchFamily="34" charset="-120"/>
              </a:rPr>
              <a:t>Σ over ALL |V| nodes → O(|V|) per step</a:t>
            </a:r>
            <a:endParaRPr lang="en-US" dirty="0"/>
          </a:p>
        </p:txBody>
      </p:sp>
      <p:sp>
        <p:nvSpPr>
          <p:cNvPr id="33" name="Text 30"/>
          <p:cNvSpPr/>
          <p:nvPr/>
        </p:nvSpPr>
        <p:spPr>
          <a:xfrm>
            <a:off x="8083296" y="8119872"/>
            <a:ext cx="4352544" cy="694944"/>
          </a:xfrm>
          <a:prstGeom prst="rect">
            <a:avLst/>
          </a:prstGeom>
          <a:solidFill>
            <a:schemeClr val="accent3">
              <a:lumMod val="40000"/>
              <a:lumOff val="60000"/>
            </a:schemeClr>
          </a:solidFill>
          <a:ln/>
        </p:spPr>
        <p:txBody>
          <a:bodyPr wrap="square" rtlCol="0" anchor="ctr"/>
          <a:lstStyle/>
          <a:p>
            <a:r>
              <a:rPr lang="en-US" b="1" dirty="0">
                <a:latin typeface="Calibri" pitchFamily="34" charset="0"/>
                <a:ea typeface="Calibri" pitchFamily="34" charset="-122"/>
                <a:cs typeface="Calibri" pitchFamily="34" charset="-120"/>
              </a:rPr>
              <a:t>Neg. Sampling
</a:t>
            </a:r>
            <a:r>
              <a:rPr lang="en-US" dirty="0">
                <a:latin typeface="Calibri" pitchFamily="34" charset="0"/>
                <a:ea typeface="Calibri" pitchFamily="34" charset="-122"/>
                <a:cs typeface="Calibri" pitchFamily="34" charset="-120"/>
              </a:rPr>
              <a:t>Only k random noise nodes → O(k) per step</a:t>
            </a:r>
            <a:endParaRPr lang="en-US" dirty="0"/>
          </a:p>
        </p:txBody>
      </p:sp>
      <p:sp>
        <p:nvSpPr>
          <p:cNvPr id="34" name="Text 31"/>
          <p:cNvSpPr/>
          <p:nvPr/>
        </p:nvSpPr>
        <p:spPr>
          <a:xfrm>
            <a:off x="8083296" y="8887968"/>
            <a:ext cx="4352544" cy="694944"/>
          </a:xfrm>
          <a:prstGeom prst="rect">
            <a:avLst/>
          </a:prstGeom>
          <a:solidFill>
            <a:schemeClr val="accent3">
              <a:lumMod val="40000"/>
              <a:lumOff val="60000"/>
            </a:schemeClr>
          </a:solidFill>
          <a:ln/>
        </p:spPr>
        <p:txBody>
          <a:bodyPr wrap="square" rtlCol="0" anchor="ctr"/>
          <a:lstStyle/>
          <a:p>
            <a:r>
              <a:rPr lang="en-US" b="1" dirty="0">
                <a:latin typeface="Calibri" pitchFamily="34" charset="0"/>
                <a:ea typeface="Calibri" pitchFamily="34" charset="-122"/>
                <a:cs typeface="Calibri" pitchFamily="34" charset="-120"/>
              </a:rPr>
              <a:t>k = 5–20
</a:t>
            </a:r>
            <a:r>
              <a:rPr lang="en-US" dirty="0">
                <a:latin typeface="Calibri" pitchFamily="34" charset="0"/>
                <a:ea typeface="Calibri" pitchFamily="34" charset="-122"/>
                <a:cs typeface="Calibri" pitchFamily="34" charset="-120"/>
              </a:rPr>
              <a:t>Much faster, empirically near-identical quality</a:t>
            </a:r>
            <a:endParaRPr lang="en-US" dirty="0"/>
          </a:p>
        </p:txBody>
      </p:sp>
      <p:pic>
        <p:nvPicPr>
          <p:cNvPr id="35" name="Image 1" descr="preencoded.png"/>
          <p:cNvPicPr>
            <a:picLocks noChangeAspect="1"/>
          </p:cNvPicPr>
          <p:nvPr/>
        </p:nvPicPr>
        <p:blipFill>
          <a:blip r:embed="rId4"/>
          <a:stretch>
            <a:fillRect/>
          </a:stretch>
        </p:blipFill>
        <p:spPr>
          <a:xfrm>
            <a:off x="13021056" y="1499616"/>
            <a:ext cx="4974336" cy="4206240"/>
          </a:xfrm>
          <a:prstGeom prst="rect">
            <a:avLst/>
          </a:prstGeom>
          <a:solidFill>
            <a:schemeClr val="accent3">
              <a:lumMod val="40000"/>
              <a:lumOff val="60000"/>
            </a:schemeClr>
          </a:solidFill>
        </p:spPr>
      </p:pic>
      <p:sp>
        <p:nvSpPr>
          <p:cNvPr id="36" name="Shape 32"/>
          <p:cNvSpPr/>
          <p:nvPr/>
        </p:nvSpPr>
        <p:spPr>
          <a:xfrm>
            <a:off x="13021056" y="5852160"/>
            <a:ext cx="4974336" cy="4114800"/>
          </a:xfrm>
          <a:prstGeom prst="roundRect">
            <a:avLst>
              <a:gd name="adj" fmla="val 5333"/>
            </a:avLst>
          </a:prstGeom>
          <a:solidFill>
            <a:schemeClr val="accent3">
              <a:lumMod val="40000"/>
              <a:lumOff val="60000"/>
            </a:schemeClr>
          </a:solidFill>
          <a:ln w="15240">
            <a:solidFill>
              <a:srgbClr val="F0C040"/>
            </a:solidFill>
            <a:prstDash val="solid"/>
          </a:ln>
          <a:effectLst>
            <a:outerShdw blurRad="101600" dist="38100" dir="2700000" algn="bl" rotWithShape="0">
              <a:srgbClr val="000000">
                <a:alpha val="30000"/>
              </a:srgbClr>
            </a:outerShdw>
          </a:effectLst>
        </p:spPr>
        <p:txBody>
          <a:bodyPr/>
          <a:lstStyle/>
          <a:p>
            <a:endParaRPr lang="en-IN" sz="3600"/>
          </a:p>
        </p:txBody>
      </p:sp>
      <p:sp>
        <p:nvSpPr>
          <p:cNvPr id="37" name="Text 33"/>
          <p:cNvSpPr/>
          <p:nvPr/>
        </p:nvSpPr>
        <p:spPr>
          <a:xfrm>
            <a:off x="13203936" y="5943600"/>
            <a:ext cx="4608576" cy="621792"/>
          </a:xfrm>
          <a:prstGeom prst="rect">
            <a:avLst/>
          </a:prstGeom>
          <a:solidFill>
            <a:schemeClr val="accent3">
              <a:lumMod val="40000"/>
              <a:lumOff val="60000"/>
            </a:schemeClr>
          </a:solidFill>
          <a:ln/>
        </p:spPr>
        <p:txBody>
          <a:bodyPr wrap="square" rtlCol="0" anchor="ctr"/>
          <a:lstStyle/>
          <a:p>
            <a:pPr algn="ctr"/>
            <a:r>
              <a:rPr lang="en-US" sz="2100" b="1" dirty="0">
                <a:latin typeface="Calibri" pitchFamily="34" charset="0"/>
                <a:ea typeface="Calibri" pitchFamily="34" charset="-122"/>
                <a:cs typeface="Calibri" pitchFamily="34" charset="-120"/>
              </a:rPr>
              <a:t>Neg. Sampling Loss (pair B,C)</a:t>
            </a:r>
            <a:endParaRPr lang="en-US" sz="2100" dirty="0"/>
          </a:p>
        </p:txBody>
      </p:sp>
      <p:sp>
        <p:nvSpPr>
          <p:cNvPr id="38" name="Shape 34"/>
          <p:cNvSpPr/>
          <p:nvPr/>
        </p:nvSpPr>
        <p:spPr>
          <a:xfrm>
            <a:off x="13203936" y="6675120"/>
            <a:ext cx="4608576" cy="1060704"/>
          </a:xfrm>
          <a:prstGeom prst="roundRect">
            <a:avLst>
              <a:gd name="adj" fmla="val 13793"/>
            </a:avLst>
          </a:prstGeom>
          <a:solidFill>
            <a:schemeClr val="accent3">
              <a:lumMod val="40000"/>
              <a:lumOff val="60000"/>
            </a:schemeClr>
          </a:solidFill>
          <a:ln w="12700">
            <a:solidFill>
              <a:srgbClr val="F0C040"/>
            </a:solidFill>
            <a:prstDash val="solid"/>
          </a:ln>
        </p:spPr>
        <p:txBody>
          <a:bodyPr/>
          <a:lstStyle/>
          <a:p>
            <a:endParaRPr lang="en-IN" sz="3600"/>
          </a:p>
        </p:txBody>
      </p:sp>
      <p:sp>
        <p:nvSpPr>
          <p:cNvPr id="39" name="Text 35"/>
          <p:cNvSpPr/>
          <p:nvPr/>
        </p:nvSpPr>
        <p:spPr>
          <a:xfrm>
            <a:off x="13203936" y="6675120"/>
            <a:ext cx="4608576" cy="1060704"/>
          </a:xfrm>
          <a:prstGeom prst="rect">
            <a:avLst/>
          </a:prstGeom>
          <a:solidFill>
            <a:schemeClr val="bg2">
              <a:lumMod val="75000"/>
            </a:schemeClr>
          </a:solidFill>
          <a:ln/>
        </p:spPr>
        <p:txBody>
          <a:bodyPr wrap="square" rtlCol="0" anchor="ctr"/>
          <a:lstStyle/>
          <a:p>
            <a:pPr algn="ctr"/>
            <a:r>
              <a:rPr lang="en-US" b="1" i="1" dirty="0">
                <a:latin typeface="Cambria" pitchFamily="34" charset="0"/>
                <a:ea typeface="Cambria" pitchFamily="34" charset="-122"/>
                <a:cs typeface="Cambria" pitchFamily="34" charset="-120"/>
              </a:rPr>
              <a:t>L = log σ(zB·zC)  +  Σ log σ(−zB·zNi)</a:t>
            </a:r>
            <a:endParaRPr lang="en-US" dirty="0"/>
          </a:p>
        </p:txBody>
      </p:sp>
      <p:sp>
        <p:nvSpPr>
          <p:cNvPr id="40" name="Text 36"/>
          <p:cNvSpPr/>
          <p:nvPr/>
        </p:nvSpPr>
        <p:spPr>
          <a:xfrm>
            <a:off x="13203936" y="7863840"/>
            <a:ext cx="4608576" cy="585216"/>
          </a:xfrm>
          <a:prstGeom prst="rect">
            <a:avLst/>
          </a:prstGeom>
          <a:solidFill>
            <a:schemeClr val="accent3">
              <a:lumMod val="40000"/>
              <a:lumOff val="60000"/>
            </a:schemeClr>
          </a:solidFill>
          <a:ln/>
        </p:spPr>
        <p:txBody>
          <a:bodyPr wrap="square" rtlCol="0" anchor="ctr"/>
          <a:lstStyle/>
          <a:p>
            <a:r>
              <a:rPr lang="en-US" sz="1700" b="1" dirty="0">
                <a:latin typeface="Calibri" pitchFamily="34" charset="0"/>
                <a:ea typeface="Calibri" pitchFamily="34" charset="-122"/>
                <a:cs typeface="Calibri" pitchFamily="34" charset="-120"/>
              </a:rPr>
              <a:t>+  log σ(zB·zC)
</a:t>
            </a:r>
            <a:r>
              <a:rPr lang="en-US" sz="1700" dirty="0">
                <a:latin typeface="Calibri" pitchFamily="34" charset="0"/>
                <a:ea typeface="Calibri" pitchFamily="34" charset="-122"/>
                <a:cs typeface="Calibri" pitchFamily="34" charset="-120"/>
              </a:rPr>
              <a:t>Positive: push B &amp; C together</a:t>
            </a:r>
            <a:endParaRPr lang="en-US" sz="1700" dirty="0"/>
          </a:p>
        </p:txBody>
      </p:sp>
      <p:sp>
        <p:nvSpPr>
          <p:cNvPr id="41" name="Text 37"/>
          <p:cNvSpPr/>
          <p:nvPr/>
        </p:nvSpPr>
        <p:spPr>
          <a:xfrm>
            <a:off x="13203936" y="8485632"/>
            <a:ext cx="4608576" cy="585216"/>
          </a:xfrm>
          <a:prstGeom prst="rect">
            <a:avLst/>
          </a:prstGeom>
          <a:solidFill>
            <a:schemeClr val="accent3">
              <a:lumMod val="40000"/>
              <a:lumOff val="60000"/>
            </a:schemeClr>
          </a:solidFill>
          <a:ln/>
        </p:spPr>
        <p:txBody>
          <a:bodyPr wrap="square" rtlCol="0" anchor="ctr"/>
          <a:lstStyle/>
          <a:p>
            <a:r>
              <a:rPr lang="en-US" sz="1700" b="1" dirty="0">
                <a:latin typeface="Calibri" pitchFamily="34" charset="0"/>
                <a:ea typeface="Calibri" pitchFamily="34" charset="-122"/>
                <a:cs typeface="Calibri" pitchFamily="34" charset="-120"/>
              </a:rPr>
              <a:t>+  log σ(−zB·zD)
</a:t>
            </a:r>
            <a:r>
              <a:rPr lang="en-US" sz="1700" dirty="0">
                <a:latin typeface="Calibri" pitchFamily="34" charset="0"/>
                <a:ea typeface="Calibri" pitchFamily="34" charset="-122"/>
                <a:cs typeface="Calibri" pitchFamily="34" charset="-120"/>
              </a:rPr>
              <a:t>Noise node D: push B &amp; D apart</a:t>
            </a:r>
            <a:endParaRPr lang="en-US" sz="1700" dirty="0"/>
          </a:p>
        </p:txBody>
      </p:sp>
      <p:sp>
        <p:nvSpPr>
          <p:cNvPr id="42" name="Text 38"/>
          <p:cNvSpPr/>
          <p:nvPr/>
        </p:nvSpPr>
        <p:spPr>
          <a:xfrm>
            <a:off x="13203936" y="9107424"/>
            <a:ext cx="4608576" cy="585216"/>
          </a:xfrm>
          <a:prstGeom prst="rect">
            <a:avLst/>
          </a:prstGeom>
          <a:solidFill>
            <a:schemeClr val="accent3">
              <a:lumMod val="40000"/>
              <a:lumOff val="60000"/>
            </a:schemeClr>
          </a:solidFill>
          <a:ln/>
        </p:spPr>
        <p:txBody>
          <a:bodyPr wrap="square" rtlCol="0" anchor="ctr"/>
          <a:lstStyle/>
          <a:p>
            <a:r>
              <a:rPr lang="en-US" sz="1700" b="1" dirty="0">
                <a:latin typeface="Calibri" pitchFamily="34" charset="0"/>
                <a:ea typeface="Calibri" pitchFamily="34" charset="-122"/>
                <a:cs typeface="Calibri" pitchFamily="34" charset="-120"/>
              </a:rPr>
              <a:t>+  log σ(−zB·zF)
</a:t>
            </a:r>
            <a:r>
              <a:rPr lang="en-US" sz="1700" dirty="0">
                <a:latin typeface="Calibri" pitchFamily="34" charset="0"/>
                <a:ea typeface="Calibri" pitchFamily="34" charset="-122"/>
                <a:cs typeface="Calibri" pitchFamily="34" charset="-120"/>
              </a:rPr>
              <a:t>Noise node F: push B &amp; F apart</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lumMod val="5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18288000" cy="1316736"/>
          </a:xfrm>
          <a:prstGeom prst="rect">
            <a:avLst/>
          </a:prstGeom>
          <a:solidFill>
            <a:schemeClr val="bg1"/>
          </a:solidFill>
          <a:ln w="12700">
            <a:solidFill>
              <a:srgbClr val="2D3561"/>
            </a:solidFill>
            <a:prstDash val="solid"/>
          </a:ln>
        </p:spPr>
        <p:txBody>
          <a:bodyPr/>
          <a:lstStyle/>
          <a:p>
            <a:endParaRPr lang="en-IN" sz="3600"/>
          </a:p>
        </p:txBody>
      </p:sp>
      <p:sp>
        <p:nvSpPr>
          <p:cNvPr id="3" name="Text 1"/>
          <p:cNvSpPr/>
          <p:nvPr/>
        </p:nvSpPr>
        <p:spPr>
          <a:xfrm>
            <a:off x="548640" y="0"/>
            <a:ext cx="17190720" cy="1316736"/>
          </a:xfrm>
          <a:prstGeom prst="rect">
            <a:avLst/>
          </a:prstGeom>
          <a:noFill/>
          <a:ln/>
        </p:spPr>
        <p:txBody>
          <a:bodyPr wrap="square" rtlCol="0" anchor="ctr"/>
          <a:lstStyle/>
          <a:p>
            <a:r>
              <a:rPr lang="en-US" sz="4200" b="1" dirty="0">
                <a:latin typeface="Times New Roman" panose="02020603050405020304" pitchFamily="18" charset="0"/>
                <a:ea typeface="Cambria" pitchFamily="34" charset="-122"/>
                <a:cs typeface="Times New Roman" panose="02020603050405020304" pitchFamily="18" charset="0"/>
              </a:rPr>
              <a:t>Node2Vec  —  Embedding Update  (Negative Sampling + SGD)</a:t>
            </a:r>
            <a:endParaRPr lang="en-US" sz="4200" dirty="0">
              <a:latin typeface="Times New Roman" panose="02020603050405020304" pitchFamily="18" charset="0"/>
              <a:cs typeface="Times New Roman" panose="02020603050405020304" pitchFamily="18" charset="0"/>
            </a:endParaRPr>
          </a:p>
        </p:txBody>
      </p:sp>
      <p:sp>
        <p:nvSpPr>
          <p:cNvPr id="4" name="Shape 2"/>
          <p:cNvSpPr/>
          <p:nvPr/>
        </p:nvSpPr>
        <p:spPr>
          <a:xfrm>
            <a:off x="402336" y="1499616"/>
            <a:ext cx="8321040" cy="8412480"/>
          </a:xfrm>
          <a:prstGeom prst="roundRect">
            <a:avLst>
              <a:gd name="adj" fmla="val 2637"/>
            </a:avLst>
          </a:prstGeom>
          <a:solidFill>
            <a:schemeClr val="bg2">
              <a:lumMod val="75000"/>
            </a:schemeClr>
          </a:solidFill>
          <a:ln w="15240">
            <a:solidFill>
              <a:srgbClr val="4A90D9"/>
            </a:solidFill>
            <a:prstDash val="solid"/>
          </a:ln>
          <a:effectLst>
            <a:outerShdw blurRad="101600" dist="38100" dir="2700000" algn="bl" rotWithShape="0">
              <a:srgbClr val="000000">
                <a:alpha val="30000"/>
              </a:srgbClr>
            </a:outerShdw>
          </a:effectLst>
        </p:spPr>
        <p:txBody>
          <a:bodyPr/>
          <a:lstStyle/>
          <a:p>
            <a:endParaRPr lang="en-IN" sz="3600"/>
          </a:p>
        </p:txBody>
      </p:sp>
      <p:sp>
        <p:nvSpPr>
          <p:cNvPr id="5" name="Text 3"/>
          <p:cNvSpPr/>
          <p:nvPr/>
        </p:nvSpPr>
        <p:spPr>
          <a:xfrm>
            <a:off x="640080" y="1591056"/>
            <a:ext cx="7863840" cy="621792"/>
          </a:xfrm>
          <a:prstGeom prst="rect">
            <a:avLst/>
          </a:prstGeom>
          <a:noFill/>
          <a:ln/>
        </p:spPr>
        <p:txBody>
          <a:bodyPr wrap="square" rtlCol="0" anchor="ctr"/>
          <a:lstStyle/>
          <a:p>
            <a:pPr algn="ctr"/>
            <a:r>
              <a:rPr lang="en-US" sz="2600" b="1" dirty="0">
                <a:latin typeface="Calibri" pitchFamily="34" charset="0"/>
                <a:ea typeface="Calibri" pitchFamily="34" charset="-122"/>
                <a:cs typeface="Calibri" pitchFamily="34" charset="-120"/>
              </a:rPr>
              <a:t>Initial Embeddings  (2D)</a:t>
            </a:r>
            <a:endParaRPr lang="en-US" sz="2600" dirty="0"/>
          </a:p>
        </p:txBody>
      </p:sp>
      <p:sp>
        <p:nvSpPr>
          <p:cNvPr id="6" name="Shape 4"/>
          <p:cNvSpPr/>
          <p:nvPr/>
        </p:nvSpPr>
        <p:spPr>
          <a:xfrm>
            <a:off x="694944" y="2340864"/>
            <a:ext cx="7790688" cy="585216"/>
          </a:xfrm>
          <a:prstGeom prst="rect">
            <a:avLst/>
          </a:prstGeom>
          <a:solidFill>
            <a:schemeClr val="accent3">
              <a:lumMod val="40000"/>
              <a:lumOff val="60000"/>
            </a:schemeClr>
          </a:solidFill>
          <a:ln w="12700">
            <a:solidFill>
              <a:srgbClr val="4A90D9"/>
            </a:solidFill>
            <a:prstDash val="solid"/>
          </a:ln>
        </p:spPr>
        <p:txBody>
          <a:bodyPr/>
          <a:lstStyle/>
          <a:p>
            <a:endParaRPr lang="en-IN" sz="3600"/>
          </a:p>
        </p:txBody>
      </p:sp>
      <p:sp>
        <p:nvSpPr>
          <p:cNvPr id="7" name="Text 5"/>
          <p:cNvSpPr/>
          <p:nvPr/>
        </p:nvSpPr>
        <p:spPr>
          <a:xfrm>
            <a:off x="731520" y="2340864"/>
            <a:ext cx="2011680" cy="585216"/>
          </a:xfrm>
          <a:prstGeom prst="rect">
            <a:avLst/>
          </a:prstGeom>
          <a:solidFill>
            <a:schemeClr val="accent3">
              <a:lumMod val="40000"/>
              <a:lumOff val="60000"/>
            </a:schemeClr>
          </a:solidFill>
          <a:ln/>
        </p:spPr>
        <p:txBody>
          <a:bodyPr wrap="square" rtlCol="0" anchor="ctr"/>
          <a:lstStyle/>
          <a:p>
            <a:pPr algn="ctr"/>
            <a:r>
              <a:rPr lang="en-US" sz="2100" b="1" dirty="0">
                <a:latin typeface="Calibri" pitchFamily="34" charset="0"/>
                <a:ea typeface="Calibri" pitchFamily="34" charset="-122"/>
                <a:cs typeface="Calibri" pitchFamily="34" charset="-120"/>
              </a:rPr>
              <a:t>Node</a:t>
            </a:r>
            <a:endParaRPr lang="en-US" sz="2100" dirty="0"/>
          </a:p>
        </p:txBody>
      </p:sp>
      <p:sp>
        <p:nvSpPr>
          <p:cNvPr id="8" name="Text 6"/>
          <p:cNvSpPr/>
          <p:nvPr/>
        </p:nvSpPr>
        <p:spPr>
          <a:xfrm>
            <a:off x="2834640" y="2340864"/>
            <a:ext cx="2231136" cy="585216"/>
          </a:xfrm>
          <a:prstGeom prst="rect">
            <a:avLst/>
          </a:prstGeom>
          <a:solidFill>
            <a:schemeClr val="accent3">
              <a:lumMod val="40000"/>
              <a:lumOff val="60000"/>
            </a:schemeClr>
          </a:solidFill>
          <a:ln/>
        </p:spPr>
        <p:txBody>
          <a:bodyPr wrap="square" rtlCol="0" anchor="ctr"/>
          <a:lstStyle/>
          <a:p>
            <a:pPr algn="ctr"/>
            <a:r>
              <a:rPr lang="en-US" sz="2100" b="1" dirty="0">
                <a:latin typeface="Calibri" pitchFamily="34" charset="0"/>
                <a:ea typeface="Calibri" pitchFamily="34" charset="-122"/>
                <a:cs typeface="Calibri" pitchFamily="34" charset="-120"/>
              </a:rPr>
              <a:t>z₁</a:t>
            </a:r>
            <a:endParaRPr lang="en-US" sz="2100" dirty="0"/>
          </a:p>
        </p:txBody>
      </p:sp>
      <p:sp>
        <p:nvSpPr>
          <p:cNvPr id="9" name="Text 7"/>
          <p:cNvSpPr/>
          <p:nvPr/>
        </p:nvSpPr>
        <p:spPr>
          <a:xfrm>
            <a:off x="5120640" y="2340864"/>
            <a:ext cx="2231136" cy="585216"/>
          </a:xfrm>
          <a:prstGeom prst="rect">
            <a:avLst/>
          </a:prstGeom>
          <a:solidFill>
            <a:schemeClr val="accent3">
              <a:lumMod val="40000"/>
              <a:lumOff val="60000"/>
            </a:schemeClr>
          </a:solidFill>
          <a:ln/>
        </p:spPr>
        <p:txBody>
          <a:bodyPr wrap="square" rtlCol="0" anchor="ctr"/>
          <a:lstStyle/>
          <a:p>
            <a:pPr algn="ctr"/>
            <a:r>
              <a:rPr lang="en-US" sz="2100" b="1" dirty="0">
                <a:latin typeface="Calibri" pitchFamily="34" charset="0"/>
                <a:ea typeface="Calibri" pitchFamily="34" charset="-122"/>
                <a:cs typeface="Calibri" pitchFamily="34" charset="-120"/>
              </a:rPr>
              <a:t>z₂</a:t>
            </a:r>
            <a:endParaRPr lang="en-US" sz="2100" dirty="0"/>
          </a:p>
        </p:txBody>
      </p:sp>
      <p:sp>
        <p:nvSpPr>
          <p:cNvPr id="10" name="Shape 8"/>
          <p:cNvSpPr/>
          <p:nvPr/>
        </p:nvSpPr>
        <p:spPr>
          <a:xfrm>
            <a:off x="694944" y="2962656"/>
            <a:ext cx="7790688" cy="621792"/>
          </a:xfrm>
          <a:prstGeom prst="rect">
            <a:avLst/>
          </a:prstGeom>
          <a:solidFill>
            <a:schemeClr val="accent3">
              <a:lumMod val="40000"/>
              <a:lumOff val="60000"/>
            </a:schemeClr>
          </a:solidFill>
          <a:ln w="12700">
            <a:solidFill>
              <a:srgbClr val="2D3561"/>
            </a:solidFill>
            <a:prstDash val="solid"/>
          </a:ln>
        </p:spPr>
        <p:txBody>
          <a:bodyPr/>
          <a:lstStyle/>
          <a:p>
            <a:endParaRPr lang="en-IN" sz="3600"/>
          </a:p>
        </p:txBody>
      </p:sp>
      <p:sp>
        <p:nvSpPr>
          <p:cNvPr id="11" name="Text 9"/>
          <p:cNvSpPr/>
          <p:nvPr/>
        </p:nvSpPr>
        <p:spPr>
          <a:xfrm>
            <a:off x="731520" y="2962656"/>
            <a:ext cx="2011680" cy="621792"/>
          </a:xfrm>
          <a:prstGeom prst="rect">
            <a:avLst/>
          </a:prstGeom>
          <a:solidFill>
            <a:schemeClr val="accent3">
              <a:lumMod val="40000"/>
              <a:lumOff val="60000"/>
            </a:schemeClr>
          </a:solidFill>
          <a:ln/>
        </p:spPr>
        <p:txBody>
          <a:bodyPr wrap="square" rtlCol="0" anchor="ctr"/>
          <a:lstStyle/>
          <a:p>
            <a:pPr algn="ctr"/>
            <a:r>
              <a:rPr lang="en-US" sz="2200" b="1" dirty="0">
                <a:latin typeface="Calibri" pitchFamily="34" charset="0"/>
                <a:ea typeface="Calibri" pitchFamily="34" charset="-122"/>
                <a:cs typeface="Calibri" pitchFamily="34" charset="-120"/>
              </a:rPr>
              <a:t>B</a:t>
            </a:r>
            <a:endParaRPr lang="en-US" sz="2200" dirty="0"/>
          </a:p>
        </p:txBody>
      </p:sp>
      <p:sp>
        <p:nvSpPr>
          <p:cNvPr id="12" name="Text 10"/>
          <p:cNvSpPr/>
          <p:nvPr/>
        </p:nvSpPr>
        <p:spPr>
          <a:xfrm>
            <a:off x="2834640" y="2962656"/>
            <a:ext cx="4480560" cy="621792"/>
          </a:xfrm>
          <a:prstGeom prst="rect">
            <a:avLst/>
          </a:prstGeom>
          <a:solidFill>
            <a:schemeClr val="accent3">
              <a:lumMod val="40000"/>
              <a:lumOff val="60000"/>
            </a:schemeClr>
          </a:solidFill>
          <a:ln/>
        </p:spPr>
        <p:txBody>
          <a:bodyPr wrap="square" rtlCol="0" anchor="ctr"/>
          <a:lstStyle/>
          <a:p>
            <a:pPr algn="ctr"/>
            <a:r>
              <a:rPr lang="en-US" sz="2100" dirty="0">
                <a:latin typeface="Calibri" pitchFamily="34" charset="0"/>
                <a:ea typeface="Calibri" pitchFamily="34" charset="-122"/>
                <a:cs typeface="Calibri" pitchFamily="34" charset="-120"/>
              </a:rPr>
              <a:t>[0.6,  0.8]</a:t>
            </a:r>
            <a:endParaRPr lang="en-US" sz="2100" dirty="0"/>
          </a:p>
        </p:txBody>
      </p:sp>
      <p:sp>
        <p:nvSpPr>
          <p:cNvPr id="13" name="Shape 11"/>
          <p:cNvSpPr/>
          <p:nvPr/>
        </p:nvSpPr>
        <p:spPr>
          <a:xfrm>
            <a:off x="694944" y="3639312"/>
            <a:ext cx="7790688" cy="621792"/>
          </a:xfrm>
          <a:prstGeom prst="rect">
            <a:avLst/>
          </a:prstGeom>
          <a:solidFill>
            <a:schemeClr val="accent3">
              <a:lumMod val="40000"/>
              <a:lumOff val="60000"/>
            </a:schemeClr>
          </a:solidFill>
          <a:ln w="12700">
            <a:solidFill>
              <a:srgbClr val="2D3561"/>
            </a:solidFill>
            <a:prstDash val="solid"/>
          </a:ln>
        </p:spPr>
        <p:txBody>
          <a:bodyPr/>
          <a:lstStyle/>
          <a:p>
            <a:endParaRPr lang="en-IN" sz="3600"/>
          </a:p>
        </p:txBody>
      </p:sp>
      <p:sp>
        <p:nvSpPr>
          <p:cNvPr id="14" name="Text 12"/>
          <p:cNvSpPr/>
          <p:nvPr/>
        </p:nvSpPr>
        <p:spPr>
          <a:xfrm>
            <a:off x="731520" y="3639312"/>
            <a:ext cx="2011680" cy="621792"/>
          </a:xfrm>
          <a:prstGeom prst="rect">
            <a:avLst/>
          </a:prstGeom>
          <a:solidFill>
            <a:schemeClr val="accent3">
              <a:lumMod val="40000"/>
              <a:lumOff val="60000"/>
            </a:schemeClr>
          </a:solidFill>
          <a:ln/>
        </p:spPr>
        <p:txBody>
          <a:bodyPr wrap="square" rtlCol="0" anchor="ctr"/>
          <a:lstStyle/>
          <a:p>
            <a:pPr algn="ctr"/>
            <a:r>
              <a:rPr lang="en-US" sz="2200" b="1" dirty="0">
                <a:latin typeface="Calibri" pitchFamily="34" charset="0"/>
                <a:ea typeface="Calibri" pitchFamily="34" charset="-122"/>
                <a:cs typeface="Calibri" pitchFamily="34" charset="-120"/>
              </a:rPr>
              <a:t>C</a:t>
            </a:r>
            <a:endParaRPr lang="en-US" sz="2200" dirty="0"/>
          </a:p>
        </p:txBody>
      </p:sp>
      <p:sp>
        <p:nvSpPr>
          <p:cNvPr id="15" name="Text 13"/>
          <p:cNvSpPr/>
          <p:nvPr/>
        </p:nvSpPr>
        <p:spPr>
          <a:xfrm>
            <a:off x="2834640" y="3639312"/>
            <a:ext cx="4480560" cy="621792"/>
          </a:xfrm>
          <a:prstGeom prst="rect">
            <a:avLst/>
          </a:prstGeom>
          <a:solidFill>
            <a:schemeClr val="accent3">
              <a:lumMod val="40000"/>
              <a:lumOff val="60000"/>
            </a:schemeClr>
          </a:solidFill>
          <a:ln/>
        </p:spPr>
        <p:txBody>
          <a:bodyPr wrap="square" rtlCol="0" anchor="ctr"/>
          <a:lstStyle/>
          <a:p>
            <a:pPr algn="ctr"/>
            <a:r>
              <a:rPr lang="en-US" sz="2100" dirty="0">
                <a:latin typeface="Calibri" pitchFamily="34" charset="0"/>
                <a:ea typeface="Calibri" pitchFamily="34" charset="-122"/>
                <a:cs typeface="Calibri" pitchFamily="34" charset="-120"/>
              </a:rPr>
              <a:t>[0.7,  -0.2]</a:t>
            </a:r>
            <a:endParaRPr lang="en-US" sz="2100" dirty="0"/>
          </a:p>
        </p:txBody>
      </p:sp>
      <p:sp>
        <p:nvSpPr>
          <p:cNvPr id="16" name="Shape 14"/>
          <p:cNvSpPr/>
          <p:nvPr/>
        </p:nvSpPr>
        <p:spPr>
          <a:xfrm>
            <a:off x="694944" y="4315968"/>
            <a:ext cx="7790688" cy="621792"/>
          </a:xfrm>
          <a:prstGeom prst="rect">
            <a:avLst/>
          </a:prstGeom>
          <a:solidFill>
            <a:schemeClr val="accent3">
              <a:lumMod val="40000"/>
              <a:lumOff val="60000"/>
            </a:schemeClr>
          </a:solidFill>
          <a:ln w="12700">
            <a:solidFill>
              <a:srgbClr val="2D3561"/>
            </a:solidFill>
            <a:prstDash val="solid"/>
          </a:ln>
        </p:spPr>
        <p:txBody>
          <a:bodyPr/>
          <a:lstStyle/>
          <a:p>
            <a:endParaRPr lang="en-IN" sz="3600"/>
          </a:p>
        </p:txBody>
      </p:sp>
      <p:sp>
        <p:nvSpPr>
          <p:cNvPr id="17" name="Text 15"/>
          <p:cNvSpPr/>
          <p:nvPr/>
        </p:nvSpPr>
        <p:spPr>
          <a:xfrm>
            <a:off x="731520" y="4315968"/>
            <a:ext cx="2011680" cy="621792"/>
          </a:xfrm>
          <a:prstGeom prst="rect">
            <a:avLst/>
          </a:prstGeom>
          <a:solidFill>
            <a:schemeClr val="accent3">
              <a:lumMod val="40000"/>
              <a:lumOff val="60000"/>
            </a:schemeClr>
          </a:solidFill>
          <a:ln/>
        </p:spPr>
        <p:txBody>
          <a:bodyPr wrap="square" rtlCol="0" anchor="ctr"/>
          <a:lstStyle/>
          <a:p>
            <a:pPr algn="ctr"/>
            <a:r>
              <a:rPr lang="en-US" sz="2200" b="1" dirty="0">
                <a:latin typeface="Calibri" pitchFamily="34" charset="0"/>
                <a:ea typeface="Calibri" pitchFamily="34" charset="-122"/>
                <a:cs typeface="Calibri" pitchFamily="34" charset="-120"/>
              </a:rPr>
              <a:t>D</a:t>
            </a:r>
            <a:endParaRPr lang="en-US" sz="2200" dirty="0"/>
          </a:p>
        </p:txBody>
      </p:sp>
      <p:sp>
        <p:nvSpPr>
          <p:cNvPr id="18" name="Text 16"/>
          <p:cNvSpPr/>
          <p:nvPr/>
        </p:nvSpPr>
        <p:spPr>
          <a:xfrm>
            <a:off x="2834640" y="4315968"/>
            <a:ext cx="4480560" cy="621792"/>
          </a:xfrm>
          <a:prstGeom prst="rect">
            <a:avLst/>
          </a:prstGeom>
          <a:solidFill>
            <a:schemeClr val="accent3">
              <a:lumMod val="40000"/>
              <a:lumOff val="60000"/>
            </a:schemeClr>
          </a:solidFill>
          <a:ln/>
        </p:spPr>
        <p:txBody>
          <a:bodyPr wrap="square" rtlCol="0" anchor="ctr"/>
          <a:lstStyle/>
          <a:p>
            <a:pPr algn="ctr"/>
            <a:r>
              <a:rPr lang="en-US" sz="2100" dirty="0">
                <a:latin typeface="Calibri" pitchFamily="34" charset="0"/>
                <a:ea typeface="Calibri" pitchFamily="34" charset="-122"/>
                <a:cs typeface="Calibri" pitchFamily="34" charset="-120"/>
              </a:rPr>
              <a:t>[-0.5,  0.3]</a:t>
            </a:r>
            <a:endParaRPr lang="en-US" sz="2100" dirty="0"/>
          </a:p>
        </p:txBody>
      </p:sp>
      <p:sp>
        <p:nvSpPr>
          <p:cNvPr id="19" name="Shape 17"/>
          <p:cNvSpPr/>
          <p:nvPr/>
        </p:nvSpPr>
        <p:spPr>
          <a:xfrm>
            <a:off x="694944" y="4992624"/>
            <a:ext cx="7790688" cy="621792"/>
          </a:xfrm>
          <a:prstGeom prst="rect">
            <a:avLst/>
          </a:prstGeom>
          <a:solidFill>
            <a:schemeClr val="accent3">
              <a:lumMod val="40000"/>
              <a:lumOff val="60000"/>
            </a:schemeClr>
          </a:solidFill>
          <a:ln w="12700">
            <a:solidFill>
              <a:srgbClr val="2D3561"/>
            </a:solidFill>
            <a:prstDash val="solid"/>
          </a:ln>
        </p:spPr>
        <p:txBody>
          <a:bodyPr/>
          <a:lstStyle/>
          <a:p>
            <a:endParaRPr lang="en-IN" sz="3600"/>
          </a:p>
        </p:txBody>
      </p:sp>
      <p:sp>
        <p:nvSpPr>
          <p:cNvPr id="20" name="Text 18"/>
          <p:cNvSpPr/>
          <p:nvPr/>
        </p:nvSpPr>
        <p:spPr>
          <a:xfrm>
            <a:off x="731520" y="4992624"/>
            <a:ext cx="2011680" cy="621792"/>
          </a:xfrm>
          <a:prstGeom prst="rect">
            <a:avLst/>
          </a:prstGeom>
          <a:solidFill>
            <a:schemeClr val="accent3">
              <a:lumMod val="40000"/>
              <a:lumOff val="60000"/>
            </a:schemeClr>
          </a:solidFill>
          <a:ln/>
        </p:spPr>
        <p:txBody>
          <a:bodyPr wrap="square" rtlCol="0" anchor="ctr"/>
          <a:lstStyle/>
          <a:p>
            <a:pPr algn="ctr"/>
            <a:r>
              <a:rPr lang="en-US" sz="2200" b="1" dirty="0">
                <a:latin typeface="Calibri" pitchFamily="34" charset="0"/>
                <a:ea typeface="Calibri" pitchFamily="34" charset="-122"/>
                <a:cs typeface="Calibri" pitchFamily="34" charset="-120"/>
              </a:rPr>
              <a:t>F</a:t>
            </a:r>
            <a:endParaRPr lang="en-US" sz="2200" dirty="0"/>
          </a:p>
        </p:txBody>
      </p:sp>
      <p:sp>
        <p:nvSpPr>
          <p:cNvPr id="21" name="Text 19"/>
          <p:cNvSpPr/>
          <p:nvPr/>
        </p:nvSpPr>
        <p:spPr>
          <a:xfrm>
            <a:off x="2834640" y="4992624"/>
            <a:ext cx="4480560" cy="621792"/>
          </a:xfrm>
          <a:prstGeom prst="rect">
            <a:avLst/>
          </a:prstGeom>
          <a:solidFill>
            <a:schemeClr val="accent3">
              <a:lumMod val="40000"/>
              <a:lumOff val="60000"/>
            </a:schemeClr>
          </a:solidFill>
          <a:ln/>
        </p:spPr>
        <p:txBody>
          <a:bodyPr wrap="square" rtlCol="0" anchor="ctr"/>
          <a:lstStyle/>
          <a:p>
            <a:pPr algn="ctr"/>
            <a:r>
              <a:rPr lang="en-US" sz="2100" dirty="0">
                <a:latin typeface="Calibri" pitchFamily="34" charset="0"/>
                <a:ea typeface="Calibri" pitchFamily="34" charset="-122"/>
                <a:cs typeface="Calibri" pitchFamily="34" charset="-120"/>
              </a:rPr>
              <a:t>[0.1,  0.9]</a:t>
            </a:r>
            <a:endParaRPr lang="en-US" sz="2100" dirty="0"/>
          </a:p>
        </p:txBody>
      </p:sp>
      <p:sp>
        <p:nvSpPr>
          <p:cNvPr id="22" name="Shape 20"/>
          <p:cNvSpPr/>
          <p:nvPr/>
        </p:nvSpPr>
        <p:spPr>
          <a:xfrm>
            <a:off x="694944" y="5669280"/>
            <a:ext cx="7790688" cy="621792"/>
          </a:xfrm>
          <a:prstGeom prst="rect">
            <a:avLst/>
          </a:prstGeom>
          <a:solidFill>
            <a:schemeClr val="accent3">
              <a:lumMod val="40000"/>
              <a:lumOff val="60000"/>
            </a:schemeClr>
          </a:solidFill>
          <a:ln w="12700">
            <a:solidFill>
              <a:srgbClr val="2D3561"/>
            </a:solidFill>
            <a:prstDash val="solid"/>
          </a:ln>
        </p:spPr>
        <p:txBody>
          <a:bodyPr/>
          <a:lstStyle/>
          <a:p>
            <a:endParaRPr lang="en-IN" sz="3600"/>
          </a:p>
        </p:txBody>
      </p:sp>
      <p:sp>
        <p:nvSpPr>
          <p:cNvPr id="23" name="Text 21"/>
          <p:cNvSpPr/>
          <p:nvPr/>
        </p:nvSpPr>
        <p:spPr>
          <a:xfrm>
            <a:off x="731520" y="5669280"/>
            <a:ext cx="2011680" cy="621792"/>
          </a:xfrm>
          <a:prstGeom prst="rect">
            <a:avLst/>
          </a:prstGeom>
          <a:solidFill>
            <a:schemeClr val="accent3">
              <a:lumMod val="40000"/>
              <a:lumOff val="60000"/>
            </a:schemeClr>
          </a:solidFill>
          <a:ln/>
        </p:spPr>
        <p:txBody>
          <a:bodyPr wrap="square" rtlCol="0" anchor="ctr"/>
          <a:lstStyle/>
          <a:p>
            <a:pPr algn="ctr"/>
            <a:r>
              <a:rPr lang="en-US" sz="2200" b="1" dirty="0">
                <a:latin typeface="Calibri" pitchFamily="34" charset="0"/>
                <a:ea typeface="Calibri" pitchFamily="34" charset="-122"/>
                <a:cs typeface="Calibri" pitchFamily="34" charset="-120"/>
              </a:rPr>
              <a:t>A</a:t>
            </a:r>
            <a:endParaRPr lang="en-US" sz="2200" dirty="0"/>
          </a:p>
        </p:txBody>
      </p:sp>
      <p:sp>
        <p:nvSpPr>
          <p:cNvPr id="24" name="Text 22"/>
          <p:cNvSpPr/>
          <p:nvPr/>
        </p:nvSpPr>
        <p:spPr>
          <a:xfrm>
            <a:off x="2834640" y="5669280"/>
            <a:ext cx="4480560" cy="621792"/>
          </a:xfrm>
          <a:prstGeom prst="rect">
            <a:avLst/>
          </a:prstGeom>
          <a:solidFill>
            <a:schemeClr val="accent3">
              <a:lumMod val="40000"/>
              <a:lumOff val="60000"/>
            </a:schemeClr>
          </a:solidFill>
          <a:ln/>
        </p:spPr>
        <p:txBody>
          <a:bodyPr wrap="square" rtlCol="0" anchor="ctr"/>
          <a:lstStyle/>
          <a:p>
            <a:pPr algn="ctr"/>
            <a:r>
              <a:rPr lang="en-US" sz="2100" dirty="0">
                <a:latin typeface="Calibri" pitchFamily="34" charset="0"/>
                <a:ea typeface="Calibri" pitchFamily="34" charset="-122"/>
                <a:cs typeface="Calibri" pitchFamily="34" charset="-120"/>
              </a:rPr>
              <a:t>[0.4,  0.5]</a:t>
            </a:r>
            <a:endParaRPr lang="en-US" sz="2100" dirty="0"/>
          </a:p>
        </p:txBody>
      </p:sp>
      <p:sp>
        <p:nvSpPr>
          <p:cNvPr id="25" name="Shape 23"/>
          <p:cNvSpPr/>
          <p:nvPr/>
        </p:nvSpPr>
        <p:spPr>
          <a:xfrm>
            <a:off x="694944" y="6345936"/>
            <a:ext cx="7790688" cy="621792"/>
          </a:xfrm>
          <a:prstGeom prst="rect">
            <a:avLst/>
          </a:prstGeom>
          <a:solidFill>
            <a:schemeClr val="accent3">
              <a:lumMod val="40000"/>
              <a:lumOff val="60000"/>
            </a:schemeClr>
          </a:solidFill>
          <a:ln w="12700">
            <a:solidFill>
              <a:srgbClr val="2D3561"/>
            </a:solidFill>
            <a:prstDash val="solid"/>
          </a:ln>
        </p:spPr>
        <p:txBody>
          <a:bodyPr/>
          <a:lstStyle/>
          <a:p>
            <a:endParaRPr lang="en-IN" sz="3600"/>
          </a:p>
        </p:txBody>
      </p:sp>
      <p:sp>
        <p:nvSpPr>
          <p:cNvPr id="26" name="Text 24"/>
          <p:cNvSpPr/>
          <p:nvPr/>
        </p:nvSpPr>
        <p:spPr>
          <a:xfrm>
            <a:off x="731520" y="6345936"/>
            <a:ext cx="2011680" cy="621792"/>
          </a:xfrm>
          <a:prstGeom prst="rect">
            <a:avLst/>
          </a:prstGeom>
          <a:solidFill>
            <a:schemeClr val="accent3">
              <a:lumMod val="40000"/>
              <a:lumOff val="60000"/>
            </a:schemeClr>
          </a:solidFill>
          <a:ln/>
        </p:spPr>
        <p:txBody>
          <a:bodyPr wrap="square" rtlCol="0" anchor="ctr"/>
          <a:lstStyle/>
          <a:p>
            <a:pPr algn="ctr"/>
            <a:r>
              <a:rPr lang="en-US" sz="2200" b="1" dirty="0">
                <a:latin typeface="Calibri" pitchFamily="34" charset="0"/>
                <a:ea typeface="Calibri" pitchFamily="34" charset="-122"/>
                <a:cs typeface="Calibri" pitchFamily="34" charset="-120"/>
              </a:rPr>
              <a:t>E</a:t>
            </a:r>
            <a:endParaRPr lang="en-US" sz="2200" dirty="0"/>
          </a:p>
        </p:txBody>
      </p:sp>
      <p:sp>
        <p:nvSpPr>
          <p:cNvPr id="27" name="Text 25"/>
          <p:cNvSpPr/>
          <p:nvPr/>
        </p:nvSpPr>
        <p:spPr>
          <a:xfrm>
            <a:off x="2834640" y="6345936"/>
            <a:ext cx="4480560" cy="621792"/>
          </a:xfrm>
          <a:prstGeom prst="rect">
            <a:avLst/>
          </a:prstGeom>
          <a:solidFill>
            <a:schemeClr val="accent3">
              <a:lumMod val="40000"/>
              <a:lumOff val="60000"/>
            </a:schemeClr>
          </a:solidFill>
          <a:ln/>
        </p:spPr>
        <p:txBody>
          <a:bodyPr wrap="square" rtlCol="0" anchor="ctr"/>
          <a:lstStyle/>
          <a:p>
            <a:pPr algn="ctr"/>
            <a:r>
              <a:rPr lang="en-US" sz="2100" dirty="0">
                <a:latin typeface="Calibri" pitchFamily="34" charset="0"/>
                <a:ea typeface="Calibri" pitchFamily="34" charset="-122"/>
                <a:cs typeface="Calibri" pitchFamily="34" charset="-120"/>
              </a:rPr>
              <a:t>[-0.3,  -0.6]</a:t>
            </a:r>
            <a:endParaRPr lang="en-US" sz="2100" dirty="0"/>
          </a:p>
        </p:txBody>
      </p:sp>
      <p:sp>
        <p:nvSpPr>
          <p:cNvPr id="28" name="Shape 26"/>
          <p:cNvSpPr/>
          <p:nvPr/>
        </p:nvSpPr>
        <p:spPr>
          <a:xfrm>
            <a:off x="694944" y="7095744"/>
            <a:ext cx="7790688" cy="950976"/>
          </a:xfrm>
          <a:prstGeom prst="roundRect">
            <a:avLst>
              <a:gd name="adj" fmla="val 15385"/>
            </a:avLst>
          </a:prstGeom>
          <a:solidFill>
            <a:schemeClr val="accent3">
              <a:lumMod val="40000"/>
              <a:lumOff val="60000"/>
            </a:schemeClr>
          </a:solidFill>
          <a:ln w="12700">
            <a:solidFill>
              <a:srgbClr val="F0C040"/>
            </a:solidFill>
            <a:prstDash val="solid"/>
          </a:ln>
        </p:spPr>
        <p:txBody>
          <a:bodyPr/>
          <a:lstStyle/>
          <a:p>
            <a:endParaRPr lang="en-IN" sz="3600"/>
          </a:p>
        </p:txBody>
      </p:sp>
      <p:sp>
        <p:nvSpPr>
          <p:cNvPr id="29" name="Text 27"/>
          <p:cNvSpPr/>
          <p:nvPr/>
        </p:nvSpPr>
        <p:spPr>
          <a:xfrm>
            <a:off x="694944" y="7095744"/>
            <a:ext cx="7790688" cy="950976"/>
          </a:xfrm>
          <a:prstGeom prst="rect">
            <a:avLst/>
          </a:prstGeom>
          <a:solidFill>
            <a:schemeClr val="accent3">
              <a:lumMod val="40000"/>
              <a:lumOff val="60000"/>
            </a:schemeClr>
          </a:solidFill>
          <a:ln/>
        </p:spPr>
        <p:txBody>
          <a:bodyPr wrap="square" rtlCol="0" anchor="ctr"/>
          <a:lstStyle/>
          <a:p>
            <a:pPr algn="ctr"/>
            <a:r>
              <a:rPr lang="en-US" sz="2400" b="1" i="1" dirty="0">
                <a:latin typeface="Cambria" pitchFamily="34" charset="0"/>
                <a:ea typeface="Cambria" pitchFamily="34" charset="-122"/>
                <a:cs typeface="Cambria" pitchFamily="34" charset="-120"/>
              </a:rPr>
              <a:t>z ← z − η · ∂L/∂z     (η = 0.1)</a:t>
            </a:r>
            <a:endParaRPr lang="en-US" sz="2400" dirty="0"/>
          </a:p>
        </p:txBody>
      </p:sp>
      <p:sp>
        <p:nvSpPr>
          <p:cNvPr id="30" name="Text 28"/>
          <p:cNvSpPr/>
          <p:nvPr/>
        </p:nvSpPr>
        <p:spPr>
          <a:xfrm>
            <a:off x="694944" y="8193024"/>
            <a:ext cx="7790688" cy="1005840"/>
          </a:xfrm>
          <a:prstGeom prst="rect">
            <a:avLst/>
          </a:prstGeom>
          <a:noFill/>
          <a:ln/>
        </p:spPr>
        <p:txBody>
          <a:bodyPr wrap="square" rtlCol="0" anchor="ctr"/>
          <a:lstStyle/>
          <a:p>
            <a:r>
              <a:rPr lang="en-US" sz="1900" dirty="0">
                <a:latin typeface="Calibri" pitchFamily="34" charset="0"/>
                <a:ea typeface="Calibri" pitchFamily="34" charset="-122"/>
                <a:cs typeface="Calibri" pitchFamily="34" charset="-120"/>
              </a:rPr>
              <a:t>Positive pair gradient:  zB ← zB + η·zC  ;  zC ← zC + η·zB</a:t>
            </a:r>
            <a:endParaRPr lang="en-US" sz="1900" dirty="0"/>
          </a:p>
          <a:p>
            <a:r>
              <a:rPr lang="en-US" sz="1900" dirty="0">
                <a:latin typeface="Calibri" pitchFamily="34" charset="0"/>
                <a:ea typeface="Calibri" pitchFamily="34" charset="-122"/>
                <a:cs typeface="Calibri" pitchFamily="34" charset="-120"/>
              </a:rPr>
              <a:t>Neg. pair gradient:      zB ← zB − η·zD  ;  zD ← zD − η·zB</a:t>
            </a:r>
            <a:endParaRPr lang="en-US" sz="1900" dirty="0"/>
          </a:p>
        </p:txBody>
      </p:sp>
      <p:sp>
        <p:nvSpPr>
          <p:cNvPr id="31" name="Shape 29"/>
          <p:cNvSpPr/>
          <p:nvPr/>
        </p:nvSpPr>
        <p:spPr>
          <a:xfrm>
            <a:off x="9144000" y="1499616"/>
            <a:ext cx="8686800" cy="5486400"/>
          </a:xfrm>
          <a:prstGeom prst="roundRect">
            <a:avLst>
              <a:gd name="adj" fmla="val 4000"/>
            </a:avLst>
          </a:prstGeom>
          <a:solidFill>
            <a:schemeClr val="bg2">
              <a:lumMod val="75000"/>
            </a:schemeClr>
          </a:solidFill>
          <a:ln w="15240">
            <a:solidFill>
              <a:srgbClr val="5EC48A"/>
            </a:solidFill>
            <a:prstDash val="solid"/>
          </a:ln>
          <a:effectLst>
            <a:outerShdw blurRad="101600" dist="38100" dir="2700000" algn="bl" rotWithShape="0">
              <a:srgbClr val="000000">
                <a:alpha val="30000"/>
              </a:srgbClr>
            </a:outerShdw>
          </a:effectLst>
        </p:spPr>
        <p:txBody>
          <a:bodyPr/>
          <a:lstStyle/>
          <a:p>
            <a:endParaRPr lang="en-IN" sz="3600"/>
          </a:p>
        </p:txBody>
      </p:sp>
      <p:sp>
        <p:nvSpPr>
          <p:cNvPr id="32" name="Text 30"/>
          <p:cNvSpPr/>
          <p:nvPr/>
        </p:nvSpPr>
        <p:spPr>
          <a:xfrm>
            <a:off x="9363456" y="1591056"/>
            <a:ext cx="8266176" cy="621792"/>
          </a:xfrm>
          <a:prstGeom prst="rect">
            <a:avLst/>
          </a:prstGeom>
          <a:noFill/>
          <a:ln/>
        </p:spPr>
        <p:txBody>
          <a:bodyPr wrap="square" rtlCol="0" anchor="ctr"/>
          <a:lstStyle/>
          <a:p>
            <a:pPr algn="ctr"/>
            <a:r>
              <a:rPr lang="en-US" sz="2400" b="1" dirty="0">
                <a:latin typeface="Calibri" pitchFamily="34" charset="0"/>
                <a:ea typeface="Calibri" pitchFamily="34" charset="-122"/>
                <a:cs typeface="Calibri" pitchFamily="34" charset="-120"/>
              </a:rPr>
              <a:t>Step-by-Step Update  (pair B,C  |  noise D,F)</a:t>
            </a:r>
            <a:endParaRPr lang="en-US" sz="2400" dirty="0"/>
          </a:p>
        </p:txBody>
      </p:sp>
      <p:sp>
        <p:nvSpPr>
          <p:cNvPr id="33" name="Shape 31"/>
          <p:cNvSpPr/>
          <p:nvPr/>
        </p:nvSpPr>
        <p:spPr>
          <a:xfrm>
            <a:off x="9290304" y="2340864"/>
            <a:ext cx="8412480" cy="548640"/>
          </a:xfrm>
          <a:prstGeom prst="rect">
            <a:avLst/>
          </a:prstGeom>
          <a:solidFill>
            <a:srgbClr val="4A90D9"/>
          </a:solidFill>
          <a:ln w="12700">
            <a:solidFill>
              <a:srgbClr val="4A90D9"/>
            </a:solidFill>
            <a:prstDash val="solid"/>
          </a:ln>
        </p:spPr>
        <p:txBody>
          <a:bodyPr/>
          <a:lstStyle/>
          <a:p>
            <a:endParaRPr lang="en-IN" sz="3600"/>
          </a:p>
        </p:txBody>
      </p:sp>
      <p:sp>
        <p:nvSpPr>
          <p:cNvPr id="34" name="Text 32"/>
          <p:cNvSpPr/>
          <p:nvPr/>
        </p:nvSpPr>
        <p:spPr>
          <a:xfrm>
            <a:off x="9326880" y="2340864"/>
            <a:ext cx="1499616" cy="548640"/>
          </a:xfrm>
          <a:prstGeom prst="rect">
            <a:avLst/>
          </a:prstGeom>
          <a:noFill/>
          <a:ln/>
        </p:spPr>
        <p:txBody>
          <a:bodyPr wrap="square" rtlCol="0" anchor="ctr"/>
          <a:lstStyle/>
          <a:p>
            <a:pPr algn="ctr"/>
            <a:r>
              <a:rPr lang="en-US" sz="2000" b="1" dirty="0">
                <a:latin typeface="Calibri" pitchFamily="34" charset="0"/>
                <a:ea typeface="Calibri" pitchFamily="34" charset="-122"/>
                <a:cs typeface="Calibri" pitchFamily="34" charset="-120"/>
              </a:rPr>
              <a:t>Node</a:t>
            </a:r>
            <a:endParaRPr lang="en-US" sz="2000" dirty="0"/>
          </a:p>
        </p:txBody>
      </p:sp>
      <p:sp>
        <p:nvSpPr>
          <p:cNvPr id="35" name="Text 33"/>
          <p:cNvSpPr/>
          <p:nvPr/>
        </p:nvSpPr>
        <p:spPr>
          <a:xfrm>
            <a:off x="10881360" y="2340864"/>
            <a:ext cx="1975104" cy="548640"/>
          </a:xfrm>
          <a:prstGeom prst="rect">
            <a:avLst/>
          </a:prstGeom>
          <a:noFill/>
          <a:ln/>
        </p:spPr>
        <p:txBody>
          <a:bodyPr wrap="square" rtlCol="0" anchor="ctr"/>
          <a:lstStyle/>
          <a:p>
            <a:pPr algn="ctr"/>
            <a:r>
              <a:rPr lang="en-US" sz="2000" b="1" dirty="0">
                <a:latin typeface="Calibri" pitchFamily="34" charset="0"/>
                <a:ea typeface="Calibri" pitchFamily="34" charset="-122"/>
                <a:cs typeface="Calibri" pitchFamily="34" charset="-120"/>
              </a:rPr>
              <a:t>Before</a:t>
            </a:r>
            <a:endParaRPr lang="en-US" sz="2000" dirty="0"/>
          </a:p>
        </p:txBody>
      </p:sp>
      <p:sp>
        <p:nvSpPr>
          <p:cNvPr id="36" name="Text 34"/>
          <p:cNvSpPr/>
          <p:nvPr/>
        </p:nvSpPr>
        <p:spPr>
          <a:xfrm>
            <a:off x="12893040" y="2340864"/>
            <a:ext cx="2414016" cy="548640"/>
          </a:xfrm>
          <a:prstGeom prst="rect">
            <a:avLst/>
          </a:prstGeom>
          <a:noFill/>
          <a:ln/>
        </p:spPr>
        <p:txBody>
          <a:bodyPr wrap="square" rtlCol="0" anchor="ctr"/>
          <a:lstStyle/>
          <a:p>
            <a:pPr algn="ctr"/>
            <a:r>
              <a:rPr lang="en-US" sz="2000" b="1" dirty="0">
                <a:latin typeface="Calibri" pitchFamily="34" charset="0"/>
                <a:ea typeface="Calibri" pitchFamily="34" charset="-122"/>
                <a:cs typeface="Calibri" pitchFamily="34" charset="-120"/>
              </a:rPr>
              <a:t>Update</a:t>
            </a:r>
            <a:endParaRPr lang="en-US" sz="2000" dirty="0"/>
          </a:p>
        </p:txBody>
      </p:sp>
      <p:sp>
        <p:nvSpPr>
          <p:cNvPr id="37" name="Text 35"/>
          <p:cNvSpPr/>
          <p:nvPr/>
        </p:nvSpPr>
        <p:spPr>
          <a:xfrm>
            <a:off x="15361920" y="2340864"/>
            <a:ext cx="2286000" cy="548640"/>
          </a:xfrm>
          <a:prstGeom prst="rect">
            <a:avLst/>
          </a:prstGeom>
          <a:noFill/>
          <a:ln/>
        </p:spPr>
        <p:txBody>
          <a:bodyPr wrap="square" rtlCol="0" anchor="ctr"/>
          <a:lstStyle/>
          <a:p>
            <a:pPr algn="ctr"/>
            <a:r>
              <a:rPr lang="en-US" sz="2000" b="1" dirty="0">
                <a:latin typeface="Calibri" pitchFamily="34" charset="0"/>
                <a:ea typeface="Calibri" pitchFamily="34" charset="-122"/>
                <a:cs typeface="Calibri" pitchFamily="34" charset="-120"/>
              </a:rPr>
              <a:t>After</a:t>
            </a:r>
            <a:endParaRPr lang="en-US" sz="2000" dirty="0"/>
          </a:p>
        </p:txBody>
      </p:sp>
      <p:sp>
        <p:nvSpPr>
          <p:cNvPr id="38" name="Shape 36"/>
          <p:cNvSpPr/>
          <p:nvPr/>
        </p:nvSpPr>
        <p:spPr>
          <a:xfrm>
            <a:off x="9290304" y="2926080"/>
            <a:ext cx="8412480" cy="768096"/>
          </a:xfrm>
          <a:prstGeom prst="rect">
            <a:avLst/>
          </a:prstGeom>
          <a:solidFill>
            <a:schemeClr val="accent3">
              <a:lumMod val="40000"/>
              <a:lumOff val="60000"/>
            </a:schemeClr>
          </a:solidFill>
          <a:ln w="12700">
            <a:solidFill>
              <a:srgbClr val="2D3561"/>
            </a:solidFill>
            <a:prstDash val="solid"/>
          </a:ln>
        </p:spPr>
        <p:txBody>
          <a:bodyPr/>
          <a:lstStyle/>
          <a:p>
            <a:endParaRPr lang="en-IN" sz="3600"/>
          </a:p>
        </p:txBody>
      </p:sp>
      <p:sp>
        <p:nvSpPr>
          <p:cNvPr id="39" name="Text 37"/>
          <p:cNvSpPr/>
          <p:nvPr/>
        </p:nvSpPr>
        <p:spPr>
          <a:xfrm>
            <a:off x="9326880" y="2926080"/>
            <a:ext cx="1499616" cy="768096"/>
          </a:xfrm>
          <a:prstGeom prst="rect">
            <a:avLst/>
          </a:prstGeom>
          <a:solidFill>
            <a:schemeClr val="accent3">
              <a:lumMod val="40000"/>
              <a:lumOff val="60000"/>
            </a:schemeClr>
          </a:solidFill>
          <a:ln/>
        </p:spPr>
        <p:txBody>
          <a:bodyPr wrap="square" rtlCol="0" anchor="ctr"/>
          <a:lstStyle/>
          <a:p>
            <a:pPr algn="ctr"/>
            <a:r>
              <a:rPr lang="en-US" sz="2200" b="1" dirty="0">
                <a:latin typeface="Calibri" pitchFamily="34" charset="0"/>
                <a:ea typeface="Calibri" pitchFamily="34" charset="-122"/>
                <a:cs typeface="Calibri" pitchFamily="34" charset="-120"/>
              </a:rPr>
              <a:t>zB</a:t>
            </a:r>
            <a:endParaRPr lang="en-US" sz="2200" dirty="0"/>
          </a:p>
        </p:txBody>
      </p:sp>
      <p:sp>
        <p:nvSpPr>
          <p:cNvPr id="40" name="Text 38"/>
          <p:cNvSpPr/>
          <p:nvPr/>
        </p:nvSpPr>
        <p:spPr>
          <a:xfrm>
            <a:off x="10881360" y="2926080"/>
            <a:ext cx="1975104" cy="768096"/>
          </a:xfrm>
          <a:prstGeom prst="rect">
            <a:avLst/>
          </a:prstGeom>
          <a:solidFill>
            <a:schemeClr val="accent3">
              <a:lumMod val="40000"/>
              <a:lumOff val="60000"/>
            </a:schemeClr>
          </a:solidFill>
          <a:ln/>
        </p:spPr>
        <p:txBody>
          <a:bodyPr wrap="square" rtlCol="0" anchor="ctr"/>
          <a:lstStyle/>
          <a:p>
            <a:pPr algn="ctr"/>
            <a:r>
              <a:rPr lang="en-US" sz="1900" dirty="0">
                <a:latin typeface="Calibri" pitchFamily="34" charset="0"/>
                <a:ea typeface="Calibri" pitchFamily="34" charset="-122"/>
                <a:cs typeface="Calibri" pitchFamily="34" charset="-120"/>
              </a:rPr>
              <a:t>[0.6, 0.8]</a:t>
            </a:r>
            <a:endParaRPr lang="en-US" sz="1900" dirty="0"/>
          </a:p>
        </p:txBody>
      </p:sp>
      <p:sp>
        <p:nvSpPr>
          <p:cNvPr id="41" name="Text 39"/>
          <p:cNvSpPr/>
          <p:nvPr/>
        </p:nvSpPr>
        <p:spPr>
          <a:xfrm>
            <a:off x="12893040" y="2926080"/>
            <a:ext cx="2414016" cy="768096"/>
          </a:xfrm>
          <a:prstGeom prst="rect">
            <a:avLst/>
          </a:prstGeom>
          <a:solidFill>
            <a:schemeClr val="accent3">
              <a:lumMod val="40000"/>
              <a:lumOff val="60000"/>
            </a:schemeClr>
          </a:solidFill>
          <a:ln/>
        </p:spPr>
        <p:txBody>
          <a:bodyPr wrap="square" rtlCol="0" anchor="ctr"/>
          <a:lstStyle/>
          <a:p>
            <a:pPr algn="ctr"/>
            <a:r>
              <a:rPr lang="en-US" sz="1700" dirty="0">
                <a:latin typeface="Calibri" pitchFamily="34" charset="0"/>
                <a:ea typeface="Calibri" pitchFamily="34" charset="-122"/>
                <a:cs typeface="Calibri" pitchFamily="34" charset="-120"/>
              </a:rPr>
              <a:t>+ 0.1·zC − 0.1·zD − 0.1·zF</a:t>
            </a:r>
            <a:endParaRPr lang="en-US" sz="1700" dirty="0"/>
          </a:p>
        </p:txBody>
      </p:sp>
      <p:sp>
        <p:nvSpPr>
          <p:cNvPr id="42" name="Text 40"/>
          <p:cNvSpPr/>
          <p:nvPr/>
        </p:nvSpPr>
        <p:spPr>
          <a:xfrm>
            <a:off x="15361920" y="2926080"/>
            <a:ext cx="2231136" cy="768096"/>
          </a:xfrm>
          <a:prstGeom prst="rect">
            <a:avLst/>
          </a:prstGeom>
          <a:solidFill>
            <a:schemeClr val="accent3">
              <a:lumMod val="40000"/>
              <a:lumOff val="60000"/>
            </a:schemeClr>
          </a:solidFill>
          <a:ln/>
        </p:spPr>
        <p:txBody>
          <a:bodyPr wrap="square" rtlCol="0" anchor="ctr"/>
          <a:lstStyle/>
          <a:p>
            <a:pPr algn="ctr"/>
            <a:r>
              <a:rPr lang="en-US" sz="2100" b="1" dirty="0">
                <a:latin typeface="Calibri" pitchFamily="34" charset="0"/>
                <a:ea typeface="Calibri" pitchFamily="34" charset="-122"/>
                <a:cs typeface="Calibri" pitchFamily="34" charset="-120"/>
              </a:rPr>
              <a:t>[0.65, 0.80]</a:t>
            </a:r>
            <a:endParaRPr lang="en-US" sz="2100" dirty="0"/>
          </a:p>
        </p:txBody>
      </p:sp>
      <p:sp>
        <p:nvSpPr>
          <p:cNvPr id="43" name="Shape 41"/>
          <p:cNvSpPr/>
          <p:nvPr/>
        </p:nvSpPr>
        <p:spPr>
          <a:xfrm>
            <a:off x="9290304" y="3749040"/>
            <a:ext cx="8412480" cy="768096"/>
          </a:xfrm>
          <a:prstGeom prst="rect">
            <a:avLst/>
          </a:prstGeom>
          <a:solidFill>
            <a:schemeClr val="accent3">
              <a:lumMod val="40000"/>
              <a:lumOff val="60000"/>
            </a:schemeClr>
          </a:solidFill>
          <a:ln w="12700">
            <a:solidFill>
              <a:srgbClr val="2D3561"/>
            </a:solidFill>
            <a:prstDash val="solid"/>
          </a:ln>
        </p:spPr>
        <p:txBody>
          <a:bodyPr/>
          <a:lstStyle/>
          <a:p>
            <a:endParaRPr lang="en-IN" sz="3600"/>
          </a:p>
        </p:txBody>
      </p:sp>
      <p:sp>
        <p:nvSpPr>
          <p:cNvPr id="44" name="Text 42"/>
          <p:cNvSpPr/>
          <p:nvPr/>
        </p:nvSpPr>
        <p:spPr>
          <a:xfrm>
            <a:off x="9326880" y="3749040"/>
            <a:ext cx="1499616" cy="768096"/>
          </a:xfrm>
          <a:prstGeom prst="rect">
            <a:avLst/>
          </a:prstGeom>
          <a:solidFill>
            <a:schemeClr val="accent3">
              <a:lumMod val="40000"/>
              <a:lumOff val="60000"/>
            </a:schemeClr>
          </a:solidFill>
          <a:ln/>
        </p:spPr>
        <p:txBody>
          <a:bodyPr wrap="square" rtlCol="0" anchor="ctr"/>
          <a:lstStyle/>
          <a:p>
            <a:pPr algn="ctr"/>
            <a:r>
              <a:rPr lang="en-US" sz="2200" b="1" dirty="0">
                <a:latin typeface="Calibri" pitchFamily="34" charset="0"/>
                <a:ea typeface="Calibri" pitchFamily="34" charset="-122"/>
                <a:cs typeface="Calibri" pitchFamily="34" charset="-120"/>
              </a:rPr>
              <a:t>zC</a:t>
            </a:r>
            <a:endParaRPr lang="en-US" sz="2200" dirty="0"/>
          </a:p>
        </p:txBody>
      </p:sp>
      <p:sp>
        <p:nvSpPr>
          <p:cNvPr id="45" name="Text 43"/>
          <p:cNvSpPr/>
          <p:nvPr/>
        </p:nvSpPr>
        <p:spPr>
          <a:xfrm>
            <a:off x="10881360" y="3749040"/>
            <a:ext cx="1975104" cy="768096"/>
          </a:xfrm>
          <a:prstGeom prst="rect">
            <a:avLst/>
          </a:prstGeom>
          <a:solidFill>
            <a:schemeClr val="accent3">
              <a:lumMod val="40000"/>
              <a:lumOff val="60000"/>
            </a:schemeClr>
          </a:solidFill>
          <a:ln/>
        </p:spPr>
        <p:txBody>
          <a:bodyPr wrap="square" rtlCol="0" anchor="ctr"/>
          <a:lstStyle/>
          <a:p>
            <a:pPr algn="ctr"/>
            <a:r>
              <a:rPr lang="en-US" sz="1900" dirty="0">
                <a:latin typeface="Calibri" pitchFamily="34" charset="0"/>
                <a:ea typeface="Calibri" pitchFamily="34" charset="-122"/>
                <a:cs typeface="Calibri" pitchFamily="34" charset="-120"/>
              </a:rPr>
              <a:t>[0.7, −0.2]</a:t>
            </a:r>
            <a:endParaRPr lang="en-US" sz="1900" dirty="0"/>
          </a:p>
        </p:txBody>
      </p:sp>
      <p:sp>
        <p:nvSpPr>
          <p:cNvPr id="46" name="Text 44"/>
          <p:cNvSpPr/>
          <p:nvPr/>
        </p:nvSpPr>
        <p:spPr>
          <a:xfrm>
            <a:off x="12893040" y="3749040"/>
            <a:ext cx="2414016" cy="768096"/>
          </a:xfrm>
          <a:prstGeom prst="rect">
            <a:avLst/>
          </a:prstGeom>
          <a:solidFill>
            <a:schemeClr val="accent3">
              <a:lumMod val="40000"/>
              <a:lumOff val="60000"/>
            </a:schemeClr>
          </a:solidFill>
          <a:ln/>
        </p:spPr>
        <p:txBody>
          <a:bodyPr wrap="square" rtlCol="0" anchor="ctr"/>
          <a:lstStyle/>
          <a:p>
            <a:pPr algn="ctr"/>
            <a:r>
              <a:rPr lang="en-US" sz="1700" dirty="0">
                <a:latin typeface="Calibri" pitchFamily="34" charset="0"/>
                <a:ea typeface="Calibri" pitchFamily="34" charset="-122"/>
                <a:cs typeface="Calibri" pitchFamily="34" charset="-120"/>
              </a:rPr>
              <a:t>+ 0.1·zB</a:t>
            </a:r>
            <a:endParaRPr lang="en-US" sz="1700" dirty="0"/>
          </a:p>
        </p:txBody>
      </p:sp>
      <p:sp>
        <p:nvSpPr>
          <p:cNvPr id="47" name="Text 45"/>
          <p:cNvSpPr/>
          <p:nvPr/>
        </p:nvSpPr>
        <p:spPr>
          <a:xfrm>
            <a:off x="15361920" y="3749040"/>
            <a:ext cx="2231136" cy="768096"/>
          </a:xfrm>
          <a:prstGeom prst="rect">
            <a:avLst/>
          </a:prstGeom>
          <a:solidFill>
            <a:schemeClr val="accent3">
              <a:lumMod val="40000"/>
              <a:lumOff val="60000"/>
            </a:schemeClr>
          </a:solidFill>
          <a:ln/>
        </p:spPr>
        <p:txBody>
          <a:bodyPr wrap="square" rtlCol="0" anchor="ctr"/>
          <a:lstStyle/>
          <a:p>
            <a:pPr algn="ctr"/>
            <a:r>
              <a:rPr lang="en-US" sz="2100" b="1" dirty="0">
                <a:latin typeface="Calibri" pitchFamily="34" charset="0"/>
                <a:ea typeface="Calibri" pitchFamily="34" charset="-122"/>
                <a:cs typeface="Calibri" pitchFamily="34" charset="-120"/>
              </a:rPr>
              <a:t>[0.76, −0.12]</a:t>
            </a:r>
            <a:endParaRPr lang="en-US" sz="2100" dirty="0"/>
          </a:p>
        </p:txBody>
      </p:sp>
      <p:sp>
        <p:nvSpPr>
          <p:cNvPr id="48" name="Shape 46"/>
          <p:cNvSpPr/>
          <p:nvPr/>
        </p:nvSpPr>
        <p:spPr>
          <a:xfrm>
            <a:off x="9290304" y="4572000"/>
            <a:ext cx="8412480" cy="768096"/>
          </a:xfrm>
          <a:prstGeom prst="rect">
            <a:avLst/>
          </a:prstGeom>
          <a:solidFill>
            <a:schemeClr val="accent3">
              <a:lumMod val="40000"/>
              <a:lumOff val="60000"/>
            </a:schemeClr>
          </a:solidFill>
          <a:ln w="12700">
            <a:solidFill>
              <a:srgbClr val="2D3561"/>
            </a:solidFill>
            <a:prstDash val="solid"/>
          </a:ln>
        </p:spPr>
        <p:txBody>
          <a:bodyPr/>
          <a:lstStyle/>
          <a:p>
            <a:endParaRPr lang="en-IN" sz="3600"/>
          </a:p>
        </p:txBody>
      </p:sp>
      <p:sp>
        <p:nvSpPr>
          <p:cNvPr id="49" name="Text 47"/>
          <p:cNvSpPr/>
          <p:nvPr/>
        </p:nvSpPr>
        <p:spPr>
          <a:xfrm>
            <a:off x="9326880" y="4572000"/>
            <a:ext cx="1499616" cy="768096"/>
          </a:xfrm>
          <a:prstGeom prst="rect">
            <a:avLst/>
          </a:prstGeom>
          <a:solidFill>
            <a:schemeClr val="accent3">
              <a:lumMod val="40000"/>
              <a:lumOff val="60000"/>
            </a:schemeClr>
          </a:solidFill>
          <a:ln/>
        </p:spPr>
        <p:txBody>
          <a:bodyPr wrap="square" rtlCol="0" anchor="ctr"/>
          <a:lstStyle/>
          <a:p>
            <a:pPr algn="ctr"/>
            <a:r>
              <a:rPr lang="en-US" sz="2200" b="1" dirty="0">
                <a:latin typeface="Calibri" pitchFamily="34" charset="0"/>
                <a:ea typeface="Calibri" pitchFamily="34" charset="-122"/>
                <a:cs typeface="Calibri" pitchFamily="34" charset="-120"/>
              </a:rPr>
              <a:t>zD</a:t>
            </a:r>
            <a:endParaRPr lang="en-US" sz="2200" dirty="0"/>
          </a:p>
        </p:txBody>
      </p:sp>
      <p:sp>
        <p:nvSpPr>
          <p:cNvPr id="50" name="Text 48"/>
          <p:cNvSpPr/>
          <p:nvPr/>
        </p:nvSpPr>
        <p:spPr>
          <a:xfrm>
            <a:off x="10881360" y="4572000"/>
            <a:ext cx="1975104" cy="768096"/>
          </a:xfrm>
          <a:prstGeom prst="rect">
            <a:avLst/>
          </a:prstGeom>
          <a:solidFill>
            <a:schemeClr val="accent3">
              <a:lumMod val="40000"/>
              <a:lumOff val="60000"/>
            </a:schemeClr>
          </a:solidFill>
          <a:ln/>
        </p:spPr>
        <p:txBody>
          <a:bodyPr wrap="square" rtlCol="0" anchor="ctr"/>
          <a:lstStyle/>
          <a:p>
            <a:pPr algn="ctr"/>
            <a:r>
              <a:rPr lang="en-US" sz="1900" dirty="0">
                <a:latin typeface="Calibri" pitchFamily="34" charset="0"/>
                <a:ea typeface="Calibri" pitchFamily="34" charset="-122"/>
                <a:cs typeface="Calibri" pitchFamily="34" charset="-120"/>
              </a:rPr>
              <a:t>[−0.5, 0.3]</a:t>
            </a:r>
            <a:endParaRPr lang="en-US" sz="1900" dirty="0"/>
          </a:p>
        </p:txBody>
      </p:sp>
      <p:sp>
        <p:nvSpPr>
          <p:cNvPr id="51" name="Text 49"/>
          <p:cNvSpPr/>
          <p:nvPr/>
        </p:nvSpPr>
        <p:spPr>
          <a:xfrm>
            <a:off x="12893040" y="4572000"/>
            <a:ext cx="2414016" cy="768096"/>
          </a:xfrm>
          <a:prstGeom prst="rect">
            <a:avLst/>
          </a:prstGeom>
          <a:solidFill>
            <a:schemeClr val="accent3">
              <a:lumMod val="40000"/>
              <a:lumOff val="60000"/>
            </a:schemeClr>
          </a:solidFill>
          <a:ln/>
        </p:spPr>
        <p:txBody>
          <a:bodyPr wrap="square" rtlCol="0" anchor="ctr"/>
          <a:lstStyle/>
          <a:p>
            <a:pPr algn="ctr"/>
            <a:r>
              <a:rPr lang="en-US" sz="1700" dirty="0">
                <a:latin typeface="Calibri" pitchFamily="34" charset="0"/>
                <a:ea typeface="Calibri" pitchFamily="34" charset="-122"/>
                <a:cs typeface="Calibri" pitchFamily="34" charset="-120"/>
              </a:rPr>
              <a:t>− 0.1·zB</a:t>
            </a:r>
            <a:endParaRPr lang="en-US" sz="1700" dirty="0"/>
          </a:p>
        </p:txBody>
      </p:sp>
      <p:sp>
        <p:nvSpPr>
          <p:cNvPr id="52" name="Text 50"/>
          <p:cNvSpPr/>
          <p:nvPr/>
        </p:nvSpPr>
        <p:spPr>
          <a:xfrm>
            <a:off x="15361920" y="4572000"/>
            <a:ext cx="2231136" cy="768096"/>
          </a:xfrm>
          <a:prstGeom prst="rect">
            <a:avLst/>
          </a:prstGeom>
          <a:solidFill>
            <a:schemeClr val="accent3">
              <a:lumMod val="40000"/>
              <a:lumOff val="60000"/>
            </a:schemeClr>
          </a:solidFill>
          <a:ln/>
        </p:spPr>
        <p:txBody>
          <a:bodyPr wrap="square" rtlCol="0" anchor="ctr"/>
          <a:lstStyle/>
          <a:p>
            <a:pPr algn="ctr"/>
            <a:r>
              <a:rPr lang="en-US" sz="2100" b="1" dirty="0">
                <a:latin typeface="Calibri" pitchFamily="34" charset="0"/>
                <a:ea typeface="Calibri" pitchFamily="34" charset="-122"/>
                <a:cs typeface="Calibri" pitchFamily="34" charset="-120"/>
              </a:rPr>
              <a:t>[−0.56, 0.22]</a:t>
            </a:r>
            <a:endParaRPr lang="en-US" sz="2100" dirty="0"/>
          </a:p>
        </p:txBody>
      </p:sp>
      <p:sp>
        <p:nvSpPr>
          <p:cNvPr id="53" name="Shape 51"/>
          <p:cNvSpPr/>
          <p:nvPr/>
        </p:nvSpPr>
        <p:spPr>
          <a:xfrm>
            <a:off x="9290304" y="5394960"/>
            <a:ext cx="8412480" cy="768096"/>
          </a:xfrm>
          <a:prstGeom prst="rect">
            <a:avLst/>
          </a:prstGeom>
          <a:solidFill>
            <a:schemeClr val="accent3">
              <a:lumMod val="40000"/>
              <a:lumOff val="60000"/>
            </a:schemeClr>
          </a:solidFill>
          <a:ln w="12700">
            <a:solidFill>
              <a:srgbClr val="2D3561"/>
            </a:solidFill>
            <a:prstDash val="solid"/>
          </a:ln>
        </p:spPr>
        <p:txBody>
          <a:bodyPr/>
          <a:lstStyle/>
          <a:p>
            <a:endParaRPr lang="en-IN" sz="3600"/>
          </a:p>
        </p:txBody>
      </p:sp>
      <p:sp>
        <p:nvSpPr>
          <p:cNvPr id="54" name="Text 52"/>
          <p:cNvSpPr/>
          <p:nvPr/>
        </p:nvSpPr>
        <p:spPr>
          <a:xfrm>
            <a:off x="9326880" y="5394960"/>
            <a:ext cx="1499616" cy="768096"/>
          </a:xfrm>
          <a:prstGeom prst="rect">
            <a:avLst/>
          </a:prstGeom>
          <a:solidFill>
            <a:schemeClr val="accent3">
              <a:lumMod val="40000"/>
              <a:lumOff val="60000"/>
            </a:schemeClr>
          </a:solidFill>
          <a:ln/>
        </p:spPr>
        <p:txBody>
          <a:bodyPr wrap="square" rtlCol="0" anchor="ctr"/>
          <a:lstStyle/>
          <a:p>
            <a:pPr algn="ctr"/>
            <a:r>
              <a:rPr lang="en-US" sz="2200" b="1" dirty="0">
                <a:latin typeface="Calibri" pitchFamily="34" charset="0"/>
                <a:ea typeface="Calibri" pitchFamily="34" charset="-122"/>
                <a:cs typeface="Calibri" pitchFamily="34" charset="-120"/>
              </a:rPr>
              <a:t>zF</a:t>
            </a:r>
            <a:endParaRPr lang="en-US" sz="2200" dirty="0"/>
          </a:p>
        </p:txBody>
      </p:sp>
      <p:sp>
        <p:nvSpPr>
          <p:cNvPr id="55" name="Text 53"/>
          <p:cNvSpPr/>
          <p:nvPr/>
        </p:nvSpPr>
        <p:spPr>
          <a:xfrm>
            <a:off x="10881360" y="5394960"/>
            <a:ext cx="1975104" cy="768096"/>
          </a:xfrm>
          <a:prstGeom prst="rect">
            <a:avLst/>
          </a:prstGeom>
          <a:solidFill>
            <a:schemeClr val="accent3">
              <a:lumMod val="40000"/>
              <a:lumOff val="60000"/>
            </a:schemeClr>
          </a:solidFill>
          <a:ln/>
        </p:spPr>
        <p:txBody>
          <a:bodyPr wrap="square" rtlCol="0" anchor="ctr"/>
          <a:lstStyle/>
          <a:p>
            <a:pPr algn="ctr"/>
            <a:r>
              <a:rPr lang="en-US" sz="1900" dirty="0">
                <a:latin typeface="Calibri" pitchFamily="34" charset="0"/>
                <a:ea typeface="Calibri" pitchFamily="34" charset="-122"/>
                <a:cs typeface="Calibri" pitchFamily="34" charset="-120"/>
              </a:rPr>
              <a:t>[0.1, 0.9]</a:t>
            </a:r>
            <a:endParaRPr lang="en-US" sz="1900" dirty="0"/>
          </a:p>
        </p:txBody>
      </p:sp>
      <p:sp>
        <p:nvSpPr>
          <p:cNvPr id="56" name="Text 54"/>
          <p:cNvSpPr/>
          <p:nvPr/>
        </p:nvSpPr>
        <p:spPr>
          <a:xfrm>
            <a:off x="12893040" y="5394960"/>
            <a:ext cx="2414016" cy="768096"/>
          </a:xfrm>
          <a:prstGeom prst="rect">
            <a:avLst/>
          </a:prstGeom>
          <a:solidFill>
            <a:schemeClr val="accent3">
              <a:lumMod val="40000"/>
              <a:lumOff val="60000"/>
            </a:schemeClr>
          </a:solidFill>
          <a:ln/>
        </p:spPr>
        <p:txBody>
          <a:bodyPr wrap="square" rtlCol="0" anchor="ctr"/>
          <a:lstStyle/>
          <a:p>
            <a:pPr algn="ctr"/>
            <a:r>
              <a:rPr lang="en-US" sz="1700" dirty="0">
                <a:latin typeface="Calibri" pitchFamily="34" charset="0"/>
                <a:ea typeface="Calibri" pitchFamily="34" charset="-122"/>
                <a:cs typeface="Calibri" pitchFamily="34" charset="-120"/>
              </a:rPr>
              <a:t>− 0.1·zB</a:t>
            </a:r>
            <a:endParaRPr lang="en-US" sz="1700" dirty="0"/>
          </a:p>
        </p:txBody>
      </p:sp>
      <p:sp>
        <p:nvSpPr>
          <p:cNvPr id="57" name="Text 55"/>
          <p:cNvSpPr/>
          <p:nvPr/>
        </p:nvSpPr>
        <p:spPr>
          <a:xfrm>
            <a:off x="15361920" y="5394960"/>
            <a:ext cx="2231136" cy="768096"/>
          </a:xfrm>
          <a:prstGeom prst="rect">
            <a:avLst/>
          </a:prstGeom>
          <a:solidFill>
            <a:schemeClr val="accent3">
              <a:lumMod val="40000"/>
              <a:lumOff val="60000"/>
            </a:schemeClr>
          </a:solidFill>
          <a:ln/>
        </p:spPr>
        <p:txBody>
          <a:bodyPr wrap="square" rtlCol="0" anchor="ctr"/>
          <a:lstStyle/>
          <a:p>
            <a:pPr algn="ctr"/>
            <a:r>
              <a:rPr lang="en-US" sz="2100" b="1" dirty="0">
                <a:latin typeface="Calibri" pitchFamily="34" charset="0"/>
                <a:ea typeface="Calibri" pitchFamily="34" charset="-122"/>
                <a:cs typeface="Calibri" pitchFamily="34" charset="-120"/>
              </a:rPr>
              <a:t>[0.04, 0.92]</a:t>
            </a:r>
            <a:endParaRPr lang="en-US" sz="2100" dirty="0"/>
          </a:p>
        </p:txBody>
      </p:sp>
      <p:sp>
        <p:nvSpPr>
          <p:cNvPr id="58" name="Text 56"/>
          <p:cNvSpPr/>
          <p:nvPr/>
        </p:nvSpPr>
        <p:spPr>
          <a:xfrm>
            <a:off x="9290304" y="6291072"/>
            <a:ext cx="8412480" cy="548640"/>
          </a:xfrm>
          <a:prstGeom prst="rect">
            <a:avLst/>
          </a:prstGeom>
          <a:noFill/>
          <a:ln/>
        </p:spPr>
        <p:txBody>
          <a:bodyPr wrap="square" rtlCol="0" anchor="ctr"/>
          <a:lstStyle/>
          <a:p>
            <a:pPr algn="ctr"/>
            <a:r>
              <a:rPr lang="en-US" sz="1900" b="1" dirty="0">
                <a:latin typeface="Calibri" pitchFamily="34" charset="0"/>
                <a:ea typeface="Calibri" pitchFamily="34" charset="-122"/>
                <a:cs typeface="Calibri" pitchFamily="34" charset="-120"/>
              </a:rPr>
              <a:t>Dot products after update:  zB·zC = 0.587 ↑   zB·zD = −0.517 ↓</a:t>
            </a:r>
            <a:endParaRPr lang="en-US" sz="1900" dirty="0"/>
          </a:p>
        </p:txBody>
      </p:sp>
      <p:sp>
        <p:nvSpPr>
          <p:cNvPr id="59" name="Shape 57"/>
          <p:cNvSpPr/>
          <p:nvPr/>
        </p:nvSpPr>
        <p:spPr>
          <a:xfrm>
            <a:off x="9144000" y="7095744"/>
            <a:ext cx="8686800" cy="2816352"/>
          </a:xfrm>
          <a:prstGeom prst="roundRect">
            <a:avLst>
              <a:gd name="adj" fmla="val 7792"/>
            </a:avLst>
          </a:prstGeom>
          <a:solidFill>
            <a:schemeClr val="bg2">
              <a:lumMod val="75000"/>
            </a:schemeClr>
          </a:solidFill>
          <a:ln w="19050">
            <a:solidFill>
              <a:srgbClr val="F0C040"/>
            </a:solidFill>
            <a:prstDash val="solid"/>
          </a:ln>
          <a:effectLst>
            <a:outerShdw blurRad="101600" dist="38100" dir="2700000" algn="bl" rotWithShape="0">
              <a:srgbClr val="000000">
                <a:alpha val="30000"/>
              </a:srgbClr>
            </a:outerShdw>
          </a:effectLst>
        </p:spPr>
        <p:txBody>
          <a:bodyPr/>
          <a:lstStyle/>
          <a:p>
            <a:endParaRPr lang="en-IN" sz="3600"/>
          </a:p>
        </p:txBody>
      </p:sp>
      <p:sp>
        <p:nvSpPr>
          <p:cNvPr id="60" name="Text 58"/>
          <p:cNvSpPr/>
          <p:nvPr/>
        </p:nvSpPr>
        <p:spPr>
          <a:xfrm>
            <a:off x="9363456" y="7187184"/>
            <a:ext cx="8266176" cy="585216"/>
          </a:xfrm>
          <a:prstGeom prst="rect">
            <a:avLst/>
          </a:prstGeom>
          <a:noFill/>
          <a:ln/>
        </p:spPr>
        <p:txBody>
          <a:bodyPr wrap="square" rtlCol="0" anchor="ctr"/>
          <a:lstStyle/>
          <a:p>
            <a:pPr algn="ctr"/>
            <a:r>
              <a:rPr lang="en-US" sz="2400" b="1" dirty="0">
                <a:latin typeface="Calibri" pitchFamily="34" charset="0"/>
                <a:ea typeface="Calibri" pitchFamily="34" charset="-122"/>
                <a:cs typeface="Calibri" pitchFamily="34" charset="-120"/>
              </a:rPr>
              <a:t>Node2Vec Full Pipeline</a:t>
            </a:r>
            <a:endParaRPr lang="en-US" sz="2400" dirty="0"/>
          </a:p>
        </p:txBody>
      </p:sp>
      <p:sp>
        <p:nvSpPr>
          <p:cNvPr id="61" name="Text 59"/>
          <p:cNvSpPr/>
          <p:nvPr/>
        </p:nvSpPr>
        <p:spPr>
          <a:xfrm>
            <a:off x="9418320" y="7863840"/>
            <a:ext cx="8266176" cy="402336"/>
          </a:xfrm>
          <a:prstGeom prst="rect">
            <a:avLst/>
          </a:prstGeom>
          <a:noFill/>
          <a:ln/>
        </p:spPr>
        <p:txBody>
          <a:bodyPr wrap="square" rtlCol="0" anchor="ctr"/>
          <a:lstStyle/>
          <a:p>
            <a:r>
              <a:rPr lang="en-US" sz="1900" dirty="0">
                <a:latin typeface="Calibri" pitchFamily="34" charset="0"/>
                <a:ea typeface="Calibri" pitchFamily="34" charset="-122"/>
                <a:cs typeface="Calibri" pitchFamily="34" charset="-120"/>
              </a:rPr>
              <a:t>1  Biased walks with p, q  →  balance BFS/DFS exploration</a:t>
            </a:r>
            <a:endParaRPr lang="en-US" sz="1900" dirty="0"/>
          </a:p>
        </p:txBody>
      </p:sp>
      <p:sp>
        <p:nvSpPr>
          <p:cNvPr id="62" name="Text 60"/>
          <p:cNvSpPr/>
          <p:nvPr/>
        </p:nvSpPr>
        <p:spPr>
          <a:xfrm>
            <a:off x="9418320" y="8284464"/>
            <a:ext cx="8266176" cy="402336"/>
          </a:xfrm>
          <a:prstGeom prst="rect">
            <a:avLst/>
          </a:prstGeom>
          <a:noFill/>
          <a:ln/>
        </p:spPr>
        <p:txBody>
          <a:bodyPr wrap="square" rtlCol="0" anchor="ctr"/>
          <a:lstStyle/>
          <a:p>
            <a:r>
              <a:rPr lang="en-US" sz="1900" dirty="0">
                <a:latin typeface="Calibri" pitchFamily="34" charset="0"/>
                <a:ea typeface="Calibri" pitchFamily="34" charset="-122"/>
                <a:cs typeface="Calibri" pitchFamily="34" charset="-120"/>
              </a:rPr>
              <a:t>2  Collect context pairs within sliding window</a:t>
            </a:r>
            <a:endParaRPr lang="en-US" sz="1900" dirty="0"/>
          </a:p>
        </p:txBody>
      </p:sp>
      <p:sp>
        <p:nvSpPr>
          <p:cNvPr id="63" name="Text 61"/>
          <p:cNvSpPr/>
          <p:nvPr/>
        </p:nvSpPr>
        <p:spPr>
          <a:xfrm>
            <a:off x="9418320" y="8705088"/>
            <a:ext cx="8266176" cy="402336"/>
          </a:xfrm>
          <a:prstGeom prst="rect">
            <a:avLst/>
          </a:prstGeom>
          <a:noFill/>
          <a:ln/>
        </p:spPr>
        <p:txBody>
          <a:bodyPr wrap="square" rtlCol="0" anchor="ctr"/>
          <a:lstStyle/>
          <a:p>
            <a:r>
              <a:rPr lang="en-US" sz="1900" dirty="0">
                <a:latin typeface="Calibri" pitchFamily="34" charset="0"/>
                <a:ea typeface="Calibri" pitchFamily="34" charset="-122"/>
                <a:cs typeface="Calibri" pitchFamily="34" charset="-120"/>
              </a:rPr>
              <a:t>3  Negative sampling loss  →  O(k) not O(|V|)</a:t>
            </a:r>
            <a:endParaRPr lang="en-US" sz="1900" dirty="0"/>
          </a:p>
        </p:txBody>
      </p:sp>
      <p:sp>
        <p:nvSpPr>
          <p:cNvPr id="64" name="Text 62"/>
          <p:cNvSpPr/>
          <p:nvPr/>
        </p:nvSpPr>
        <p:spPr>
          <a:xfrm>
            <a:off x="9418320" y="9125712"/>
            <a:ext cx="8266176" cy="402336"/>
          </a:xfrm>
          <a:prstGeom prst="rect">
            <a:avLst/>
          </a:prstGeom>
          <a:noFill/>
          <a:ln/>
        </p:spPr>
        <p:txBody>
          <a:bodyPr wrap="square" rtlCol="0" anchor="ctr"/>
          <a:lstStyle/>
          <a:p>
            <a:r>
              <a:rPr lang="en-US" sz="1900" dirty="0">
                <a:latin typeface="Calibri" pitchFamily="34" charset="0"/>
                <a:ea typeface="Calibri" pitchFamily="34" charset="-122"/>
                <a:cs typeface="Calibri" pitchFamily="34" charset="-120"/>
              </a:rPr>
              <a:t>4  SGD: push positive pairs closer, push negatives apart</a:t>
            </a:r>
            <a:endParaRPr lang="en-US" sz="1900" dirty="0"/>
          </a:p>
        </p:txBody>
      </p:sp>
      <p:sp>
        <p:nvSpPr>
          <p:cNvPr id="65" name="Text 63"/>
          <p:cNvSpPr/>
          <p:nvPr/>
        </p:nvSpPr>
        <p:spPr>
          <a:xfrm>
            <a:off x="9418320" y="9546336"/>
            <a:ext cx="8266176" cy="402336"/>
          </a:xfrm>
          <a:prstGeom prst="rect">
            <a:avLst/>
          </a:prstGeom>
          <a:noFill/>
          <a:ln/>
        </p:spPr>
        <p:txBody>
          <a:bodyPr wrap="square" rtlCol="0" anchor="ctr"/>
          <a:lstStyle/>
          <a:p>
            <a:r>
              <a:rPr lang="en-US" sz="1900" dirty="0">
                <a:latin typeface="Calibri" pitchFamily="34" charset="0"/>
                <a:ea typeface="Calibri" pitchFamily="34" charset="-122"/>
                <a:cs typeface="Calibri" pitchFamily="34" charset="-120"/>
              </a:rPr>
              <a:t>5  Repeat → embeddings encode both local &amp; global structure</a:t>
            </a:r>
            <a:endParaRPr lang="en-US" sz="1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253439"/>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0" y="0"/>
              <a:ext cx="24417910" cy="1789557"/>
            </a:xfrm>
            <a:custGeom>
              <a:avLst/>
              <a:gdLst/>
              <a:ahLst/>
              <a:cxnLst/>
              <a:rect l="l" t="t" r="r" b="b"/>
              <a:pathLst>
                <a:path w="24417910" h="1789557">
                  <a:moveTo>
                    <a:pt x="0" y="0"/>
                  </a:moveTo>
                  <a:lnTo>
                    <a:pt x="24417910" y="0"/>
                  </a:lnTo>
                  <a:lnTo>
                    <a:pt x="24417910" y="1789557"/>
                  </a:lnTo>
                  <a:lnTo>
                    <a:pt x="0" y="1789557"/>
                  </a:lnTo>
                  <a:close/>
                </a:path>
              </a:pathLst>
            </a:custGeom>
            <a:solidFill>
              <a:srgbClr val="FFFFFF"/>
            </a:solidFill>
            <a:ln w="25400" cap="sq">
              <a:solidFill>
                <a:srgbClr val="1A3461"/>
              </a:solidFill>
              <a:prstDash val="solid"/>
              <a:miter/>
            </a:ln>
          </p:spPr>
          <p:txBody>
            <a:bodyPr/>
            <a:lstStyle/>
            <a:p>
              <a:endParaRPr lang="en-IN"/>
            </a:p>
          </p:txBody>
        </p:sp>
      </p:grpSp>
      <p:grpSp>
        <p:nvGrpSpPr>
          <p:cNvPr id="4" name="Group 4"/>
          <p:cNvGrpSpPr/>
          <p:nvPr/>
        </p:nvGrpSpPr>
        <p:grpSpPr>
          <a:xfrm>
            <a:off x="731520" y="0"/>
            <a:ext cx="16824960" cy="1316736"/>
            <a:chOff x="0" y="0"/>
            <a:chExt cx="22433280" cy="1755648"/>
          </a:xfrm>
        </p:grpSpPr>
        <p:sp>
          <p:nvSpPr>
            <p:cNvPr id="5" name="Freeform 5"/>
            <p:cNvSpPr/>
            <p:nvPr/>
          </p:nvSpPr>
          <p:spPr>
            <a:xfrm>
              <a:off x="0" y="0"/>
              <a:ext cx="22433280" cy="1755648"/>
            </a:xfrm>
            <a:custGeom>
              <a:avLst/>
              <a:gdLst/>
              <a:ahLst/>
              <a:cxnLst/>
              <a:rect l="l" t="t" r="r" b="b"/>
              <a:pathLst>
                <a:path w="22433280" h="1755648">
                  <a:moveTo>
                    <a:pt x="0" y="0"/>
                  </a:moveTo>
                  <a:lnTo>
                    <a:pt x="22433280" y="0"/>
                  </a:lnTo>
                  <a:lnTo>
                    <a:pt x="22433280" y="1755648"/>
                  </a:lnTo>
                  <a:lnTo>
                    <a:pt x="0" y="1755648"/>
                  </a:lnTo>
                  <a:close/>
                </a:path>
              </a:pathLst>
            </a:custGeom>
            <a:blipFill>
              <a:blip r:embed="rId3">
                <a:alphaModFix amt="0"/>
              </a:blip>
              <a:stretch>
                <a:fillRect t="-198975" b="-198975"/>
              </a:stretch>
            </a:blipFill>
          </p:spPr>
          <p:txBody>
            <a:bodyPr/>
            <a:lstStyle/>
            <a:p>
              <a:endParaRPr lang="en-IN"/>
            </a:p>
          </p:txBody>
        </p:sp>
        <p:sp>
          <p:nvSpPr>
            <p:cNvPr id="6" name="TextBox 6"/>
            <p:cNvSpPr txBox="1"/>
            <p:nvPr/>
          </p:nvSpPr>
          <p:spPr>
            <a:xfrm>
              <a:off x="0" y="-9525"/>
              <a:ext cx="22433280" cy="1765173"/>
            </a:xfrm>
            <a:prstGeom prst="rect">
              <a:avLst/>
            </a:prstGeom>
          </p:spPr>
          <p:txBody>
            <a:bodyPr lIns="0" tIns="0" rIns="0" bIns="0" rtlCol="0" anchor="ctr"/>
            <a:lstStyle/>
            <a:p>
              <a:pPr algn="l">
                <a:lnSpc>
                  <a:spcPts val="4800"/>
                </a:lnSpc>
              </a:pPr>
              <a:r>
                <a:rPr lang="en-US" sz="4000" spc="560" dirty="0">
                  <a:latin typeface="Times New Roman" panose="02020603050405020304" pitchFamily="18" charset="0"/>
                  <a:ea typeface="Hammersmith One"/>
                  <a:cs typeface="Times New Roman" panose="02020603050405020304" pitchFamily="18" charset="0"/>
                  <a:sym typeface="Hammersmith One"/>
                </a:rPr>
                <a:t>Deep walk and node2vec – Side by Side</a:t>
              </a:r>
            </a:p>
          </p:txBody>
        </p:sp>
      </p:grpSp>
      <p:sp>
        <p:nvSpPr>
          <p:cNvPr id="8" name="Freeform 8"/>
          <p:cNvSpPr/>
          <p:nvPr/>
        </p:nvSpPr>
        <p:spPr>
          <a:xfrm>
            <a:off x="731520" y="73152"/>
            <a:ext cx="16459200" cy="402336"/>
          </a:xfrm>
          <a:custGeom>
            <a:avLst/>
            <a:gdLst/>
            <a:ahLst/>
            <a:cxnLst/>
            <a:rect l="l" t="t" r="r" b="b"/>
            <a:pathLst>
              <a:path w="21945600" h="536448">
                <a:moveTo>
                  <a:pt x="0" y="0"/>
                </a:moveTo>
                <a:lnTo>
                  <a:pt x="21945600" y="0"/>
                </a:lnTo>
                <a:lnTo>
                  <a:pt x="21945600" y="536448"/>
                </a:lnTo>
                <a:lnTo>
                  <a:pt x="0" y="536448"/>
                </a:lnTo>
                <a:close/>
              </a:path>
            </a:pathLst>
          </a:custGeom>
          <a:blipFill>
            <a:blip r:embed="rId3">
              <a:alphaModFix amt="0"/>
            </a:blip>
            <a:stretch>
              <a:fillRect t="-747115" b="-747115"/>
            </a:stretch>
          </a:blipFill>
        </p:spPr>
        <p:txBody>
          <a:bodyPr/>
          <a:lstStyle/>
          <a:p>
            <a:endParaRPr lang="en-IN"/>
          </a:p>
        </p:txBody>
      </p:sp>
      <p:graphicFrame>
        <p:nvGraphicFramePr>
          <p:cNvPr id="10" name="Table 10"/>
          <p:cNvGraphicFramePr>
            <a:graphicFrameLocks noGrp="1"/>
          </p:cNvGraphicFramePr>
          <p:nvPr>
            <p:extLst>
              <p:ext uri="{D42A27DB-BD31-4B8C-83A1-F6EECF244321}">
                <p14:modId xmlns:p14="http://schemas.microsoft.com/office/powerpoint/2010/main" val="1392368007"/>
              </p:ext>
            </p:extLst>
          </p:nvPr>
        </p:nvGraphicFramePr>
        <p:xfrm>
          <a:off x="571500" y="2142202"/>
          <a:ext cx="17145000" cy="6934200"/>
        </p:xfrm>
        <a:graphic>
          <a:graphicData uri="http://schemas.openxmlformats.org/drawingml/2006/table">
            <a:tbl>
              <a:tblPr/>
              <a:tblGrid>
                <a:gridCol w="57150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gridCol w="5715000">
                  <a:extLst>
                    <a:ext uri="{9D8B030D-6E8A-4147-A177-3AD203B41FA5}">
                      <a16:colId xmlns:a16="http://schemas.microsoft.com/office/drawing/2014/main" val="20002"/>
                    </a:ext>
                  </a:extLst>
                </a:gridCol>
              </a:tblGrid>
              <a:tr h="990600">
                <a:tc>
                  <a:txBody>
                    <a:bodyPr/>
                    <a:lstStyle/>
                    <a:p>
                      <a:pPr algn="l">
                        <a:lnSpc>
                          <a:spcPts val="1679"/>
                        </a:lnSpc>
                        <a:defRPr/>
                      </a:pPr>
                      <a:endParaRPr lang="en-US" sz="1100" dirty="0">
                        <a:latin typeface="Times New Roman" panose="02020603050405020304" pitchFamily="18" charset="0"/>
                        <a:cs typeface="Times New Roman" panose="02020603050405020304" pitchFamily="18" charset="0"/>
                      </a:endParaRPr>
                    </a:p>
                  </a:txBody>
                  <a:tcPr marT="91440" marB="91440">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tc>
                  <a:txBody>
                    <a:bodyPr/>
                    <a:lstStyle/>
                    <a:p>
                      <a:pPr algn="ctr">
                        <a:lnSpc>
                          <a:spcPts val="3359"/>
                        </a:lnSpc>
                        <a:defRPr/>
                      </a:pPr>
                      <a:r>
                        <a:rPr lang="en-US" sz="2799" i="1" spc="140" dirty="0">
                          <a:solidFill>
                            <a:schemeClr val="tx1"/>
                          </a:solidFill>
                          <a:latin typeface="Times New Roman" panose="02020603050405020304" pitchFamily="18" charset="0"/>
                          <a:ea typeface="Playfair Display Italics"/>
                          <a:cs typeface="Times New Roman" panose="02020603050405020304" pitchFamily="18" charset="0"/>
                          <a:sym typeface="Playfair Display Italics"/>
                        </a:rPr>
                        <a:t>DeepWalk</a:t>
                      </a:r>
                      <a:endParaRPr lang="en-US" sz="1100" dirty="0">
                        <a:solidFill>
                          <a:schemeClr val="tx1"/>
                        </a:solidFill>
                        <a:latin typeface="Times New Roman" panose="02020603050405020304" pitchFamily="18" charset="0"/>
                        <a:cs typeface="Times New Roman" panose="02020603050405020304" pitchFamily="18" charset="0"/>
                      </a:endParaRPr>
                    </a:p>
                  </a:txBody>
                  <a:tcPr marT="91440" marB="91440">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tc>
                  <a:txBody>
                    <a:bodyPr/>
                    <a:lstStyle/>
                    <a:p>
                      <a:pPr algn="ctr">
                        <a:lnSpc>
                          <a:spcPts val="3359"/>
                        </a:lnSpc>
                        <a:defRPr/>
                      </a:pPr>
                      <a:r>
                        <a:rPr lang="en-US" sz="2799" i="1" spc="140" dirty="0">
                          <a:solidFill>
                            <a:schemeClr val="tx1"/>
                          </a:solidFill>
                          <a:latin typeface="Times New Roman" panose="02020603050405020304" pitchFamily="18" charset="0"/>
                          <a:ea typeface="Playfair Display Italics"/>
                          <a:cs typeface="Times New Roman" panose="02020603050405020304" pitchFamily="18" charset="0"/>
                          <a:sym typeface="Playfair Display Italics"/>
                        </a:rPr>
                        <a:t>node2vec</a:t>
                      </a:r>
                      <a:endParaRPr lang="en-US" sz="1100" dirty="0">
                        <a:solidFill>
                          <a:schemeClr val="tx1"/>
                        </a:solidFill>
                        <a:latin typeface="Times New Roman" panose="02020603050405020304" pitchFamily="18" charset="0"/>
                        <a:cs typeface="Times New Roman" panose="02020603050405020304" pitchFamily="18" charset="0"/>
                      </a:endParaRPr>
                    </a:p>
                  </a:txBody>
                  <a:tcPr marT="91440" marB="91440">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990600">
                <a:tc>
                  <a:txBody>
                    <a:bodyPr/>
                    <a:lstStyle/>
                    <a:p>
                      <a:pPr algn="ctr">
                        <a:lnSpc>
                          <a:spcPts val="2879"/>
                        </a:lnSpc>
                        <a:defRPr/>
                      </a:pPr>
                      <a:r>
                        <a:rPr lang="en-US" sz="2400" i="1" spc="120">
                          <a:solidFill>
                            <a:srgbClr val="253439"/>
                          </a:solidFill>
                          <a:latin typeface="Times New Roman" panose="02020603050405020304" pitchFamily="18" charset="0"/>
                          <a:ea typeface="Playfair Display Italics"/>
                          <a:cs typeface="Times New Roman" panose="02020603050405020304" pitchFamily="18" charset="0"/>
                          <a:sym typeface="Playfair Display Italics"/>
                        </a:rPr>
                        <a:t>Walk type</a:t>
                      </a:r>
                      <a:endParaRPr lang="en-US" sz="1100">
                        <a:latin typeface="Times New Roman" panose="02020603050405020304" pitchFamily="18" charset="0"/>
                        <a:cs typeface="Times New Roman" panose="02020603050405020304" pitchFamily="18" charset="0"/>
                      </a:endParaRP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CEB99E"/>
                    </a:solidFill>
                  </a:tcPr>
                </a:tc>
                <a:tc>
                  <a:txBody>
                    <a:bodyPr/>
                    <a:lstStyle/>
                    <a:p>
                      <a:pPr algn="ctr">
                        <a:lnSpc>
                          <a:spcPts val="2879"/>
                        </a:lnSpc>
                        <a:defRPr/>
                      </a:pPr>
                      <a:r>
                        <a:rPr lang="en-US" sz="2400" spc="48">
                          <a:solidFill>
                            <a:srgbClr val="253439"/>
                          </a:solidFill>
                          <a:latin typeface="Times New Roman" panose="02020603050405020304" pitchFamily="18" charset="0"/>
                          <a:ea typeface="Playfair Display"/>
                          <a:cs typeface="Times New Roman" panose="02020603050405020304" pitchFamily="18" charset="0"/>
                          <a:sym typeface="Playfair Display"/>
                        </a:rPr>
                        <a:t>Uniform random walk</a:t>
                      </a:r>
                      <a:endParaRPr lang="en-US" sz="1100">
                        <a:latin typeface="Times New Roman" panose="02020603050405020304" pitchFamily="18" charset="0"/>
                        <a:cs typeface="Times New Roman" panose="02020603050405020304" pitchFamily="18" charset="0"/>
                      </a:endParaRP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CEB99E"/>
                    </a:solidFill>
                  </a:tcPr>
                </a:tc>
                <a:tc>
                  <a:txBody>
                    <a:bodyPr/>
                    <a:lstStyle/>
                    <a:p>
                      <a:pPr algn="ctr">
                        <a:lnSpc>
                          <a:spcPts val="2879"/>
                        </a:lnSpc>
                        <a:defRPr/>
                      </a:pPr>
                      <a:r>
                        <a:rPr lang="en-US" sz="2400" spc="48">
                          <a:solidFill>
                            <a:srgbClr val="253439"/>
                          </a:solidFill>
                          <a:latin typeface="Times New Roman" panose="02020603050405020304" pitchFamily="18" charset="0"/>
                          <a:ea typeface="Playfair Display"/>
                          <a:cs typeface="Times New Roman" panose="02020603050405020304" pitchFamily="18" charset="0"/>
                          <a:sym typeface="Playfair Display"/>
                        </a:rPr>
                        <a:t>Biased 2nd-order random walk</a:t>
                      </a:r>
                      <a:endParaRPr lang="en-US" sz="1100">
                        <a:latin typeface="Times New Roman" panose="02020603050405020304" pitchFamily="18" charset="0"/>
                        <a:cs typeface="Times New Roman" panose="02020603050405020304" pitchFamily="18" charset="0"/>
                      </a:endParaRP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CEB99E"/>
                    </a:solidFill>
                  </a:tcPr>
                </a:tc>
                <a:extLst>
                  <a:ext uri="{0D108BD9-81ED-4DB2-BD59-A6C34878D82A}">
                    <a16:rowId xmlns:a16="http://schemas.microsoft.com/office/drawing/2014/main" val="10001"/>
                  </a:ext>
                </a:extLst>
              </a:tr>
              <a:tr h="990600">
                <a:tc>
                  <a:txBody>
                    <a:bodyPr/>
                    <a:lstStyle/>
                    <a:p>
                      <a:pPr algn="ctr">
                        <a:lnSpc>
                          <a:spcPts val="2879"/>
                        </a:lnSpc>
                        <a:defRPr/>
                      </a:pPr>
                      <a:r>
                        <a:rPr lang="en-US" sz="2400" i="1" spc="120">
                          <a:solidFill>
                            <a:srgbClr val="253439"/>
                          </a:solidFill>
                          <a:latin typeface="Times New Roman" panose="02020603050405020304" pitchFamily="18" charset="0"/>
                          <a:ea typeface="Playfair Display Italics"/>
                          <a:cs typeface="Times New Roman" panose="02020603050405020304" pitchFamily="18" charset="0"/>
                          <a:sym typeface="Playfair Display Italics"/>
                        </a:rPr>
                        <a:t>Parameters</a:t>
                      </a:r>
                      <a:endParaRPr lang="en-US" sz="1100">
                        <a:latin typeface="Times New Roman" panose="02020603050405020304" pitchFamily="18" charset="0"/>
                        <a:cs typeface="Times New Roman" panose="02020603050405020304" pitchFamily="18" charset="0"/>
                      </a:endParaRP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tc>
                  <a:txBody>
                    <a:bodyPr/>
                    <a:lstStyle/>
                    <a:p>
                      <a:pPr algn="ctr">
                        <a:lnSpc>
                          <a:spcPts val="2879"/>
                        </a:lnSpc>
                        <a:defRPr/>
                      </a:pPr>
                      <a:r>
                        <a:rPr lang="en-US" sz="2400" spc="48">
                          <a:solidFill>
                            <a:srgbClr val="253439"/>
                          </a:solidFill>
                          <a:latin typeface="Times New Roman" panose="02020603050405020304" pitchFamily="18" charset="0"/>
                          <a:ea typeface="Playfair Display"/>
                          <a:cs typeface="Times New Roman" panose="02020603050405020304" pitchFamily="18" charset="0"/>
                          <a:sym typeface="Playfair Display"/>
                        </a:rPr>
                        <a:t>Walk length T, context window</a:t>
                      </a:r>
                      <a:endParaRPr lang="en-US" sz="1100">
                        <a:latin typeface="Times New Roman" panose="02020603050405020304" pitchFamily="18" charset="0"/>
                        <a:cs typeface="Times New Roman" panose="02020603050405020304" pitchFamily="18" charset="0"/>
                      </a:endParaRP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tc>
                  <a:txBody>
                    <a:bodyPr/>
                    <a:lstStyle/>
                    <a:p>
                      <a:pPr algn="ctr">
                        <a:lnSpc>
                          <a:spcPts val="2879"/>
                        </a:lnSpc>
                        <a:defRPr/>
                      </a:pPr>
                      <a:r>
                        <a:rPr lang="en-US" sz="2400" spc="48">
                          <a:solidFill>
                            <a:srgbClr val="253439"/>
                          </a:solidFill>
                          <a:latin typeface="Times New Roman" panose="02020603050405020304" pitchFamily="18" charset="0"/>
                          <a:ea typeface="Playfair Display"/>
                          <a:cs typeface="Times New Roman" panose="02020603050405020304" pitchFamily="18" charset="0"/>
                          <a:sym typeface="Playfair Display"/>
                        </a:rPr>
                        <a:t>p (return), q (in-out), T, context</a:t>
                      </a:r>
                      <a:endParaRPr lang="en-US" sz="1100">
                        <a:latin typeface="Times New Roman" panose="02020603050405020304" pitchFamily="18" charset="0"/>
                        <a:cs typeface="Times New Roman" panose="02020603050405020304" pitchFamily="18" charset="0"/>
                      </a:endParaRP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90600">
                <a:tc>
                  <a:txBody>
                    <a:bodyPr/>
                    <a:lstStyle/>
                    <a:p>
                      <a:pPr algn="ctr">
                        <a:lnSpc>
                          <a:spcPts val="2879"/>
                        </a:lnSpc>
                        <a:defRPr/>
                      </a:pPr>
                      <a:r>
                        <a:rPr lang="en-US" sz="2400" i="1" spc="120">
                          <a:solidFill>
                            <a:srgbClr val="253439"/>
                          </a:solidFill>
                          <a:latin typeface="Times New Roman" panose="02020603050405020304" pitchFamily="18" charset="0"/>
                          <a:ea typeface="Playfair Display Italics"/>
                          <a:cs typeface="Times New Roman" panose="02020603050405020304" pitchFamily="18" charset="0"/>
                          <a:sym typeface="Playfair Display Italics"/>
                        </a:rPr>
                        <a:t>Similarity measure</a:t>
                      </a:r>
                      <a:endParaRPr lang="en-US" sz="1100">
                        <a:latin typeface="Times New Roman" panose="02020603050405020304" pitchFamily="18" charset="0"/>
                        <a:cs typeface="Times New Roman" panose="02020603050405020304" pitchFamily="18" charset="0"/>
                      </a:endParaRP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CEB99E"/>
                    </a:solidFill>
                  </a:tcPr>
                </a:tc>
                <a:tc>
                  <a:txBody>
                    <a:bodyPr/>
                    <a:lstStyle/>
                    <a:p>
                      <a:pPr algn="ctr">
                        <a:lnSpc>
                          <a:spcPts val="2879"/>
                        </a:lnSpc>
                        <a:defRPr/>
                      </a:pPr>
                      <a:r>
                        <a:rPr lang="en-US" sz="2400" spc="48">
                          <a:solidFill>
                            <a:srgbClr val="253439"/>
                          </a:solidFill>
                          <a:latin typeface="Times New Roman" panose="02020603050405020304" pitchFamily="18" charset="0"/>
                          <a:ea typeface="Playfair Display"/>
                          <a:cs typeface="Times New Roman" panose="02020603050405020304" pitchFamily="18" charset="0"/>
                          <a:sym typeface="Playfair Display"/>
                        </a:rPr>
                        <a:t>p_G(v|u) unbiased</a:t>
                      </a:r>
                      <a:endParaRPr lang="en-US" sz="1100">
                        <a:latin typeface="Times New Roman" panose="02020603050405020304" pitchFamily="18" charset="0"/>
                        <a:cs typeface="Times New Roman" panose="02020603050405020304" pitchFamily="18" charset="0"/>
                      </a:endParaRP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CEB99E"/>
                    </a:solidFill>
                  </a:tcPr>
                </a:tc>
                <a:tc>
                  <a:txBody>
                    <a:bodyPr/>
                    <a:lstStyle/>
                    <a:p>
                      <a:pPr algn="ctr">
                        <a:lnSpc>
                          <a:spcPts val="2879"/>
                        </a:lnSpc>
                        <a:defRPr/>
                      </a:pPr>
                      <a:r>
                        <a:rPr lang="en-US" sz="2400" spc="48">
                          <a:solidFill>
                            <a:srgbClr val="253439"/>
                          </a:solidFill>
                          <a:latin typeface="Times New Roman" panose="02020603050405020304" pitchFamily="18" charset="0"/>
                          <a:ea typeface="Playfair Display"/>
                          <a:cs typeface="Times New Roman" panose="02020603050405020304" pitchFamily="18" charset="0"/>
                          <a:sym typeface="Playfair Display"/>
                        </a:rPr>
                        <a:t>p_G(v|u) biased by p,q</a:t>
                      </a:r>
                      <a:endParaRPr lang="en-US" sz="1100">
                        <a:latin typeface="Times New Roman" panose="02020603050405020304" pitchFamily="18" charset="0"/>
                        <a:cs typeface="Times New Roman" panose="02020603050405020304" pitchFamily="18" charset="0"/>
                      </a:endParaRP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CEB99E"/>
                    </a:solidFill>
                  </a:tcPr>
                </a:tc>
                <a:extLst>
                  <a:ext uri="{0D108BD9-81ED-4DB2-BD59-A6C34878D82A}">
                    <a16:rowId xmlns:a16="http://schemas.microsoft.com/office/drawing/2014/main" val="10003"/>
                  </a:ext>
                </a:extLst>
              </a:tr>
              <a:tr h="990600">
                <a:tc>
                  <a:txBody>
                    <a:bodyPr/>
                    <a:lstStyle/>
                    <a:p>
                      <a:pPr algn="ctr">
                        <a:lnSpc>
                          <a:spcPts val="2879"/>
                        </a:lnSpc>
                        <a:defRPr/>
                      </a:pPr>
                      <a:r>
                        <a:rPr lang="en-US" sz="2400" i="1" spc="120">
                          <a:solidFill>
                            <a:srgbClr val="253439"/>
                          </a:solidFill>
                          <a:latin typeface="Times New Roman" panose="02020603050405020304" pitchFamily="18" charset="0"/>
                          <a:ea typeface="Playfair Display Italics"/>
                          <a:cs typeface="Times New Roman" panose="02020603050405020304" pitchFamily="18" charset="0"/>
                          <a:sym typeface="Playfair Display Italics"/>
                        </a:rPr>
                        <a:t>Optimization</a:t>
                      </a:r>
                      <a:endParaRPr lang="en-US" sz="1100">
                        <a:latin typeface="Times New Roman" panose="02020603050405020304" pitchFamily="18" charset="0"/>
                        <a:cs typeface="Times New Roman" panose="02020603050405020304" pitchFamily="18" charset="0"/>
                      </a:endParaRP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tc>
                  <a:txBody>
                    <a:bodyPr/>
                    <a:lstStyle/>
                    <a:p>
                      <a:pPr algn="ctr">
                        <a:lnSpc>
                          <a:spcPts val="2879"/>
                        </a:lnSpc>
                        <a:defRPr/>
                      </a:pPr>
                      <a:r>
                        <a:rPr lang="en-US" sz="2400" spc="48" dirty="0">
                          <a:solidFill>
                            <a:srgbClr val="253439"/>
                          </a:solidFill>
                          <a:latin typeface="Times New Roman" panose="02020603050405020304" pitchFamily="18" charset="0"/>
                          <a:ea typeface="Playfair Display"/>
                          <a:cs typeface="Times New Roman" panose="02020603050405020304" pitchFamily="18" charset="0"/>
                          <a:sym typeface="Playfair Display"/>
                        </a:rPr>
                        <a:t>Hierarchical Softmax → O(log|V|)</a:t>
                      </a:r>
                      <a:endParaRPr lang="en-US" sz="1100" dirty="0">
                        <a:latin typeface="Times New Roman" panose="02020603050405020304" pitchFamily="18" charset="0"/>
                        <a:cs typeface="Times New Roman" panose="02020603050405020304" pitchFamily="18" charset="0"/>
                      </a:endParaRP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tc>
                  <a:txBody>
                    <a:bodyPr/>
                    <a:lstStyle/>
                    <a:p>
                      <a:pPr algn="ctr">
                        <a:lnSpc>
                          <a:spcPts val="2879"/>
                        </a:lnSpc>
                        <a:defRPr/>
                      </a:pPr>
                      <a:r>
                        <a:rPr lang="en-US" sz="2400" spc="48">
                          <a:solidFill>
                            <a:srgbClr val="253439"/>
                          </a:solidFill>
                          <a:latin typeface="Times New Roman" panose="02020603050405020304" pitchFamily="18" charset="0"/>
                          <a:ea typeface="Playfair Display"/>
                          <a:cs typeface="Times New Roman" panose="02020603050405020304" pitchFamily="18" charset="0"/>
                          <a:sym typeface="Playfair Display"/>
                        </a:rPr>
                        <a:t>Negative Sampling → O(γ)</a:t>
                      </a:r>
                      <a:endParaRPr lang="en-US" sz="1100">
                        <a:latin typeface="Times New Roman" panose="02020603050405020304" pitchFamily="18" charset="0"/>
                        <a:cs typeface="Times New Roman" panose="02020603050405020304" pitchFamily="18" charset="0"/>
                      </a:endParaRP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990600">
                <a:tc>
                  <a:txBody>
                    <a:bodyPr/>
                    <a:lstStyle/>
                    <a:p>
                      <a:pPr algn="ctr">
                        <a:lnSpc>
                          <a:spcPts val="2879"/>
                        </a:lnSpc>
                        <a:defRPr/>
                      </a:pPr>
                      <a:r>
                        <a:rPr lang="en-US" sz="2400" i="1" spc="120">
                          <a:solidFill>
                            <a:srgbClr val="253439"/>
                          </a:solidFill>
                          <a:latin typeface="Times New Roman" panose="02020603050405020304" pitchFamily="18" charset="0"/>
                          <a:ea typeface="Playfair Display Italics"/>
                          <a:cs typeface="Times New Roman" panose="02020603050405020304" pitchFamily="18" charset="0"/>
                          <a:sym typeface="Playfair Display Italics"/>
                        </a:rPr>
                        <a:t>BFS/DFS</a:t>
                      </a:r>
                      <a:endParaRPr lang="en-US" sz="1100">
                        <a:latin typeface="Times New Roman" panose="02020603050405020304" pitchFamily="18" charset="0"/>
                        <a:cs typeface="Times New Roman" panose="02020603050405020304" pitchFamily="18" charset="0"/>
                      </a:endParaRP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CEB99E"/>
                    </a:solidFill>
                  </a:tcPr>
                </a:tc>
                <a:tc>
                  <a:txBody>
                    <a:bodyPr/>
                    <a:lstStyle/>
                    <a:p>
                      <a:pPr algn="ctr">
                        <a:lnSpc>
                          <a:spcPts val="2879"/>
                        </a:lnSpc>
                        <a:defRPr/>
                      </a:pPr>
                      <a:r>
                        <a:rPr lang="en-US" sz="2400" spc="48">
                          <a:solidFill>
                            <a:srgbClr val="253439"/>
                          </a:solidFill>
                          <a:latin typeface="Times New Roman" panose="02020603050405020304" pitchFamily="18" charset="0"/>
                          <a:ea typeface="Playfair Display"/>
                          <a:cs typeface="Times New Roman" panose="02020603050405020304" pitchFamily="18" charset="0"/>
                          <a:sym typeface="Playfair Display"/>
                        </a:rPr>
                        <a:t>Fixed — neither pure</a:t>
                      </a:r>
                      <a:endParaRPr lang="en-US" sz="1100">
                        <a:latin typeface="Times New Roman" panose="02020603050405020304" pitchFamily="18" charset="0"/>
                        <a:cs typeface="Times New Roman" panose="02020603050405020304" pitchFamily="18" charset="0"/>
                      </a:endParaRP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CEB99E"/>
                    </a:solidFill>
                  </a:tcPr>
                </a:tc>
                <a:tc>
                  <a:txBody>
                    <a:bodyPr/>
                    <a:lstStyle/>
                    <a:p>
                      <a:pPr algn="ctr">
                        <a:lnSpc>
                          <a:spcPts val="2879"/>
                        </a:lnSpc>
                        <a:defRPr/>
                      </a:pPr>
                      <a:r>
                        <a:rPr lang="en-US" sz="2400" spc="48">
                          <a:solidFill>
                            <a:srgbClr val="253439"/>
                          </a:solidFill>
                          <a:latin typeface="Times New Roman" panose="02020603050405020304" pitchFamily="18" charset="0"/>
                          <a:ea typeface="Playfair Display"/>
                          <a:cs typeface="Times New Roman" panose="02020603050405020304" pitchFamily="18" charset="0"/>
                          <a:sym typeface="Playfair Display"/>
                        </a:rPr>
                        <a:t>Interpolates between both</a:t>
                      </a:r>
                      <a:endParaRPr lang="en-US" sz="1100">
                        <a:latin typeface="Times New Roman" panose="02020603050405020304" pitchFamily="18" charset="0"/>
                        <a:cs typeface="Times New Roman" panose="02020603050405020304" pitchFamily="18" charset="0"/>
                      </a:endParaRP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CEB99E"/>
                    </a:solidFill>
                  </a:tcPr>
                </a:tc>
                <a:extLst>
                  <a:ext uri="{0D108BD9-81ED-4DB2-BD59-A6C34878D82A}">
                    <a16:rowId xmlns:a16="http://schemas.microsoft.com/office/drawing/2014/main" val="10005"/>
                  </a:ext>
                </a:extLst>
              </a:tr>
              <a:tr h="990600">
                <a:tc>
                  <a:txBody>
                    <a:bodyPr/>
                    <a:lstStyle/>
                    <a:p>
                      <a:pPr algn="ctr">
                        <a:lnSpc>
                          <a:spcPts val="2879"/>
                        </a:lnSpc>
                        <a:defRPr/>
                      </a:pPr>
                      <a:r>
                        <a:rPr lang="en-US" sz="2400" i="1" spc="120">
                          <a:solidFill>
                            <a:srgbClr val="253439"/>
                          </a:solidFill>
                          <a:latin typeface="Times New Roman" panose="02020603050405020304" pitchFamily="18" charset="0"/>
                          <a:ea typeface="Playfair Display Italics"/>
                          <a:cs typeface="Times New Roman" panose="02020603050405020304" pitchFamily="18" charset="0"/>
                          <a:sym typeface="Playfair Display Italics"/>
                        </a:rPr>
                        <a:t>Graph structure captured</a:t>
                      </a:r>
                      <a:endParaRPr lang="en-US" sz="1100">
                        <a:latin typeface="Times New Roman" panose="02020603050405020304" pitchFamily="18" charset="0"/>
                        <a:cs typeface="Times New Roman" panose="02020603050405020304" pitchFamily="18" charset="0"/>
                      </a:endParaRP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tc>
                  <a:txBody>
                    <a:bodyPr/>
                    <a:lstStyle/>
                    <a:p>
                      <a:pPr algn="ctr">
                        <a:lnSpc>
                          <a:spcPts val="2879"/>
                        </a:lnSpc>
                        <a:defRPr/>
                      </a:pPr>
                      <a:r>
                        <a:rPr lang="en-US" sz="2400" spc="48">
                          <a:solidFill>
                            <a:srgbClr val="253439"/>
                          </a:solidFill>
                          <a:latin typeface="Times New Roman" panose="02020603050405020304" pitchFamily="18" charset="0"/>
                          <a:ea typeface="Playfair Display"/>
                          <a:cs typeface="Times New Roman" panose="02020603050405020304" pitchFamily="18" charset="0"/>
                          <a:sym typeface="Playfair Display"/>
                        </a:rPr>
                        <a:t>Local communities</a:t>
                      </a:r>
                      <a:endParaRPr lang="en-US" sz="1100">
                        <a:latin typeface="Times New Roman" panose="02020603050405020304" pitchFamily="18" charset="0"/>
                        <a:cs typeface="Times New Roman" panose="02020603050405020304" pitchFamily="18" charset="0"/>
                      </a:endParaRP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tc>
                  <a:txBody>
                    <a:bodyPr/>
                    <a:lstStyle/>
                    <a:p>
                      <a:pPr algn="ctr">
                        <a:lnSpc>
                          <a:spcPts val="2879"/>
                        </a:lnSpc>
                        <a:defRPr/>
                      </a:pPr>
                      <a:r>
                        <a:rPr lang="en-US" sz="2400" spc="48" dirty="0">
                          <a:solidFill>
                            <a:srgbClr val="253439"/>
                          </a:solidFill>
                          <a:latin typeface="Times New Roman" panose="02020603050405020304" pitchFamily="18" charset="0"/>
                          <a:ea typeface="Playfair Display"/>
                          <a:cs typeface="Times New Roman" panose="02020603050405020304" pitchFamily="18" charset="0"/>
                          <a:sym typeface="Playfair Display"/>
                        </a:rPr>
                        <a:t>Both communities + structural roles</a:t>
                      </a:r>
                      <a:endParaRPr lang="en-US" sz="1100" dirty="0">
                        <a:latin typeface="Times New Roman" panose="02020603050405020304" pitchFamily="18" charset="0"/>
                        <a:cs typeface="Times New Roman" panose="02020603050405020304" pitchFamily="18" charset="0"/>
                      </a:endParaRP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grpSp>
        <p:nvGrpSpPr>
          <p:cNvPr id="11" name="Group 11"/>
          <p:cNvGrpSpPr/>
          <p:nvPr/>
        </p:nvGrpSpPr>
        <p:grpSpPr>
          <a:xfrm>
            <a:off x="731520" y="9421368"/>
            <a:ext cx="16954500" cy="1057656"/>
            <a:chOff x="0" y="-678688"/>
            <a:chExt cx="22606000" cy="1410208"/>
          </a:xfrm>
        </p:grpSpPr>
        <p:sp>
          <p:nvSpPr>
            <p:cNvPr id="12" name="Freeform 12"/>
            <p:cNvSpPr/>
            <p:nvPr/>
          </p:nvSpPr>
          <p:spPr>
            <a:xfrm>
              <a:off x="0" y="0"/>
              <a:ext cx="22433280" cy="731520"/>
            </a:xfrm>
            <a:custGeom>
              <a:avLst/>
              <a:gdLst/>
              <a:ahLst/>
              <a:cxnLst/>
              <a:rect l="l" t="t" r="r" b="b"/>
              <a:pathLst>
                <a:path w="22433280" h="731520">
                  <a:moveTo>
                    <a:pt x="0" y="0"/>
                  </a:moveTo>
                  <a:lnTo>
                    <a:pt x="22433280" y="0"/>
                  </a:lnTo>
                  <a:lnTo>
                    <a:pt x="22433280" y="731520"/>
                  </a:lnTo>
                  <a:lnTo>
                    <a:pt x="0" y="731520"/>
                  </a:lnTo>
                  <a:close/>
                </a:path>
              </a:pathLst>
            </a:custGeom>
            <a:blipFill>
              <a:blip r:embed="rId3">
                <a:alphaModFix amt="0"/>
              </a:blip>
              <a:stretch>
                <a:fillRect t="-547541" b="-547541"/>
              </a:stretch>
            </a:blipFill>
          </p:spPr>
          <p:txBody>
            <a:bodyPr/>
            <a:lstStyle/>
            <a:p>
              <a:endParaRPr lang="en-IN"/>
            </a:p>
          </p:txBody>
        </p:sp>
        <p:sp>
          <p:nvSpPr>
            <p:cNvPr id="13" name="TextBox 13"/>
            <p:cNvSpPr txBox="1"/>
            <p:nvPr/>
          </p:nvSpPr>
          <p:spPr>
            <a:xfrm>
              <a:off x="172720" y="-678688"/>
              <a:ext cx="22433280" cy="731520"/>
            </a:xfrm>
            <a:prstGeom prst="rect">
              <a:avLst/>
            </a:prstGeom>
          </p:spPr>
          <p:txBody>
            <a:bodyPr lIns="0" tIns="0" rIns="0" bIns="0" rtlCol="0" anchor="ctr"/>
            <a:lstStyle/>
            <a:p>
              <a:pPr algn="ctr">
                <a:lnSpc>
                  <a:spcPts val="2640"/>
                </a:lnSpc>
              </a:pPr>
              <a:r>
                <a:rPr lang="en-US" sz="2200" spc="43" dirty="0">
                  <a:solidFill>
                    <a:srgbClr val="FFFFFF"/>
                  </a:solidFill>
                  <a:latin typeface="Playfair Display"/>
                  <a:ea typeface="Playfair Display"/>
                  <a:cs typeface="Playfair Display"/>
                  <a:sym typeface="Playfair Display"/>
                </a:rPr>
                <a:t>Both are shallow embedding methods with inner-product decoder — they share the same encoder Z.</a:t>
              </a: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253439"/>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0" y="0"/>
              <a:ext cx="24417910" cy="1789557"/>
            </a:xfrm>
            <a:custGeom>
              <a:avLst/>
              <a:gdLst/>
              <a:ahLst/>
              <a:cxnLst/>
              <a:rect l="l" t="t" r="r" b="b"/>
              <a:pathLst>
                <a:path w="24417910" h="1789557">
                  <a:moveTo>
                    <a:pt x="0" y="0"/>
                  </a:moveTo>
                  <a:lnTo>
                    <a:pt x="24417910" y="0"/>
                  </a:lnTo>
                  <a:lnTo>
                    <a:pt x="24417910" y="1789557"/>
                  </a:lnTo>
                  <a:lnTo>
                    <a:pt x="0" y="1789557"/>
                  </a:lnTo>
                  <a:close/>
                </a:path>
              </a:pathLst>
            </a:custGeom>
            <a:solidFill>
              <a:srgbClr val="FFFFFF"/>
            </a:solidFill>
            <a:ln w="25400" cap="sq">
              <a:solidFill>
                <a:srgbClr val="1A3461"/>
              </a:solidFill>
              <a:prstDash val="solid"/>
              <a:miter/>
            </a:ln>
          </p:spPr>
          <p:txBody>
            <a:bodyPr/>
            <a:lstStyle/>
            <a:p>
              <a:endParaRPr lang="en-IN"/>
            </a:p>
          </p:txBody>
        </p:sp>
      </p:grpSp>
      <p:grpSp>
        <p:nvGrpSpPr>
          <p:cNvPr id="4" name="Group 4"/>
          <p:cNvGrpSpPr/>
          <p:nvPr/>
        </p:nvGrpSpPr>
        <p:grpSpPr>
          <a:xfrm>
            <a:off x="731520" y="0"/>
            <a:ext cx="16824960" cy="1327150"/>
            <a:chOff x="0" y="0"/>
            <a:chExt cx="22433280" cy="1769533"/>
          </a:xfrm>
        </p:grpSpPr>
        <p:sp>
          <p:nvSpPr>
            <p:cNvPr id="5" name="Freeform 5"/>
            <p:cNvSpPr/>
            <p:nvPr/>
          </p:nvSpPr>
          <p:spPr>
            <a:xfrm>
              <a:off x="0" y="0"/>
              <a:ext cx="22433280" cy="1769533"/>
            </a:xfrm>
            <a:custGeom>
              <a:avLst/>
              <a:gdLst/>
              <a:ahLst/>
              <a:cxnLst/>
              <a:rect l="l" t="t" r="r" b="b"/>
              <a:pathLst>
                <a:path w="22433280" h="1769533">
                  <a:moveTo>
                    <a:pt x="0" y="0"/>
                  </a:moveTo>
                  <a:lnTo>
                    <a:pt x="22433280" y="0"/>
                  </a:lnTo>
                  <a:lnTo>
                    <a:pt x="22433280" y="1769533"/>
                  </a:lnTo>
                  <a:lnTo>
                    <a:pt x="0" y="1769533"/>
                  </a:lnTo>
                  <a:close/>
                </a:path>
              </a:pathLst>
            </a:custGeom>
            <a:blipFill>
              <a:blip r:embed="rId3">
                <a:alphaModFix amt="0"/>
              </a:blip>
              <a:stretch>
                <a:fillRect t="-197414" b="-196629"/>
              </a:stretch>
            </a:blipFill>
          </p:spPr>
          <p:txBody>
            <a:bodyPr/>
            <a:lstStyle/>
            <a:p>
              <a:endParaRPr lang="en-IN"/>
            </a:p>
          </p:txBody>
        </p:sp>
        <p:sp>
          <p:nvSpPr>
            <p:cNvPr id="6" name="TextBox 6"/>
            <p:cNvSpPr txBox="1"/>
            <p:nvPr/>
          </p:nvSpPr>
          <p:spPr>
            <a:xfrm>
              <a:off x="0" y="-9525"/>
              <a:ext cx="22433280" cy="1779058"/>
            </a:xfrm>
            <a:prstGeom prst="rect">
              <a:avLst/>
            </a:prstGeom>
          </p:spPr>
          <p:txBody>
            <a:bodyPr lIns="0" tIns="0" rIns="0" bIns="0" rtlCol="0" anchor="ctr"/>
            <a:lstStyle/>
            <a:p>
              <a:pPr algn="l">
                <a:lnSpc>
                  <a:spcPts val="4800"/>
                </a:lnSpc>
              </a:pPr>
              <a:r>
                <a:rPr lang="en-US" sz="4000" spc="560" dirty="0">
                  <a:latin typeface="Times New Roman" panose="02020603050405020304" pitchFamily="18" charset="0"/>
                  <a:ea typeface="Hammersmith One"/>
                  <a:cs typeface="Times New Roman" panose="02020603050405020304" pitchFamily="18" charset="0"/>
                  <a:sym typeface="Hammersmith One"/>
                </a:rPr>
                <a:t>LINE — Large Scale Information Network Embeddings</a:t>
              </a:r>
            </a:p>
          </p:txBody>
        </p:sp>
      </p:grpSp>
      <p:grpSp>
        <p:nvGrpSpPr>
          <p:cNvPr id="10" name="Group 10"/>
          <p:cNvGrpSpPr/>
          <p:nvPr/>
        </p:nvGrpSpPr>
        <p:grpSpPr>
          <a:xfrm>
            <a:off x="731520" y="1499616"/>
            <a:ext cx="16824960" cy="731520"/>
            <a:chOff x="0" y="0"/>
            <a:chExt cx="22433280" cy="975360"/>
          </a:xfrm>
        </p:grpSpPr>
        <p:sp>
          <p:nvSpPr>
            <p:cNvPr id="11" name="Freeform 11"/>
            <p:cNvSpPr/>
            <p:nvPr/>
          </p:nvSpPr>
          <p:spPr>
            <a:xfrm>
              <a:off x="0" y="0"/>
              <a:ext cx="22433280" cy="975360"/>
            </a:xfrm>
            <a:custGeom>
              <a:avLst/>
              <a:gdLst/>
              <a:ahLst/>
              <a:cxnLst/>
              <a:rect l="l" t="t" r="r" b="b"/>
              <a:pathLst>
                <a:path w="22433280" h="975360">
                  <a:moveTo>
                    <a:pt x="0" y="0"/>
                  </a:moveTo>
                  <a:lnTo>
                    <a:pt x="22433280" y="0"/>
                  </a:lnTo>
                  <a:lnTo>
                    <a:pt x="22433280" y="975360"/>
                  </a:lnTo>
                  <a:lnTo>
                    <a:pt x="0" y="975360"/>
                  </a:lnTo>
                  <a:close/>
                </a:path>
              </a:pathLst>
            </a:custGeom>
            <a:blipFill>
              <a:blip r:embed="rId3">
                <a:alphaModFix amt="0"/>
              </a:blip>
              <a:stretch>
                <a:fillRect t="-398155" b="-398155"/>
              </a:stretch>
            </a:blipFill>
          </p:spPr>
          <p:txBody>
            <a:bodyPr/>
            <a:lstStyle/>
            <a:p>
              <a:endParaRPr lang="en-IN"/>
            </a:p>
          </p:txBody>
        </p:sp>
        <p:sp>
          <p:nvSpPr>
            <p:cNvPr id="12" name="TextBox 12"/>
            <p:cNvSpPr txBox="1"/>
            <p:nvPr/>
          </p:nvSpPr>
          <p:spPr>
            <a:xfrm>
              <a:off x="0" y="9525"/>
              <a:ext cx="22433280" cy="965835"/>
            </a:xfrm>
            <a:prstGeom prst="rect">
              <a:avLst/>
            </a:prstGeom>
          </p:spPr>
          <p:txBody>
            <a:bodyPr lIns="0" tIns="0" rIns="0" bIns="0" rtlCol="0" anchor="ctr"/>
            <a:lstStyle/>
            <a:p>
              <a:pPr algn="l">
                <a:lnSpc>
                  <a:spcPts val="3359"/>
                </a:lnSpc>
              </a:pPr>
              <a:r>
                <a:rPr lang="en-US" sz="2799" spc="55">
                  <a:solidFill>
                    <a:srgbClr val="FFFFFF"/>
                  </a:solidFill>
                  <a:latin typeface="Playfair Display"/>
                  <a:ea typeface="Playfair Display"/>
                  <a:cs typeface="Playfair Display"/>
                  <a:sym typeface="Playfair Display"/>
                </a:rPr>
                <a:t>LINE (Tang et al., 2015) combines two encoder-decoder objectives without using long random walks.</a:t>
              </a:r>
            </a:p>
          </p:txBody>
        </p:sp>
      </p:grpSp>
      <p:grpSp>
        <p:nvGrpSpPr>
          <p:cNvPr id="13" name="Group 13"/>
          <p:cNvGrpSpPr/>
          <p:nvPr/>
        </p:nvGrpSpPr>
        <p:grpSpPr>
          <a:xfrm>
            <a:off x="535943" y="2456183"/>
            <a:ext cx="8255003" cy="6517643"/>
            <a:chOff x="0" y="0"/>
            <a:chExt cx="11006671" cy="8690191"/>
          </a:xfrm>
        </p:grpSpPr>
        <p:sp>
          <p:nvSpPr>
            <p:cNvPr id="14" name="Freeform 14"/>
            <p:cNvSpPr/>
            <p:nvPr/>
          </p:nvSpPr>
          <p:spPr>
            <a:xfrm>
              <a:off x="0" y="0"/>
              <a:ext cx="11006710" cy="8690229"/>
            </a:xfrm>
            <a:custGeom>
              <a:avLst/>
              <a:gdLst/>
              <a:ahLst/>
              <a:cxnLst/>
              <a:rect l="l" t="t" r="r" b="b"/>
              <a:pathLst>
                <a:path w="11006710" h="8690229">
                  <a:moveTo>
                    <a:pt x="0" y="244856"/>
                  </a:moveTo>
                  <a:cubicBezTo>
                    <a:pt x="0" y="109601"/>
                    <a:pt x="109601" y="0"/>
                    <a:pt x="244856" y="0"/>
                  </a:cubicBezTo>
                  <a:lnTo>
                    <a:pt x="10761853" y="0"/>
                  </a:lnTo>
                  <a:cubicBezTo>
                    <a:pt x="10897108" y="0"/>
                    <a:pt x="11006710" y="109601"/>
                    <a:pt x="11006710" y="244856"/>
                  </a:cubicBezTo>
                  <a:lnTo>
                    <a:pt x="11006710" y="8445373"/>
                  </a:lnTo>
                  <a:cubicBezTo>
                    <a:pt x="11006710" y="8580628"/>
                    <a:pt x="10897108" y="8690229"/>
                    <a:pt x="10761853" y="8690229"/>
                  </a:cubicBezTo>
                  <a:lnTo>
                    <a:pt x="244856" y="8690229"/>
                  </a:lnTo>
                  <a:cubicBezTo>
                    <a:pt x="109601" y="8690229"/>
                    <a:pt x="0" y="8580628"/>
                    <a:pt x="0" y="8445373"/>
                  </a:cubicBezTo>
                  <a:close/>
                </a:path>
              </a:pathLst>
            </a:custGeom>
            <a:solidFill>
              <a:srgbClr val="7C898B"/>
            </a:solidFill>
            <a:ln w="25400" cap="sq">
              <a:solidFill>
                <a:srgbClr val="D8E8F8"/>
              </a:solidFill>
              <a:prstDash val="solid"/>
              <a:miter/>
            </a:ln>
          </p:spPr>
          <p:txBody>
            <a:bodyPr/>
            <a:lstStyle/>
            <a:p>
              <a:endParaRPr lang="en-IN"/>
            </a:p>
          </p:txBody>
        </p:sp>
      </p:grpSp>
      <p:grpSp>
        <p:nvGrpSpPr>
          <p:cNvPr id="15" name="Group 15"/>
          <p:cNvGrpSpPr/>
          <p:nvPr/>
        </p:nvGrpSpPr>
        <p:grpSpPr>
          <a:xfrm>
            <a:off x="914400" y="2560320"/>
            <a:ext cx="7498080" cy="694944"/>
            <a:chOff x="0" y="0"/>
            <a:chExt cx="9997440" cy="926592"/>
          </a:xfrm>
        </p:grpSpPr>
        <p:sp>
          <p:nvSpPr>
            <p:cNvPr id="16" name="Freeform 16"/>
            <p:cNvSpPr/>
            <p:nvPr/>
          </p:nvSpPr>
          <p:spPr>
            <a:xfrm>
              <a:off x="0" y="0"/>
              <a:ext cx="9997440" cy="926592"/>
            </a:xfrm>
            <a:custGeom>
              <a:avLst/>
              <a:gdLst/>
              <a:ahLst/>
              <a:cxnLst/>
              <a:rect l="l" t="t" r="r" b="b"/>
              <a:pathLst>
                <a:path w="9997440" h="926592">
                  <a:moveTo>
                    <a:pt x="0" y="0"/>
                  </a:moveTo>
                  <a:lnTo>
                    <a:pt x="9997440" y="0"/>
                  </a:lnTo>
                  <a:lnTo>
                    <a:pt x="9997440" y="926592"/>
                  </a:lnTo>
                  <a:lnTo>
                    <a:pt x="0" y="926592"/>
                  </a:lnTo>
                  <a:close/>
                </a:path>
              </a:pathLst>
            </a:custGeom>
            <a:blipFill>
              <a:blip r:embed="rId3">
                <a:alphaModFix amt="0"/>
              </a:blip>
              <a:stretch>
                <a:fillRect t="-160233" b="-160233"/>
              </a:stretch>
            </a:blipFill>
          </p:spPr>
          <p:txBody>
            <a:bodyPr/>
            <a:lstStyle/>
            <a:p>
              <a:endParaRPr lang="en-IN"/>
            </a:p>
          </p:txBody>
        </p:sp>
        <p:sp>
          <p:nvSpPr>
            <p:cNvPr id="17" name="TextBox 17"/>
            <p:cNvSpPr txBox="1"/>
            <p:nvPr/>
          </p:nvSpPr>
          <p:spPr>
            <a:xfrm>
              <a:off x="0" y="9525"/>
              <a:ext cx="9997440" cy="917067"/>
            </a:xfrm>
            <a:prstGeom prst="rect">
              <a:avLst/>
            </a:prstGeom>
          </p:spPr>
          <p:txBody>
            <a:bodyPr lIns="0" tIns="0" rIns="0" bIns="0" rtlCol="0" anchor="ctr"/>
            <a:lstStyle/>
            <a:p>
              <a:pPr algn="l">
                <a:lnSpc>
                  <a:spcPts val="3359"/>
                </a:lnSpc>
              </a:pPr>
              <a:r>
                <a:rPr lang="en-US" sz="2799" i="1" spc="140">
                  <a:solidFill>
                    <a:srgbClr val="FFFFFF"/>
                  </a:solidFill>
                  <a:latin typeface="Playfair Display Italics"/>
                  <a:ea typeface="Playfair Display Italics"/>
                  <a:cs typeface="Playfair Display Italics"/>
                  <a:sym typeface="Playfair Display Italics"/>
                </a:rPr>
                <a:t>Objective 1: First-Order</a:t>
              </a:r>
            </a:p>
          </p:txBody>
        </p:sp>
      </p:grpSp>
      <p:grpSp>
        <p:nvGrpSpPr>
          <p:cNvPr id="18" name="Group 18"/>
          <p:cNvGrpSpPr/>
          <p:nvPr/>
        </p:nvGrpSpPr>
        <p:grpSpPr>
          <a:xfrm>
            <a:off x="914400" y="3328416"/>
            <a:ext cx="7498080" cy="640080"/>
            <a:chOff x="0" y="0"/>
            <a:chExt cx="9997440" cy="853440"/>
          </a:xfrm>
        </p:grpSpPr>
        <p:sp>
          <p:nvSpPr>
            <p:cNvPr id="19" name="Freeform 19"/>
            <p:cNvSpPr/>
            <p:nvPr/>
          </p:nvSpPr>
          <p:spPr>
            <a:xfrm>
              <a:off x="0" y="0"/>
              <a:ext cx="9997440" cy="853440"/>
            </a:xfrm>
            <a:custGeom>
              <a:avLst/>
              <a:gdLst/>
              <a:ahLst/>
              <a:cxnLst/>
              <a:rect l="l" t="t" r="r" b="b"/>
              <a:pathLst>
                <a:path w="9997440" h="853440">
                  <a:moveTo>
                    <a:pt x="0" y="0"/>
                  </a:moveTo>
                  <a:lnTo>
                    <a:pt x="9997440" y="0"/>
                  </a:lnTo>
                  <a:lnTo>
                    <a:pt x="9997440" y="853440"/>
                  </a:lnTo>
                  <a:lnTo>
                    <a:pt x="0" y="853440"/>
                  </a:lnTo>
                  <a:close/>
                </a:path>
              </a:pathLst>
            </a:custGeom>
            <a:blipFill>
              <a:blip r:embed="rId3">
                <a:alphaModFix amt="0"/>
              </a:blip>
              <a:stretch>
                <a:fillRect t="-178253" b="-178253"/>
              </a:stretch>
            </a:blipFill>
          </p:spPr>
          <p:txBody>
            <a:bodyPr/>
            <a:lstStyle/>
            <a:p>
              <a:endParaRPr lang="en-IN"/>
            </a:p>
          </p:txBody>
        </p:sp>
        <p:sp>
          <p:nvSpPr>
            <p:cNvPr id="20" name="TextBox 20"/>
            <p:cNvSpPr txBox="1"/>
            <p:nvPr/>
          </p:nvSpPr>
          <p:spPr>
            <a:xfrm>
              <a:off x="0" y="0"/>
              <a:ext cx="9997440" cy="853440"/>
            </a:xfrm>
            <a:prstGeom prst="rect">
              <a:avLst/>
            </a:prstGeom>
          </p:spPr>
          <p:txBody>
            <a:bodyPr lIns="0" tIns="0" rIns="0" bIns="0" rtlCol="0" anchor="ctr"/>
            <a:lstStyle/>
            <a:p>
              <a:pPr algn="l">
                <a:lnSpc>
                  <a:spcPts val="3120"/>
                </a:lnSpc>
              </a:pPr>
              <a:r>
                <a:rPr lang="en-US" sz="2600" spc="52">
                  <a:solidFill>
                    <a:srgbClr val="FFFFFF"/>
                  </a:solidFill>
                  <a:latin typeface="Playfair Display"/>
                  <a:ea typeface="Playfair Display"/>
                  <a:cs typeface="Playfair Display"/>
                  <a:sym typeface="Playfair Display"/>
                </a:rPr>
                <a:t>Preserve direct edges (1-hop).</a:t>
              </a:r>
            </a:p>
          </p:txBody>
        </p:sp>
      </p:grpSp>
      <p:grpSp>
        <p:nvGrpSpPr>
          <p:cNvPr id="21" name="Group 21"/>
          <p:cNvGrpSpPr/>
          <p:nvPr/>
        </p:nvGrpSpPr>
        <p:grpSpPr>
          <a:xfrm>
            <a:off x="899160" y="4044696"/>
            <a:ext cx="7528560" cy="908304"/>
            <a:chOff x="0" y="0"/>
            <a:chExt cx="10038080" cy="1211072"/>
          </a:xfrm>
        </p:grpSpPr>
        <p:sp>
          <p:nvSpPr>
            <p:cNvPr id="22" name="Freeform 22"/>
            <p:cNvSpPr/>
            <p:nvPr/>
          </p:nvSpPr>
          <p:spPr>
            <a:xfrm>
              <a:off x="0" y="0"/>
              <a:ext cx="10038080" cy="1211072"/>
            </a:xfrm>
            <a:custGeom>
              <a:avLst/>
              <a:gdLst/>
              <a:ahLst/>
              <a:cxnLst/>
              <a:rect l="l" t="t" r="r" b="b"/>
              <a:pathLst>
                <a:path w="10038080" h="1211072">
                  <a:moveTo>
                    <a:pt x="0" y="176657"/>
                  </a:moveTo>
                  <a:cubicBezTo>
                    <a:pt x="0" y="79121"/>
                    <a:pt x="79121" y="0"/>
                    <a:pt x="176657" y="0"/>
                  </a:cubicBezTo>
                  <a:lnTo>
                    <a:pt x="9861423" y="0"/>
                  </a:lnTo>
                  <a:cubicBezTo>
                    <a:pt x="9958959" y="0"/>
                    <a:pt x="10038080" y="79121"/>
                    <a:pt x="10038080" y="176657"/>
                  </a:cubicBezTo>
                  <a:lnTo>
                    <a:pt x="10038080" y="1034415"/>
                  </a:lnTo>
                  <a:cubicBezTo>
                    <a:pt x="10038080" y="1131951"/>
                    <a:pt x="9958959" y="1211072"/>
                    <a:pt x="9861423" y="1211072"/>
                  </a:cubicBezTo>
                  <a:lnTo>
                    <a:pt x="176657" y="1211072"/>
                  </a:lnTo>
                  <a:cubicBezTo>
                    <a:pt x="79121" y="1211072"/>
                    <a:pt x="0" y="1131951"/>
                    <a:pt x="0" y="1034415"/>
                  </a:cubicBezTo>
                  <a:close/>
                </a:path>
              </a:pathLst>
            </a:custGeom>
            <a:solidFill>
              <a:srgbClr val="FFFFFF"/>
            </a:solidFill>
            <a:ln w="30480" cap="sq">
              <a:solidFill>
                <a:srgbClr val="C8DDF5"/>
              </a:solidFill>
              <a:prstDash val="solid"/>
              <a:miter/>
            </a:ln>
          </p:spPr>
          <p:txBody>
            <a:bodyPr/>
            <a:lstStyle/>
            <a:p>
              <a:endParaRPr lang="en-IN"/>
            </a:p>
          </p:txBody>
        </p:sp>
      </p:grpSp>
      <p:grpSp>
        <p:nvGrpSpPr>
          <p:cNvPr id="23" name="Group 23"/>
          <p:cNvGrpSpPr/>
          <p:nvPr/>
        </p:nvGrpSpPr>
        <p:grpSpPr>
          <a:xfrm>
            <a:off x="1133856" y="4059936"/>
            <a:ext cx="7059168" cy="877824"/>
            <a:chOff x="0" y="0"/>
            <a:chExt cx="9412224" cy="1170432"/>
          </a:xfrm>
        </p:grpSpPr>
        <p:sp>
          <p:nvSpPr>
            <p:cNvPr id="24" name="Freeform 24"/>
            <p:cNvSpPr/>
            <p:nvPr/>
          </p:nvSpPr>
          <p:spPr>
            <a:xfrm>
              <a:off x="0" y="0"/>
              <a:ext cx="9412224" cy="1170432"/>
            </a:xfrm>
            <a:custGeom>
              <a:avLst/>
              <a:gdLst/>
              <a:ahLst/>
              <a:cxnLst/>
              <a:rect l="l" t="t" r="r" b="b"/>
              <a:pathLst>
                <a:path w="9412224" h="1170432">
                  <a:moveTo>
                    <a:pt x="0" y="0"/>
                  </a:moveTo>
                  <a:lnTo>
                    <a:pt x="9412224" y="0"/>
                  </a:lnTo>
                  <a:lnTo>
                    <a:pt x="9412224" y="1170432"/>
                  </a:lnTo>
                  <a:lnTo>
                    <a:pt x="0" y="1170432"/>
                  </a:lnTo>
                  <a:close/>
                </a:path>
              </a:pathLst>
            </a:custGeom>
            <a:blipFill>
              <a:blip r:embed="rId3">
                <a:alphaModFix amt="0"/>
              </a:blip>
              <a:stretch>
                <a:fillRect t="-106692" b="-106692"/>
              </a:stretch>
            </a:blipFill>
          </p:spPr>
          <p:txBody>
            <a:bodyPr/>
            <a:lstStyle/>
            <a:p>
              <a:endParaRPr lang="en-IN"/>
            </a:p>
          </p:txBody>
        </p:sp>
        <p:sp>
          <p:nvSpPr>
            <p:cNvPr id="25" name="TextBox 25"/>
            <p:cNvSpPr txBox="1"/>
            <p:nvPr/>
          </p:nvSpPr>
          <p:spPr>
            <a:xfrm>
              <a:off x="0" y="0"/>
              <a:ext cx="9412224" cy="1170432"/>
            </a:xfrm>
            <a:prstGeom prst="rect">
              <a:avLst/>
            </a:prstGeom>
          </p:spPr>
          <p:txBody>
            <a:bodyPr lIns="0" tIns="0" rIns="0" bIns="0" rtlCol="0" anchor="ctr"/>
            <a:lstStyle/>
            <a:p>
              <a:pPr algn="l">
                <a:lnSpc>
                  <a:spcPts val="3120"/>
                </a:lnSpc>
              </a:pPr>
              <a:r>
                <a:rPr lang="en-US" sz="2600" i="1" spc="130">
                  <a:solidFill>
                    <a:srgbClr val="253439"/>
                  </a:solidFill>
                  <a:latin typeface="Playfair Display Italics"/>
                  <a:ea typeface="Playfair Display Italics"/>
                  <a:cs typeface="Playfair Display Italics"/>
                  <a:sym typeface="Playfair Display Italics"/>
                </a:rPr>
                <a:t>DEC(zᵤ,z_v) = σ(−zᵤᵀz_v)</a:t>
              </a:r>
            </a:p>
          </p:txBody>
        </p:sp>
      </p:grpSp>
      <p:grpSp>
        <p:nvGrpSpPr>
          <p:cNvPr id="26" name="Group 26"/>
          <p:cNvGrpSpPr/>
          <p:nvPr/>
        </p:nvGrpSpPr>
        <p:grpSpPr>
          <a:xfrm>
            <a:off x="914400" y="5029200"/>
            <a:ext cx="7498080" cy="1005840"/>
            <a:chOff x="0" y="0"/>
            <a:chExt cx="9997440" cy="1341120"/>
          </a:xfrm>
        </p:grpSpPr>
        <p:sp>
          <p:nvSpPr>
            <p:cNvPr id="27" name="Freeform 27"/>
            <p:cNvSpPr/>
            <p:nvPr/>
          </p:nvSpPr>
          <p:spPr>
            <a:xfrm>
              <a:off x="0" y="0"/>
              <a:ext cx="9997440" cy="1341120"/>
            </a:xfrm>
            <a:custGeom>
              <a:avLst/>
              <a:gdLst/>
              <a:ahLst/>
              <a:cxnLst/>
              <a:rect l="l" t="t" r="r" b="b"/>
              <a:pathLst>
                <a:path w="9997440" h="1341120">
                  <a:moveTo>
                    <a:pt x="0" y="0"/>
                  </a:moveTo>
                  <a:lnTo>
                    <a:pt x="9997440" y="0"/>
                  </a:lnTo>
                  <a:lnTo>
                    <a:pt x="9997440" y="1341120"/>
                  </a:lnTo>
                  <a:lnTo>
                    <a:pt x="0" y="1341120"/>
                  </a:lnTo>
                  <a:close/>
                </a:path>
              </a:pathLst>
            </a:custGeom>
            <a:blipFill>
              <a:blip r:embed="rId3">
                <a:alphaModFix amt="0"/>
              </a:blip>
              <a:stretch>
                <a:fillRect t="-95252" b="-95252"/>
              </a:stretch>
            </a:blipFill>
          </p:spPr>
          <p:txBody>
            <a:bodyPr/>
            <a:lstStyle/>
            <a:p>
              <a:endParaRPr lang="en-IN"/>
            </a:p>
          </p:txBody>
        </p:sp>
        <p:sp>
          <p:nvSpPr>
            <p:cNvPr id="28" name="TextBox 28"/>
            <p:cNvSpPr txBox="1"/>
            <p:nvPr/>
          </p:nvSpPr>
          <p:spPr>
            <a:xfrm>
              <a:off x="0" y="0"/>
              <a:ext cx="9997440" cy="1341120"/>
            </a:xfrm>
            <a:prstGeom prst="rect">
              <a:avLst/>
            </a:prstGeom>
          </p:spPr>
          <p:txBody>
            <a:bodyPr lIns="0" tIns="0" rIns="0" bIns="0" rtlCol="0" anchor="ctr"/>
            <a:lstStyle/>
            <a:p>
              <a:pPr algn="l">
                <a:lnSpc>
                  <a:spcPts val="3120"/>
                </a:lnSpc>
              </a:pPr>
              <a:r>
                <a:rPr lang="en-US" sz="2600" spc="52">
                  <a:solidFill>
                    <a:srgbClr val="FFFFFF"/>
                  </a:solidFill>
                  <a:latin typeface="Playfair Display"/>
                  <a:ea typeface="Playfair Display"/>
                  <a:cs typeface="Playfair Display"/>
                  <a:sym typeface="Playfair Display"/>
                </a:rPr>
                <a:t>Similarity: S[u,v] = A[u,v]</a:t>
              </a:r>
            </a:p>
            <a:p>
              <a:pPr algn="l">
                <a:lnSpc>
                  <a:spcPts val="3120"/>
                </a:lnSpc>
              </a:pPr>
              <a:r>
                <a:rPr lang="en-US" sz="2600" spc="52">
                  <a:solidFill>
                    <a:srgbClr val="FFFFFF"/>
                  </a:solidFill>
                  <a:latin typeface="Playfair Display"/>
                  <a:ea typeface="Playfair Display"/>
                  <a:cs typeface="Playfair Display"/>
                  <a:sym typeface="Playfair Display"/>
                </a:rPr>
                <a:t>(direct adjacency only)</a:t>
              </a:r>
            </a:p>
          </p:txBody>
        </p:sp>
      </p:grpSp>
      <p:grpSp>
        <p:nvGrpSpPr>
          <p:cNvPr id="29" name="Group 29"/>
          <p:cNvGrpSpPr/>
          <p:nvPr/>
        </p:nvGrpSpPr>
        <p:grpSpPr>
          <a:xfrm>
            <a:off x="914400" y="6126480"/>
            <a:ext cx="7498080" cy="1188720"/>
            <a:chOff x="0" y="0"/>
            <a:chExt cx="9997440" cy="1584960"/>
          </a:xfrm>
        </p:grpSpPr>
        <p:sp>
          <p:nvSpPr>
            <p:cNvPr id="30" name="Freeform 30"/>
            <p:cNvSpPr/>
            <p:nvPr/>
          </p:nvSpPr>
          <p:spPr>
            <a:xfrm>
              <a:off x="0" y="0"/>
              <a:ext cx="9997440" cy="1584960"/>
            </a:xfrm>
            <a:custGeom>
              <a:avLst/>
              <a:gdLst/>
              <a:ahLst/>
              <a:cxnLst/>
              <a:rect l="l" t="t" r="r" b="b"/>
              <a:pathLst>
                <a:path w="9997440" h="1584960">
                  <a:moveTo>
                    <a:pt x="0" y="0"/>
                  </a:moveTo>
                  <a:lnTo>
                    <a:pt x="9997440" y="0"/>
                  </a:lnTo>
                  <a:lnTo>
                    <a:pt x="9997440" y="1584960"/>
                  </a:lnTo>
                  <a:lnTo>
                    <a:pt x="0" y="1584960"/>
                  </a:lnTo>
                  <a:close/>
                </a:path>
              </a:pathLst>
            </a:custGeom>
            <a:blipFill>
              <a:blip r:embed="rId3">
                <a:alphaModFix amt="0"/>
              </a:blip>
              <a:stretch>
                <a:fillRect t="-72905" b="-72905"/>
              </a:stretch>
            </a:blipFill>
          </p:spPr>
          <p:txBody>
            <a:bodyPr/>
            <a:lstStyle/>
            <a:p>
              <a:endParaRPr lang="en-IN"/>
            </a:p>
          </p:txBody>
        </p:sp>
        <p:sp>
          <p:nvSpPr>
            <p:cNvPr id="31" name="TextBox 31"/>
            <p:cNvSpPr txBox="1"/>
            <p:nvPr/>
          </p:nvSpPr>
          <p:spPr>
            <a:xfrm>
              <a:off x="0" y="0"/>
              <a:ext cx="9997440" cy="1584960"/>
            </a:xfrm>
            <a:prstGeom prst="rect">
              <a:avLst/>
            </a:prstGeom>
          </p:spPr>
          <p:txBody>
            <a:bodyPr lIns="0" tIns="0" rIns="0" bIns="0" rtlCol="0" anchor="ctr"/>
            <a:lstStyle/>
            <a:p>
              <a:pPr algn="l">
                <a:lnSpc>
                  <a:spcPts val="2879"/>
                </a:lnSpc>
              </a:pPr>
              <a:r>
                <a:rPr lang="en-US" sz="2400" spc="48">
                  <a:solidFill>
                    <a:srgbClr val="FFFFFF"/>
                  </a:solidFill>
                  <a:latin typeface="Playfair Display"/>
                  <a:ea typeface="Playfair Display"/>
                  <a:cs typeface="Playfair Display"/>
                  <a:sym typeface="Playfair Display"/>
                </a:rPr>
                <a:t>If Alice and Bob are directly connected → push their embeddings close.</a:t>
              </a:r>
            </a:p>
          </p:txBody>
        </p:sp>
      </p:grpSp>
      <p:grpSp>
        <p:nvGrpSpPr>
          <p:cNvPr id="32" name="Group 32"/>
          <p:cNvGrpSpPr/>
          <p:nvPr/>
        </p:nvGrpSpPr>
        <p:grpSpPr>
          <a:xfrm>
            <a:off x="9314183" y="2456183"/>
            <a:ext cx="8255003" cy="6517643"/>
            <a:chOff x="0" y="0"/>
            <a:chExt cx="11006671" cy="8690191"/>
          </a:xfrm>
        </p:grpSpPr>
        <p:sp>
          <p:nvSpPr>
            <p:cNvPr id="33" name="Freeform 33"/>
            <p:cNvSpPr/>
            <p:nvPr/>
          </p:nvSpPr>
          <p:spPr>
            <a:xfrm>
              <a:off x="0" y="0"/>
              <a:ext cx="11006710" cy="8690229"/>
            </a:xfrm>
            <a:custGeom>
              <a:avLst/>
              <a:gdLst/>
              <a:ahLst/>
              <a:cxnLst/>
              <a:rect l="l" t="t" r="r" b="b"/>
              <a:pathLst>
                <a:path w="11006710" h="8690229">
                  <a:moveTo>
                    <a:pt x="0" y="244856"/>
                  </a:moveTo>
                  <a:cubicBezTo>
                    <a:pt x="0" y="109601"/>
                    <a:pt x="109601" y="0"/>
                    <a:pt x="244856" y="0"/>
                  </a:cubicBezTo>
                  <a:lnTo>
                    <a:pt x="10761853" y="0"/>
                  </a:lnTo>
                  <a:cubicBezTo>
                    <a:pt x="10897108" y="0"/>
                    <a:pt x="11006710" y="109601"/>
                    <a:pt x="11006710" y="244856"/>
                  </a:cubicBezTo>
                  <a:lnTo>
                    <a:pt x="11006710" y="8445373"/>
                  </a:lnTo>
                  <a:cubicBezTo>
                    <a:pt x="11006710" y="8580628"/>
                    <a:pt x="10897108" y="8690229"/>
                    <a:pt x="10761853" y="8690229"/>
                  </a:cubicBezTo>
                  <a:lnTo>
                    <a:pt x="244856" y="8690229"/>
                  </a:lnTo>
                  <a:cubicBezTo>
                    <a:pt x="109601" y="8690229"/>
                    <a:pt x="0" y="8580628"/>
                    <a:pt x="0" y="8445373"/>
                  </a:cubicBezTo>
                  <a:close/>
                </a:path>
              </a:pathLst>
            </a:custGeom>
            <a:solidFill>
              <a:srgbClr val="7C898B"/>
            </a:solidFill>
            <a:ln w="25400" cap="sq">
              <a:solidFill>
                <a:srgbClr val="D8E8F8"/>
              </a:solidFill>
              <a:prstDash val="solid"/>
              <a:miter/>
            </a:ln>
          </p:spPr>
          <p:txBody>
            <a:bodyPr/>
            <a:lstStyle/>
            <a:p>
              <a:endParaRPr lang="en-IN"/>
            </a:p>
          </p:txBody>
        </p:sp>
      </p:grpSp>
      <p:grpSp>
        <p:nvGrpSpPr>
          <p:cNvPr id="34" name="Group 34"/>
          <p:cNvGrpSpPr/>
          <p:nvPr/>
        </p:nvGrpSpPr>
        <p:grpSpPr>
          <a:xfrm>
            <a:off x="9692640" y="2560320"/>
            <a:ext cx="7498080" cy="694944"/>
            <a:chOff x="0" y="0"/>
            <a:chExt cx="9997440" cy="926592"/>
          </a:xfrm>
        </p:grpSpPr>
        <p:sp>
          <p:nvSpPr>
            <p:cNvPr id="35" name="Freeform 35"/>
            <p:cNvSpPr/>
            <p:nvPr/>
          </p:nvSpPr>
          <p:spPr>
            <a:xfrm>
              <a:off x="0" y="0"/>
              <a:ext cx="9997440" cy="926592"/>
            </a:xfrm>
            <a:custGeom>
              <a:avLst/>
              <a:gdLst/>
              <a:ahLst/>
              <a:cxnLst/>
              <a:rect l="l" t="t" r="r" b="b"/>
              <a:pathLst>
                <a:path w="9997440" h="926592">
                  <a:moveTo>
                    <a:pt x="0" y="0"/>
                  </a:moveTo>
                  <a:lnTo>
                    <a:pt x="9997440" y="0"/>
                  </a:lnTo>
                  <a:lnTo>
                    <a:pt x="9997440" y="926592"/>
                  </a:lnTo>
                  <a:lnTo>
                    <a:pt x="0" y="926592"/>
                  </a:lnTo>
                  <a:close/>
                </a:path>
              </a:pathLst>
            </a:custGeom>
            <a:blipFill>
              <a:blip r:embed="rId3">
                <a:alphaModFix amt="0"/>
              </a:blip>
              <a:stretch>
                <a:fillRect t="-160233" b="-160233"/>
              </a:stretch>
            </a:blipFill>
          </p:spPr>
          <p:txBody>
            <a:bodyPr/>
            <a:lstStyle/>
            <a:p>
              <a:endParaRPr lang="en-IN"/>
            </a:p>
          </p:txBody>
        </p:sp>
        <p:sp>
          <p:nvSpPr>
            <p:cNvPr id="36" name="TextBox 36"/>
            <p:cNvSpPr txBox="1"/>
            <p:nvPr/>
          </p:nvSpPr>
          <p:spPr>
            <a:xfrm>
              <a:off x="0" y="9525"/>
              <a:ext cx="9997440" cy="917067"/>
            </a:xfrm>
            <a:prstGeom prst="rect">
              <a:avLst/>
            </a:prstGeom>
          </p:spPr>
          <p:txBody>
            <a:bodyPr lIns="0" tIns="0" rIns="0" bIns="0" rtlCol="0" anchor="ctr"/>
            <a:lstStyle/>
            <a:p>
              <a:pPr algn="l">
                <a:lnSpc>
                  <a:spcPts val="3359"/>
                </a:lnSpc>
              </a:pPr>
              <a:r>
                <a:rPr lang="en-US" sz="2799" i="1" spc="140">
                  <a:solidFill>
                    <a:srgbClr val="253439"/>
                  </a:solidFill>
                  <a:latin typeface="Playfair Display Italics"/>
                  <a:ea typeface="Playfair Display Italics"/>
                  <a:cs typeface="Playfair Display Italics"/>
                  <a:sym typeface="Playfair Display Italics"/>
                </a:rPr>
                <a:t>Objective 2: Second-Order</a:t>
              </a:r>
            </a:p>
          </p:txBody>
        </p:sp>
      </p:grpSp>
      <p:grpSp>
        <p:nvGrpSpPr>
          <p:cNvPr id="37" name="Group 37"/>
          <p:cNvGrpSpPr/>
          <p:nvPr/>
        </p:nvGrpSpPr>
        <p:grpSpPr>
          <a:xfrm>
            <a:off x="9692640" y="3328416"/>
            <a:ext cx="7498080" cy="640080"/>
            <a:chOff x="0" y="0"/>
            <a:chExt cx="9997440" cy="853440"/>
          </a:xfrm>
        </p:grpSpPr>
        <p:sp>
          <p:nvSpPr>
            <p:cNvPr id="38" name="Freeform 38"/>
            <p:cNvSpPr/>
            <p:nvPr/>
          </p:nvSpPr>
          <p:spPr>
            <a:xfrm>
              <a:off x="0" y="0"/>
              <a:ext cx="9997440" cy="853440"/>
            </a:xfrm>
            <a:custGeom>
              <a:avLst/>
              <a:gdLst/>
              <a:ahLst/>
              <a:cxnLst/>
              <a:rect l="l" t="t" r="r" b="b"/>
              <a:pathLst>
                <a:path w="9997440" h="853440">
                  <a:moveTo>
                    <a:pt x="0" y="0"/>
                  </a:moveTo>
                  <a:lnTo>
                    <a:pt x="9997440" y="0"/>
                  </a:lnTo>
                  <a:lnTo>
                    <a:pt x="9997440" y="853440"/>
                  </a:lnTo>
                  <a:lnTo>
                    <a:pt x="0" y="853440"/>
                  </a:lnTo>
                  <a:close/>
                </a:path>
              </a:pathLst>
            </a:custGeom>
            <a:blipFill>
              <a:blip r:embed="rId3">
                <a:alphaModFix amt="0"/>
              </a:blip>
              <a:stretch>
                <a:fillRect t="-178253" b="-178253"/>
              </a:stretch>
            </a:blipFill>
          </p:spPr>
          <p:txBody>
            <a:bodyPr/>
            <a:lstStyle/>
            <a:p>
              <a:endParaRPr lang="en-IN"/>
            </a:p>
          </p:txBody>
        </p:sp>
        <p:sp>
          <p:nvSpPr>
            <p:cNvPr id="39" name="TextBox 39"/>
            <p:cNvSpPr txBox="1"/>
            <p:nvPr/>
          </p:nvSpPr>
          <p:spPr>
            <a:xfrm>
              <a:off x="0" y="0"/>
              <a:ext cx="9997440" cy="853440"/>
            </a:xfrm>
            <a:prstGeom prst="rect">
              <a:avLst/>
            </a:prstGeom>
          </p:spPr>
          <p:txBody>
            <a:bodyPr lIns="0" tIns="0" rIns="0" bIns="0" rtlCol="0" anchor="ctr"/>
            <a:lstStyle/>
            <a:p>
              <a:pPr algn="l">
                <a:lnSpc>
                  <a:spcPts val="3120"/>
                </a:lnSpc>
              </a:pPr>
              <a:r>
                <a:rPr lang="en-US" sz="2600" spc="52">
                  <a:solidFill>
                    <a:srgbClr val="FFFFFF"/>
                  </a:solidFill>
                  <a:latin typeface="Playfair Display"/>
                  <a:ea typeface="Playfair Display"/>
                  <a:cs typeface="Playfair Display"/>
                  <a:sym typeface="Playfair Display"/>
                </a:rPr>
                <a:t>Preserve 2-hop neighborhood profiles.</a:t>
              </a:r>
            </a:p>
          </p:txBody>
        </p:sp>
      </p:grpSp>
      <p:grpSp>
        <p:nvGrpSpPr>
          <p:cNvPr id="40" name="Group 40"/>
          <p:cNvGrpSpPr/>
          <p:nvPr/>
        </p:nvGrpSpPr>
        <p:grpSpPr>
          <a:xfrm>
            <a:off x="9677400" y="4044696"/>
            <a:ext cx="7528560" cy="908304"/>
            <a:chOff x="0" y="0"/>
            <a:chExt cx="10038080" cy="1211072"/>
          </a:xfrm>
        </p:grpSpPr>
        <p:sp>
          <p:nvSpPr>
            <p:cNvPr id="41" name="Freeform 41"/>
            <p:cNvSpPr/>
            <p:nvPr/>
          </p:nvSpPr>
          <p:spPr>
            <a:xfrm>
              <a:off x="0" y="0"/>
              <a:ext cx="10038080" cy="1211072"/>
            </a:xfrm>
            <a:custGeom>
              <a:avLst/>
              <a:gdLst/>
              <a:ahLst/>
              <a:cxnLst/>
              <a:rect l="l" t="t" r="r" b="b"/>
              <a:pathLst>
                <a:path w="10038080" h="1211072">
                  <a:moveTo>
                    <a:pt x="0" y="176657"/>
                  </a:moveTo>
                  <a:cubicBezTo>
                    <a:pt x="0" y="79121"/>
                    <a:pt x="79121" y="0"/>
                    <a:pt x="176657" y="0"/>
                  </a:cubicBezTo>
                  <a:lnTo>
                    <a:pt x="9861423" y="0"/>
                  </a:lnTo>
                  <a:cubicBezTo>
                    <a:pt x="9958959" y="0"/>
                    <a:pt x="10038080" y="79121"/>
                    <a:pt x="10038080" y="176657"/>
                  </a:cubicBezTo>
                  <a:lnTo>
                    <a:pt x="10038080" y="1034415"/>
                  </a:lnTo>
                  <a:cubicBezTo>
                    <a:pt x="10038080" y="1131951"/>
                    <a:pt x="9958959" y="1211072"/>
                    <a:pt x="9861423" y="1211072"/>
                  </a:cubicBezTo>
                  <a:lnTo>
                    <a:pt x="176657" y="1211072"/>
                  </a:lnTo>
                  <a:cubicBezTo>
                    <a:pt x="79121" y="1211072"/>
                    <a:pt x="0" y="1131951"/>
                    <a:pt x="0" y="1034415"/>
                  </a:cubicBezTo>
                  <a:close/>
                </a:path>
              </a:pathLst>
            </a:custGeom>
            <a:solidFill>
              <a:srgbClr val="FFFFFF"/>
            </a:solidFill>
            <a:ln w="30480" cap="sq">
              <a:solidFill>
                <a:srgbClr val="C8DDF5"/>
              </a:solidFill>
              <a:prstDash val="solid"/>
              <a:miter/>
            </a:ln>
          </p:spPr>
          <p:txBody>
            <a:bodyPr/>
            <a:lstStyle/>
            <a:p>
              <a:endParaRPr lang="en-IN"/>
            </a:p>
          </p:txBody>
        </p:sp>
      </p:grpSp>
      <p:grpSp>
        <p:nvGrpSpPr>
          <p:cNvPr id="42" name="Group 42"/>
          <p:cNvGrpSpPr/>
          <p:nvPr/>
        </p:nvGrpSpPr>
        <p:grpSpPr>
          <a:xfrm>
            <a:off x="9912096" y="4059936"/>
            <a:ext cx="7059168" cy="877824"/>
            <a:chOff x="0" y="0"/>
            <a:chExt cx="9412224" cy="1170432"/>
          </a:xfrm>
        </p:grpSpPr>
        <p:sp>
          <p:nvSpPr>
            <p:cNvPr id="43" name="Freeform 43"/>
            <p:cNvSpPr/>
            <p:nvPr/>
          </p:nvSpPr>
          <p:spPr>
            <a:xfrm>
              <a:off x="0" y="0"/>
              <a:ext cx="9412224" cy="1170432"/>
            </a:xfrm>
            <a:custGeom>
              <a:avLst/>
              <a:gdLst/>
              <a:ahLst/>
              <a:cxnLst/>
              <a:rect l="l" t="t" r="r" b="b"/>
              <a:pathLst>
                <a:path w="9412224" h="1170432">
                  <a:moveTo>
                    <a:pt x="0" y="0"/>
                  </a:moveTo>
                  <a:lnTo>
                    <a:pt x="9412224" y="0"/>
                  </a:lnTo>
                  <a:lnTo>
                    <a:pt x="9412224" y="1170432"/>
                  </a:lnTo>
                  <a:lnTo>
                    <a:pt x="0" y="1170432"/>
                  </a:lnTo>
                  <a:close/>
                </a:path>
              </a:pathLst>
            </a:custGeom>
            <a:blipFill>
              <a:blip r:embed="rId3">
                <a:alphaModFix amt="0"/>
              </a:blip>
              <a:stretch>
                <a:fillRect t="-106692" b="-106692"/>
              </a:stretch>
            </a:blipFill>
          </p:spPr>
          <p:txBody>
            <a:bodyPr/>
            <a:lstStyle/>
            <a:p>
              <a:endParaRPr lang="en-IN"/>
            </a:p>
          </p:txBody>
        </p:sp>
        <p:sp>
          <p:nvSpPr>
            <p:cNvPr id="44" name="TextBox 44"/>
            <p:cNvSpPr txBox="1"/>
            <p:nvPr/>
          </p:nvSpPr>
          <p:spPr>
            <a:xfrm>
              <a:off x="0" y="0"/>
              <a:ext cx="9412224" cy="1170432"/>
            </a:xfrm>
            <a:prstGeom prst="rect">
              <a:avLst/>
            </a:prstGeom>
          </p:spPr>
          <p:txBody>
            <a:bodyPr lIns="0" tIns="0" rIns="0" bIns="0" rtlCol="0" anchor="ctr"/>
            <a:lstStyle/>
            <a:p>
              <a:pPr algn="l">
                <a:lnSpc>
                  <a:spcPts val="3120"/>
                </a:lnSpc>
              </a:pPr>
              <a:r>
                <a:rPr lang="en-US" sz="2600" i="1" spc="130" dirty="0">
                  <a:solidFill>
                    <a:srgbClr val="253439"/>
                  </a:solidFill>
                  <a:latin typeface="Playfair Display Italics"/>
                  <a:ea typeface="Playfair Display Italics"/>
                  <a:cs typeface="Playfair Display Italics"/>
                  <a:sym typeface="Playfair Display Italics"/>
                </a:rPr>
                <a:t>DEC = Softmax(zᵤᵀz_v)</a:t>
              </a:r>
            </a:p>
          </p:txBody>
        </p:sp>
      </p:grpSp>
      <p:grpSp>
        <p:nvGrpSpPr>
          <p:cNvPr id="45" name="Group 45"/>
          <p:cNvGrpSpPr/>
          <p:nvPr/>
        </p:nvGrpSpPr>
        <p:grpSpPr>
          <a:xfrm>
            <a:off x="9692640" y="5029200"/>
            <a:ext cx="7498080" cy="1005840"/>
            <a:chOff x="0" y="0"/>
            <a:chExt cx="9997440" cy="1341120"/>
          </a:xfrm>
        </p:grpSpPr>
        <p:sp>
          <p:nvSpPr>
            <p:cNvPr id="46" name="Freeform 46"/>
            <p:cNvSpPr/>
            <p:nvPr/>
          </p:nvSpPr>
          <p:spPr>
            <a:xfrm>
              <a:off x="0" y="0"/>
              <a:ext cx="9997440" cy="1341120"/>
            </a:xfrm>
            <a:custGeom>
              <a:avLst/>
              <a:gdLst/>
              <a:ahLst/>
              <a:cxnLst/>
              <a:rect l="l" t="t" r="r" b="b"/>
              <a:pathLst>
                <a:path w="9997440" h="1341120">
                  <a:moveTo>
                    <a:pt x="0" y="0"/>
                  </a:moveTo>
                  <a:lnTo>
                    <a:pt x="9997440" y="0"/>
                  </a:lnTo>
                  <a:lnTo>
                    <a:pt x="9997440" y="1341120"/>
                  </a:lnTo>
                  <a:lnTo>
                    <a:pt x="0" y="1341120"/>
                  </a:lnTo>
                  <a:close/>
                </a:path>
              </a:pathLst>
            </a:custGeom>
            <a:blipFill>
              <a:blip r:embed="rId3">
                <a:alphaModFix amt="0"/>
              </a:blip>
              <a:stretch>
                <a:fillRect t="-95252" b="-95252"/>
              </a:stretch>
            </a:blipFill>
          </p:spPr>
          <p:txBody>
            <a:bodyPr/>
            <a:lstStyle/>
            <a:p>
              <a:endParaRPr lang="en-IN"/>
            </a:p>
          </p:txBody>
        </p:sp>
        <p:sp>
          <p:nvSpPr>
            <p:cNvPr id="47" name="TextBox 47"/>
            <p:cNvSpPr txBox="1"/>
            <p:nvPr/>
          </p:nvSpPr>
          <p:spPr>
            <a:xfrm>
              <a:off x="0" y="0"/>
              <a:ext cx="9997440" cy="1341120"/>
            </a:xfrm>
            <a:prstGeom prst="rect">
              <a:avLst/>
            </a:prstGeom>
          </p:spPr>
          <p:txBody>
            <a:bodyPr lIns="0" tIns="0" rIns="0" bIns="0" rtlCol="0" anchor="ctr"/>
            <a:lstStyle/>
            <a:p>
              <a:pPr algn="l">
                <a:lnSpc>
                  <a:spcPts val="3120"/>
                </a:lnSpc>
              </a:pPr>
              <a:r>
                <a:rPr lang="en-US" sz="2600" spc="52">
                  <a:solidFill>
                    <a:srgbClr val="FFFFFF"/>
                  </a:solidFill>
                  <a:latin typeface="Playfair Display"/>
                  <a:ea typeface="Playfair Display"/>
                  <a:cs typeface="Playfair Display"/>
                  <a:sym typeface="Playfair Display"/>
                </a:rPr>
                <a:t>Similarity: A² (shared neighbors)</a:t>
              </a:r>
            </a:p>
            <a:p>
              <a:pPr algn="l">
                <a:lnSpc>
                  <a:spcPts val="3120"/>
                </a:lnSpc>
              </a:pPr>
              <a:r>
                <a:rPr lang="en-US" sz="2600" spc="52">
                  <a:solidFill>
                    <a:srgbClr val="FFFFFF"/>
                  </a:solidFill>
                  <a:latin typeface="Playfair Display"/>
                  <a:ea typeface="Playfair Display"/>
                  <a:cs typeface="Playfair Display"/>
                  <a:sym typeface="Playfair Display"/>
                </a:rPr>
                <a:t>Loss: KL-divergence</a:t>
              </a:r>
            </a:p>
          </p:txBody>
        </p:sp>
      </p:grpSp>
      <p:grpSp>
        <p:nvGrpSpPr>
          <p:cNvPr id="48" name="Group 48"/>
          <p:cNvGrpSpPr/>
          <p:nvPr/>
        </p:nvGrpSpPr>
        <p:grpSpPr>
          <a:xfrm>
            <a:off x="9692640" y="6126480"/>
            <a:ext cx="7498080" cy="1188720"/>
            <a:chOff x="0" y="0"/>
            <a:chExt cx="9997440" cy="1584960"/>
          </a:xfrm>
        </p:grpSpPr>
        <p:sp>
          <p:nvSpPr>
            <p:cNvPr id="49" name="Freeform 49"/>
            <p:cNvSpPr/>
            <p:nvPr/>
          </p:nvSpPr>
          <p:spPr>
            <a:xfrm>
              <a:off x="0" y="0"/>
              <a:ext cx="9997440" cy="1584960"/>
            </a:xfrm>
            <a:custGeom>
              <a:avLst/>
              <a:gdLst/>
              <a:ahLst/>
              <a:cxnLst/>
              <a:rect l="l" t="t" r="r" b="b"/>
              <a:pathLst>
                <a:path w="9997440" h="1584960">
                  <a:moveTo>
                    <a:pt x="0" y="0"/>
                  </a:moveTo>
                  <a:lnTo>
                    <a:pt x="9997440" y="0"/>
                  </a:lnTo>
                  <a:lnTo>
                    <a:pt x="9997440" y="1584960"/>
                  </a:lnTo>
                  <a:lnTo>
                    <a:pt x="0" y="1584960"/>
                  </a:lnTo>
                  <a:close/>
                </a:path>
              </a:pathLst>
            </a:custGeom>
            <a:blipFill>
              <a:blip r:embed="rId3">
                <a:alphaModFix amt="0"/>
              </a:blip>
              <a:stretch>
                <a:fillRect t="-72905" b="-72905"/>
              </a:stretch>
            </a:blipFill>
          </p:spPr>
          <p:txBody>
            <a:bodyPr/>
            <a:lstStyle/>
            <a:p>
              <a:endParaRPr lang="en-IN"/>
            </a:p>
          </p:txBody>
        </p:sp>
        <p:sp>
          <p:nvSpPr>
            <p:cNvPr id="50" name="TextBox 50"/>
            <p:cNvSpPr txBox="1"/>
            <p:nvPr/>
          </p:nvSpPr>
          <p:spPr>
            <a:xfrm>
              <a:off x="0" y="0"/>
              <a:ext cx="9997440" cy="1584960"/>
            </a:xfrm>
            <a:prstGeom prst="rect">
              <a:avLst/>
            </a:prstGeom>
          </p:spPr>
          <p:txBody>
            <a:bodyPr lIns="0" tIns="0" rIns="0" bIns="0" rtlCol="0" anchor="ctr"/>
            <a:lstStyle/>
            <a:p>
              <a:pPr algn="l">
                <a:lnSpc>
                  <a:spcPts val="2879"/>
                </a:lnSpc>
              </a:pPr>
              <a:r>
                <a:rPr lang="en-US" sz="2400" spc="48">
                  <a:solidFill>
                    <a:srgbClr val="FFFFFF"/>
                  </a:solidFill>
                  <a:latin typeface="Playfair Display"/>
                  <a:ea typeface="Playfair Display"/>
                  <a:cs typeface="Playfair Display"/>
                  <a:sym typeface="Playfair Display"/>
                </a:rPr>
                <a:t>Nodes sharing many neighbors → similar embeddings, even without a direct edge.</a:t>
              </a:r>
            </a:p>
          </p:txBody>
        </p:sp>
      </p:grpSp>
      <p:grpSp>
        <p:nvGrpSpPr>
          <p:cNvPr id="51" name="Group 51"/>
          <p:cNvGrpSpPr/>
          <p:nvPr/>
        </p:nvGrpSpPr>
        <p:grpSpPr>
          <a:xfrm>
            <a:off x="535943" y="9167879"/>
            <a:ext cx="16484603" cy="976379"/>
            <a:chOff x="0" y="0"/>
            <a:chExt cx="21979471" cy="1301839"/>
          </a:xfrm>
        </p:grpSpPr>
        <p:sp>
          <p:nvSpPr>
            <p:cNvPr id="52" name="Freeform 52"/>
            <p:cNvSpPr/>
            <p:nvPr/>
          </p:nvSpPr>
          <p:spPr>
            <a:xfrm>
              <a:off x="0" y="0"/>
              <a:ext cx="21979381" cy="1301750"/>
            </a:xfrm>
            <a:custGeom>
              <a:avLst/>
              <a:gdLst/>
              <a:ahLst/>
              <a:cxnLst/>
              <a:rect l="l" t="t" r="r" b="b"/>
              <a:pathLst>
                <a:path w="21979381" h="1301750">
                  <a:moveTo>
                    <a:pt x="0" y="250317"/>
                  </a:moveTo>
                  <a:cubicBezTo>
                    <a:pt x="0" y="112141"/>
                    <a:pt x="112141" y="0"/>
                    <a:pt x="250317" y="0"/>
                  </a:cubicBezTo>
                  <a:lnTo>
                    <a:pt x="21729064" y="0"/>
                  </a:lnTo>
                  <a:cubicBezTo>
                    <a:pt x="21867368" y="0"/>
                    <a:pt x="21979381" y="112141"/>
                    <a:pt x="21979381" y="250317"/>
                  </a:cubicBezTo>
                  <a:lnTo>
                    <a:pt x="21979381" y="1051433"/>
                  </a:lnTo>
                  <a:cubicBezTo>
                    <a:pt x="21979381" y="1189736"/>
                    <a:pt x="21867240" y="1301750"/>
                    <a:pt x="21729064" y="1301750"/>
                  </a:cubicBezTo>
                  <a:lnTo>
                    <a:pt x="250317" y="1301750"/>
                  </a:lnTo>
                  <a:cubicBezTo>
                    <a:pt x="112141" y="1301877"/>
                    <a:pt x="0" y="1189736"/>
                    <a:pt x="0" y="1051433"/>
                  </a:cubicBezTo>
                  <a:close/>
                </a:path>
              </a:pathLst>
            </a:custGeom>
            <a:solidFill>
              <a:srgbClr val="FFFFFF"/>
            </a:solidFill>
            <a:ln w="25400" cap="sq">
              <a:solidFill>
                <a:srgbClr val="D8E8F8"/>
              </a:solidFill>
              <a:prstDash val="solid"/>
              <a:miter/>
            </a:ln>
          </p:spPr>
          <p:txBody>
            <a:bodyPr/>
            <a:lstStyle/>
            <a:p>
              <a:endParaRPr lang="en-IN"/>
            </a:p>
          </p:txBody>
        </p:sp>
      </p:grpSp>
      <p:grpSp>
        <p:nvGrpSpPr>
          <p:cNvPr id="53" name="Group 53"/>
          <p:cNvGrpSpPr/>
          <p:nvPr/>
        </p:nvGrpSpPr>
        <p:grpSpPr>
          <a:xfrm>
            <a:off x="914400" y="9180576"/>
            <a:ext cx="15727680" cy="950976"/>
            <a:chOff x="0" y="0"/>
            <a:chExt cx="20970240" cy="1267968"/>
          </a:xfrm>
        </p:grpSpPr>
        <p:sp>
          <p:nvSpPr>
            <p:cNvPr id="54" name="Freeform 54"/>
            <p:cNvSpPr/>
            <p:nvPr/>
          </p:nvSpPr>
          <p:spPr>
            <a:xfrm>
              <a:off x="0" y="0"/>
              <a:ext cx="20970239" cy="1267968"/>
            </a:xfrm>
            <a:custGeom>
              <a:avLst/>
              <a:gdLst/>
              <a:ahLst/>
              <a:cxnLst/>
              <a:rect l="l" t="t" r="r" b="b"/>
              <a:pathLst>
                <a:path w="20970239" h="1267968">
                  <a:moveTo>
                    <a:pt x="0" y="0"/>
                  </a:moveTo>
                  <a:lnTo>
                    <a:pt x="20970239" y="0"/>
                  </a:lnTo>
                  <a:lnTo>
                    <a:pt x="20970239" y="1267968"/>
                  </a:lnTo>
                  <a:lnTo>
                    <a:pt x="0" y="1267968"/>
                  </a:lnTo>
                  <a:close/>
                </a:path>
              </a:pathLst>
            </a:custGeom>
            <a:blipFill>
              <a:blip r:embed="rId3">
                <a:alphaModFix amt="0"/>
              </a:blip>
              <a:stretch>
                <a:fillRect t="-272252" b="-272252"/>
              </a:stretch>
            </a:blipFill>
          </p:spPr>
          <p:txBody>
            <a:bodyPr/>
            <a:lstStyle/>
            <a:p>
              <a:endParaRPr lang="en-IN"/>
            </a:p>
          </p:txBody>
        </p:sp>
        <p:sp>
          <p:nvSpPr>
            <p:cNvPr id="55" name="TextBox 55"/>
            <p:cNvSpPr txBox="1"/>
            <p:nvPr/>
          </p:nvSpPr>
          <p:spPr>
            <a:xfrm>
              <a:off x="0" y="0"/>
              <a:ext cx="20970240" cy="1267968"/>
            </a:xfrm>
            <a:prstGeom prst="rect">
              <a:avLst/>
            </a:prstGeom>
          </p:spPr>
          <p:txBody>
            <a:bodyPr lIns="0" tIns="0" rIns="0" bIns="0" rtlCol="0" anchor="ctr"/>
            <a:lstStyle/>
            <a:p>
              <a:pPr algn="ctr">
                <a:lnSpc>
                  <a:spcPts val="3120"/>
                </a:lnSpc>
              </a:pPr>
              <a:r>
                <a:rPr lang="en-US" sz="2600" spc="52">
                  <a:solidFill>
                    <a:srgbClr val="253439"/>
                  </a:solidFill>
                  <a:latin typeface="Playfair Display"/>
                  <a:ea typeface="Playfair Display"/>
                  <a:cs typeface="Playfair Display"/>
                  <a:sym typeface="Playfair Display"/>
                </a:rPr>
                <a:t>LINE = DeepWalk-inspired  but without random walks, explicitly reconstructing 1st and 2nd order adjacency.</a:t>
              </a: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253439"/>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0" y="0"/>
              <a:ext cx="24417910" cy="1789557"/>
            </a:xfrm>
            <a:custGeom>
              <a:avLst/>
              <a:gdLst/>
              <a:ahLst/>
              <a:cxnLst/>
              <a:rect l="l" t="t" r="r" b="b"/>
              <a:pathLst>
                <a:path w="24417910" h="1789557">
                  <a:moveTo>
                    <a:pt x="0" y="0"/>
                  </a:moveTo>
                  <a:lnTo>
                    <a:pt x="24417910" y="0"/>
                  </a:lnTo>
                  <a:lnTo>
                    <a:pt x="24417910" y="1789557"/>
                  </a:lnTo>
                  <a:lnTo>
                    <a:pt x="0" y="1789557"/>
                  </a:lnTo>
                  <a:close/>
                </a:path>
              </a:pathLst>
            </a:custGeom>
            <a:solidFill>
              <a:srgbClr val="FFFFFF"/>
            </a:solidFill>
            <a:ln w="25400" cap="sq">
              <a:solidFill>
                <a:srgbClr val="1A3461"/>
              </a:solidFill>
              <a:prstDash val="solid"/>
              <a:miter/>
            </a:ln>
          </p:spPr>
          <p:txBody>
            <a:bodyPr/>
            <a:lstStyle/>
            <a:p>
              <a:endParaRPr lang="en-IN"/>
            </a:p>
          </p:txBody>
        </p:sp>
      </p:grpSp>
      <p:grpSp>
        <p:nvGrpSpPr>
          <p:cNvPr id="4" name="Group 4"/>
          <p:cNvGrpSpPr/>
          <p:nvPr/>
        </p:nvGrpSpPr>
        <p:grpSpPr>
          <a:xfrm>
            <a:off x="731520" y="0"/>
            <a:ext cx="16824960" cy="1316736"/>
            <a:chOff x="0" y="0"/>
            <a:chExt cx="22433280" cy="1755648"/>
          </a:xfrm>
        </p:grpSpPr>
        <p:sp>
          <p:nvSpPr>
            <p:cNvPr id="5" name="Freeform 5"/>
            <p:cNvSpPr/>
            <p:nvPr/>
          </p:nvSpPr>
          <p:spPr>
            <a:xfrm>
              <a:off x="0" y="0"/>
              <a:ext cx="22433280" cy="1755648"/>
            </a:xfrm>
            <a:custGeom>
              <a:avLst/>
              <a:gdLst/>
              <a:ahLst/>
              <a:cxnLst/>
              <a:rect l="l" t="t" r="r" b="b"/>
              <a:pathLst>
                <a:path w="22433280" h="1755648">
                  <a:moveTo>
                    <a:pt x="0" y="0"/>
                  </a:moveTo>
                  <a:lnTo>
                    <a:pt x="22433280" y="0"/>
                  </a:lnTo>
                  <a:lnTo>
                    <a:pt x="22433280" y="1755648"/>
                  </a:lnTo>
                  <a:lnTo>
                    <a:pt x="0" y="1755648"/>
                  </a:lnTo>
                  <a:close/>
                </a:path>
              </a:pathLst>
            </a:custGeom>
            <a:blipFill>
              <a:blip r:embed="rId3">
                <a:alphaModFix amt="0"/>
              </a:blip>
              <a:stretch>
                <a:fillRect t="-198975" b="-198975"/>
              </a:stretch>
            </a:blipFill>
          </p:spPr>
          <p:txBody>
            <a:bodyPr/>
            <a:lstStyle/>
            <a:p>
              <a:endParaRPr lang="en-IN"/>
            </a:p>
          </p:txBody>
        </p:sp>
        <p:sp>
          <p:nvSpPr>
            <p:cNvPr id="6" name="TextBox 6"/>
            <p:cNvSpPr txBox="1"/>
            <p:nvPr/>
          </p:nvSpPr>
          <p:spPr>
            <a:xfrm>
              <a:off x="0" y="-9525"/>
              <a:ext cx="22433280" cy="1765173"/>
            </a:xfrm>
            <a:prstGeom prst="rect">
              <a:avLst/>
            </a:prstGeom>
          </p:spPr>
          <p:txBody>
            <a:bodyPr lIns="0" tIns="0" rIns="0" bIns="0" rtlCol="0" anchor="ctr"/>
            <a:lstStyle/>
            <a:p>
              <a:pPr algn="l">
                <a:lnSpc>
                  <a:spcPts val="4800"/>
                </a:lnSpc>
              </a:pPr>
              <a:r>
                <a:rPr lang="en-US" sz="4000" spc="560" dirty="0">
                  <a:latin typeface="Times New Roman" panose="02020603050405020304" pitchFamily="18" charset="0"/>
                  <a:ea typeface="Hammersmith One"/>
                  <a:cs typeface="Times New Roman" panose="02020603050405020304" pitchFamily="18" charset="0"/>
                  <a:sym typeface="Hammersmith One"/>
                </a:rPr>
                <a:t>DEEPWALK ≡ MATRIX FACTORIZATION (QIU ET AL., 2018)</a:t>
              </a:r>
            </a:p>
          </p:txBody>
        </p:sp>
      </p:grpSp>
      <p:sp>
        <p:nvSpPr>
          <p:cNvPr id="8" name="Freeform 8"/>
          <p:cNvSpPr/>
          <p:nvPr/>
        </p:nvSpPr>
        <p:spPr>
          <a:xfrm>
            <a:off x="731520" y="73152"/>
            <a:ext cx="16459200" cy="402336"/>
          </a:xfrm>
          <a:custGeom>
            <a:avLst/>
            <a:gdLst/>
            <a:ahLst/>
            <a:cxnLst/>
            <a:rect l="l" t="t" r="r" b="b"/>
            <a:pathLst>
              <a:path w="21945600" h="536448">
                <a:moveTo>
                  <a:pt x="0" y="0"/>
                </a:moveTo>
                <a:lnTo>
                  <a:pt x="21945600" y="0"/>
                </a:lnTo>
                <a:lnTo>
                  <a:pt x="21945600" y="536448"/>
                </a:lnTo>
                <a:lnTo>
                  <a:pt x="0" y="536448"/>
                </a:lnTo>
                <a:close/>
              </a:path>
            </a:pathLst>
          </a:custGeom>
          <a:blipFill>
            <a:blip r:embed="rId3">
              <a:alphaModFix amt="0"/>
            </a:blip>
            <a:stretch>
              <a:fillRect t="-747115" b="-747115"/>
            </a:stretch>
          </a:blipFill>
        </p:spPr>
        <p:txBody>
          <a:bodyPr/>
          <a:lstStyle/>
          <a:p>
            <a:endParaRPr lang="en-IN"/>
          </a:p>
        </p:txBody>
      </p:sp>
      <p:grpSp>
        <p:nvGrpSpPr>
          <p:cNvPr id="10" name="Group 10"/>
          <p:cNvGrpSpPr/>
          <p:nvPr/>
        </p:nvGrpSpPr>
        <p:grpSpPr>
          <a:xfrm>
            <a:off x="731520" y="1499616"/>
            <a:ext cx="16824960" cy="983996"/>
            <a:chOff x="0" y="0"/>
            <a:chExt cx="22433280" cy="1311995"/>
          </a:xfrm>
        </p:grpSpPr>
        <p:sp>
          <p:nvSpPr>
            <p:cNvPr id="11" name="Freeform 11"/>
            <p:cNvSpPr/>
            <p:nvPr/>
          </p:nvSpPr>
          <p:spPr>
            <a:xfrm>
              <a:off x="0" y="0"/>
              <a:ext cx="22433280" cy="1311995"/>
            </a:xfrm>
            <a:custGeom>
              <a:avLst/>
              <a:gdLst/>
              <a:ahLst/>
              <a:cxnLst/>
              <a:rect l="l" t="t" r="r" b="b"/>
              <a:pathLst>
                <a:path w="22433280" h="1311995">
                  <a:moveTo>
                    <a:pt x="0" y="0"/>
                  </a:moveTo>
                  <a:lnTo>
                    <a:pt x="22433280" y="0"/>
                  </a:lnTo>
                  <a:lnTo>
                    <a:pt x="22433280" y="1311995"/>
                  </a:lnTo>
                  <a:lnTo>
                    <a:pt x="0" y="1311995"/>
                  </a:lnTo>
                  <a:close/>
                </a:path>
              </a:pathLst>
            </a:custGeom>
            <a:blipFill>
              <a:blip r:embed="rId3">
                <a:alphaModFix amt="0"/>
              </a:blip>
              <a:stretch>
                <a:fillRect t="-294137" b="-272196"/>
              </a:stretch>
            </a:blipFill>
          </p:spPr>
          <p:txBody>
            <a:bodyPr/>
            <a:lstStyle/>
            <a:p>
              <a:endParaRPr lang="en-IN"/>
            </a:p>
          </p:txBody>
        </p:sp>
        <p:sp>
          <p:nvSpPr>
            <p:cNvPr id="12" name="TextBox 12"/>
            <p:cNvSpPr txBox="1"/>
            <p:nvPr/>
          </p:nvSpPr>
          <p:spPr>
            <a:xfrm>
              <a:off x="0" y="9525"/>
              <a:ext cx="22433280" cy="1302470"/>
            </a:xfrm>
            <a:prstGeom prst="rect">
              <a:avLst/>
            </a:prstGeom>
          </p:spPr>
          <p:txBody>
            <a:bodyPr lIns="0" tIns="0" rIns="0" bIns="0" rtlCol="0" anchor="ctr"/>
            <a:lstStyle/>
            <a:p>
              <a:pPr algn="l">
                <a:lnSpc>
                  <a:spcPts val="3359"/>
                </a:lnSpc>
              </a:pPr>
              <a:r>
                <a:rPr lang="en-US" sz="2799" spc="55">
                  <a:solidFill>
                    <a:srgbClr val="FFFFFF"/>
                  </a:solidFill>
                  <a:latin typeface="Playfair Display"/>
                  <a:ea typeface="Playfair Display"/>
                  <a:cs typeface="Playfair Display"/>
                  <a:sym typeface="Playfair Display"/>
                </a:rPr>
                <a:t>A stunning theoretical result: DeepWalk's random walk training is secretly solving a matrix factorization problem!</a:t>
              </a:r>
            </a:p>
          </p:txBody>
        </p:sp>
      </p:grpSp>
      <p:grpSp>
        <p:nvGrpSpPr>
          <p:cNvPr id="13" name="Group 13"/>
          <p:cNvGrpSpPr/>
          <p:nvPr/>
        </p:nvGrpSpPr>
        <p:grpSpPr>
          <a:xfrm>
            <a:off x="535943" y="2456183"/>
            <a:ext cx="16484603" cy="2494283"/>
            <a:chOff x="0" y="0"/>
            <a:chExt cx="21979471" cy="3325711"/>
          </a:xfrm>
        </p:grpSpPr>
        <p:sp>
          <p:nvSpPr>
            <p:cNvPr id="14" name="Freeform 14"/>
            <p:cNvSpPr/>
            <p:nvPr/>
          </p:nvSpPr>
          <p:spPr>
            <a:xfrm>
              <a:off x="0" y="0"/>
              <a:ext cx="21979510" cy="3325749"/>
            </a:xfrm>
            <a:custGeom>
              <a:avLst/>
              <a:gdLst/>
              <a:ahLst/>
              <a:cxnLst/>
              <a:rect l="l" t="t" r="r" b="b"/>
              <a:pathLst>
                <a:path w="21979510" h="3325749">
                  <a:moveTo>
                    <a:pt x="0" y="246380"/>
                  </a:moveTo>
                  <a:cubicBezTo>
                    <a:pt x="0" y="110236"/>
                    <a:pt x="110236" y="0"/>
                    <a:pt x="246380" y="0"/>
                  </a:cubicBezTo>
                  <a:lnTo>
                    <a:pt x="21733129" y="0"/>
                  </a:lnTo>
                  <a:cubicBezTo>
                    <a:pt x="21869146" y="0"/>
                    <a:pt x="21979510" y="110236"/>
                    <a:pt x="21979510" y="246380"/>
                  </a:cubicBezTo>
                  <a:lnTo>
                    <a:pt x="21979510" y="3079369"/>
                  </a:lnTo>
                  <a:cubicBezTo>
                    <a:pt x="21979510" y="3215386"/>
                    <a:pt x="21869273" y="3325749"/>
                    <a:pt x="21733129" y="3325749"/>
                  </a:cubicBezTo>
                  <a:lnTo>
                    <a:pt x="246380" y="3325749"/>
                  </a:lnTo>
                  <a:cubicBezTo>
                    <a:pt x="110363" y="3325749"/>
                    <a:pt x="0" y="3215513"/>
                    <a:pt x="0" y="3079369"/>
                  </a:cubicBezTo>
                  <a:close/>
                </a:path>
              </a:pathLst>
            </a:custGeom>
            <a:solidFill>
              <a:srgbClr val="7C898B"/>
            </a:solidFill>
            <a:ln w="25400" cap="sq">
              <a:solidFill>
                <a:srgbClr val="D8E8F8"/>
              </a:solidFill>
              <a:prstDash val="solid"/>
              <a:miter/>
            </a:ln>
          </p:spPr>
          <p:txBody>
            <a:bodyPr/>
            <a:lstStyle/>
            <a:p>
              <a:endParaRPr lang="en-IN"/>
            </a:p>
          </p:txBody>
        </p:sp>
      </p:grpSp>
      <p:grpSp>
        <p:nvGrpSpPr>
          <p:cNvPr id="15" name="Group 15"/>
          <p:cNvGrpSpPr/>
          <p:nvPr/>
        </p:nvGrpSpPr>
        <p:grpSpPr>
          <a:xfrm>
            <a:off x="914400" y="2560320"/>
            <a:ext cx="15727680" cy="640080"/>
            <a:chOff x="0" y="0"/>
            <a:chExt cx="20970240" cy="853440"/>
          </a:xfrm>
        </p:grpSpPr>
        <p:sp>
          <p:nvSpPr>
            <p:cNvPr id="16" name="Freeform 16"/>
            <p:cNvSpPr/>
            <p:nvPr/>
          </p:nvSpPr>
          <p:spPr>
            <a:xfrm>
              <a:off x="0" y="0"/>
              <a:ext cx="20970239" cy="853440"/>
            </a:xfrm>
            <a:custGeom>
              <a:avLst/>
              <a:gdLst/>
              <a:ahLst/>
              <a:cxnLst/>
              <a:rect l="l" t="t" r="r" b="b"/>
              <a:pathLst>
                <a:path w="20970239" h="853440">
                  <a:moveTo>
                    <a:pt x="0" y="0"/>
                  </a:moveTo>
                  <a:lnTo>
                    <a:pt x="20970239" y="0"/>
                  </a:lnTo>
                  <a:lnTo>
                    <a:pt x="20970239" y="853440"/>
                  </a:lnTo>
                  <a:lnTo>
                    <a:pt x="0" y="853440"/>
                  </a:lnTo>
                  <a:close/>
                </a:path>
              </a:pathLst>
            </a:custGeom>
            <a:blipFill>
              <a:blip r:embed="rId3">
                <a:alphaModFix amt="0"/>
              </a:blip>
              <a:stretch>
                <a:fillRect t="-428775" b="-428775"/>
              </a:stretch>
            </a:blipFill>
          </p:spPr>
          <p:txBody>
            <a:bodyPr/>
            <a:lstStyle/>
            <a:p>
              <a:endParaRPr lang="en-IN"/>
            </a:p>
          </p:txBody>
        </p:sp>
        <p:sp>
          <p:nvSpPr>
            <p:cNvPr id="17" name="TextBox 17"/>
            <p:cNvSpPr txBox="1"/>
            <p:nvPr/>
          </p:nvSpPr>
          <p:spPr>
            <a:xfrm>
              <a:off x="0" y="0"/>
              <a:ext cx="20970240" cy="853440"/>
            </a:xfrm>
            <a:prstGeom prst="rect">
              <a:avLst/>
            </a:prstGeom>
          </p:spPr>
          <p:txBody>
            <a:bodyPr lIns="0" tIns="0" rIns="0" bIns="0" rtlCol="0" anchor="ctr"/>
            <a:lstStyle/>
            <a:p>
              <a:pPr algn="l">
                <a:lnSpc>
                  <a:spcPts val="3120"/>
                </a:lnSpc>
              </a:pPr>
              <a:r>
                <a:rPr lang="en-US" sz="2600" i="1" spc="130">
                  <a:solidFill>
                    <a:srgbClr val="FFFFFF"/>
                  </a:solidFill>
                  <a:latin typeface="Playfair Display Italics"/>
                  <a:ea typeface="Playfair Display Italics"/>
                  <a:cs typeface="Playfair Display Italics"/>
                  <a:sym typeface="Playfair Display Italics"/>
                </a:rPr>
                <a:t>The Target Matrix S_DW:</a:t>
              </a:r>
            </a:p>
          </p:txBody>
        </p:sp>
      </p:grpSp>
      <p:grpSp>
        <p:nvGrpSpPr>
          <p:cNvPr id="18" name="Group 18"/>
          <p:cNvGrpSpPr/>
          <p:nvPr/>
        </p:nvGrpSpPr>
        <p:grpSpPr>
          <a:xfrm>
            <a:off x="895350" y="3236214"/>
            <a:ext cx="15765780" cy="1464564"/>
            <a:chOff x="0" y="0"/>
            <a:chExt cx="21021040" cy="1952752"/>
          </a:xfrm>
        </p:grpSpPr>
        <p:sp>
          <p:nvSpPr>
            <p:cNvPr id="19" name="Freeform 19"/>
            <p:cNvSpPr/>
            <p:nvPr/>
          </p:nvSpPr>
          <p:spPr>
            <a:xfrm>
              <a:off x="0" y="0"/>
              <a:ext cx="21021041" cy="1952752"/>
            </a:xfrm>
            <a:custGeom>
              <a:avLst/>
              <a:gdLst/>
              <a:ahLst/>
              <a:cxnLst/>
              <a:rect l="l" t="t" r="r" b="b"/>
              <a:pathLst>
                <a:path w="21021041" h="1952752">
                  <a:moveTo>
                    <a:pt x="0" y="200279"/>
                  </a:moveTo>
                  <a:cubicBezTo>
                    <a:pt x="0" y="89662"/>
                    <a:pt x="89662" y="0"/>
                    <a:pt x="200279" y="0"/>
                  </a:cubicBezTo>
                  <a:lnTo>
                    <a:pt x="20820762" y="0"/>
                  </a:lnTo>
                  <a:cubicBezTo>
                    <a:pt x="20931378" y="0"/>
                    <a:pt x="21021041" y="89662"/>
                    <a:pt x="21021041" y="200279"/>
                  </a:cubicBezTo>
                  <a:lnTo>
                    <a:pt x="21021041" y="1752473"/>
                  </a:lnTo>
                  <a:cubicBezTo>
                    <a:pt x="21021041" y="1863090"/>
                    <a:pt x="20931378" y="1952752"/>
                    <a:pt x="20820762" y="1952752"/>
                  </a:cubicBezTo>
                  <a:lnTo>
                    <a:pt x="200279" y="1952752"/>
                  </a:lnTo>
                  <a:cubicBezTo>
                    <a:pt x="89662" y="1952752"/>
                    <a:pt x="0" y="1863090"/>
                    <a:pt x="0" y="1752473"/>
                  </a:cubicBezTo>
                  <a:close/>
                </a:path>
              </a:pathLst>
            </a:custGeom>
            <a:solidFill>
              <a:srgbClr val="FFFFFF"/>
            </a:solidFill>
            <a:ln w="38100" cap="sq">
              <a:solidFill>
                <a:srgbClr val="C8DDF5"/>
              </a:solidFill>
              <a:prstDash val="solid"/>
              <a:miter/>
            </a:ln>
          </p:spPr>
          <p:txBody>
            <a:bodyPr/>
            <a:lstStyle/>
            <a:p>
              <a:endParaRPr lang="en-IN"/>
            </a:p>
          </p:txBody>
        </p:sp>
      </p:grpSp>
      <p:grpSp>
        <p:nvGrpSpPr>
          <p:cNvPr id="20" name="Group 20"/>
          <p:cNvGrpSpPr/>
          <p:nvPr/>
        </p:nvGrpSpPr>
        <p:grpSpPr>
          <a:xfrm>
            <a:off x="1188720" y="3255264"/>
            <a:ext cx="15179040" cy="1426464"/>
            <a:chOff x="0" y="0"/>
            <a:chExt cx="20238720" cy="1901952"/>
          </a:xfrm>
        </p:grpSpPr>
        <p:sp>
          <p:nvSpPr>
            <p:cNvPr id="21" name="Freeform 21"/>
            <p:cNvSpPr/>
            <p:nvPr/>
          </p:nvSpPr>
          <p:spPr>
            <a:xfrm>
              <a:off x="0" y="0"/>
              <a:ext cx="20238720" cy="1901952"/>
            </a:xfrm>
            <a:custGeom>
              <a:avLst/>
              <a:gdLst/>
              <a:ahLst/>
              <a:cxnLst/>
              <a:rect l="l" t="t" r="r" b="b"/>
              <a:pathLst>
                <a:path w="20238720" h="1901952">
                  <a:moveTo>
                    <a:pt x="0" y="0"/>
                  </a:moveTo>
                  <a:lnTo>
                    <a:pt x="20238720" y="0"/>
                  </a:lnTo>
                  <a:lnTo>
                    <a:pt x="20238720" y="1901952"/>
                  </a:lnTo>
                  <a:lnTo>
                    <a:pt x="0" y="1901952"/>
                  </a:lnTo>
                  <a:close/>
                </a:path>
              </a:pathLst>
            </a:custGeom>
            <a:blipFill>
              <a:blip r:embed="rId3">
                <a:alphaModFix amt="0"/>
              </a:blip>
              <a:stretch>
                <a:fillRect t="-157340" b="-157340"/>
              </a:stretch>
            </a:blipFill>
          </p:spPr>
          <p:txBody>
            <a:bodyPr/>
            <a:lstStyle/>
            <a:p>
              <a:endParaRPr lang="en-IN"/>
            </a:p>
          </p:txBody>
        </p:sp>
        <p:sp>
          <p:nvSpPr>
            <p:cNvPr id="22" name="TextBox 22"/>
            <p:cNvSpPr txBox="1"/>
            <p:nvPr/>
          </p:nvSpPr>
          <p:spPr>
            <a:xfrm>
              <a:off x="0" y="9525"/>
              <a:ext cx="20238720" cy="1892427"/>
            </a:xfrm>
            <a:prstGeom prst="rect">
              <a:avLst/>
            </a:prstGeom>
          </p:spPr>
          <p:txBody>
            <a:bodyPr lIns="0" tIns="0" rIns="0" bIns="0" rtlCol="0" anchor="ctr"/>
            <a:lstStyle/>
            <a:p>
              <a:pPr algn="l">
                <a:lnSpc>
                  <a:spcPts val="3359"/>
                </a:lnSpc>
              </a:pPr>
              <a:r>
                <a:rPr lang="en-US" sz="2799" spc="55">
                  <a:solidFill>
                    <a:srgbClr val="253439"/>
                  </a:solidFill>
                  <a:latin typeface="Playfair Display"/>
                  <a:ea typeface="Playfair Display"/>
                  <a:cs typeface="Playfair Display"/>
                  <a:sym typeface="Playfair Display"/>
                </a:rPr>
                <a:t>S_DW  =  log[ vol(V)/T  ·  (Σ Pᵗ, t=1..T) · D⁻¹ ]  −  log(b)</a:t>
              </a:r>
            </a:p>
          </p:txBody>
        </p:sp>
      </p:grpSp>
      <p:grpSp>
        <p:nvGrpSpPr>
          <p:cNvPr id="23" name="Group 23"/>
          <p:cNvGrpSpPr/>
          <p:nvPr/>
        </p:nvGrpSpPr>
        <p:grpSpPr>
          <a:xfrm>
            <a:off x="535943" y="5199383"/>
            <a:ext cx="8072123" cy="1342139"/>
            <a:chOff x="0" y="0"/>
            <a:chExt cx="10762831" cy="1789519"/>
          </a:xfrm>
        </p:grpSpPr>
        <p:sp>
          <p:nvSpPr>
            <p:cNvPr id="24" name="Freeform 24"/>
            <p:cNvSpPr/>
            <p:nvPr/>
          </p:nvSpPr>
          <p:spPr>
            <a:xfrm>
              <a:off x="0" y="0"/>
              <a:ext cx="10762869" cy="1789557"/>
            </a:xfrm>
            <a:custGeom>
              <a:avLst/>
              <a:gdLst/>
              <a:ahLst/>
              <a:cxnLst/>
              <a:rect l="l" t="t" r="r" b="b"/>
              <a:pathLst>
                <a:path w="10762869" h="1789557">
                  <a:moveTo>
                    <a:pt x="0" y="248539"/>
                  </a:moveTo>
                  <a:cubicBezTo>
                    <a:pt x="0" y="111252"/>
                    <a:pt x="111252" y="0"/>
                    <a:pt x="248539" y="0"/>
                  </a:cubicBezTo>
                  <a:lnTo>
                    <a:pt x="10514330" y="0"/>
                  </a:lnTo>
                  <a:cubicBezTo>
                    <a:pt x="10651617" y="0"/>
                    <a:pt x="10762869" y="111252"/>
                    <a:pt x="10762869" y="248539"/>
                  </a:cubicBezTo>
                  <a:lnTo>
                    <a:pt x="10762869" y="1541018"/>
                  </a:lnTo>
                  <a:cubicBezTo>
                    <a:pt x="10762869" y="1678305"/>
                    <a:pt x="10651617" y="1789557"/>
                    <a:pt x="10514330" y="1789557"/>
                  </a:cubicBezTo>
                  <a:lnTo>
                    <a:pt x="248539" y="1789557"/>
                  </a:lnTo>
                  <a:cubicBezTo>
                    <a:pt x="111252" y="1789557"/>
                    <a:pt x="0" y="1678178"/>
                    <a:pt x="0" y="1541018"/>
                  </a:cubicBezTo>
                  <a:close/>
                </a:path>
              </a:pathLst>
            </a:custGeom>
            <a:solidFill>
              <a:srgbClr val="7C898B"/>
            </a:solidFill>
            <a:ln w="25400" cap="sq">
              <a:solidFill>
                <a:srgbClr val="D8E8F8"/>
              </a:solidFill>
              <a:prstDash val="solid"/>
              <a:miter/>
            </a:ln>
          </p:spPr>
          <p:txBody>
            <a:bodyPr/>
            <a:lstStyle/>
            <a:p>
              <a:endParaRPr lang="en-IN"/>
            </a:p>
          </p:txBody>
        </p:sp>
      </p:grpSp>
      <p:grpSp>
        <p:nvGrpSpPr>
          <p:cNvPr id="25" name="Group 25"/>
          <p:cNvGrpSpPr/>
          <p:nvPr/>
        </p:nvGrpSpPr>
        <p:grpSpPr>
          <a:xfrm>
            <a:off x="822960" y="5212080"/>
            <a:ext cx="2743200" cy="1316736"/>
            <a:chOff x="0" y="0"/>
            <a:chExt cx="3657600" cy="1755648"/>
          </a:xfrm>
        </p:grpSpPr>
        <p:sp>
          <p:nvSpPr>
            <p:cNvPr id="26" name="Freeform 26"/>
            <p:cNvSpPr/>
            <p:nvPr/>
          </p:nvSpPr>
          <p:spPr>
            <a:xfrm>
              <a:off x="0" y="0"/>
              <a:ext cx="3657600" cy="1755648"/>
            </a:xfrm>
            <a:custGeom>
              <a:avLst/>
              <a:gdLst/>
              <a:ahLst/>
              <a:cxnLst/>
              <a:rect l="l" t="t" r="r" b="b"/>
              <a:pathLst>
                <a:path w="3657600" h="1755648">
                  <a:moveTo>
                    <a:pt x="0" y="0"/>
                  </a:moveTo>
                  <a:lnTo>
                    <a:pt x="3657600" y="0"/>
                  </a:lnTo>
                  <a:lnTo>
                    <a:pt x="3657600" y="1755648"/>
                  </a:lnTo>
                  <a:lnTo>
                    <a:pt x="0" y="1755648"/>
                  </a:lnTo>
                  <a:close/>
                </a:path>
              </a:pathLst>
            </a:custGeom>
            <a:blipFill>
              <a:blip r:embed="rId3">
                <a:alphaModFix amt="0"/>
              </a:blip>
              <a:stretch>
                <a:fillRect l="-11585" r="-11585"/>
              </a:stretch>
            </a:blipFill>
          </p:spPr>
          <p:txBody>
            <a:bodyPr/>
            <a:lstStyle/>
            <a:p>
              <a:endParaRPr lang="en-IN"/>
            </a:p>
          </p:txBody>
        </p:sp>
        <p:sp>
          <p:nvSpPr>
            <p:cNvPr id="27" name="TextBox 27"/>
            <p:cNvSpPr txBox="1"/>
            <p:nvPr/>
          </p:nvSpPr>
          <p:spPr>
            <a:xfrm>
              <a:off x="0" y="0"/>
              <a:ext cx="3657600" cy="1755648"/>
            </a:xfrm>
            <a:prstGeom prst="rect">
              <a:avLst/>
            </a:prstGeom>
          </p:spPr>
          <p:txBody>
            <a:bodyPr lIns="0" tIns="0" rIns="0" bIns="0" rtlCol="0" anchor="ctr"/>
            <a:lstStyle/>
            <a:p>
              <a:pPr algn="l">
                <a:lnSpc>
                  <a:spcPts val="3120"/>
                </a:lnSpc>
              </a:pPr>
              <a:r>
                <a:rPr lang="en-US" sz="2600" i="1" spc="130">
                  <a:solidFill>
                    <a:srgbClr val="FFFFFF"/>
                  </a:solidFill>
                  <a:latin typeface="Playfair Display Italics"/>
                  <a:ea typeface="Playfair Display Italics"/>
                  <a:cs typeface="Playfair Display Italics"/>
                  <a:sym typeface="Playfair Display Italics"/>
                </a:rPr>
                <a:t>vol(V)</a:t>
              </a:r>
            </a:p>
          </p:txBody>
        </p:sp>
      </p:grpSp>
      <p:grpSp>
        <p:nvGrpSpPr>
          <p:cNvPr id="28" name="Group 28"/>
          <p:cNvGrpSpPr/>
          <p:nvPr/>
        </p:nvGrpSpPr>
        <p:grpSpPr>
          <a:xfrm>
            <a:off x="3657600" y="5212080"/>
            <a:ext cx="5212080" cy="1316736"/>
            <a:chOff x="0" y="0"/>
            <a:chExt cx="6949440" cy="1755648"/>
          </a:xfrm>
        </p:grpSpPr>
        <p:sp>
          <p:nvSpPr>
            <p:cNvPr id="29" name="Freeform 29"/>
            <p:cNvSpPr/>
            <p:nvPr/>
          </p:nvSpPr>
          <p:spPr>
            <a:xfrm>
              <a:off x="0" y="0"/>
              <a:ext cx="6949440" cy="1755648"/>
            </a:xfrm>
            <a:custGeom>
              <a:avLst/>
              <a:gdLst/>
              <a:ahLst/>
              <a:cxnLst/>
              <a:rect l="l" t="t" r="r" b="b"/>
              <a:pathLst>
                <a:path w="6949440" h="1755648">
                  <a:moveTo>
                    <a:pt x="0" y="0"/>
                  </a:moveTo>
                  <a:lnTo>
                    <a:pt x="6949440" y="0"/>
                  </a:lnTo>
                  <a:lnTo>
                    <a:pt x="6949440" y="1755648"/>
                  </a:lnTo>
                  <a:lnTo>
                    <a:pt x="0" y="1755648"/>
                  </a:lnTo>
                  <a:close/>
                </a:path>
              </a:pathLst>
            </a:custGeom>
            <a:blipFill>
              <a:blip r:embed="rId3">
                <a:alphaModFix amt="0"/>
              </a:blip>
              <a:stretch>
                <a:fillRect t="-27128" b="-27128"/>
              </a:stretch>
            </a:blipFill>
          </p:spPr>
          <p:txBody>
            <a:bodyPr/>
            <a:lstStyle/>
            <a:p>
              <a:endParaRPr lang="en-IN"/>
            </a:p>
          </p:txBody>
        </p:sp>
        <p:sp>
          <p:nvSpPr>
            <p:cNvPr id="30" name="TextBox 30"/>
            <p:cNvSpPr txBox="1"/>
            <p:nvPr/>
          </p:nvSpPr>
          <p:spPr>
            <a:xfrm>
              <a:off x="0" y="0"/>
              <a:ext cx="6949440" cy="1755648"/>
            </a:xfrm>
            <a:prstGeom prst="rect">
              <a:avLst/>
            </a:prstGeom>
          </p:spPr>
          <p:txBody>
            <a:bodyPr lIns="0" tIns="0" rIns="0" bIns="0" rtlCol="0" anchor="ctr"/>
            <a:lstStyle/>
            <a:p>
              <a:pPr algn="l">
                <a:lnSpc>
                  <a:spcPts val="2879"/>
                </a:lnSpc>
              </a:pPr>
              <a:r>
                <a:rPr lang="en-US" sz="2400" spc="48">
                  <a:solidFill>
                    <a:srgbClr val="FFFFFF"/>
                  </a:solidFill>
                  <a:latin typeface="Playfair Display"/>
                  <a:ea typeface="Playfair Display"/>
                  <a:cs typeface="Playfair Display"/>
                  <a:sym typeface="Playfair Display"/>
                </a:rPr>
                <a:t>Total sum of all node degrees</a:t>
              </a:r>
            </a:p>
          </p:txBody>
        </p:sp>
      </p:grpSp>
      <p:grpSp>
        <p:nvGrpSpPr>
          <p:cNvPr id="31" name="Group 31"/>
          <p:cNvGrpSpPr/>
          <p:nvPr/>
        </p:nvGrpSpPr>
        <p:grpSpPr>
          <a:xfrm>
            <a:off x="535943" y="6698999"/>
            <a:ext cx="8072123" cy="1342139"/>
            <a:chOff x="0" y="0"/>
            <a:chExt cx="10762831" cy="1789519"/>
          </a:xfrm>
        </p:grpSpPr>
        <p:sp>
          <p:nvSpPr>
            <p:cNvPr id="32" name="Freeform 32"/>
            <p:cNvSpPr/>
            <p:nvPr/>
          </p:nvSpPr>
          <p:spPr>
            <a:xfrm>
              <a:off x="0" y="0"/>
              <a:ext cx="10762869" cy="1789557"/>
            </a:xfrm>
            <a:custGeom>
              <a:avLst/>
              <a:gdLst/>
              <a:ahLst/>
              <a:cxnLst/>
              <a:rect l="l" t="t" r="r" b="b"/>
              <a:pathLst>
                <a:path w="10762869" h="1789557">
                  <a:moveTo>
                    <a:pt x="0" y="248539"/>
                  </a:moveTo>
                  <a:cubicBezTo>
                    <a:pt x="0" y="111252"/>
                    <a:pt x="111252" y="0"/>
                    <a:pt x="248539" y="0"/>
                  </a:cubicBezTo>
                  <a:lnTo>
                    <a:pt x="10514330" y="0"/>
                  </a:lnTo>
                  <a:cubicBezTo>
                    <a:pt x="10651617" y="0"/>
                    <a:pt x="10762869" y="111252"/>
                    <a:pt x="10762869" y="248539"/>
                  </a:cubicBezTo>
                  <a:lnTo>
                    <a:pt x="10762869" y="1541018"/>
                  </a:lnTo>
                  <a:cubicBezTo>
                    <a:pt x="10762869" y="1678305"/>
                    <a:pt x="10651617" y="1789557"/>
                    <a:pt x="10514330" y="1789557"/>
                  </a:cubicBezTo>
                  <a:lnTo>
                    <a:pt x="248539" y="1789557"/>
                  </a:lnTo>
                  <a:cubicBezTo>
                    <a:pt x="111252" y="1789557"/>
                    <a:pt x="0" y="1678178"/>
                    <a:pt x="0" y="1541018"/>
                  </a:cubicBezTo>
                  <a:close/>
                </a:path>
              </a:pathLst>
            </a:custGeom>
            <a:solidFill>
              <a:srgbClr val="7C898B"/>
            </a:solidFill>
            <a:ln w="25400" cap="sq">
              <a:solidFill>
                <a:srgbClr val="D8E8F8"/>
              </a:solidFill>
              <a:prstDash val="solid"/>
              <a:miter/>
            </a:ln>
          </p:spPr>
          <p:txBody>
            <a:bodyPr/>
            <a:lstStyle/>
            <a:p>
              <a:endParaRPr lang="en-IN"/>
            </a:p>
          </p:txBody>
        </p:sp>
      </p:grpSp>
      <p:grpSp>
        <p:nvGrpSpPr>
          <p:cNvPr id="33" name="Group 33"/>
          <p:cNvGrpSpPr/>
          <p:nvPr/>
        </p:nvGrpSpPr>
        <p:grpSpPr>
          <a:xfrm>
            <a:off x="822960" y="6711696"/>
            <a:ext cx="2743200" cy="1316736"/>
            <a:chOff x="0" y="0"/>
            <a:chExt cx="3657600" cy="1755648"/>
          </a:xfrm>
        </p:grpSpPr>
        <p:sp>
          <p:nvSpPr>
            <p:cNvPr id="34" name="Freeform 34"/>
            <p:cNvSpPr/>
            <p:nvPr/>
          </p:nvSpPr>
          <p:spPr>
            <a:xfrm>
              <a:off x="0" y="0"/>
              <a:ext cx="3657600" cy="1755648"/>
            </a:xfrm>
            <a:custGeom>
              <a:avLst/>
              <a:gdLst/>
              <a:ahLst/>
              <a:cxnLst/>
              <a:rect l="l" t="t" r="r" b="b"/>
              <a:pathLst>
                <a:path w="3657600" h="1755648">
                  <a:moveTo>
                    <a:pt x="0" y="0"/>
                  </a:moveTo>
                  <a:lnTo>
                    <a:pt x="3657600" y="0"/>
                  </a:lnTo>
                  <a:lnTo>
                    <a:pt x="3657600" y="1755648"/>
                  </a:lnTo>
                  <a:lnTo>
                    <a:pt x="0" y="1755648"/>
                  </a:lnTo>
                  <a:close/>
                </a:path>
              </a:pathLst>
            </a:custGeom>
            <a:blipFill>
              <a:blip r:embed="rId3">
                <a:alphaModFix amt="0"/>
              </a:blip>
              <a:stretch>
                <a:fillRect l="-11585" r="-11585"/>
              </a:stretch>
            </a:blipFill>
          </p:spPr>
          <p:txBody>
            <a:bodyPr/>
            <a:lstStyle/>
            <a:p>
              <a:endParaRPr lang="en-IN"/>
            </a:p>
          </p:txBody>
        </p:sp>
        <p:sp>
          <p:nvSpPr>
            <p:cNvPr id="35" name="TextBox 35"/>
            <p:cNvSpPr txBox="1"/>
            <p:nvPr/>
          </p:nvSpPr>
          <p:spPr>
            <a:xfrm>
              <a:off x="0" y="0"/>
              <a:ext cx="3657600" cy="1755648"/>
            </a:xfrm>
            <a:prstGeom prst="rect">
              <a:avLst/>
            </a:prstGeom>
          </p:spPr>
          <p:txBody>
            <a:bodyPr lIns="0" tIns="0" rIns="0" bIns="0" rtlCol="0" anchor="ctr"/>
            <a:lstStyle/>
            <a:p>
              <a:pPr algn="l">
                <a:lnSpc>
                  <a:spcPts val="3120"/>
                </a:lnSpc>
              </a:pPr>
              <a:r>
                <a:rPr lang="en-US" sz="2600" i="1" spc="130">
                  <a:solidFill>
                    <a:srgbClr val="FFFFFF"/>
                  </a:solidFill>
                  <a:latin typeface="Playfair Display Italics"/>
                  <a:ea typeface="Playfair Display Italics"/>
                  <a:cs typeface="Playfair Display Italics"/>
                  <a:sym typeface="Playfair Display Italics"/>
                </a:rPr>
                <a:t>P = D⁻¹A</a:t>
              </a:r>
            </a:p>
          </p:txBody>
        </p:sp>
      </p:grpSp>
      <p:grpSp>
        <p:nvGrpSpPr>
          <p:cNvPr id="36" name="Group 36"/>
          <p:cNvGrpSpPr/>
          <p:nvPr/>
        </p:nvGrpSpPr>
        <p:grpSpPr>
          <a:xfrm>
            <a:off x="3657600" y="6711696"/>
            <a:ext cx="5212080" cy="1316736"/>
            <a:chOff x="0" y="0"/>
            <a:chExt cx="6949440" cy="1755648"/>
          </a:xfrm>
        </p:grpSpPr>
        <p:sp>
          <p:nvSpPr>
            <p:cNvPr id="37" name="Freeform 37"/>
            <p:cNvSpPr/>
            <p:nvPr/>
          </p:nvSpPr>
          <p:spPr>
            <a:xfrm>
              <a:off x="0" y="0"/>
              <a:ext cx="6949440" cy="1755648"/>
            </a:xfrm>
            <a:custGeom>
              <a:avLst/>
              <a:gdLst/>
              <a:ahLst/>
              <a:cxnLst/>
              <a:rect l="l" t="t" r="r" b="b"/>
              <a:pathLst>
                <a:path w="6949440" h="1755648">
                  <a:moveTo>
                    <a:pt x="0" y="0"/>
                  </a:moveTo>
                  <a:lnTo>
                    <a:pt x="6949440" y="0"/>
                  </a:lnTo>
                  <a:lnTo>
                    <a:pt x="6949440" y="1755648"/>
                  </a:lnTo>
                  <a:lnTo>
                    <a:pt x="0" y="1755648"/>
                  </a:lnTo>
                  <a:close/>
                </a:path>
              </a:pathLst>
            </a:custGeom>
            <a:blipFill>
              <a:blip r:embed="rId3">
                <a:alphaModFix amt="0"/>
              </a:blip>
              <a:stretch>
                <a:fillRect t="-27128" b="-27128"/>
              </a:stretch>
            </a:blipFill>
          </p:spPr>
          <p:txBody>
            <a:bodyPr/>
            <a:lstStyle/>
            <a:p>
              <a:endParaRPr lang="en-IN"/>
            </a:p>
          </p:txBody>
        </p:sp>
        <p:sp>
          <p:nvSpPr>
            <p:cNvPr id="38" name="TextBox 38"/>
            <p:cNvSpPr txBox="1"/>
            <p:nvPr/>
          </p:nvSpPr>
          <p:spPr>
            <a:xfrm>
              <a:off x="0" y="0"/>
              <a:ext cx="6949440" cy="1755648"/>
            </a:xfrm>
            <a:prstGeom prst="rect">
              <a:avLst/>
            </a:prstGeom>
          </p:spPr>
          <p:txBody>
            <a:bodyPr lIns="0" tIns="0" rIns="0" bIns="0" rtlCol="0" anchor="ctr"/>
            <a:lstStyle/>
            <a:p>
              <a:pPr algn="l">
                <a:lnSpc>
                  <a:spcPts val="2879"/>
                </a:lnSpc>
              </a:pPr>
              <a:r>
                <a:rPr lang="en-US" sz="2400" spc="48">
                  <a:solidFill>
                    <a:srgbClr val="FFFFFF"/>
                  </a:solidFill>
                  <a:latin typeface="Playfair Display"/>
                  <a:ea typeface="Playfair Display"/>
                  <a:cs typeface="Playfair Display"/>
                  <a:sym typeface="Playfair Display"/>
                </a:rPr>
                <a:t>Random walk transition matrix</a:t>
              </a:r>
            </a:p>
          </p:txBody>
        </p:sp>
      </p:grpSp>
      <p:grpSp>
        <p:nvGrpSpPr>
          <p:cNvPr id="39" name="Group 39"/>
          <p:cNvGrpSpPr/>
          <p:nvPr/>
        </p:nvGrpSpPr>
        <p:grpSpPr>
          <a:xfrm>
            <a:off x="9131303" y="5199383"/>
            <a:ext cx="8072123" cy="1342139"/>
            <a:chOff x="0" y="0"/>
            <a:chExt cx="10762831" cy="1789519"/>
          </a:xfrm>
        </p:grpSpPr>
        <p:sp>
          <p:nvSpPr>
            <p:cNvPr id="40" name="Freeform 40"/>
            <p:cNvSpPr/>
            <p:nvPr/>
          </p:nvSpPr>
          <p:spPr>
            <a:xfrm>
              <a:off x="0" y="0"/>
              <a:ext cx="10762869" cy="1789557"/>
            </a:xfrm>
            <a:custGeom>
              <a:avLst/>
              <a:gdLst/>
              <a:ahLst/>
              <a:cxnLst/>
              <a:rect l="l" t="t" r="r" b="b"/>
              <a:pathLst>
                <a:path w="10762869" h="1789557">
                  <a:moveTo>
                    <a:pt x="0" y="248539"/>
                  </a:moveTo>
                  <a:cubicBezTo>
                    <a:pt x="0" y="111252"/>
                    <a:pt x="111252" y="0"/>
                    <a:pt x="248539" y="0"/>
                  </a:cubicBezTo>
                  <a:lnTo>
                    <a:pt x="10514330" y="0"/>
                  </a:lnTo>
                  <a:cubicBezTo>
                    <a:pt x="10651617" y="0"/>
                    <a:pt x="10762869" y="111252"/>
                    <a:pt x="10762869" y="248539"/>
                  </a:cubicBezTo>
                  <a:lnTo>
                    <a:pt x="10762869" y="1541018"/>
                  </a:lnTo>
                  <a:cubicBezTo>
                    <a:pt x="10762869" y="1678305"/>
                    <a:pt x="10651617" y="1789557"/>
                    <a:pt x="10514330" y="1789557"/>
                  </a:cubicBezTo>
                  <a:lnTo>
                    <a:pt x="248539" y="1789557"/>
                  </a:lnTo>
                  <a:cubicBezTo>
                    <a:pt x="111252" y="1789557"/>
                    <a:pt x="0" y="1678178"/>
                    <a:pt x="0" y="1541018"/>
                  </a:cubicBezTo>
                  <a:close/>
                </a:path>
              </a:pathLst>
            </a:custGeom>
            <a:solidFill>
              <a:srgbClr val="7C898B"/>
            </a:solidFill>
            <a:ln w="25400" cap="sq">
              <a:solidFill>
                <a:srgbClr val="D8E8F8"/>
              </a:solidFill>
              <a:prstDash val="solid"/>
              <a:miter/>
            </a:ln>
          </p:spPr>
          <p:txBody>
            <a:bodyPr/>
            <a:lstStyle/>
            <a:p>
              <a:endParaRPr lang="en-IN"/>
            </a:p>
          </p:txBody>
        </p:sp>
      </p:grpSp>
      <p:grpSp>
        <p:nvGrpSpPr>
          <p:cNvPr id="41" name="Group 41"/>
          <p:cNvGrpSpPr/>
          <p:nvPr/>
        </p:nvGrpSpPr>
        <p:grpSpPr>
          <a:xfrm>
            <a:off x="9418320" y="5212080"/>
            <a:ext cx="2743200" cy="1316736"/>
            <a:chOff x="0" y="0"/>
            <a:chExt cx="3657600" cy="1755648"/>
          </a:xfrm>
        </p:grpSpPr>
        <p:sp>
          <p:nvSpPr>
            <p:cNvPr id="42" name="Freeform 42"/>
            <p:cNvSpPr/>
            <p:nvPr/>
          </p:nvSpPr>
          <p:spPr>
            <a:xfrm>
              <a:off x="0" y="0"/>
              <a:ext cx="3657600" cy="1755648"/>
            </a:xfrm>
            <a:custGeom>
              <a:avLst/>
              <a:gdLst/>
              <a:ahLst/>
              <a:cxnLst/>
              <a:rect l="l" t="t" r="r" b="b"/>
              <a:pathLst>
                <a:path w="3657600" h="1755648">
                  <a:moveTo>
                    <a:pt x="0" y="0"/>
                  </a:moveTo>
                  <a:lnTo>
                    <a:pt x="3657600" y="0"/>
                  </a:lnTo>
                  <a:lnTo>
                    <a:pt x="3657600" y="1755648"/>
                  </a:lnTo>
                  <a:lnTo>
                    <a:pt x="0" y="1755648"/>
                  </a:lnTo>
                  <a:close/>
                </a:path>
              </a:pathLst>
            </a:custGeom>
            <a:blipFill>
              <a:blip r:embed="rId3">
                <a:alphaModFix amt="0"/>
              </a:blip>
              <a:stretch>
                <a:fillRect l="-11585" r="-11585"/>
              </a:stretch>
            </a:blipFill>
          </p:spPr>
          <p:txBody>
            <a:bodyPr/>
            <a:lstStyle/>
            <a:p>
              <a:endParaRPr lang="en-IN"/>
            </a:p>
          </p:txBody>
        </p:sp>
        <p:sp>
          <p:nvSpPr>
            <p:cNvPr id="43" name="TextBox 43"/>
            <p:cNvSpPr txBox="1"/>
            <p:nvPr/>
          </p:nvSpPr>
          <p:spPr>
            <a:xfrm>
              <a:off x="0" y="0"/>
              <a:ext cx="3657600" cy="1755648"/>
            </a:xfrm>
            <a:prstGeom prst="rect">
              <a:avLst/>
            </a:prstGeom>
          </p:spPr>
          <p:txBody>
            <a:bodyPr lIns="0" tIns="0" rIns="0" bIns="0" rtlCol="0" anchor="ctr"/>
            <a:lstStyle/>
            <a:p>
              <a:pPr algn="l">
                <a:lnSpc>
                  <a:spcPts val="3120"/>
                </a:lnSpc>
              </a:pPr>
              <a:r>
                <a:rPr lang="en-US" sz="2600" i="1" spc="130">
                  <a:solidFill>
                    <a:srgbClr val="FFFFFF"/>
                  </a:solidFill>
                  <a:latin typeface="Playfair Display Italics"/>
                  <a:ea typeface="Playfair Display Italics"/>
                  <a:cs typeface="Playfair Display Italics"/>
                  <a:sym typeface="Playfair Display Italics"/>
                </a:rPr>
                <a:t>Pᵗ</a:t>
              </a:r>
            </a:p>
          </p:txBody>
        </p:sp>
      </p:grpSp>
      <p:grpSp>
        <p:nvGrpSpPr>
          <p:cNvPr id="44" name="Group 44"/>
          <p:cNvGrpSpPr/>
          <p:nvPr/>
        </p:nvGrpSpPr>
        <p:grpSpPr>
          <a:xfrm>
            <a:off x="12252960" y="5212080"/>
            <a:ext cx="5212080" cy="1316736"/>
            <a:chOff x="0" y="0"/>
            <a:chExt cx="6949440" cy="1755648"/>
          </a:xfrm>
        </p:grpSpPr>
        <p:sp>
          <p:nvSpPr>
            <p:cNvPr id="45" name="Freeform 45"/>
            <p:cNvSpPr/>
            <p:nvPr/>
          </p:nvSpPr>
          <p:spPr>
            <a:xfrm>
              <a:off x="0" y="0"/>
              <a:ext cx="6949440" cy="1755648"/>
            </a:xfrm>
            <a:custGeom>
              <a:avLst/>
              <a:gdLst/>
              <a:ahLst/>
              <a:cxnLst/>
              <a:rect l="l" t="t" r="r" b="b"/>
              <a:pathLst>
                <a:path w="6949440" h="1755648">
                  <a:moveTo>
                    <a:pt x="0" y="0"/>
                  </a:moveTo>
                  <a:lnTo>
                    <a:pt x="6949440" y="0"/>
                  </a:lnTo>
                  <a:lnTo>
                    <a:pt x="6949440" y="1755648"/>
                  </a:lnTo>
                  <a:lnTo>
                    <a:pt x="0" y="1755648"/>
                  </a:lnTo>
                  <a:close/>
                </a:path>
              </a:pathLst>
            </a:custGeom>
            <a:blipFill>
              <a:blip r:embed="rId3">
                <a:alphaModFix amt="0"/>
              </a:blip>
              <a:stretch>
                <a:fillRect t="-27128" b="-27128"/>
              </a:stretch>
            </a:blipFill>
          </p:spPr>
          <p:txBody>
            <a:bodyPr/>
            <a:lstStyle/>
            <a:p>
              <a:endParaRPr lang="en-IN"/>
            </a:p>
          </p:txBody>
        </p:sp>
        <p:sp>
          <p:nvSpPr>
            <p:cNvPr id="46" name="TextBox 46"/>
            <p:cNvSpPr txBox="1"/>
            <p:nvPr/>
          </p:nvSpPr>
          <p:spPr>
            <a:xfrm>
              <a:off x="0" y="0"/>
              <a:ext cx="6949440" cy="1755648"/>
            </a:xfrm>
            <a:prstGeom prst="rect">
              <a:avLst/>
            </a:prstGeom>
          </p:spPr>
          <p:txBody>
            <a:bodyPr lIns="0" tIns="0" rIns="0" bIns="0" rtlCol="0" anchor="ctr"/>
            <a:lstStyle/>
            <a:p>
              <a:pPr algn="l">
                <a:lnSpc>
                  <a:spcPts val="2879"/>
                </a:lnSpc>
              </a:pPr>
              <a:r>
                <a:rPr lang="en-US" sz="2400" spc="48">
                  <a:solidFill>
                    <a:srgbClr val="FFFFFF"/>
                  </a:solidFill>
                  <a:latin typeface="Playfair Display"/>
                  <a:ea typeface="Playfair Display"/>
                  <a:cs typeface="Playfair Display"/>
                  <a:sym typeface="Playfair Display"/>
                </a:rPr>
                <a:t>t-step walk matrix (like powers of A)</a:t>
              </a:r>
            </a:p>
          </p:txBody>
        </p:sp>
      </p:grpSp>
      <p:grpSp>
        <p:nvGrpSpPr>
          <p:cNvPr id="47" name="Group 47"/>
          <p:cNvGrpSpPr/>
          <p:nvPr/>
        </p:nvGrpSpPr>
        <p:grpSpPr>
          <a:xfrm>
            <a:off x="9131303" y="6698999"/>
            <a:ext cx="8072123" cy="1342139"/>
            <a:chOff x="0" y="0"/>
            <a:chExt cx="10762831" cy="1789519"/>
          </a:xfrm>
        </p:grpSpPr>
        <p:sp>
          <p:nvSpPr>
            <p:cNvPr id="48" name="Freeform 48"/>
            <p:cNvSpPr/>
            <p:nvPr/>
          </p:nvSpPr>
          <p:spPr>
            <a:xfrm>
              <a:off x="0" y="0"/>
              <a:ext cx="10762869" cy="1789557"/>
            </a:xfrm>
            <a:custGeom>
              <a:avLst/>
              <a:gdLst/>
              <a:ahLst/>
              <a:cxnLst/>
              <a:rect l="l" t="t" r="r" b="b"/>
              <a:pathLst>
                <a:path w="10762869" h="1789557">
                  <a:moveTo>
                    <a:pt x="0" y="248539"/>
                  </a:moveTo>
                  <a:cubicBezTo>
                    <a:pt x="0" y="111252"/>
                    <a:pt x="111252" y="0"/>
                    <a:pt x="248539" y="0"/>
                  </a:cubicBezTo>
                  <a:lnTo>
                    <a:pt x="10514330" y="0"/>
                  </a:lnTo>
                  <a:cubicBezTo>
                    <a:pt x="10651617" y="0"/>
                    <a:pt x="10762869" y="111252"/>
                    <a:pt x="10762869" y="248539"/>
                  </a:cubicBezTo>
                  <a:lnTo>
                    <a:pt x="10762869" y="1541018"/>
                  </a:lnTo>
                  <a:cubicBezTo>
                    <a:pt x="10762869" y="1678305"/>
                    <a:pt x="10651617" y="1789557"/>
                    <a:pt x="10514330" y="1789557"/>
                  </a:cubicBezTo>
                  <a:lnTo>
                    <a:pt x="248539" y="1789557"/>
                  </a:lnTo>
                  <a:cubicBezTo>
                    <a:pt x="111252" y="1789557"/>
                    <a:pt x="0" y="1678178"/>
                    <a:pt x="0" y="1541018"/>
                  </a:cubicBezTo>
                  <a:close/>
                </a:path>
              </a:pathLst>
            </a:custGeom>
            <a:solidFill>
              <a:srgbClr val="7C898B"/>
            </a:solidFill>
            <a:ln w="25400" cap="sq">
              <a:solidFill>
                <a:srgbClr val="D8E8F8"/>
              </a:solidFill>
              <a:prstDash val="solid"/>
              <a:miter/>
            </a:ln>
          </p:spPr>
          <p:txBody>
            <a:bodyPr/>
            <a:lstStyle/>
            <a:p>
              <a:endParaRPr lang="en-IN"/>
            </a:p>
          </p:txBody>
        </p:sp>
      </p:grpSp>
      <p:grpSp>
        <p:nvGrpSpPr>
          <p:cNvPr id="49" name="Group 49"/>
          <p:cNvGrpSpPr/>
          <p:nvPr/>
        </p:nvGrpSpPr>
        <p:grpSpPr>
          <a:xfrm>
            <a:off x="9418320" y="6711696"/>
            <a:ext cx="2743200" cy="1316736"/>
            <a:chOff x="0" y="0"/>
            <a:chExt cx="3657600" cy="1755648"/>
          </a:xfrm>
        </p:grpSpPr>
        <p:sp>
          <p:nvSpPr>
            <p:cNvPr id="50" name="Freeform 50"/>
            <p:cNvSpPr/>
            <p:nvPr/>
          </p:nvSpPr>
          <p:spPr>
            <a:xfrm>
              <a:off x="0" y="0"/>
              <a:ext cx="3657600" cy="1755648"/>
            </a:xfrm>
            <a:custGeom>
              <a:avLst/>
              <a:gdLst/>
              <a:ahLst/>
              <a:cxnLst/>
              <a:rect l="l" t="t" r="r" b="b"/>
              <a:pathLst>
                <a:path w="3657600" h="1755648">
                  <a:moveTo>
                    <a:pt x="0" y="0"/>
                  </a:moveTo>
                  <a:lnTo>
                    <a:pt x="3657600" y="0"/>
                  </a:lnTo>
                  <a:lnTo>
                    <a:pt x="3657600" y="1755648"/>
                  </a:lnTo>
                  <a:lnTo>
                    <a:pt x="0" y="1755648"/>
                  </a:lnTo>
                  <a:close/>
                </a:path>
              </a:pathLst>
            </a:custGeom>
            <a:blipFill>
              <a:blip r:embed="rId3">
                <a:alphaModFix amt="0"/>
              </a:blip>
              <a:stretch>
                <a:fillRect l="-11585" r="-11585"/>
              </a:stretch>
            </a:blipFill>
          </p:spPr>
          <p:txBody>
            <a:bodyPr/>
            <a:lstStyle/>
            <a:p>
              <a:endParaRPr lang="en-IN"/>
            </a:p>
          </p:txBody>
        </p:sp>
        <p:sp>
          <p:nvSpPr>
            <p:cNvPr id="51" name="TextBox 51"/>
            <p:cNvSpPr txBox="1"/>
            <p:nvPr/>
          </p:nvSpPr>
          <p:spPr>
            <a:xfrm>
              <a:off x="0" y="0"/>
              <a:ext cx="3657600" cy="1755648"/>
            </a:xfrm>
            <a:prstGeom prst="rect">
              <a:avLst/>
            </a:prstGeom>
          </p:spPr>
          <p:txBody>
            <a:bodyPr lIns="0" tIns="0" rIns="0" bIns="0" rtlCol="0" anchor="ctr"/>
            <a:lstStyle/>
            <a:p>
              <a:pPr algn="l">
                <a:lnSpc>
                  <a:spcPts val="3120"/>
                </a:lnSpc>
              </a:pPr>
              <a:r>
                <a:rPr lang="en-US" sz="2600" i="1" spc="130">
                  <a:solidFill>
                    <a:srgbClr val="FFFFFF"/>
                  </a:solidFill>
                  <a:latin typeface="Playfair Display Italics"/>
                  <a:ea typeface="Playfair Display Italics"/>
                  <a:cs typeface="Playfair Display Italics"/>
                  <a:sym typeface="Playfair Display Italics"/>
                </a:rPr>
                <a:t>b</a:t>
              </a:r>
            </a:p>
          </p:txBody>
        </p:sp>
      </p:grpSp>
      <p:grpSp>
        <p:nvGrpSpPr>
          <p:cNvPr id="52" name="Group 52"/>
          <p:cNvGrpSpPr/>
          <p:nvPr/>
        </p:nvGrpSpPr>
        <p:grpSpPr>
          <a:xfrm>
            <a:off x="12252960" y="6711696"/>
            <a:ext cx="5212080" cy="1316736"/>
            <a:chOff x="0" y="0"/>
            <a:chExt cx="6949440" cy="1755648"/>
          </a:xfrm>
        </p:grpSpPr>
        <p:sp>
          <p:nvSpPr>
            <p:cNvPr id="53" name="Freeform 53"/>
            <p:cNvSpPr/>
            <p:nvPr/>
          </p:nvSpPr>
          <p:spPr>
            <a:xfrm>
              <a:off x="0" y="0"/>
              <a:ext cx="6949440" cy="1755648"/>
            </a:xfrm>
            <a:custGeom>
              <a:avLst/>
              <a:gdLst/>
              <a:ahLst/>
              <a:cxnLst/>
              <a:rect l="l" t="t" r="r" b="b"/>
              <a:pathLst>
                <a:path w="6949440" h="1755648">
                  <a:moveTo>
                    <a:pt x="0" y="0"/>
                  </a:moveTo>
                  <a:lnTo>
                    <a:pt x="6949440" y="0"/>
                  </a:lnTo>
                  <a:lnTo>
                    <a:pt x="6949440" y="1755648"/>
                  </a:lnTo>
                  <a:lnTo>
                    <a:pt x="0" y="1755648"/>
                  </a:lnTo>
                  <a:close/>
                </a:path>
              </a:pathLst>
            </a:custGeom>
            <a:blipFill>
              <a:blip r:embed="rId3">
                <a:alphaModFix amt="0"/>
              </a:blip>
              <a:stretch>
                <a:fillRect t="-27128" b="-27128"/>
              </a:stretch>
            </a:blipFill>
          </p:spPr>
          <p:txBody>
            <a:bodyPr/>
            <a:lstStyle/>
            <a:p>
              <a:endParaRPr lang="en-IN"/>
            </a:p>
          </p:txBody>
        </p:sp>
        <p:sp>
          <p:nvSpPr>
            <p:cNvPr id="54" name="TextBox 54"/>
            <p:cNvSpPr txBox="1"/>
            <p:nvPr/>
          </p:nvSpPr>
          <p:spPr>
            <a:xfrm>
              <a:off x="0" y="0"/>
              <a:ext cx="6949440" cy="1755648"/>
            </a:xfrm>
            <a:prstGeom prst="rect">
              <a:avLst/>
            </a:prstGeom>
          </p:spPr>
          <p:txBody>
            <a:bodyPr lIns="0" tIns="0" rIns="0" bIns="0" rtlCol="0" anchor="ctr"/>
            <a:lstStyle/>
            <a:p>
              <a:pPr algn="l">
                <a:lnSpc>
                  <a:spcPts val="2879"/>
                </a:lnSpc>
              </a:pPr>
              <a:r>
                <a:rPr lang="en-US" sz="2400" spc="48">
                  <a:solidFill>
                    <a:srgbClr val="FFFFFF"/>
                  </a:solidFill>
                  <a:latin typeface="Playfair Display"/>
                  <a:ea typeface="Playfair Display"/>
                  <a:cs typeface="Playfair Display"/>
                  <a:sym typeface="Playfair Display"/>
                </a:rPr>
                <a:t>Negative sampling rate constant</a:t>
              </a:r>
            </a:p>
          </p:txBody>
        </p:sp>
      </p:grpSp>
      <p:sp>
        <p:nvSpPr>
          <p:cNvPr id="59" name="TextBox 59"/>
          <p:cNvSpPr txBox="1"/>
          <p:nvPr/>
        </p:nvSpPr>
        <p:spPr>
          <a:xfrm>
            <a:off x="768096" y="8412480"/>
            <a:ext cx="7607808" cy="950976"/>
          </a:xfrm>
          <a:prstGeom prst="rect">
            <a:avLst/>
          </a:prstGeom>
        </p:spPr>
        <p:txBody>
          <a:bodyPr lIns="0" tIns="0" rIns="0" bIns="0" rtlCol="0" anchor="ctr"/>
          <a:lstStyle/>
          <a:p>
            <a:pPr algn="l">
              <a:lnSpc>
                <a:spcPts val="3120"/>
              </a:lnSpc>
            </a:pPr>
            <a:r>
              <a:rPr lang="en-US" sz="2600" i="1" spc="130">
                <a:solidFill>
                  <a:srgbClr val="253439"/>
                </a:solidFill>
                <a:latin typeface="Playfair Display Italics"/>
                <a:ea typeface="Playfair Display Italics"/>
                <a:cs typeface="Playfair Display Italics"/>
                <a:sym typeface="Playfair Display Italics"/>
              </a:rPr>
              <a:t>Z⊤Z  ≈  S_DW</a:t>
            </a:r>
          </a:p>
        </p:txBody>
      </p:sp>
      <p:grpSp>
        <p:nvGrpSpPr>
          <p:cNvPr id="60" name="Group 60"/>
          <p:cNvGrpSpPr/>
          <p:nvPr/>
        </p:nvGrpSpPr>
        <p:grpSpPr>
          <a:xfrm>
            <a:off x="381000" y="8412480"/>
            <a:ext cx="17266920" cy="950976"/>
            <a:chOff x="-11318240" y="0"/>
            <a:chExt cx="23022560" cy="1267968"/>
          </a:xfrm>
        </p:grpSpPr>
        <p:sp>
          <p:nvSpPr>
            <p:cNvPr id="61" name="Freeform 61"/>
            <p:cNvSpPr/>
            <p:nvPr/>
          </p:nvSpPr>
          <p:spPr>
            <a:xfrm>
              <a:off x="0" y="0"/>
              <a:ext cx="11704320" cy="1267968"/>
            </a:xfrm>
            <a:custGeom>
              <a:avLst/>
              <a:gdLst/>
              <a:ahLst/>
              <a:cxnLst/>
              <a:rect l="l" t="t" r="r" b="b"/>
              <a:pathLst>
                <a:path w="11704320" h="1267968">
                  <a:moveTo>
                    <a:pt x="0" y="0"/>
                  </a:moveTo>
                  <a:lnTo>
                    <a:pt x="11704320" y="0"/>
                  </a:lnTo>
                  <a:lnTo>
                    <a:pt x="11704320" y="1267968"/>
                  </a:lnTo>
                  <a:lnTo>
                    <a:pt x="0" y="1267968"/>
                  </a:lnTo>
                  <a:close/>
                </a:path>
              </a:pathLst>
            </a:custGeom>
            <a:blipFill>
              <a:blip r:embed="rId3">
                <a:alphaModFix amt="0"/>
              </a:blip>
              <a:stretch>
                <a:fillRect t="-129861" b="-129861"/>
              </a:stretch>
            </a:blipFill>
          </p:spPr>
          <p:txBody>
            <a:bodyPr/>
            <a:lstStyle/>
            <a:p>
              <a:endParaRPr lang="en-IN"/>
            </a:p>
          </p:txBody>
        </p:sp>
        <p:sp>
          <p:nvSpPr>
            <p:cNvPr id="62" name="TextBox 62"/>
            <p:cNvSpPr txBox="1"/>
            <p:nvPr/>
          </p:nvSpPr>
          <p:spPr>
            <a:xfrm>
              <a:off x="-11318240" y="0"/>
              <a:ext cx="23022560" cy="1267968"/>
            </a:xfrm>
            <a:prstGeom prst="rect">
              <a:avLst/>
            </a:prstGeom>
          </p:spPr>
          <p:txBody>
            <a:bodyPr lIns="0" tIns="0" rIns="0" bIns="0" rtlCol="0" anchor="ctr"/>
            <a:lstStyle/>
            <a:p>
              <a:pPr>
                <a:lnSpc>
                  <a:spcPts val="3120"/>
                </a:lnSpc>
              </a:pPr>
              <a:r>
                <a:rPr lang="en-US" sz="2600" spc="52" dirty="0">
                  <a:solidFill>
                    <a:srgbClr val="FFFFFF"/>
                  </a:solidFill>
                  <a:latin typeface="Playfair Display"/>
                  <a:ea typeface="Playfair Display"/>
                  <a:cs typeface="Playfair Display"/>
                  <a:sym typeface="Playfair Display"/>
                </a:rPr>
                <a:t>DeepWalk implicitly factorizes a random-walk-based similarity matrix, causing nodes that frequently appear together in random walks (often from the same community) to obtain similar embeddings.</a:t>
              </a:r>
            </a:p>
          </p:txBody>
        </p:sp>
      </p:grpSp>
      <p:sp>
        <p:nvSpPr>
          <p:cNvPr id="64" name="Freeform 64"/>
          <p:cNvSpPr/>
          <p:nvPr/>
        </p:nvSpPr>
        <p:spPr>
          <a:xfrm>
            <a:off x="731520" y="9546336"/>
            <a:ext cx="16824960" cy="848868"/>
          </a:xfrm>
          <a:custGeom>
            <a:avLst/>
            <a:gdLst/>
            <a:ahLst/>
            <a:cxnLst/>
            <a:rect l="l" t="t" r="r" b="b"/>
            <a:pathLst>
              <a:path w="22433280" h="1131824">
                <a:moveTo>
                  <a:pt x="0" y="0"/>
                </a:moveTo>
                <a:lnTo>
                  <a:pt x="22433280" y="0"/>
                </a:lnTo>
                <a:lnTo>
                  <a:pt x="22433280" y="1131824"/>
                </a:lnTo>
                <a:lnTo>
                  <a:pt x="0" y="1131824"/>
                </a:lnTo>
                <a:close/>
              </a:path>
            </a:pathLst>
          </a:custGeom>
          <a:blipFill>
            <a:blip r:embed="rId3">
              <a:alphaModFix amt="0"/>
            </a:blip>
            <a:stretch>
              <a:fillRect t="-345269" b="-327136"/>
            </a:stretch>
          </a:blipFill>
        </p:spPr>
        <p:txBody>
          <a:bodyPr/>
          <a:lstStyle/>
          <a:p>
            <a:endParaRPr lang="en-IN"/>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253439"/>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0" y="0"/>
              <a:ext cx="24417910" cy="1789557"/>
            </a:xfrm>
            <a:custGeom>
              <a:avLst/>
              <a:gdLst/>
              <a:ahLst/>
              <a:cxnLst/>
              <a:rect l="l" t="t" r="r" b="b"/>
              <a:pathLst>
                <a:path w="24417910" h="1789557">
                  <a:moveTo>
                    <a:pt x="0" y="0"/>
                  </a:moveTo>
                  <a:lnTo>
                    <a:pt x="24417910" y="0"/>
                  </a:lnTo>
                  <a:lnTo>
                    <a:pt x="24417910" y="1789557"/>
                  </a:lnTo>
                  <a:lnTo>
                    <a:pt x="0" y="1789557"/>
                  </a:lnTo>
                  <a:close/>
                </a:path>
              </a:pathLst>
            </a:custGeom>
            <a:solidFill>
              <a:srgbClr val="FFFFFF"/>
            </a:solidFill>
            <a:ln w="25400" cap="sq">
              <a:solidFill>
                <a:srgbClr val="1A3461"/>
              </a:solidFill>
              <a:prstDash val="solid"/>
              <a:miter/>
            </a:ln>
          </p:spPr>
          <p:txBody>
            <a:bodyPr/>
            <a:lstStyle/>
            <a:p>
              <a:endParaRPr lang="en-IN"/>
            </a:p>
          </p:txBody>
        </p:sp>
      </p:grpSp>
      <p:grpSp>
        <p:nvGrpSpPr>
          <p:cNvPr id="4" name="Group 4"/>
          <p:cNvGrpSpPr/>
          <p:nvPr/>
        </p:nvGrpSpPr>
        <p:grpSpPr>
          <a:xfrm>
            <a:off x="731520" y="0"/>
            <a:ext cx="16824960" cy="1316736"/>
            <a:chOff x="0" y="0"/>
            <a:chExt cx="22433280" cy="1755648"/>
          </a:xfrm>
        </p:grpSpPr>
        <p:sp>
          <p:nvSpPr>
            <p:cNvPr id="5" name="Freeform 5"/>
            <p:cNvSpPr/>
            <p:nvPr/>
          </p:nvSpPr>
          <p:spPr>
            <a:xfrm>
              <a:off x="0" y="0"/>
              <a:ext cx="22433280" cy="1755648"/>
            </a:xfrm>
            <a:custGeom>
              <a:avLst/>
              <a:gdLst/>
              <a:ahLst/>
              <a:cxnLst/>
              <a:rect l="l" t="t" r="r" b="b"/>
              <a:pathLst>
                <a:path w="22433280" h="1755648">
                  <a:moveTo>
                    <a:pt x="0" y="0"/>
                  </a:moveTo>
                  <a:lnTo>
                    <a:pt x="22433280" y="0"/>
                  </a:lnTo>
                  <a:lnTo>
                    <a:pt x="22433280" y="1755648"/>
                  </a:lnTo>
                  <a:lnTo>
                    <a:pt x="0" y="1755648"/>
                  </a:lnTo>
                  <a:close/>
                </a:path>
              </a:pathLst>
            </a:custGeom>
            <a:blipFill>
              <a:blip r:embed="rId3">
                <a:alphaModFix amt="0"/>
              </a:blip>
              <a:stretch>
                <a:fillRect t="-198975" b="-198975"/>
              </a:stretch>
            </a:blipFill>
          </p:spPr>
          <p:txBody>
            <a:bodyPr/>
            <a:lstStyle/>
            <a:p>
              <a:endParaRPr lang="en-IN"/>
            </a:p>
          </p:txBody>
        </p:sp>
        <p:sp>
          <p:nvSpPr>
            <p:cNvPr id="6" name="TextBox 6"/>
            <p:cNvSpPr txBox="1"/>
            <p:nvPr/>
          </p:nvSpPr>
          <p:spPr>
            <a:xfrm>
              <a:off x="0" y="-9525"/>
              <a:ext cx="22433280" cy="1765173"/>
            </a:xfrm>
            <a:prstGeom prst="rect">
              <a:avLst/>
            </a:prstGeom>
          </p:spPr>
          <p:txBody>
            <a:bodyPr lIns="0" tIns="0" rIns="0" bIns="0" rtlCol="0" anchor="ctr"/>
            <a:lstStyle/>
            <a:p>
              <a:pPr algn="l">
                <a:lnSpc>
                  <a:spcPts val="4800"/>
                </a:lnSpc>
              </a:pPr>
              <a:r>
                <a:rPr lang="en-US" sz="4000" spc="560" dirty="0">
                  <a:latin typeface="Times New Roman" panose="02020603050405020304" pitchFamily="18" charset="0"/>
                  <a:ea typeface="Hammersmith One"/>
                  <a:cs typeface="Times New Roman" panose="02020603050405020304" pitchFamily="18" charset="0"/>
                  <a:sym typeface="Hammersmith One"/>
                </a:rPr>
                <a:t>Why not just Factorize S_DW Directly?</a:t>
              </a:r>
            </a:p>
          </p:txBody>
        </p:sp>
      </p:grpSp>
      <p:grpSp>
        <p:nvGrpSpPr>
          <p:cNvPr id="10" name="Group 10"/>
          <p:cNvGrpSpPr/>
          <p:nvPr/>
        </p:nvGrpSpPr>
        <p:grpSpPr>
          <a:xfrm>
            <a:off x="731520" y="1499616"/>
            <a:ext cx="16824960" cy="694944"/>
            <a:chOff x="0" y="0"/>
            <a:chExt cx="22433280" cy="926592"/>
          </a:xfrm>
        </p:grpSpPr>
        <p:sp>
          <p:nvSpPr>
            <p:cNvPr id="11" name="Freeform 11"/>
            <p:cNvSpPr/>
            <p:nvPr/>
          </p:nvSpPr>
          <p:spPr>
            <a:xfrm>
              <a:off x="0" y="0"/>
              <a:ext cx="22433280" cy="926592"/>
            </a:xfrm>
            <a:custGeom>
              <a:avLst/>
              <a:gdLst/>
              <a:ahLst/>
              <a:cxnLst/>
              <a:rect l="l" t="t" r="r" b="b"/>
              <a:pathLst>
                <a:path w="22433280" h="926592">
                  <a:moveTo>
                    <a:pt x="0" y="0"/>
                  </a:moveTo>
                  <a:lnTo>
                    <a:pt x="22433280" y="0"/>
                  </a:lnTo>
                  <a:lnTo>
                    <a:pt x="22433280" y="926592"/>
                  </a:lnTo>
                  <a:lnTo>
                    <a:pt x="0" y="926592"/>
                  </a:lnTo>
                  <a:close/>
                </a:path>
              </a:pathLst>
            </a:custGeom>
            <a:blipFill>
              <a:blip r:embed="rId3">
                <a:alphaModFix amt="0"/>
              </a:blip>
              <a:stretch>
                <a:fillRect t="-421743" b="-421743"/>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12" name="TextBox 12"/>
            <p:cNvSpPr txBox="1"/>
            <p:nvPr/>
          </p:nvSpPr>
          <p:spPr>
            <a:xfrm>
              <a:off x="0" y="9525"/>
              <a:ext cx="22433280" cy="917067"/>
            </a:xfrm>
            <a:prstGeom prst="rect">
              <a:avLst/>
            </a:prstGeom>
          </p:spPr>
          <p:txBody>
            <a:bodyPr lIns="0" tIns="0" rIns="0" bIns="0" rtlCol="0" anchor="ctr"/>
            <a:lstStyle/>
            <a:p>
              <a:pPr algn="l">
                <a:lnSpc>
                  <a:spcPts val="3359"/>
                </a:lnSpc>
              </a:pPr>
              <a:r>
                <a:rPr lang="en-US" sz="2799" spc="55">
                  <a:solidFill>
                    <a:srgbClr val="B29E84"/>
                  </a:solidFill>
                  <a:latin typeface="Times New Roman" panose="02020603050405020304" pitchFamily="18" charset="0"/>
                  <a:ea typeface="Playfair Display"/>
                  <a:cs typeface="Times New Roman" panose="02020603050405020304" pitchFamily="18" charset="0"/>
                  <a:sym typeface="Playfair Display"/>
                </a:rPr>
                <a:t>If we can compute S_DW analytically, why run random walks at all?</a:t>
              </a:r>
            </a:p>
          </p:txBody>
        </p:sp>
      </p:grpSp>
      <p:grpSp>
        <p:nvGrpSpPr>
          <p:cNvPr id="13" name="Group 13"/>
          <p:cNvGrpSpPr/>
          <p:nvPr/>
        </p:nvGrpSpPr>
        <p:grpSpPr>
          <a:xfrm>
            <a:off x="535943" y="2456183"/>
            <a:ext cx="7998457" cy="5582917"/>
            <a:chOff x="0" y="0"/>
            <a:chExt cx="10762831" cy="9177871"/>
          </a:xfrm>
        </p:grpSpPr>
        <p:sp>
          <p:nvSpPr>
            <p:cNvPr id="14" name="Freeform 14"/>
            <p:cNvSpPr/>
            <p:nvPr/>
          </p:nvSpPr>
          <p:spPr>
            <a:xfrm>
              <a:off x="0" y="0"/>
              <a:ext cx="10762742" cy="9177783"/>
            </a:xfrm>
            <a:custGeom>
              <a:avLst/>
              <a:gdLst/>
              <a:ahLst/>
              <a:cxnLst/>
              <a:rect l="l" t="t" r="r" b="b"/>
              <a:pathLst>
                <a:path w="10762742" h="9177783">
                  <a:moveTo>
                    <a:pt x="0" y="244729"/>
                  </a:moveTo>
                  <a:cubicBezTo>
                    <a:pt x="0" y="109601"/>
                    <a:pt x="109601" y="0"/>
                    <a:pt x="244729" y="0"/>
                  </a:cubicBezTo>
                  <a:lnTo>
                    <a:pt x="10518013" y="0"/>
                  </a:lnTo>
                  <a:cubicBezTo>
                    <a:pt x="10653141" y="0"/>
                    <a:pt x="10762742" y="109601"/>
                    <a:pt x="10762742" y="244729"/>
                  </a:cubicBezTo>
                  <a:lnTo>
                    <a:pt x="10762742" y="8933053"/>
                  </a:lnTo>
                  <a:cubicBezTo>
                    <a:pt x="10762742" y="9068181"/>
                    <a:pt x="10653141" y="9177782"/>
                    <a:pt x="10518013" y="9177782"/>
                  </a:cubicBezTo>
                  <a:lnTo>
                    <a:pt x="244729" y="9177782"/>
                  </a:lnTo>
                  <a:cubicBezTo>
                    <a:pt x="109601" y="9177909"/>
                    <a:pt x="0" y="9068308"/>
                    <a:pt x="0" y="8933053"/>
                  </a:cubicBezTo>
                  <a:close/>
                </a:path>
              </a:pathLst>
            </a:custGeom>
            <a:solidFill>
              <a:srgbClr val="FFFFFF"/>
            </a:solidFill>
            <a:ln w="25400" cap="sq">
              <a:solidFill>
                <a:srgbClr val="D8E8F8"/>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15" name="Group 15"/>
          <p:cNvGrpSpPr/>
          <p:nvPr/>
        </p:nvGrpSpPr>
        <p:grpSpPr>
          <a:xfrm>
            <a:off x="914400" y="2560320"/>
            <a:ext cx="7315200" cy="694944"/>
            <a:chOff x="0" y="0"/>
            <a:chExt cx="9753600" cy="926592"/>
          </a:xfrm>
        </p:grpSpPr>
        <p:sp>
          <p:nvSpPr>
            <p:cNvPr id="16" name="Freeform 16"/>
            <p:cNvSpPr/>
            <p:nvPr/>
          </p:nvSpPr>
          <p:spPr>
            <a:xfrm>
              <a:off x="0" y="0"/>
              <a:ext cx="9753600" cy="926592"/>
            </a:xfrm>
            <a:custGeom>
              <a:avLst/>
              <a:gdLst/>
              <a:ahLst/>
              <a:cxnLst/>
              <a:rect l="l" t="t" r="r" b="b"/>
              <a:pathLst>
                <a:path w="9753600" h="926592">
                  <a:moveTo>
                    <a:pt x="0" y="0"/>
                  </a:moveTo>
                  <a:lnTo>
                    <a:pt x="9753600" y="0"/>
                  </a:lnTo>
                  <a:lnTo>
                    <a:pt x="9753600" y="926592"/>
                  </a:lnTo>
                  <a:lnTo>
                    <a:pt x="0" y="926592"/>
                  </a:lnTo>
                  <a:close/>
                </a:path>
              </a:pathLst>
            </a:custGeom>
            <a:blipFill>
              <a:blip r:embed="rId3">
                <a:alphaModFix amt="0"/>
              </a:blip>
              <a:stretch>
                <a:fillRect t="-155105" b="-155105"/>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17" name="TextBox 17"/>
            <p:cNvSpPr txBox="1"/>
            <p:nvPr/>
          </p:nvSpPr>
          <p:spPr>
            <a:xfrm>
              <a:off x="0" y="9525"/>
              <a:ext cx="9753600" cy="917067"/>
            </a:xfrm>
            <a:prstGeom prst="rect">
              <a:avLst/>
            </a:prstGeom>
          </p:spPr>
          <p:txBody>
            <a:bodyPr lIns="0" tIns="0" rIns="0" bIns="0" rtlCol="0" anchor="ctr"/>
            <a:lstStyle/>
            <a:p>
              <a:pPr algn="l">
                <a:lnSpc>
                  <a:spcPts val="3359"/>
                </a:lnSpc>
              </a:pPr>
              <a:r>
                <a:rPr lang="en-US" sz="2799" i="1" spc="140">
                  <a:solidFill>
                    <a:srgbClr val="253439"/>
                  </a:solidFill>
                  <a:latin typeface="Times New Roman" panose="02020603050405020304" pitchFamily="18" charset="0"/>
                  <a:ea typeface="Playfair Display Italics"/>
                  <a:cs typeface="Times New Roman" panose="02020603050405020304" pitchFamily="18" charset="0"/>
                  <a:sym typeface="Playfair Display Italics"/>
                </a:rPr>
                <a:t>Direct Factorization</a:t>
              </a:r>
            </a:p>
          </p:txBody>
        </p:sp>
      </p:grpSp>
      <p:grpSp>
        <p:nvGrpSpPr>
          <p:cNvPr id="18" name="Group 18"/>
          <p:cNvGrpSpPr/>
          <p:nvPr/>
        </p:nvGrpSpPr>
        <p:grpSpPr>
          <a:xfrm>
            <a:off x="914400" y="3383280"/>
            <a:ext cx="7315200" cy="5669280"/>
            <a:chOff x="0" y="0"/>
            <a:chExt cx="9753600" cy="7559040"/>
          </a:xfrm>
        </p:grpSpPr>
        <p:sp>
          <p:nvSpPr>
            <p:cNvPr id="19" name="Freeform 19"/>
            <p:cNvSpPr/>
            <p:nvPr/>
          </p:nvSpPr>
          <p:spPr>
            <a:xfrm>
              <a:off x="0" y="0"/>
              <a:ext cx="9753600" cy="7559040"/>
            </a:xfrm>
            <a:custGeom>
              <a:avLst/>
              <a:gdLst/>
              <a:ahLst/>
              <a:cxnLst/>
              <a:rect l="l" t="t" r="r" b="b"/>
              <a:pathLst>
                <a:path w="9753600" h="7559040">
                  <a:moveTo>
                    <a:pt x="0" y="0"/>
                  </a:moveTo>
                  <a:lnTo>
                    <a:pt x="9753600" y="0"/>
                  </a:lnTo>
                  <a:lnTo>
                    <a:pt x="9753600" y="7559040"/>
                  </a:lnTo>
                  <a:lnTo>
                    <a:pt x="0" y="7559040"/>
                  </a:lnTo>
                  <a:close/>
                </a:path>
              </a:pathLst>
            </a:custGeom>
            <a:blipFill>
              <a:blip r:embed="rId3">
                <a:alphaModFix amt="0"/>
              </a:blip>
              <a:stretch>
                <a:fillRect l="-49435" r="-49435"/>
              </a:stretch>
            </a:blipFill>
          </p:spPr>
          <p:txBody>
            <a:bodyPr/>
            <a:lstStyle/>
            <a:p>
              <a:endParaRPr lang="en-IN" dirty="0">
                <a:latin typeface="Times New Roman" panose="02020603050405020304" pitchFamily="18" charset="0"/>
                <a:cs typeface="Times New Roman" panose="02020603050405020304" pitchFamily="18" charset="0"/>
              </a:endParaRPr>
            </a:p>
          </p:txBody>
        </p:sp>
        <p:sp>
          <p:nvSpPr>
            <p:cNvPr id="20" name="TextBox 20"/>
            <p:cNvSpPr txBox="1"/>
            <p:nvPr/>
          </p:nvSpPr>
          <p:spPr>
            <a:xfrm>
              <a:off x="0" y="0"/>
              <a:ext cx="8737600" cy="5791200"/>
            </a:xfrm>
            <a:prstGeom prst="rect">
              <a:avLst/>
            </a:prstGeom>
          </p:spPr>
          <p:txBody>
            <a:bodyPr lIns="0" tIns="0" rIns="0" bIns="0" rtlCol="0" anchor="ctr"/>
            <a:lstStyle/>
            <a:p>
              <a:pPr algn="l">
                <a:lnSpc>
                  <a:spcPts val="3120"/>
                </a:lnSpc>
              </a:pPr>
              <a:r>
                <a:rPr lang="en-US" sz="2600" i="1" spc="130" dirty="0">
                  <a:latin typeface="Times New Roman" panose="02020603050405020304" pitchFamily="18" charset="0"/>
                  <a:ea typeface="Playfair Display Italics"/>
                  <a:cs typeface="Times New Roman" panose="02020603050405020304" pitchFamily="18" charset="0"/>
                  <a:sym typeface="Playfair Display Italics"/>
                </a:rPr>
                <a:t>Pros:</a:t>
              </a:r>
            </a:p>
            <a:p>
              <a:pPr algn="l">
                <a:lnSpc>
                  <a:spcPts val="3120"/>
                </a:lnSpc>
              </a:pPr>
              <a:endParaRPr lang="en-US" sz="2600" i="1" spc="130" dirty="0">
                <a:latin typeface="Times New Roman" panose="02020603050405020304" pitchFamily="18" charset="0"/>
                <a:ea typeface="Playfair Display Italics"/>
                <a:cs typeface="Times New Roman" panose="02020603050405020304" pitchFamily="18" charset="0"/>
                <a:sym typeface="Playfair Display Italics"/>
              </a:endParaRPr>
            </a:p>
            <a:p>
              <a:pPr algn="l">
                <a:lnSpc>
                  <a:spcPts val="3120"/>
                </a:lnSpc>
              </a:pPr>
              <a:r>
                <a:rPr lang="en-US" sz="2600" spc="52" dirty="0">
                  <a:latin typeface="Times New Roman" panose="02020603050405020304" pitchFamily="18" charset="0"/>
                  <a:ea typeface="Playfair Display"/>
                  <a:cs typeface="Times New Roman" panose="02020603050405020304" pitchFamily="18" charset="0"/>
                  <a:sym typeface="Playfair Display"/>
                </a:rPr>
                <a:t>Mathematically exact solution</a:t>
              </a:r>
            </a:p>
            <a:p>
              <a:pPr algn="l">
                <a:lnSpc>
                  <a:spcPts val="3120"/>
                </a:lnSpc>
              </a:pPr>
              <a:r>
                <a:rPr lang="en-US" sz="2600" spc="52" dirty="0">
                  <a:latin typeface="Times New Roman" panose="02020603050405020304" pitchFamily="18" charset="0"/>
                  <a:ea typeface="Playfair Display"/>
                  <a:cs typeface="Times New Roman" panose="02020603050405020304" pitchFamily="18" charset="0"/>
                  <a:sym typeface="Playfair Display"/>
                </a:rPr>
                <a:t>Deterministic — no randomness</a:t>
              </a:r>
            </a:p>
            <a:p>
              <a:pPr algn="l">
                <a:lnSpc>
                  <a:spcPts val="3120"/>
                </a:lnSpc>
              </a:pPr>
              <a:endParaRPr lang="en-US" sz="2600" spc="52" dirty="0">
                <a:latin typeface="Times New Roman" panose="02020603050405020304" pitchFamily="18" charset="0"/>
                <a:ea typeface="Playfair Display"/>
                <a:cs typeface="Times New Roman" panose="02020603050405020304" pitchFamily="18" charset="0"/>
                <a:sym typeface="Playfair Display"/>
              </a:endParaRPr>
            </a:p>
            <a:p>
              <a:pPr algn="l">
                <a:lnSpc>
                  <a:spcPts val="3120"/>
                </a:lnSpc>
              </a:pPr>
              <a:r>
                <a:rPr lang="en-US" sz="2600" i="1" spc="130" dirty="0">
                  <a:latin typeface="Times New Roman" panose="02020603050405020304" pitchFamily="18" charset="0"/>
                  <a:ea typeface="Playfair Display Italics"/>
                  <a:cs typeface="Times New Roman" panose="02020603050405020304" pitchFamily="18" charset="0"/>
                  <a:sym typeface="Playfair Display Italics"/>
                </a:rPr>
                <a:t>Cons:</a:t>
              </a:r>
            </a:p>
            <a:p>
              <a:pPr algn="l">
                <a:lnSpc>
                  <a:spcPts val="3120"/>
                </a:lnSpc>
              </a:pPr>
              <a:endParaRPr lang="en-US" sz="2600" i="1" spc="130" dirty="0">
                <a:latin typeface="Times New Roman" panose="02020603050405020304" pitchFamily="18" charset="0"/>
                <a:ea typeface="Playfair Display Italics"/>
                <a:cs typeface="Times New Roman" panose="02020603050405020304" pitchFamily="18" charset="0"/>
                <a:sym typeface="Playfair Display Italics"/>
              </a:endParaRPr>
            </a:p>
            <a:p>
              <a:pPr algn="l">
                <a:lnSpc>
                  <a:spcPts val="3120"/>
                </a:lnSpc>
              </a:pPr>
              <a:r>
                <a:rPr lang="en-US" sz="2600" spc="52" dirty="0">
                  <a:latin typeface="Times New Roman" panose="02020603050405020304" pitchFamily="18" charset="0"/>
                  <a:ea typeface="Playfair Display"/>
                  <a:cs typeface="Times New Roman" panose="02020603050405020304" pitchFamily="18" charset="0"/>
                  <a:sym typeface="Playfair Display"/>
                </a:rPr>
                <a:t>Must compute and store |V|×|V| matrix</a:t>
              </a:r>
            </a:p>
            <a:p>
              <a:pPr algn="l">
                <a:lnSpc>
                  <a:spcPts val="3120"/>
                </a:lnSpc>
              </a:pPr>
              <a:r>
                <a:rPr lang="en-US" sz="2600" spc="52" dirty="0">
                  <a:latin typeface="Times New Roman" panose="02020603050405020304" pitchFamily="18" charset="0"/>
                  <a:ea typeface="Playfair Display"/>
                  <a:cs typeface="Times New Roman" panose="02020603050405020304" pitchFamily="18" charset="0"/>
                  <a:sym typeface="Playfair Display"/>
                </a:rPr>
                <a:t>1 million nodes → 10¹² entries</a:t>
              </a:r>
            </a:p>
            <a:p>
              <a:pPr algn="l">
                <a:lnSpc>
                  <a:spcPts val="3120"/>
                </a:lnSpc>
              </a:pPr>
              <a:r>
                <a:rPr lang="en-US" sz="2600" spc="52" dirty="0">
                  <a:latin typeface="Times New Roman" panose="02020603050405020304" pitchFamily="18" charset="0"/>
                  <a:ea typeface="Playfair Display"/>
                  <a:cs typeface="Times New Roman" panose="02020603050405020304" pitchFamily="18" charset="0"/>
                  <a:sym typeface="Playfair Display"/>
                </a:rPr>
                <a:t>Completely infeasible in memory</a:t>
              </a:r>
            </a:p>
          </p:txBody>
        </p:sp>
      </p:grpSp>
      <p:grpSp>
        <p:nvGrpSpPr>
          <p:cNvPr id="21" name="Group 21"/>
          <p:cNvGrpSpPr/>
          <p:nvPr/>
        </p:nvGrpSpPr>
        <p:grpSpPr>
          <a:xfrm>
            <a:off x="9131303" y="2456183"/>
            <a:ext cx="8242297" cy="5582863"/>
            <a:chOff x="0" y="0"/>
            <a:chExt cx="11250511" cy="9177871"/>
          </a:xfrm>
        </p:grpSpPr>
        <p:sp>
          <p:nvSpPr>
            <p:cNvPr id="22" name="Freeform 22"/>
            <p:cNvSpPr/>
            <p:nvPr/>
          </p:nvSpPr>
          <p:spPr>
            <a:xfrm>
              <a:off x="0" y="0"/>
              <a:ext cx="11250423" cy="9177783"/>
            </a:xfrm>
            <a:custGeom>
              <a:avLst/>
              <a:gdLst/>
              <a:ahLst/>
              <a:cxnLst/>
              <a:rect l="l" t="t" r="r" b="b"/>
              <a:pathLst>
                <a:path w="11250423" h="9177783">
                  <a:moveTo>
                    <a:pt x="0" y="244729"/>
                  </a:moveTo>
                  <a:cubicBezTo>
                    <a:pt x="0" y="109601"/>
                    <a:pt x="109601" y="0"/>
                    <a:pt x="244729" y="0"/>
                  </a:cubicBezTo>
                  <a:lnTo>
                    <a:pt x="11005693" y="0"/>
                  </a:lnTo>
                  <a:cubicBezTo>
                    <a:pt x="11140822" y="0"/>
                    <a:pt x="11250423" y="109601"/>
                    <a:pt x="11250423" y="244729"/>
                  </a:cubicBezTo>
                  <a:lnTo>
                    <a:pt x="11250423" y="8933053"/>
                  </a:lnTo>
                  <a:cubicBezTo>
                    <a:pt x="11250423" y="9068181"/>
                    <a:pt x="11140822" y="9177782"/>
                    <a:pt x="11005693" y="9177782"/>
                  </a:cubicBezTo>
                  <a:lnTo>
                    <a:pt x="244729" y="9177782"/>
                  </a:lnTo>
                  <a:cubicBezTo>
                    <a:pt x="109601" y="9177909"/>
                    <a:pt x="0" y="9068308"/>
                    <a:pt x="0" y="8933053"/>
                  </a:cubicBezTo>
                  <a:close/>
                </a:path>
              </a:pathLst>
            </a:custGeom>
            <a:solidFill>
              <a:srgbClr val="FFFFFF"/>
            </a:solidFill>
            <a:ln w="25400" cap="sq">
              <a:solidFill>
                <a:srgbClr val="D8E8F8"/>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23" name="Group 23"/>
          <p:cNvGrpSpPr/>
          <p:nvPr/>
        </p:nvGrpSpPr>
        <p:grpSpPr>
          <a:xfrm>
            <a:off x="9509760" y="2560320"/>
            <a:ext cx="7680960" cy="694944"/>
            <a:chOff x="0" y="0"/>
            <a:chExt cx="10241280" cy="926592"/>
          </a:xfrm>
        </p:grpSpPr>
        <p:sp>
          <p:nvSpPr>
            <p:cNvPr id="24" name="Freeform 24"/>
            <p:cNvSpPr/>
            <p:nvPr/>
          </p:nvSpPr>
          <p:spPr>
            <a:xfrm>
              <a:off x="0" y="0"/>
              <a:ext cx="10241280" cy="926592"/>
            </a:xfrm>
            <a:custGeom>
              <a:avLst/>
              <a:gdLst/>
              <a:ahLst/>
              <a:cxnLst/>
              <a:rect l="l" t="t" r="r" b="b"/>
              <a:pathLst>
                <a:path w="10241280" h="926592">
                  <a:moveTo>
                    <a:pt x="0" y="0"/>
                  </a:moveTo>
                  <a:lnTo>
                    <a:pt x="10241280" y="0"/>
                  </a:lnTo>
                  <a:lnTo>
                    <a:pt x="10241280" y="926592"/>
                  </a:lnTo>
                  <a:lnTo>
                    <a:pt x="0" y="926592"/>
                  </a:lnTo>
                  <a:close/>
                </a:path>
              </a:pathLst>
            </a:custGeom>
            <a:blipFill>
              <a:blip r:embed="rId3">
                <a:alphaModFix amt="0"/>
              </a:blip>
              <a:stretch>
                <a:fillRect t="-165360" b="-165360"/>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25" name="TextBox 25"/>
            <p:cNvSpPr txBox="1"/>
            <p:nvPr/>
          </p:nvSpPr>
          <p:spPr>
            <a:xfrm>
              <a:off x="0" y="9525"/>
              <a:ext cx="10241280" cy="917067"/>
            </a:xfrm>
            <a:prstGeom prst="rect">
              <a:avLst/>
            </a:prstGeom>
          </p:spPr>
          <p:txBody>
            <a:bodyPr lIns="0" tIns="0" rIns="0" bIns="0" rtlCol="0" anchor="ctr"/>
            <a:lstStyle/>
            <a:p>
              <a:pPr algn="l">
                <a:lnSpc>
                  <a:spcPts val="3359"/>
                </a:lnSpc>
              </a:pPr>
              <a:r>
                <a:rPr lang="en-US" sz="2799" i="1" spc="140">
                  <a:solidFill>
                    <a:srgbClr val="253439"/>
                  </a:solidFill>
                  <a:latin typeface="Times New Roman" panose="02020603050405020304" pitchFamily="18" charset="0"/>
                  <a:ea typeface="Playfair Display Italics"/>
                  <a:cs typeface="Times New Roman" panose="02020603050405020304" pitchFamily="18" charset="0"/>
                  <a:sym typeface="Playfair Display Italics"/>
                </a:rPr>
                <a:t>DeepWalk / Random Walks</a:t>
              </a:r>
            </a:p>
          </p:txBody>
        </p:sp>
      </p:grpSp>
      <p:grpSp>
        <p:nvGrpSpPr>
          <p:cNvPr id="26" name="Group 26"/>
          <p:cNvGrpSpPr/>
          <p:nvPr/>
        </p:nvGrpSpPr>
        <p:grpSpPr>
          <a:xfrm>
            <a:off x="9509760" y="3383280"/>
            <a:ext cx="7680960" cy="5669280"/>
            <a:chOff x="0" y="0"/>
            <a:chExt cx="10241280" cy="7559040"/>
          </a:xfrm>
        </p:grpSpPr>
        <p:sp>
          <p:nvSpPr>
            <p:cNvPr id="27" name="Freeform 27"/>
            <p:cNvSpPr/>
            <p:nvPr/>
          </p:nvSpPr>
          <p:spPr>
            <a:xfrm>
              <a:off x="0" y="0"/>
              <a:ext cx="10241280" cy="7559040"/>
            </a:xfrm>
            <a:custGeom>
              <a:avLst/>
              <a:gdLst/>
              <a:ahLst/>
              <a:cxnLst/>
              <a:rect l="l" t="t" r="r" b="b"/>
              <a:pathLst>
                <a:path w="10241280" h="7559040">
                  <a:moveTo>
                    <a:pt x="0" y="0"/>
                  </a:moveTo>
                  <a:lnTo>
                    <a:pt x="10241280" y="0"/>
                  </a:lnTo>
                  <a:lnTo>
                    <a:pt x="10241280" y="7559040"/>
                  </a:lnTo>
                  <a:lnTo>
                    <a:pt x="0" y="7559040"/>
                  </a:lnTo>
                  <a:close/>
                </a:path>
              </a:pathLst>
            </a:custGeom>
            <a:blipFill>
              <a:blip r:embed="rId3">
                <a:alphaModFix amt="0"/>
              </a:blip>
              <a:stretch>
                <a:fillRect l="-44700" r="-44700"/>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28" name="TextBox 28"/>
            <p:cNvSpPr txBox="1"/>
            <p:nvPr/>
          </p:nvSpPr>
          <p:spPr>
            <a:xfrm>
              <a:off x="0" y="0"/>
              <a:ext cx="9513151" cy="5930049"/>
            </a:xfrm>
            <a:prstGeom prst="rect">
              <a:avLst/>
            </a:prstGeom>
          </p:spPr>
          <p:txBody>
            <a:bodyPr lIns="0" tIns="0" rIns="0" bIns="0" rtlCol="0" anchor="ctr"/>
            <a:lstStyle/>
            <a:p>
              <a:pPr algn="l">
                <a:lnSpc>
                  <a:spcPts val="3120"/>
                </a:lnSpc>
              </a:pPr>
              <a:r>
                <a:rPr lang="en-US" sz="2600" i="1" spc="130" dirty="0">
                  <a:latin typeface="Times New Roman" panose="02020603050405020304" pitchFamily="18" charset="0"/>
                  <a:ea typeface="Playfair Display Italics"/>
                  <a:cs typeface="Times New Roman" panose="02020603050405020304" pitchFamily="18" charset="0"/>
                  <a:sym typeface="Playfair Display Italics"/>
                </a:rPr>
                <a:t>Pros:</a:t>
              </a:r>
            </a:p>
            <a:p>
              <a:pPr algn="l">
                <a:lnSpc>
                  <a:spcPts val="3120"/>
                </a:lnSpc>
              </a:pPr>
              <a:endParaRPr lang="en-US" sz="2600" i="1" spc="130" dirty="0">
                <a:latin typeface="Times New Roman" panose="02020603050405020304" pitchFamily="18" charset="0"/>
                <a:ea typeface="Playfair Display Italics"/>
                <a:cs typeface="Times New Roman" panose="02020603050405020304" pitchFamily="18" charset="0"/>
                <a:sym typeface="Playfair Display Italics"/>
              </a:endParaRPr>
            </a:p>
            <a:p>
              <a:pPr algn="l">
                <a:lnSpc>
                  <a:spcPts val="3120"/>
                </a:lnSpc>
              </a:pPr>
              <a:r>
                <a:rPr lang="en-US" sz="2600" spc="52" dirty="0">
                  <a:latin typeface="Times New Roman" panose="02020603050405020304" pitchFamily="18" charset="0"/>
                  <a:ea typeface="Playfair Display"/>
                  <a:cs typeface="Times New Roman" panose="02020603050405020304" pitchFamily="18" charset="0"/>
                  <a:sym typeface="Playfair Display"/>
                </a:rPr>
                <a:t>Never builds full |V|×|V| matrix</a:t>
              </a:r>
            </a:p>
            <a:p>
              <a:pPr algn="l">
                <a:lnSpc>
                  <a:spcPts val="3120"/>
                </a:lnSpc>
              </a:pPr>
              <a:r>
                <a:rPr lang="en-US" sz="2600" spc="52" dirty="0">
                  <a:latin typeface="Times New Roman" panose="02020603050405020304" pitchFamily="18" charset="0"/>
                  <a:ea typeface="Playfair Display"/>
                  <a:cs typeface="Times New Roman" panose="02020603050405020304" pitchFamily="18" charset="0"/>
                  <a:sym typeface="Playfair Display"/>
                </a:rPr>
                <a:t>Updates one embedding row at a time</a:t>
              </a:r>
            </a:p>
            <a:p>
              <a:pPr algn="l">
                <a:lnSpc>
                  <a:spcPts val="3120"/>
                </a:lnSpc>
              </a:pPr>
              <a:r>
                <a:rPr lang="en-US" sz="2600" spc="52" dirty="0">
                  <a:latin typeface="Times New Roman" panose="02020603050405020304" pitchFamily="18" charset="0"/>
                  <a:ea typeface="Playfair Display"/>
                  <a:cs typeface="Times New Roman" panose="02020603050405020304" pitchFamily="18" charset="0"/>
                  <a:sym typeface="Playfair Display"/>
                </a:rPr>
                <a:t>Scales to millions of nodes</a:t>
              </a:r>
            </a:p>
            <a:p>
              <a:pPr algn="l">
                <a:lnSpc>
                  <a:spcPts val="3120"/>
                </a:lnSpc>
              </a:pPr>
              <a:endParaRPr lang="en-US" sz="2600" spc="52" dirty="0">
                <a:latin typeface="Times New Roman" panose="02020603050405020304" pitchFamily="18" charset="0"/>
                <a:ea typeface="Playfair Display"/>
                <a:cs typeface="Times New Roman" panose="02020603050405020304" pitchFamily="18" charset="0"/>
                <a:sym typeface="Playfair Display"/>
              </a:endParaRPr>
            </a:p>
            <a:p>
              <a:pPr algn="l">
                <a:lnSpc>
                  <a:spcPts val="3120"/>
                </a:lnSpc>
              </a:pPr>
              <a:r>
                <a:rPr lang="en-US" sz="2600" i="1" spc="130" dirty="0">
                  <a:latin typeface="Times New Roman" panose="02020603050405020304" pitchFamily="18" charset="0"/>
                  <a:ea typeface="Playfair Display Italics"/>
                  <a:cs typeface="Times New Roman" panose="02020603050405020304" pitchFamily="18" charset="0"/>
                  <a:sym typeface="Playfair Display Italics"/>
                </a:rPr>
                <a:t>The Insight:</a:t>
              </a:r>
            </a:p>
            <a:p>
              <a:pPr algn="l">
                <a:lnSpc>
                  <a:spcPts val="3120"/>
                </a:lnSpc>
              </a:pPr>
              <a:endParaRPr lang="en-US" sz="2600" i="1" spc="130" dirty="0">
                <a:latin typeface="Times New Roman" panose="02020603050405020304" pitchFamily="18" charset="0"/>
                <a:ea typeface="Playfair Display Italics"/>
                <a:cs typeface="Times New Roman" panose="02020603050405020304" pitchFamily="18" charset="0"/>
                <a:sym typeface="Playfair Display Italics"/>
              </a:endParaRPr>
            </a:p>
            <a:p>
              <a:pPr algn="l">
                <a:lnSpc>
                  <a:spcPts val="3120"/>
                </a:lnSpc>
              </a:pPr>
              <a:r>
                <a:rPr lang="en-US" sz="2600" spc="52" dirty="0">
                  <a:latin typeface="Times New Roman" panose="02020603050405020304" pitchFamily="18" charset="0"/>
                  <a:ea typeface="Playfair Display"/>
                  <a:cs typeface="Times New Roman" panose="02020603050405020304" pitchFamily="18" charset="0"/>
                  <a:sym typeface="Playfair Display"/>
                </a:rPr>
                <a:t>DeepWalk implicitly approximates the exact matrix factorization — without ever computing the matrix!</a:t>
              </a:r>
            </a:p>
          </p:txBody>
        </p:sp>
      </p:grpSp>
      <p:grpSp>
        <p:nvGrpSpPr>
          <p:cNvPr id="29" name="Group 29"/>
          <p:cNvGrpSpPr/>
          <p:nvPr/>
        </p:nvGrpSpPr>
        <p:grpSpPr>
          <a:xfrm>
            <a:off x="894147" y="8659340"/>
            <a:ext cx="16840200" cy="1110548"/>
            <a:chOff x="-20320" y="-348907"/>
            <a:chExt cx="22453600" cy="1480731"/>
          </a:xfrm>
        </p:grpSpPr>
        <p:sp>
          <p:nvSpPr>
            <p:cNvPr id="30" name="Freeform 30"/>
            <p:cNvSpPr/>
            <p:nvPr/>
          </p:nvSpPr>
          <p:spPr>
            <a:xfrm>
              <a:off x="0" y="0"/>
              <a:ext cx="22433280" cy="1131824"/>
            </a:xfrm>
            <a:custGeom>
              <a:avLst/>
              <a:gdLst/>
              <a:ahLst/>
              <a:cxnLst/>
              <a:rect l="l" t="t" r="r" b="b"/>
              <a:pathLst>
                <a:path w="22433280" h="1131824">
                  <a:moveTo>
                    <a:pt x="0" y="0"/>
                  </a:moveTo>
                  <a:lnTo>
                    <a:pt x="22433280" y="0"/>
                  </a:lnTo>
                  <a:lnTo>
                    <a:pt x="22433280" y="1131824"/>
                  </a:lnTo>
                  <a:lnTo>
                    <a:pt x="0" y="1131824"/>
                  </a:lnTo>
                  <a:close/>
                </a:path>
              </a:pathLst>
            </a:custGeom>
            <a:blipFill>
              <a:blip r:embed="rId3">
                <a:alphaModFix amt="0"/>
              </a:blip>
              <a:stretch>
                <a:fillRect t="-348500" b="-323904"/>
              </a:stretch>
            </a:blipFill>
          </p:spPr>
          <p:txBody>
            <a:bodyPr/>
            <a:lstStyle/>
            <a:p>
              <a:endParaRPr lang="en-IN">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1" name="TextBox 31"/>
                <p:cNvSpPr txBox="1"/>
                <p:nvPr/>
              </p:nvSpPr>
              <p:spPr>
                <a:xfrm>
                  <a:off x="-20320" y="-348907"/>
                  <a:ext cx="22433280" cy="1131824"/>
                </a:xfrm>
                <a:prstGeom prst="rect">
                  <a:avLst/>
                </a:prstGeom>
              </p:spPr>
              <p:txBody>
                <a:bodyPr lIns="0" tIns="0" rIns="0" bIns="0" rtlCol="0" anchor="ctr"/>
                <a:lstStyle/>
                <a:p>
                  <a:pPr algn="just">
                    <a:lnSpc>
                      <a:spcPts val="2879"/>
                    </a:lnSpc>
                  </a:pPr>
                  <a:r>
                    <a:rPr lang="en-IN" sz="2400" dirty="0">
                      <a:solidFill>
                        <a:schemeClr val="bg1"/>
                      </a:solidFill>
                      <a:latin typeface="Times New Roman" panose="02020603050405020304" pitchFamily="18" charset="0"/>
                      <a:cs typeface="Times New Roman" panose="02020603050405020304" pitchFamily="18" charset="0"/>
                    </a:rPr>
                    <a:t>DeepWalk still stores the final embedding matrix </a:t>
                  </a:r>
                  <a14:m>
                    <m:oMath xmlns:m="http://schemas.openxmlformats.org/officeDocument/2006/math">
                      <m:r>
                        <a:rPr lang="en-IN" i="1">
                          <a:solidFill>
                            <a:schemeClr val="bg1"/>
                          </a:solidFill>
                        </a:rPr>
                        <m:t>𝑍</m:t>
                      </m:r>
                    </m:oMath>
                  </a14:m>
                  <a:r>
                    <a:rPr lang="en-IN" sz="2400" dirty="0">
                      <a:solidFill>
                        <a:schemeClr val="bg1"/>
                      </a:solidFill>
                      <a:latin typeface="Times New Roman" panose="02020603050405020304" pitchFamily="18" charset="0"/>
                      <a:cs typeface="Times New Roman" panose="02020603050405020304" pitchFamily="18" charset="0"/>
                    </a:rPr>
                    <a:t>, but unlike matrix factorization methods it never constructs or stores the huge similarity matrix </a:t>
                  </a:r>
                  <a14:m>
                    <m:oMath xmlns:m="http://schemas.openxmlformats.org/officeDocument/2006/math">
                      <m:sSub>
                        <m:sSubPr>
                          <m:ctrlPr>
                            <a:rPr lang="en-IN">
                              <a:solidFill>
                                <a:schemeClr val="bg1"/>
                              </a:solidFill>
                            </a:rPr>
                          </m:ctrlPr>
                        </m:sSubPr>
                        <m:e>
                          <m:r>
                            <a:rPr lang="en-IN" i="1">
                              <a:solidFill>
                                <a:schemeClr val="bg1"/>
                              </a:solidFill>
                            </a:rPr>
                            <m:t>𝑆</m:t>
                          </m:r>
                        </m:e>
                        <m:sub>
                          <m:r>
                            <a:rPr lang="en-IN" i="1">
                              <a:solidFill>
                                <a:schemeClr val="bg1"/>
                              </a:solidFill>
                            </a:rPr>
                            <m:t>𝐷𝑊</m:t>
                          </m:r>
                        </m:sub>
                      </m:sSub>
                    </m:oMath>
                  </a14:m>
                  <a:r>
                    <a:rPr lang="en-IN" sz="2400" dirty="0">
                      <a:solidFill>
                        <a:schemeClr val="bg1"/>
                      </a:solidFill>
                      <a:latin typeface="Times New Roman" panose="02020603050405020304" pitchFamily="18" charset="0"/>
                      <a:cs typeface="Times New Roman" panose="02020603050405020304" pitchFamily="18" charset="0"/>
                    </a:rPr>
                    <a:t>. Instead, random walks and SGD implicitly learn </a:t>
                  </a:r>
                  <a14:m>
                    <m:oMath xmlns:m="http://schemas.openxmlformats.org/officeDocument/2006/math">
                      <m:r>
                        <a:rPr lang="en-IN" i="1">
                          <a:solidFill>
                            <a:schemeClr val="bg1"/>
                          </a:solidFill>
                        </a:rPr>
                        <m:t>𝑍</m:t>
                      </m:r>
                    </m:oMath>
                  </a14:m>
                  <a:r>
                    <a:rPr lang="en-IN" sz="2400" dirty="0">
                      <a:solidFill>
                        <a:schemeClr val="bg1"/>
                      </a:solidFill>
                      <a:latin typeface="Times New Roman" panose="02020603050405020304" pitchFamily="18" charset="0"/>
                      <a:cs typeface="Times New Roman" panose="02020603050405020304" pitchFamily="18" charset="0"/>
                    </a:rPr>
                    <a:t>directly, making the method memory-efficient and scalable to very large graphs.</a:t>
                  </a:r>
                  <a:endParaRPr lang="en-US" sz="2400" spc="48" dirty="0">
                    <a:solidFill>
                      <a:schemeClr val="bg1"/>
                    </a:solidFill>
                    <a:latin typeface="Times New Roman" panose="02020603050405020304" pitchFamily="18" charset="0"/>
                    <a:ea typeface="Playfair Display"/>
                    <a:cs typeface="Times New Roman" panose="02020603050405020304" pitchFamily="18" charset="0"/>
                    <a:sym typeface="Playfair Display"/>
                  </a:endParaRPr>
                </a:p>
              </p:txBody>
            </p:sp>
          </mc:Choice>
          <mc:Fallback>
            <p:sp>
              <p:nvSpPr>
                <p:cNvPr id="31" name="TextBox 31"/>
                <p:cNvSpPr txBox="1">
                  <a:spLocks noRot="1" noChangeAspect="1" noMove="1" noResize="1" noEditPoints="1" noAdjustHandles="1" noChangeArrowheads="1" noChangeShapeType="1" noTextEdit="1"/>
                </p:cNvSpPr>
                <p:nvPr/>
              </p:nvSpPr>
              <p:spPr>
                <a:xfrm>
                  <a:off x="-20320" y="-348907"/>
                  <a:ext cx="22433280" cy="1131824"/>
                </a:xfrm>
                <a:prstGeom prst="rect">
                  <a:avLst/>
                </a:prstGeom>
                <a:blipFill>
                  <a:blip r:embed="rId4"/>
                  <a:stretch>
                    <a:fillRect l="-1123" t="-26429" r="-1087" b="-35714"/>
                  </a:stretch>
                </a:blipFill>
              </p:spPr>
              <p:txBody>
                <a:bodyPr/>
                <a:lstStyle/>
                <a:p>
                  <a:r>
                    <a:rPr lang="en-IN">
                      <a:noFill/>
                    </a:rPr>
                    <a:t> </a:t>
                  </a:r>
                </a:p>
              </p:txBody>
            </p:sp>
          </mc:Fallback>
        </mc:AlternateContent>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253439"/>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0" y="0"/>
              <a:ext cx="24417910" cy="1789557"/>
            </a:xfrm>
            <a:custGeom>
              <a:avLst/>
              <a:gdLst/>
              <a:ahLst/>
              <a:cxnLst/>
              <a:rect l="l" t="t" r="r" b="b"/>
              <a:pathLst>
                <a:path w="24417910" h="1789557">
                  <a:moveTo>
                    <a:pt x="0" y="0"/>
                  </a:moveTo>
                  <a:lnTo>
                    <a:pt x="24417910" y="0"/>
                  </a:lnTo>
                  <a:lnTo>
                    <a:pt x="24417910" y="1789557"/>
                  </a:lnTo>
                  <a:lnTo>
                    <a:pt x="0" y="1789557"/>
                  </a:lnTo>
                  <a:close/>
                </a:path>
              </a:pathLst>
            </a:custGeom>
            <a:solidFill>
              <a:srgbClr val="FFFFFF"/>
            </a:solidFill>
            <a:ln w="25400" cap="sq">
              <a:solidFill>
                <a:srgbClr val="1A3461"/>
              </a:solidFill>
              <a:prstDash val="solid"/>
              <a:miter/>
            </a:ln>
          </p:spPr>
          <p:txBody>
            <a:bodyPr/>
            <a:lstStyle/>
            <a:p>
              <a:endParaRPr lang="en-IN"/>
            </a:p>
          </p:txBody>
        </p:sp>
      </p:grpSp>
      <p:grpSp>
        <p:nvGrpSpPr>
          <p:cNvPr id="4" name="Group 4"/>
          <p:cNvGrpSpPr/>
          <p:nvPr/>
        </p:nvGrpSpPr>
        <p:grpSpPr>
          <a:xfrm>
            <a:off x="731520" y="0"/>
            <a:ext cx="16824960" cy="1316736"/>
            <a:chOff x="0" y="0"/>
            <a:chExt cx="22433280" cy="1755648"/>
          </a:xfrm>
        </p:grpSpPr>
        <p:sp>
          <p:nvSpPr>
            <p:cNvPr id="5" name="Freeform 5"/>
            <p:cNvSpPr/>
            <p:nvPr/>
          </p:nvSpPr>
          <p:spPr>
            <a:xfrm>
              <a:off x="0" y="0"/>
              <a:ext cx="22433280" cy="1755648"/>
            </a:xfrm>
            <a:custGeom>
              <a:avLst/>
              <a:gdLst/>
              <a:ahLst/>
              <a:cxnLst/>
              <a:rect l="l" t="t" r="r" b="b"/>
              <a:pathLst>
                <a:path w="22433280" h="1755648">
                  <a:moveTo>
                    <a:pt x="0" y="0"/>
                  </a:moveTo>
                  <a:lnTo>
                    <a:pt x="22433280" y="0"/>
                  </a:lnTo>
                  <a:lnTo>
                    <a:pt x="22433280" y="1755648"/>
                  </a:lnTo>
                  <a:lnTo>
                    <a:pt x="0" y="1755648"/>
                  </a:lnTo>
                  <a:close/>
                </a:path>
              </a:pathLst>
            </a:custGeom>
            <a:blipFill>
              <a:blip r:embed="rId3">
                <a:alphaModFix amt="0"/>
              </a:blip>
              <a:stretch>
                <a:fillRect t="-198975" b="-198975"/>
              </a:stretch>
            </a:blipFill>
          </p:spPr>
          <p:txBody>
            <a:bodyPr/>
            <a:lstStyle/>
            <a:p>
              <a:endParaRPr lang="en-IN"/>
            </a:p>
          </p:txBody>
        </p:sp>
        <p:sp>
          <p:nvSpPr>
            <p:cNvPr id="6" name="TextBox 6"/>
            <p:cNvSpPr txBox="1"/>
            <p:nvPr/>
          </p:nvSpPr>
          <p:spPr>
            <a:xfrm>
              <a:off x="0" y="-9525"/>
              <a:ext cx="22433280" cy="1765173"/>
            </a:xfrm>
            <a:prstGeom prst="rect">
              <a:avLst/>
            </a:prstGeom>
          </p:spPr>
          <p:txBody>
            <a:bodyPr lIns="0" tIns="0" rIns="0" bIns="0" rtlCol="0" anchor="ctr"/>
            <a:lstStyle/>
            <a:p>
              <a:pPr algn="l">
                <a:lnSpc>
                  <a:spcPts val="4800"/>
                </a:lnSpc>
              </a:pPr>
              <a:r>
                <a:rPr lang="en-US" sz="4000" spc="560" dirty="0">
                  <a:latin typeface="Times New Roman" panose="02020603050405020304" pitchFamily="18" charset="0"/>
                  <a:ea typeface="Hammersmith One"/>
                  <a:cs typeface="Times New Roman" panose="02020603050405020304" pitchFamily="18" charset="0"/>
                  <a:sym typeface="Hammersmith One"/>
                </a:rPr>
                <a:t>NODE2VEC IN PRACTICE — PYTORCH GEOMETRIC</a:t>
              </a:r>
            </a:p>
          </p:txBody>
        </p:sp>
      </p:grpSp>
      <p:sp>
        <p:nvSpPr>
          <p:cNvPr id="8" name="Freeform 8"/>
          <p:cNvSpPr/>
          <p:nvPr/>
        </p:nvSpPr>
        <p:spPr>
          <a:xfrm>
            <a:off x="731520" y="73152"/>
            <a:ext cx="16459200" cy="402336"/>
          </a:xfrm>
          <a:custGeom>
            <a:avLst/>
            <a:gdLst/>
            <a:ahLst/>
            <a:cxnLst/>
            <a:rect l="l" t="t" r="r" b="b"/>
            <a:pathLst>
              <a:path w="21945600" h="536448">
                <a:moveTo>
                  <a:pt x="0" y="0"/>
                </a:moveTo>
                <a:lnTo>
                  <a:pt x="21945600" y="0"/>
                </a:lnTo>
                <a:lnTo>
                  <a:pt x="21945600" y="536448"/>
                </a:lnTo>
                <a:lnTo>
                  <a:pt x="0" y="536448"/>
                </a:lnTo>
                <a:close/>
              </a:path>
            </a:pathLst>
          </a:custGeom>
          <a:blipFill>
            <a:blip r:embed="rId3">
              <a:alphaModFix amt="0"/>
            </a:blip>
            <a:stretch>
              <a:fillRect t="-747115" b="-747115"/>
            </a:stretch>
          </a:blipFill>
        </p:spPr>
        <p:txBody>
          <a:bodyPr/>
          <a:lstStyle/>
          <a:p>
            <a:endParaRPr lang="en-IN"/>
          </a:p>
        </p:txBody>
      </p:sp>
      <p:grpSp>
        <p:nvGrpSpPr>
          <p:cNvPr id="10" name="Group 10"/>
          <p:cNvGrpSpPr/>
          <p:nvPr/>
        </p:nvGrpSpPr>
        <p:grpSpPr>
          <a:xfrm>
            <a:off x="731520" y="1499616"/>
            <a:ext cx="16824960" cy="694944"/>
            <a:chOff x="0" y="0"/>
            <a:chExt cx="22433280" cy="926592"/>
          </a:xfrm>
        </p:grpSpPr>
        <p:sp>
          <p:nvSpPr>
            <p:cNvPr id="11" name="Freeform 11"/>
            <p:cNvSpPr/>
            <p:nvPr/>
          </p:nvSpPr>
          <p:spPr>
            <a:xfrm>
              <a:off x="0" y="0"/>
              <a:ext cx="22433280" cy="926592"/>
            </a:xfrm>
            <a:custGeom>
              <a:avLst/>
              <a:gdLst/>
              <a:ahLst/>
              <a:cxnLst/>
              <a:rect l="l" t="t" r="r" b="b"/>
              <a:pathLst>
                <a:path w="22433280" h="926592">
                  <a:moveTo>
                    <a:pt x="0" y="0"/>
                  </a:moveTo>
                  <a:lnTo>
                    <a:pt x="22433280" y="0"/>
                  </a:lnTo>
                  <a:lnTo>
                    <a:pt x="22433280" y="926592"/>
                  </a:lnTo>
                  <a:lnTo>
                    <a:pt x="0" y="926592"/>
                  </a:lnTo>
                  <a:close/>
                </a:path>
              </a:pathLst>
            </a:custGeom>
            <a:blipFill>
              <a:blip r:embed="rId3">
                <a:alphaModFix amt="0"/>
              </a:blip>
              <a:stretch>
                <a:fillRect t="-421743" b="-421743"/>
              </a:stretch>
            </a:blipFill>
          </p:spPr>
          <p:txBody>
            <a:bodyPr/>
            <a:lstStyle/>
            <a:p>
              <a:endParaRPr lang="en-IN"/>
            </a:p>
          </p:txBody>
        </p:sp>
        <p:sp>
          <p:nvSpPr>
            <p:cNvPr id="12" name="TextBox 12"/>
            <p:cNvSpPr txBox="1"/>
            <p:nvPr/>
          </p:nvSpPr>
          <p:spPr>
            <a:xfrm>
              <a:off x="0" y="0"/>
              <a:ext cx="22433280" cy="926592"/>
            </a:xfrm>
            <a:prstGeom prst="rect">
              <a:avLst/>
            </a:prstGeom>
          </p:spPr>
          <p:txBody>
            <a:bodyPr lIns="0" tIns="0" rIns="0" bIns="0" rtlCol="0" anchor="ctr"/>
            <a:lstStyle/>
            <a:p>
              <a:pPr algn="l">
                <a:lnSpc>
                  <a:spcPts val="3120"/>
                </a:lnSpc>
              </a:pPr>
              <a:r>
                <a:rPr lang="en-US" sz="2600" spc="52">
                  <a:solidFill>
                    <a:srgbClr val="FFFFFF"/>
                  </a:solidFill>
                  <a:latin typeface="Playfair Display"/>
                  <a:ea typeface="Playfair Display"/>
                  <a:cs typeface="Playfair Display"/>
                  <a:sym typeface="Playfair Display"/>
                </a:rPr>
                <a:t>PyTorch Geometric (PyG) provides a ready-to-use Node2Vec module. Here is the minimal setup:</a:t>
              </a:r>
            </a:p>
          </p:txBody>
        </p:sp>
      </p:grpSp>
      <p:grpSp>
        <p:nvGrpSpPr>
          <p:cNvPr id="13" name="Group 13"/>
          <p:cNvGrpSpPr/>
          <p:nvPr/>
        </p:nvGrpSpPr>
        <p:grpSpPr>
          <a:xfrm>
            <a:off x="535943" y="2328167"/>
            <a:ext cx="16484603" cy="6828539"/>
            <a:chOff x="0" y="0"/>
            <a:chExt cx="21979471" cy="9104719"/>
          </a:xfrm>
        </p:grpSpPr>
        <p:sp>
          <p:nvSpPr>
            <p:cNvPr id="14" name="Freeform 14"/>
            <p:cNvSpPr/>
            <p:nvPr/>
          </p:nvSpPr>
          <p:spPr>
            <a:xfrm>
              <a:off x="0" y="0"/>
              <a:ext cx="21979510" cy="9104757"/>
            </a:xfrm>
            <a:custGeom>
              <a:avLst/>
              <a:gdLst/>
              <a:ahLst/>
              <a:cxnLst/>
              <a:rect l="l" t="t" r="r" b="b"/>
              <a:pathLst>
                <a:path w="21979510" h="9104757">
                  <a:moveTo>
                    <a:pt x="0" y="293751"/>
                  </a:moveTo>
                  <a:cubicBezTo>
                    <a:pt x="0" y="131445"/>
                    <a:pt x="131445" y="0"/>
                    <a:pt x="293751" y="0"/>
                  </a:cubicBezTo>
                  <a:lnTo>
                    <a:pt x="21685758" y="0"/>
                  </a:lnTo>
                  <a:cubicBezTo>
                    <a:pt x="21847938" y="0"/>
                    <a:pt x="21979510" y="131445"/>
                    <a:pt x="21979510" y="293751"/>
                  </a:cubicBezTo>
                  <a:lnTo>
                    <a:pt x="21979510" y="8811006"/>
                  </a:lnTo>
                  <a:cubicBezTo>
                    <a:pt x="21979510" y="8973186"/>
                    <a:pt x="21848065" y="9104757"/>
                    <a:pt x="21685758" y="9104757"/>
                  </a:cubicBezTo>
                  <a:lnTo>
                    <a:pt x="293751" y="9104757"/>
                  </a:lnTo>
                  <a:cubicBezTo>
                    <a:pt x="131445" y="9104757"/>
                    <a:pt x="0" y="8973185"/>
                    <a:pt x="0" y="8811006"/>
                  </a:cubicBezTo>
                  <a:close/>
                </a:path>
              </a:pathLst>
            </a:custGeom>
            <a:solidFill>
              <a:srgbClr val="FFFFFF"/>
            </a:solidFill>
            <a:ln w="25400" cap="sq">
              <a:solidFill>
                <a:srgbClr val="2D4B8A"/>
              </a:solidFill>
              <a:prstDash val="solid"/>
              <a:miter/>
            </a:ln>
          </p:spPr>
          <p:txBody>
            <a:bodyPr/>
            <a:lstStyle/>
            <a:p>
              <a:endParaRPr lang="en-IN"/>
            </a:p>
          </p:txBody>
        </p:sp>
      </p:grpSp>
      <p:grpSp>
        <p:nvGrpSpPr>
          <p:cNvPr id="15" name="Group 15"/>
          <p:cNvGrpSpPr/>
          <p:nvPr/>
        </p:nvGrpSpPr>
        <p:grpSpPr>
          <a:xfrm>
            <a:off x="914400" y="2523744"/>
            <a:ext cx="15727680" cy="462661"/>
            <a:chOff x="0" y="0"/>
            <a:chExt cx="20970240" cy="616881"/>
          </a:xfrm>
        </p:grpSpPr>
        <p:sp>
          <p:nvSpPr>
            <p:cNvPr id="16" name="Freeform 16"/>
            <p:cNvSpPr/>
            <p:nvPr/>
          </p:nvSpPr>
          <p:spPr>
            <a:xfrm>
              <a:off x="0" y="0"/>
              <a:ext cx="20970239" cy="616881"/>
            </a:xfrm>
            <a:custGeom>
              <a:avLst/>
              <a:gdLst/>
              <a:ahLst/>
              <a:cxnLst/>
              <a:rect l="l" t="t" r="r" b="b"/>
              <a:pathLst>
                <a:path w="20970239" h="616881">
                  <a:moveTo>
                    <a:pt x="0" y="0"/>
                  </a:moveTo>
                  <a:lnTo>
                    <a:pt x="20970239" y="0"/>
                  </a:lnTo>
                  <a:lnTo>
                    <a:pt x="20970239" y="616881"/>
                  </a:lnTo>
                  <a:lnTo>
                    <a:pt x="0" y="616881"/>
                  </a:lnTo>
                  <a:close/>
                </a:path>
              </a:pathLst>
            </a:custGeom>
            <a:blipFill>
              <a:blip r:embed="rId3">
                <a:alphaModFix amt="0"/>
              </a:blip>
              <a:stretch>
                <a:fillRect t="-614940" b="-609807"/>
              </a:stretch>
            </a:blipFill>
          </p:spPr>
          <p:txBody>
            <a:bodyPr/>
            <a:lstStyle/>
            <a:p>
              <a:endParaRPr lang="en-IN"/>
            </a:p>
          </p:txBody>
        </p:sp>
        <p:sp>
          <p:nvSpPr>
            <p:cNvPr id="17" name="TextBox 17"/>
            <p:cNvSpPr txBox="1"/>
            <p:nvPr/>
          </p:nvSpPr>
          <p:spPr>
            <a:xfrm>
              <a:off x="0" y="-9525"/>
              <a:ext cx="20970240" cy="626406"/>
            </a:xfrm>
            <a:prstGeom prst="rect">
              <a:avLst/>
            </a:prstGeom>
          </p:spPr>
          <p:txBody>
            <a:bodyPr lIns="0" tIns="0" rIns="0" bIns="0" rtlCol="0" anchor="ctr"/>
            <a:lstStyle/>
            <a:p>
              <a:pPr algn="l">
                <a:lnSpc>
                  <a:spcPts val="2760"/>
                </a:lnSpc>
              </a:pPr>
              <a:r>
                <a:rPr lang="en-US" sz="2300" spc="46">
                  <a:solidFill>
                    <a:srgbClr val="253439"/>
                  </a:solidFill>
                  <a:latin typeface="Playfair Display"/>
                  <a:ea typeface="Playfair Display"/>
                  <a:cs typeface="Playfair Display"/>
                  <a:sym typeface="Playfair Display"/>
                </a:rPr>
                <a:t>from torch_geometric.nn import Node2Vec</a:t>
              </a:r>
            </a:p>
          </p:txBody>
        </p:sp>
      </p:grpSp>
      <p:grpSp>
        <p:nvGrpSpPr>
          <p:cNvPr id="18" name="Group 18"/>
          <p:cNvGrpSpPr/>
          <p:nvPr/>
        </p:nvGrpSpPr>
        <p:grpSpPr>
          <a:xfrm>
            <a:off x="914400" y="3383280"/>
            <a:ext cx="15727680" cy="462661"/>
            <a:chOff x="0" y="0"/>
            <a:chExt cx="20970240" cy="616881"/>
          </a:xfrm>
        </p:grpSpPr>
        <p:sp>
          <p:nvSpPr>
            <p:cNvPr id="19" name="Freeform 19"/>
            <p:cNvSpPr/>
            <p:nvPr/>
          </p:nvSpPr>
          <p:spPr>
            <a:xfrm>
              <a:off x="0" y="0"/>
              <a:ext cx="20970239" cy="616881"/>
            </a:xfrm>
            <a:custGeom>
              <a:avLst/>
              <a:gdLst/>
              <a:ahLst/>
              <a:cxnLst/>
              <a:rect l="l" t="t" r="r" b="b"/>
              <a:pathLst>
                <a:path w="20970239" h="616881">
                  <a:moveTo>
                    <a:pt x="0" y="0"/>
                  </a:moveTo>
                  <a:lnTo>
                    <a:pt x="20970239" y="0"/>
                  </a:lnTo>
                  <a:lnTo>
                    <a:pt x="20970239" y="616881"/>
                  </a:lnTo>
                  <a:lnTo>
                    <a:pt x="0" y="616881"/>
                  </a:lnTo>
                  <a:close/>
                </a:path>
              </a:pathLst>
            </a:custGeom>
            <a:blipFill>
              <a:blip r:embed="rId3">
                <a:alphaModFix amt="0"/>
              </a:blip>
              <a:stretch>
                <a:fillRect t="-614940" b="-609807"/>
              </a:stretch>
            </a:blipFill>
          </p:spPr>
          <p:txBody>
            <a:bodyPr/>
            <a:lstStyle/>
            <a:p>
              <a:endParaRPr lang="en-IN"/>
            </a:p>
          </p:txBody>
        </p:sp>
        <p:sp>
          <p:nvSpPr>
            <p:cNvPr id="20" name="TextBox 20"/>
            <p:cNvSpPr txBox="1"/>
            <p:nvPr/>
          </p:nvSpPr>
          <p:spPr>
            <a:xfrm>
              <a:off x="0" y="-9525"/>
              <a:ext cx="20970240" cy="626406"/>
            </a:xfrm>
            <a:prstGeom prst="rect">
              <a:avLst/>
            </a:prstGeom>
          </p:spPr>
          <p:txBody>
            <a:bodyPr lIns="0" tIns="0" rIns="0" bIns="0" rtlCol="0" anchor="ctr"/>
            <a:lstStyle/>
            <a:p>
              <a:pPr algn="l">
                <a:lnSpc>
                  <a:spcPts val="2760"/>
                </a:lnSpc>
              </a:pPr>
              <a:r>
                <a:rPr lang="en-US" sz="2300" spc="46">
                  <a:solidFill>
                    <a:srgbClr val="B29E84"/>
                  </a:solidFill>
                  <a:latin typeface="Playfair Display"/>
                  <a:ea typeface="Playfair Display"/>
                  <a:cs typeface="Playfair Display"/>
                  <a:sym typeface="Playfair Display"/>
                </a:rPr>
                <a:t>model = Node2Vec(</a:t>
              </a:r>
            </a:p>
          </p:txBody>
        </p:sp>
      </p:grpSp>
      <p:grpSp>
        <p:nvGrpSpPr>
          <p:cNvPr id="21" name="Group 21"/>
          <p:cNvGrpSpPr/>
          <p:nvPr/>
        </p:nvGrpSpPr>
        <p:grpSpPr>
          <a:xfrm>
            <a:off x="914400" y="3813048"/>
            <a:ext cx="15727680" cy="462661"/>
            <a:chOff x="0" y="0"/>
            <a:chExt cx="20970240" cy="616881"/>
          </a:xfrm>
        </p:grpSpPr>
        <p:sp>
          <p:nvSpPr>
            <p:cNvPr id="22" name="Freeform 22"/>
            <p:cNvSpPr/>
            <p:nvPr/>
          </p:nvSpPr>
          <p:spPr>
            <a:xfrm>
              <a:off x="0" y="0"/>
              <a:ext cx="20970239" cy="616881"/>
            </a:xfrm>
            <a:custGeom>
              <a:avLst/>
              <a:gdLst/>
              <a:ahLst/>
              <a:cxnLst/>
              <a:rect l="l" t="t" r="r" b="b"/>
              <a:pathLst>
                <a:path w="20970239" h="616881">
                  <a:moveTo>
                    <a:pt x="0" y="0"/>
                  </a:moveTo>
                  <a:lnTo>
                    <a:pt x="20970239" y="0"/>
                  </a:lnTo>
                  <a:lnTo>
                    <a:pt x="20970239" y="616881"/>
                  </a:lnTo>
                  <a:lnTo>
                    <a:pt x="0" y="616881"/>
                  </a:lnTo>
                  <a:close/>
                </a:path>
              </a:pathLst>
            </a:custGeom>
            <a:blipFill>
              <a:blip r:embed="rId3">
                <a:alphaModFix amt="0"/>
              </a:blip>
              <a:stretch>
                <a:fillRect t="-614940" b="-609807"/>
              </a:stretch>
            </a:blipFill>
          </p:spPr>
          <p:txBody>
            <a:bodyPr/>
            <a:lstStyle/>
            <a:p>
              <a:endParaRPr lang="en-IN"/>
            </a:p>
          </p:txBody>
        </p:sp>
        <p:sp>
          <p:nvSpPr>
            <p:cNvPr id="23" name="TextBox 23"/>
            <p:cNvSpPr txBox="1"/>
            <p:nvPr/>
          </p:nvSpPr>
          <p:spPr>
            <a:xfrm>
              <a:off x="0" y="-9525"/>
              <a:ext cx="20970240" cy="626406"/>
            </a:xfrm>
            <a:prstGeom prst="rect">
              <a:avLst/>
            </a:prstGeom>
          </p:spPr>
          <p:txBody>
            <a:bodyPr lIns="0" tIns="0" rIns="0" bIns="0" rtlCol="0" anchor="ctr"/>
            <a:lstStyle/>
            <a:p>
              <a:pPr algn="l">
                <a:lnSpc>
                  <a:spcPts val="2760"/>
                </a:lnSpc>
              </a:pPr>
              <a:r>
                <a:rPr lang="en-US" sz="2300" spc="46">
                  <a:solidFill>
                    <a:srgbClr val="7C898B"/>
                  </a:solidFill>
                  <a:latin typeface="Playfair Display"/>
                  <a:ea typeface="Playfair Display"/>
                  <a:cs typeface="Playfair Display"/>
                  <a:sym typeface="Playfair Display"/>
                </a:rPr>
                <a:t>    data.edge_index,      # graph structure (adjacency list)</a:t>
              </a:r>
            </a:p>
          </p:txBody>
        </p:sp>
      </p:grpSp>
      <p:grpSp>
        <p:nvGrpSpPr>
          <p:cNvPr id="24" name="Group 24"/>
          <p:cNvGrpSpPr/>
          <p:nvPr/>
        </p:nvGrpSpPr>
        <p:grpSpPr>
          <a:xfrm>
            <a:off x="914400" y="4242816"/>
            <a:ext cx="15727680" cy="462661"/>
            <a:chOff x="0" y="0"/>
            <a:chExt cx="20970240" cy="616881"/>
          </a:xfrm>
        </p:grpSpPr>
        <p:sp>
          <p:nvSpPr>
            <p:cNvPr id="25" name="Freeform 25"/>
            <p:cNvSpPr/>
            <p:nvPr/>
          </p:nvSpPr>
          <p:spPr>
            <a:xfrm>
              <a:off x="0" y="0"/>
              <a:ext cx="20970239" cy="616881"/>
            </a:xfrm>
            <a:custGeom>
              <a:avLst/>
              <a:gdLst/>
              <a:ahLst/>
              <a:cxnLst/>
              <a:rect l="l" t="t" r="r" b="b"/>
              <a:pathLst>
                <a:path w="20970239" h="616881">
                  <a:moveTo>
                    <a:pt x="0" y="0"/>
                  </a:moveTo>
                  <a:lnTo>
                    <a:pt x="20970239" y="0"/>
                  </a:lnTo>
                  <a:lnTo>
                    <a:pt x="20970239" y="616881"/>
                  </a:lnTo>
                  <a:lnTo>
                    <a:pt x="0" y="616881"/>
                  </a:lnTo>
                  <a:close/>
                </a:path>
              </a:pathLst>
            </a:custGeom>
            <a:blipFill>
              <a:blip r:embed="rId3">
                <a:alphaModFix amt="0"/>
              </a:blip>
              <a:stretch>
                <a:fillRect t="-614940" b="-609807"/>
              </a:stretch>
            </a:blipFill>
          </p:spPr>
          <p:txBody>
            <a:bodyPr/>
            <a:lstStyle/>
            <a:p>
              <a:endParaRPr lang="en-IN"/>
            </a:p>
          </p:txBody>
        </p:sp>
        <p:sp>
          <p:nvSpPr>
            <p:cNvPr id="26" name="TextBox 26"/>
            <p:cNvSpPr txBox="1"/>
            <p:nvPr/>
          </p:nvSpPr>
          <p:spPr>
            <a:xfrm>
              <a:off x="0" y="-9525"/>
              <a:ext cx="20970240" cy="626406"/>
            </a:xfrm>
            <a:prstGeom prst="rect">
              <a:avLst/>
            </a:prstGeom>
          </p:spPr>
          <p:txBody>
            <a:bodyPr lIns="0" tIns="0" rIns="0" bIns="0" rtlCol="0" anchor="ctr"/>
            <a:lstStyle/>
            <a:p>
              <a:pPr algn="l">
                <a:lnSpc>
                  <a:spcPts val="2760"/>
                </a:lnSpc>
              </a:pPr>
              <a:r>
                <a:rPr lang="en-US" sz="2300" spc="46">
                  <a:solidFill>
                    <a:srgbClr val="7C898B"/>
                  </a:solidFill>
                  <a:latin typeface="Playfair Display"/>
                  <a:ea typeface="Playfair Display"/>
                  <a:cs typeface="Playfair Display"/>
                  <a:sym typeface="Playfair Display"/>
                </a:rPr>
                <a:t>    embedding_dim=128,    # d = size of each node vector</a:t>
              </a:r>
            </a:p>
          </p:txBody>
        </p:sp>
      </p:grpSp>
      <p:grpSp>
        <p:nvGrpSpPr>
          <p:cNvPr id="27" name="Group 27"/>
          <p:cNvGrpSpPr/>
          <p:nvPr/>
        </p:nvGrpSpPr>
        <p:grpSpPr>
          <a:xfrm>
            <a:off x="914400" y="4672584"/>
            <a:ext cx="15727680" cy="462661"/>
            <a:chOff x="0" y="0"/>
            <a:chExt cx="20970240" cy="616881"/>
          </a:xfrm>
        </p:grpSpPr>
        <p:sp>
          <p:nvSpPr>
            <p:cNvPr id="28" name="Freeform 28"/>
            <p:cNvSpPr/>
            <p:nvPr/>
          </p:nvSpPr>
          <p:spPr>
            <a:xfrm>
              <a:off x="0" y="0"/>
              <a:ext cx="20970239" cy="616881"/>
            </a:xfrm>
            <a:custGeom>
              <a:avLst/>
              <a:gdLst/>
              <a:ahLst/>
              <a:cxnLst/>
              <a:rect l="l" t="t" r="r" b="b"/>
              <a:pathLst>
                <a:path w="20970239" h="616881">
                  <a:moveTo>
                    <a:pt x="0" y="0"/>
                  </a:moveTo>
                  <a:lnTo>
                    <a:pt x="20970239" y="0"/>
                  </a:lnTo>
                  <a:lnTo>
                    <a:pt x="20970239" y="616881"/>
                  </a:lnTo>
                  <a:lnTo>
                    <a:pt x="0" y="616881"/>
                  </a:lnTo>
                  <a:close/>
                </a:path>
              </a:pathLst>
            </a:custGeom>
            <a:blipFill>
              <a:blip r:embed="rId3">
                <a:alphaModFix amt="0"/>
              </a:blip>
              <a:stretch>
                <a:fillRect t="-614940" b="-609807"/>
              </a:stretch>
            </a:blipFill>
          </p:spPr>
          <p:txBody>
            <a:bodyPr/>
            <a:lstStyle/>
            <a:p>
              <a:endParaRPr lang="en-IN"/>
            </a:p>
          </p:txBody>
        </p:sp>
        <p:sp>
          <p:nvSpPr>
            <p:cNvPr id="29" name="TextBox 29"/>
            <p:cNvSpPr txBox="1"/>
            <p:nvPr/>
          </p:nvSpPr>
          <p:spPr>
            <a:xfrm>
              <a:off x="0" y="-9525"/>
              <a:ext cx="20970240" cy="626406"/>
            </a:xfrm>
            <a:prstGeom prst="rect">
              <a:avLst/>
            </a:prstGeom>
          </p:spPr>
          <p:txBody>
            <a:bodyPr lIns="0" tIns="0" rIns="0" bIns="0" rtlCol="0" anchor="ctr"/>
            <a:lstStyle/>
            <a:p>
              <a:pPr algn="l">
                <a:lnSpc>
                  <a:spcPts val="2760"/>
                </a:lnSpc>
              </a:pPr>
              <a:r>
                <a:rPr lang="en-US" sz="2300" spc="46">
                  <a:solidFill>
                    <a:srgbClr val="7C898B"/>
                  </a:solidFill>
                  <a:latin typeface="Playfair Display"/>
                  <a:ea typeface="Playfair Display"/>
                  <a:cs typeface="Playfair Display"/>
                  <a:sym typeface="Playfair Display"/>
                </a:rPr>
                <a:t>    walks_per_node=10,    # γ = walks starting from each node</a:t>
              </a:r>
            </a:p>
          </p:txBody>
        </p:sp>
      </p:grpSp>
      <p:grpSp>
        <p:nvGrpSpPr>
          <p:cNvPr id="30" name="Group 30"/>
          <p:cNvGrpSpPr/>
          <p:nvPr/>
        </p:nvGrpSpPr>
        <p:grpSpPr>
          <a:xfrm>
            <a:off x="914400" y="5102352"/>
            <a:ext cx="15727680" cy="462661"/>
            <a:chOff x="0" y="0"/>
            <a:chExt cx="20970240" cy="616881"/>
          </a:xfrm>
        </p:grpSpPr>
        <p:sp>
          <p:nvSpPr>
            <p:cNvPr id="31" name="Freeform 31"/>
            <p:cNvSpPr/>
            <p:nvPr/>
          </p:nvSpPr>
          <p:spPr>
            <a:xfrm>
              <a:off x="0" y="0"/>
              <a:ext cx="20970239" cy="616881"/>
            </a:xfrm>
            <a:custGeom>
              <a:avLst/>
              <a:gdLst/>
              <a:ahLst/>
              <a:cxnLst/>
              <a:rect l="l" t="t" r="r" b="b"/>
              <a:pathLst>
                <a:path w="20970239" h="616881">
                  <a:moveTo>
                    <a:pt x="0" y="0"/>
                  </a:moveTo>
                  <a:lnTo>
                    <a:pt x="20970239" y="0"/>
                  </a:lnTo>
                  <a:lnTo>
                    <a:pt x="20970239" y="616881"/>
                  </a:lnTo>
                  <a:lnTo>
                    <a:pt x="0" y="616881"/>
                  </a:lnTo>
                  <a:close/>
                </a:path>
              </a:pathLst>
            </a:custGeom>
            <a:blipFill>
              <a:blip r:embed="rId3">
                <a:alphaModFix amt="0"/>
              </a:blip>
              <a:stretch>
                <a:fillRect t="-614940" b="-609807"/>
              </a:stretch>
            </a:blipFill>
          </p:spPr>
          <p:txBody>
            <a:bodyPr/>
            <a:lstStyle/>
            <a:p>
              <a:endParaRPr lang="en-IN"/>
            </a:p>
          </p:txBody>
        </p:sp>
        <p:sp>
          <p:nvSpPr>
            <p:cNvPr id="32" name="TextBox 32"/>
            <p:cNvSpPr txBox="1"/>
            <p:nvPr/>
          </p:nvSpPr>
          <p:spPr>
            <a:xfrm>
              <a:off x="0" y="-9525"/>
              <a:ext cx="20970240" cy="626406"/>
            </a:xfrm>
            <a:prstGeom prst="rect">
              <a:avLst/>
            </a:prstGeom>
          </p:spPr>
          <p:txBody>
            <a:bodyPr lIns="0" tIns="0" rIns="0" bIns="0" rtlCol="0" anchor="ctr"/>
            <a:lstStyle/>
            <a:p>
              <a:pPr algn="l">
                <a:lnSpc>
                  <a:spcPts val="2760"/>
                </a:lnSpc>
              </a:pPr>
              <a:r>
                <a:rPr lang="en-US" sz="2300" spc="46">
                  <a:solidFill>
                    <a:srgbClr val="7C898B"/>
                  </a:solidFill>
                  <a:latin typeface="Playfair Display"/>
                  <a:ea typeface="Playfair Display"/>
                  <a:cs typeface="Playfair Display"/>
                  <a:sym typeface="Playfair Display"/>
                </a:rPr>
                <a:t>    walk_length=20,       # T = length of each walk</a:t>
              </a:r>
            </a:p>
          </p:txBody>
        </p:sp>
      </p:grpSp>
      <p:grpSp>
        <p:nvGrpSpPr>
          <p:cNvPr id="33" name="Group 33"/>
          <p:cNvGrpSpPr/>
          <p:nvPr/>
        </p:nvGrpSpPr>
        <p:grpSpPr>
          <a:xfrm>
            <a:off x="914400" y="5532120"/>
            <a:ext cx="15727680" cy="462661"/>
            <a:chOff x="0" y="0"/>
            <a:chExt cx="20970240" cy="616881"/>
          </a:xfrm>
        </p:grpSpPr>
        <p:sp>
          <p:nvSpPr>
            <p:cNvPr id="34" name="Freeform 34"/>
            <p:cNvSpPr/>
            <p:nvPr/>
          </p:nvSpPr>
          <p:spPr>
            <a:xfrm>
              <a:off x="0" y="0"/>
              <a:ext cx="20970239" cy="616881"/>
            </a:xfrm>
            <a:custGeom>
              <a:avLst/>
              <a:gdLst/>
              <a:ahLst/>
              <a:cxnLst/>
              <a:rect l="l" t="t" r="r" b="b"/>
              <a:pathLst>
                <a:path w="20970239" h="616881">
                  <a:moveTo>
                    <a:pt x="0" y="0"/>
                  </a:moveTo>
                  <a:lnTo>
                    <a:pt x="20970239" y="0"/>
                  </a:lnTo>
                  <a:lnTo>
                    <a:pt x="20970239" y="616881"/>
                  </a:lnTo>
                  <a:lnTo>
                    <a:pt x="0" y="616881"/>
                  </a:lnTo>
                  <a:close/>
                </a:path>
              </a:pathLst>
            </a:custGeom>
            <a:blipFill>
              <a:blip r:embed="rId3">
                <a:alphaModFix amt="0"/>
              </a:blip>
              <a:stretch>
                <a:fillRect t="-614940" b="-609807"/>
              </a:stretch>
            </a:blipFill>
          </p:spPr>
          <p:txBody>
            <a:bodyPr/>
            <a:lstStyle/>
            <a:p>
              <a:endParaRPr lang="en-IN"/>
            </a:p>
          </p:txBody>
        </p:sp>
        <p:sp>
          <p:nvSpPr>
            <p:cNvPr id="35" name="TextBox 35"/>
            <p:cNvSpPr txBox="1"/>
            <p:nvPr/>
          </p:nvSpPr>
          <p:spPr>
            <a:xfrm>
              <a:off x="0" y="-9525"/>
              <a:ext cx="20970240" cy="626406"/>
            </a:xfrm>
            <a:prstGeom prst="rect">
              <a:avLst/>
            </a:prstGeom>
          </p:spPr>
          <p:txBody>
            <a:bodyPr lIns="0" tIns="0" rIns="0" bIns="0" rtlCol="0" anchor="ctr"/>
            <a:lstStyle/>
            <a:p>
              <a:pPr algn="l">
                <a:lnSpc>
                  <a:spcPts val="2760"/>
                </a:lnSpc>
              </a:pPr>
              <a:r>
                <a:rPr lang="en-US" sz="2300" spc="46">
                  <a:solidFill>
                    <a:srgbClr val="7C898B"/>
                  </a:solidFill>
                  <a:latin typeface="Playfair Display"/>
                  <a:ea typeface="Playfair Display"/>
                  <a:cs typeface="Playfair Display"/>
                  <a:sym typeface="Playfair Display"/>
                </a:rPr>
                <a:t>    context_size=10,      # sliding window size</a:t>
              </a:r>
            </a:p>
          </p:txBody>
        </p:sp>
      </p:grpSp>
      <p:grpSp>
        <p:nvGrpSpPr>
          <p:cNvPr id="36" name="Group 36"/>
          <p:cNvGrpSpPr/>
          <p:nvPr/>
        </p:nvGrpSpPr>
        <p:grpSpPr>
          <a:xfrm>
            <a:off x="914400" y="5961888"/>
            <a:ext cx="15727680" cy="462661"/>
            <a:chOff x="0" y="0"/>
            <a:chExt cx="20970240" cy="616881"/>
          </a:xfrm>
        </p:grpSpPr>
        <p:sp>
          <p:nvSpPr>
            <p:cNvPr id="37" name="Freeform 37"/>
            <p:cNvSpPr/>
            <p:nvPr/>
          </p:nvSpPr>
          <p:spPr>
            <a:xfrm>
              <a:off x="0" y="0"/>
              <a:ext cx="20970239" cy="616881"/>
            </a:xfrm>
            <a:custGeom>
              <a:avLst/>
              <a:gdLst/>
              <a:ahLst/>
              <a:cxnLst/>
              <a:rect l="l" t="t" r="r" b="b"/>
              <a:pathLst>
                <a:path w="20970239" h="616881">
                  <a:moveTo>
                    <a:pt x="0" y="0"/>
                  </a:moveTo>
                  <a:lnTo>
                    <a:pt x="20970239" y="0"/>
                  </a:lnTo>
                  <a:lnTo>
                    <a:pt x="20970239" y="616881"/>
                  </a:lnTo>
                  <a:lnTo>
                    <a:pt x="0" y="616881"/>
                  </a:lnTo>
                  <a:close/>
                </a:path>
              </a:pathLst>
            </a:custGeom>
            <a:blipFill>
              <a:blip r:embed="rId3">
                <a:alphaModFix amt="0"/>
              </a:blip>
              <a:stretch>
                <a:fillRect t="-614940" b="-609807"/>
              </a:stretch>
            </a:blipFill>
          </p:spPr>
          <p:txBody>
            <a:bodyPr/>
            <a:lstStyle/>
            <a:p>
              <a:endParaRPr lang="en-IN"/>
            </a:p>
          </p:txBody>
        </p:sp>
        <p:sp>
          <p:nvSpPr>
            <p:cNvPr id="38" name="TextBox 38"/>
            <p:cNvSpPr txBox="1"/>
            <p:nvPr/>
          </p:nvSpPr>
          <p:spPr>
            <a:xfrm>
              <a:off x="0" y="-9525"/>
              <a:ext cx="20970240" cy="626406"/>
            </a:xfrm>
            <a:prstGeom prst="rect">
              <a:avLst/>
            </a:prstGeom>
          </p:spPr>
          <p:txBody>
            <a:bodyPr lIns="0" tIns="0" rIns="0" bIns="0" rtlCol="0" anchor="ctr"/>
            <a:lstStyle/>
            <a:p>
              <a:pPr algn="l">
                <a:lnSpc>
                  <a:spcPts val="2760"/>
                </a:lnSpc>
              </a:pPr>
              <a:r>
                <a:rPr lang="en-US" sz="2300" spc="46">
                  <a:solidFill>
                    <a:srgbClr val="253439"/>
                  </a:solidFill>
                  <a:latin typeface="Playfair Display"/>
                  <a:ea typeface="Playfair Display"/>
                  <a:cs typeface="Playfair Display"/>
                  <a:sym typeface="Playfair Display"/>
                </a:rPr>
                <a:t>    p=1.0,                # return parameter</a:t>
              </a:r>
            </a:p>
          </p:txBody>
        </p:sp>
      </p:grpSp>
      <p:grpSp>
        <p:nvGrpSpPr>
          <p:cNvPr id="39" name="Group 39"/>
          <p:cNvGrpSpPr/>
          <p:nvPr/>
        </p:nvGrpSpPr>
        <p:grpSpPr>
          <a:xfrm>
            <a:off x="914400" y="6391656"/>
            <a:ext cx="15727680" cy="462661"/>
            <a:chOff x="0" y="0"/>
            <a:chExt cx="20970240" cy="616881"/>
          </a:xfrm>
        </p:grpSpPr>
        <p:sp>
          <p:nvSpPr>
            <p:cNvPr id="40" name="Freeform 40"/>
            <p:cNvSpPr/>
            <p:nvPr/>
          </p:nvSpPr>
          <p:spPr>
            <a:xfrm>
              <a:off x="0" y="0"/>
              <a:ext cx="20970239" cy="616881"/>
            </a:xfrm>
            <a:custGeom>
              <a:avLst/>
              <a:gdLst/>
              <a:ahLst/>
              <a:cxnLst/>
              <a:rect l="l" t="t" r="r" b="b"/>
              <a:pathLst>
                <a:path w="20970239" h="616881">
                  <a:moveTo>
                    <a:pt x="0" y="0"/>
                  </a:moveTo>
                  <a:lnTo>
                    <a:pt x="20970239" y="0"/>
                  </a:lnTo>
                  <a:lnTo>
                    <a:pt x="20970239" y="616881"/>
                  </a:lnTo>
                  <a:lnTo>
                    <a:pt x="0" y="616881"/>
                  </a:lnTo>
                  <a:close/>
                </a:path>
              </a:pathLst>
            </a:custGeom>
            <a:blipFill>
              <a:blip r:embed="rId3">
                <a:alphaModFix amt="0"/>
              </a:blip>
              <a:stretch>
                <a:fillRect t="-614940" b="-609807"/>
              </a:stretch>
            </a:blipFill>
          </p:spPr>
          <p:txBody>
            <a:bodyPr/>
            <a:lstStyle/>
            <a:p>
              <a:endParaRPr lang="en-IN"/>
            </a:p>
          </p:txBody>
        </p:sp>
        <p:sp>
          <p:nvSpPr>
            <p:cNvPr id="41" name="TextBox 41"/>
            <p:cNvSpPr txBox="1"/>
            <p:nvPr/>
          </p:nvSpPr>
          <p:spPr>
            <a:xfrm>
              <a:off x="0" y="-9525"/>
              <a:ext cx="20970240" cy="626406"/>
            </a:xfrm>
            <a:prstGeom prst="rect">
              <a:avLst/>
            </a:prstGeom>
          </p:spPr>
          <p:txBody>
            <a:bodyPr lIns="0" tIns="0" rIns="0" bIns="0" rtlCol="0" anchor="ctr"/>
            <a:lstStyle/>
            <a:p>
              <a:pPr algn="l">
                <a:lnSpc>
                  <a:spcPts val="2760"/>
                </a:lnSpc>
              </a:pPr>
              <a:r>
                <a:rPr lang="en-US" sz="2300" spc="46">
                  <a:solidFill>
                    <a:srgbClr val="253439"/>
                  </a:solidFill>
                  <a:latin typeface="Playfair Display"/>
                  <a:ea typeface="Playfair Display"/>
                  <a:cs typeface="Playfair Display"/>
                  <a:sym typeface="Playfair Display"/>
                </a:rPr>
                <a:t>    q=1.0,                # in-out parameter</a:t>
              </a:r>
            </a:p>
          </p:txBody>
        </p:sp>
      </p:grpSp>
      <p:grpSp>
        <p:nvGrpSpPr>
          <p:cNvPr id="42" name="Group 42"/>
          <p:cNvGrpSpPr/>
          <p:nvPr/>
        </p:nvGrpSpPr>
        <p:grpSpPr>
          <a:xfrm>
            <a:off x="914400" y="6821424"/>
            <a:ext cx="15727680" cy="462661"/>
            <a:chOff x="0" y="0"/>
            <a:chExt cx="20970240" cy="616881"/>
          </a:xfrm>
        </p:grpSpPr>
        <p:sp>
          <p:nvSpPr>
            <p:cNvPr id="43" name="Freeform 43"/>
            <p:cNvSpPr/>
            <p:nvPr/>
          </p:nvSpPr>
          <p:spPr>
            <a:xfrm>
              <a:off x="0" y="0"/>
              <a:ext cx="20970239" cy="616881"/>
            </a:xfrm>
            <a:custGeom>
              <a:avLst/>
              <a:gdLst/>
              <a:ahLst/>
              <a:cxnLst/>
              <a:rect l="l" t="t" r="r" b="b"/>
              <a:pathLst>
                <a:path w="20970239" h="616881">
                  <a:moveTo>
                    <a:pt x="0" y="0"/>
                  </a:moveTo>
                  <a:lnTo>
                    <a:pt x="20970239" y="0"/>
                  </a:lnTo>
                  <a:lnTo>
                    <a:pt x="20970239" y="616881"/>
                  </a:lnTo>
                  <a:lnTo>
                    <a:pt x="0" y="616881"/>
                  </a:lnTo>
                  <a:close/>
                </a:path>
              </a:pathLst>
            </a:custGeom>
            <a:blipFill>
              <a:blip r:embed="rId3">
                <a:alphaModFix amt="0"/>
              </a:blip>
              <a:stretch>
                <a:fillRect t="-614940" b="-609807"/>
              </a:stretch>
            </a:blipFill>
          </p:spPr>
          <p:txBody>
            <a:bodyPr/>
            <a:lstStyle/>
            <a:p>
              <a:endParaRPr lang="en-IN"/>
            </a:p>
          </p:txBody>
        </p:sp>
        <p:sp>
          <p:nvSpPr>
            <p:cNvPr id="44" name="TextBox 44"/>
            <p:cNvSpPr txBox="1"/>
            <p:nvPr/>
          </p:nvSpPr>
          <p:spPr>
            <a:xfrm>
              <a:off x="0" y="-9525"/>
              <a:ext cx="20970240" cy="626406"/>
            </a:xfrm>
            <a:prstGeom prst="rect">
              <a:avLst/>
            </a:prstGeom>
          </p:spPr>
          <p:txBody>
            <a:bodyPr lIns="0" tIns="0" rIns="0" bIns="0" rtlCol="0" anchor="ctr"/>
            <a:lstStyle/>
            <a:p>
              <a:pPr algn="l">
                <a:lnSpc>
                  <a:spcPts val="2760"/>
                </a:lnSpc>
              </a:pPr>
              <a:r>
                <a:rPr lang="en-US" sz="2300" spc="46">
                  <a:solidFill>
                    <a:srgbClr val="7C898B"/>
                  </a:solidFill>
                  <a:latin typeface="Playfair Display"/>
                  <a:ea typeface="Playfair Display"/>
                  <a:cs typeface="Playfair Display"/>
                  <a:sym typeface="Playfair Display"/>
                </a:rPr>
                <a:t>    num_negative_samples=1   # γ negative per positive</a:t>
              </a:r>
            </a:p>
          </p:txBody>
        </p:sp>
      </p:grpSp>
      <p:grpSp>
        <p:nvGrpSpPr>
          <p:cNvPr id="45" name="Group 45"/>
          <p:cNvGrpSpPr/>
          <p:nvPr/>
        </p:nvGrpSpPr>
        <p:grpSpPr>
          <a:xfrm>
            <a:off x="914400" y="7251192"/>
            <a:ext cx="15727680" cy="462661"/>
            <a:chOff x="0" y="0"/>
            <a:chExt cx="20970240" cy="616881"/>
          </a:xfrm>
        </p:grpSpPr>
        <p:sp>
          <p:nvSpPr>
            <p:cNvPr id="46" name="Freeform 46"/>
            <p:cNvSpPr/>
            <p:nvPr/>
          </p:nvSpPr>
          <p:spPr>
            <a:xfrm>
              <a:off x="0" y="0"/>
              <a:ext cx="20970239" cy="616881"/>
            </a:xfrm>
            <a:custGeom>
              <a:avLst/>
              <a:gdLst/>
              <a:ahLst/>
              <a:cxnLst/>
              <a:rect l="l" t="t" r="r" b="b"/>
              <a:pathLst>
                <a:path w="20970239" h="616881">
                  <a:moveTo>
                    <a:pt x="0" y="0"/>
                  </a:moveTo>
                  <a:lnTo>
                    <a:pt x="20970239" y="0"/>
                  </a:lnTo>
                  <a:lnTo>
                    <a:pt x="20970239" y="616881"/>
                  </a:lnTo>
                  <a:lnTo>
                    <a:pt x="0" y="616881"/>
                  </a:lnTo>
                  <a:close/>
                </a:path>
              </a:pathLst>
            </a:custGeom>
            <a:blipFill>
              <a:blip r:embed="rId3">
                <a:alphaModFix amt="0"/>
              </a:blip>
              <a:stretch>
                <a:fillRect t="-614940" b="-609807"/>
              </a:stretch>
            </a:blipFill>
          </p:spPr>
          <p:txBody>
            <a:bodyPr/>
            <a:lstStyle/>
            <a:p>
              <a:endParaRPr lang="en-IN"/>
            </a:p>
          </p:txBody>
        </p:sp>
        <p:sp>
          <p:nvSpPr>
            <p:cNvPr id="47" name="TextBox 47"/>
            <p:cNvSpPr txBox="1"/>
            <p:nvPr/>
          </p:nvSpPr>
          <p:spPr>
            <a:xfrm>
              <a:off x="0" y="-9525"/>
              <a:ext cx="20970240" cy="626406"/>
            </a:xfrm>
            <a:prstGeom prst="rect">
              <a:avLst/>
            </a:prstGeom>
          </p:spPr>
          <p:txBody>
            <a:bodyPr lIns="0" tIns="0" rIns="0" bIns="0" rtlCol="0" anchor="ctr"/>
            <a:lstStyle/>
            <a:p>
              <a:pPr algn="l">
                <a:lnSpc>
                  <a:spcPts val="2760"/>
                </a:lnSpc>
              </a:pPr>
              <a:r>
                <a:rPr lang="en-US" sz="2300" spc="46">
                  <a:solidFill>
                    <a:srgbClr val="B29E84"/>
                  </a:solidFill>
                  <a:latin typeface="Playfair Display"/>
                  <a:ea typeface="Playfair Display"/>
                  <a:cs typeface="Playfair Display"/>
                  <a:sym typeface="Playfair Display"/>
                </a:rPr>
                <a:t>)</a:t>
              </a:r>
            </a:p>
          </p:txBody>
        </p:sp>
      </p:grpSp>
      <p:grpSp>
        <p:nvGrpSpPr>
          <p:cNvPr id="48" name="Group 48"/>
          <p:cNvGrpSpPr/>
          <p:nvPr/>
        </p:nvGrpSpPr>
        <p:grpSpPr>
          <a:xfrm>
            <a:off x="914400" y="8110728"/>
            <a:ext cx="15727680" cy="462661"/>
            <a:chOff x="0" y="0"/>
            <a:chExt cx="20970240" cy="616881"/>
          </a:xfrm>
        </p:grpSpPr>
        <p:sp>
          <p:nvSpPr>
            <p:cNvPr id="49" name="Freeform 49"/>
            <p:cNvSpPr/>
            <p:nvPr/>
          </p:nvSpPr>
          <p:spPr>
            <a:xfrm>
              <a:off x="0" y="0"/>
              <a:ext cx="20970239" cy="616881"/>
            </a:xfrm>
            <a:custGeom>
              <a:avLst/>
              <a:gdLst/>
              <a:ahLst/>
              <a:cxnLst/>
              <a:rect l="l" t="t" r="r" b="b"/>
              <a:pathLst>
                <a:path w="20970239" h="616881">
                  <a:moveTo>
                    <a:pt x="0" y="0"/>
                  </a:moveTo>
                  <a:lnTo>
                    <a:pt x="20970239" y="0"/>
                  </a:lnTo>
                  <a:lnTo>
                    <a:pt x="20970239" y="616881"/>
                  </a:lnTo>
                  <a:lnTo>
                    <a:pt x="0" y="616881"/>
                  </a:lnTo>
                  <a:close/>
                </a:path>
              </a:pathLst>
            </a:custGeom>
            <a:blipFill>
              <a:blip r:embed="rId3">
                <a:alphaModFix amt="0"/>
              </a:blip>
              <a:stretch>
                <a:fillRect t="-614940" b="-609807"/>
              </a:stretch>
            </a:blipFill>
          </p:spPr>
          <p:txBody>
            <a:bodyPr/>
            <a:lstStyle/>
            <a:p>
              <a:endParaRPr lang="en-IN"/>
            </a:p>
          </p:txBody>
        </p:sp>
        <p:sp>
          <p:nvSpPr>
            <p:cNvPr id="50" name="TextBox 50"/>
            <p:cNvSpPr txBox="1"/>
            <p:nvPr/>
          </p:nvSpPr>
          <p:spPr>
            <a:xfrm>
              <a:off x="0" y="-9525"/>
              <a:ext cx="20970240" cy="626406"/>
            </a:xfrm>
            <a:prstGeom prst="rect">
              <a:avLst/>
            </a:prstGeom>
          </p:spPr>
          <p:txBody>
            <a:bodyPr lIns="0" tIns="0" rIns="0" bIns="0" rtlCol="0" anchor="ctr"/>
            <a:lstStyle/>
            <a:p>
              <a:pPr algn="l">
                <a:lnSpc>
                  <a:spcPts val="2760"/>
                </a:lnSpc>
              </a:pPr>
              <a:r>
                <a:rPr lang="en-US" sz="2300" spc="46">
                  <a:solidFill>
                    <a:srgbClr val="253439"/>
                  </a:solidFill>
                  <a:latin typeface="Playfair Display"/>
                  <a:ea typeface="Playfair Display"/>
                  <a:cs typeface="Playfair Display"/>
                  <a:sym typeface="Playfair Display"/>
                </a:rPr>
                <a:t>z = model()               # get all node embeddings after training</a:t>
              </a:r>
            </a:p>
          </p:txBody>
        </p:sp>
      </p:grpSp>
      <p:grpSp>
        <p:nvGrpSpPr>
          <p:cNvPr id="51" name="Group 51"/>
          <p:cNvGrpSpPr/>
          <p:nvPr/>
        </p:nvGrpSpPr>
        <p:grpSpPr>
          <a:xfrm>
            <a:off x="535943" y="9314183"/>
            <a:ext cx="16484603" cy="939803"/>
            <a:chOff x="0" y="0"/>
            <a:chExt cx="21979471" cy="1253071"/>
          </a:xfrm>
        </p:grpSpPr>
        <p:sp>
          <p:nvSpPr>
            <p:cNvPr id="52" name="Freeform 52"/>
            <p:cNvSpPr/>
            <p:nvPr/>
          </p:nvSpPr>
          <p:spPr>
            <a:xfrm>
              <a:off x="0" y="0"/>
              <a:ext cx="21979381" cy="1252982"/>
            </a:xfrm>
            <a:custGeom>
              <a:avLst/>
              <a:gdLst/>
              <a:ahLst/>
              <a:cxnLst/>
              <a:rect l="l" t="t" r="r" b="b"/>
              <a:pathLst>
                <a:path w="21979381" h="1252982">
                  <a:moveTo>
                    <a:pt x="0" y="250571"/>
                  </a:moveTo>
                  <a:cubicBezTo>
                    <a:pt x="0" y="112141"/>
                    <a:pt x="112141" y="0"/>
                    <a:pt x="250571" y="0"/>
                  </a:cubicBezTo>
                  <a:lnTo>
                    <a:pt x="21728810" y="0"/>
                  </a:lnTo>
                  <a:cubicBezTo>
                    <a:pt x="21867240" y="0"/>
                    <a:pt x="21979381" y="112141"/>
                    <a:pt x="21979381" y="250571"/>
                  </a:cubicBezTo>
                  <a:lnTo>
                    <a:pt x="21979381" y="1002411"/>
                  </a:lnTo>
                  <a:cubicBezTo>
                    <a:pt x="21979381" y="1140841"/>
                    <a:pt x="21867240" y="1252982"/>
                    <a:pt x="21728810" y="1252982"/>
                  </a:cubicBezTo>
                  <a:lnTo>
                    <a:pt x="250571" y="1252982"/>
                  </a:lnTo>
                  <a:cubicBezTo>
                    <a:pt x="112141" y="1253109"/>
                    <a:pt x="0" y="1140841"/>
                    <a:pt x="0" y="1002411"/>
                  </a:cubicBezTo>
                  <a:close/>
                </a:path>
              </a:pathLst>
            </a:custGeom>
            <a:solidFill>
              <a:srgbClr val="FFFFFF"/>
            </a:solidFill>
            <a:ln w="25400" cap="sq">
              <a:solidFill>
                <a:srgbClr val="D8E8F8"/>
              </a:solidFill>
              <a:prstDash val="solid"/>
              <a:miter/>
            </a:ln>
          </p:spPr>
          <p:txBody>
            <a:bodyPr/>
            <a:lstStyle/>
            <a:p>
              <a:endParaRPr lang="en-IN"/>
            </a:p>
          </p:txBody>
        </p:sp>
      </p:grpSp>
      <p:grpSp>
        <p:nvGrpSpPr>
          <p:cNvPr id="53" name="Group 53"/>
          <p:cNvGrpSpPr/>
          <p:nvPr/>
        </p:nvGrpSpPr>
        <p:grpSpPr>
          <a:xfrm>
            <a:off x="914400" y="9326880"/>
            <a:ext cx="15727680" cy="914400"/>
            <a:chOff x="0" y="0"/>
            <a:chExt cx="20970240" cy="1219200"/>
          </a:xfrm>
        </p:grpSpPr>
        <p:sp>
          <p:nvSpPr>
            <p:cNvPr id="54" name="Freeform 54"/>
            <p:cNvSpPr/>
            <p:nvPr/>
          </p:nvSpPr>
          <p:spPr>
            <a:xfrm>
              <a:off x="0" y="0"/>
              <a:ext cx="20970239" cy="1219200"/>
            </a:xfrm>
            <a:custGeom>
              <a:avLst/>
              <a:gdLst/>
              <a:ahLst/>
              <a:cxnLst/>
              <a:rect l="l" t="t" r="r" b="b"/>
              <a:pathLst>
                <a:path w="20970239" h="1219200">
                  <a:moveTo>
                    <a:pt x="0" y="0"/>
                  </a:moveTo>
                  <a:lnTo>
                    <a:pt x="20970239" y="0"/>
                  </a:lnTo>
                  <a:lnTo>
                    <a:pt x="20970239" y="1219200"/>
                  </a:lnTo>
                  <a:lnTo>
                    <a:pt x="0" y="1219200"/>
                  </a:lnTo>
                  <a:close/>
                </a:path>
              </a:pathLst>
            </a:custGeom>
            <a:blipFill>
              <a:blip r:embed="rId3">
                <a:alphaModFix amt="0"/>
              </a:blip>
              <a:stretch>
                <a:fillRect t="-285142" b="-285142"/>
              </a:stretch>
            </a:blipFill>
          </p:spPr>
          <p:txBody>
            <a:bodyPr/>
            <a:lstStyle/>
            <a:p>
              <a:endParaRPr lang="en-IN"/>
            </a:p>
          </p:txBody>
        </p:sp>
        <p:sp>
          <p:nvSpPr>
            <p:cNvPr id="55" name="TextBox 55"/>
            <p:cNvSpPr txBox="1"/>
            <p:nvPr/>
          </p:nvSpPr>
          <p:spPr>
            <a:xfrm>
              <a:off x="0" y="0"/>
              <a:ext cx="20970240" cy="1219200"/>
            </a:xfrm>
            <a:prstGeom prst="rect">
              <a:avLst/>
            </a:prstGeom>
          </p:spPr>
          <p:txBody>
            <a:bodyPr lIns="0" tIns="0" rIns="0" bIns="0" rtlCol="0" anchor="ctr"/>
            <a:lstStyle/>
            <a:p>
              <a:pPr algn="ctr">
                <a:lnSpc>
                  <a:spcPts val="2879"/>
                </a:lnSpc>
              </a:pPr>
              <a:r>
                <a:rPr lang="en-US" sz="2400" spc="48">
                  <a:solidFill>
                    <a:srgbClr val="253439"/>
                  </a:solidFill>
                  <a:latin typeface="Playfair Display"/>
                  <a:ea typeface="Playfair Display"/>
                  <a:cs typeface="Playfair Display"/>
                  <a:sym typeface="Playfair Display"/>
                </a:rPr>
                <a:t>p=q=1 → uniform DeepWalk  |  p&lt;1 → BFS-like  |  q&lt;1 → DFS-like  |  z = final embedding matrix Z</a:t>
              </a: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253439"/>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0" y="0"/>
              <a:ext cx="24417910" cy="1789557"/>
            </a:xfrm>
            <a:custGeom>
              <a:avLst/>
              <a:gdLst/>
              <a:ahLst/>
              <a:cxnLst/>
              <a:rect l="l" t="t" r="r" b="b"/>
              <a:pathLst>
                <a:path w="24417910" h="1789557">
                  <a:moveTo>
                    <a:pt x="0" y="0"/>
                  </a:moveTo>
                  <a:lnTo>
                    <a:pt x="24417910" y="0"/>
                  </a:lnTo>
                  <a:lnTo>
                    <a:pt x="24417910" y="1789557"/>
                  </a:lnTo>
                  <a:lnTo>
                    <a:pt x="0" y="1789557"/>
                  </a:lnTo>
                  <a:close/>
                </a:path>
              </a:pathLst>
            </a:custGeom>
            <a:solidFill>
              <a:srgbClr val="595551"/>
            </a:solidFill>
            <a:ln w="25400" cap="sq">
              <a:solidFill>
                <a:srgbClr val="1A3461"/>
              </a:solidFill>
              <a:prstDash val="solid"/>
              <a:miter/>
            </a:ln>
          </p:spPr>
          <p:txBody>
            <a:bodyPr/>
            <a:lstStyle/>
            <a:p>
              <a:endParaRPr lang="en-IN"/>
            </a:p>
          </p:txBody>
        </p:sp>
      </p:grpSp>
      <p:grpSp>
        <p:nvGrpSpPr>
          <p:cNvPr id="4" name="Group 4"/>
          <p:cNvGrpSpPr/>
          <p:nvPr/>
        </p:nvGrpSpPr>
        <p:grpSpPr>
          <a:xfrm>
            <a:off x="731520" y="0"/>
            <a:ext cx="16824960" cy="1316736"/>
            <a:chOff x="0" y="0"/>
            <a:chExt cx="22433280" cy="1755648"/>
          </a:xfrm>
        </p:grpSpPr>
        <p:sp>
          <p:nvSpPr>
            <p:cNvPr id="5" name="Freeform 5"/>
            <p:cNvSpPr/>
            <p:nvPr/>
          </p:nvSpPr>
          <p:spPr>
            <a:xfrm>
              <a:off x="0" y="0"/>
              <a:ext cx="22433280" cy="1755648"/>
            </a:xfrm>
            <a:custGeom>
              <a:avLst/>
              <a:gdLst/>
              <a:ahLst/>
              <a:cxnLst/>
              <a:rect l="l" t="t" r="r" b="b"/>
              <a:pathLst>
                <a:path w="22433280" h="1755648">
                  <a:moveTo>
                    <a:pt x="0" y="0"/>
                  </a:moveTo>
                  <a:lnTo>
                    <a:pt x="22433280" y="0"/>
                  </a:lnTo>
                  <a:lnTo>
                    <a:pt x="22433280" y="1755648"/>
                  </a:lnTo>
                  <a:lnTo>
                    <a:pt x="0" y="1755648"/>
                  </a:lnTo>
                  <a:close/>
                </a:path>
              </a:pathLst>
            </a:custGeom>
            <a:blipFill>
              <a:blip r:embed="rId3">
                <a:alphaModFix amt="0"/>
              </a:blip>
              <a:stretch>
                <a:fillRect t="-198975" b="-198975"/>
              </a:stretch>
            </a:blipFill>
          </p:spPr>
          <p:txBody>
            <a:bodyPr/>
            <a:lstStyle/>
            <a:p>
              <a:endParaRPr lang="en-IN"/>
            </a:p>
          </p:txBody>
        </p:sp>
        <p:sp>
          <p:nvSpPr>
            <p:cNvPr id="6" name="TextBox 6"/>
            <p:cNvSpPr txBox="1"/>
            <p:nvPr/>
          </p:nvSpPr>
          <p:spPr>
            <a:xfrm>
              <a:off x="0" y="-9525"/>
              <a:ext cx="22433280" cy="1765173"/>
            </a:xfrm>
            <a:prstGeom prst="rect">
              <a:avLst/>
            </a:prstGeom>
          </p:spPr>
          <p:txBody>
            <a:bodyPr lIns="0" tIns="0" rIns="0" bIns="0" rtlCol="0" anchor="ctr"/>
            <a:lstStyle/>
            <a:p>
              <a:pPr algn="l">
                <a:lnSpc>
                  <a:spcPts val="4800"/>
                </a:lnSpc>
              </a:pPr>
              <a:r>
                <a:rPr lang="en-US" sz="4000" spc="560">
                  <a:solidFill>
                    <a:srgbClr val="B29E84"/>
                  </a:solidFill>
                  <a:latin typeface="Hammersmith One"/>
                  <a:ea typeface="Hammersmith One"/>
                  <a:cs typeface="Hammersmith One"/>
                  <a:sym typeface="Hammersmith One"/>
                </a:rPr>
                <a:t>FROM NODE EMBEDDINGS TO GRAPH EMBEDDINGS</a:t>
              </a:r>
            </a:p>
          </p:txBody>
        </p:sp>
      </p:grpSp>
      <p:sp>
        <p:nvSpPr>
          <p:cNvPr id="8" name="Freeform 8"/>
          <p:cNvSpPr/>
          <p:nvPr/>
        </p:nvSpPr>
        <p:spPr>
          <a:xfrm>
            <a:off x="731520" y="73152"/>
            <a:ext cx="16459200" cy="402336"/>
          </a:xfrm>
          <a:custGeom>
            <a:avLst/>
            <a:gdLst/>
            <a:ahLst/>
            <a:cxnLst/>
            <a:rect l="l" t="t" r="r" b="b"/>
            <a:pathLst>
              <a:path w="21945600" h="536448">
                <a:moveTo>
                  <a:pt x="0" y="0"/>
                </a:moveTo>
                <a:lnTo>
                  <a:pt x="21945600" y="0"/>
                </a:lnTo>
                <a:lnTo>
                  <a:pt x="21945600" y="536448"/>
                </a:lnTo>
                <a:lnTo>
                  <a:pt x="0" y="536448"/>
                </a:lnTo>
                <a:close/>
              </a:path>
            </a:pathLst>
          </a:custGeom>
          <a:blipFill>
            <a:blip r:embed="rId3">
              <a:alphaModFix amt="0"/>
            </a:blip>
            <a:stretch>
              <a:fillRect t="-747115" b="-747115"/>
            </a:stretch>
          </a:blipFill>
        </p:spPr>
        <p:txBody>
          <a:bodyPr/>
          <a:lstStyle/>
          <a:p>
            <a:endParaRPr lang="en-IN"/>
          </a:p>
        </p:txBody>
      </p:sp>
      <p:grpSp>
        <p:nvGrpSpPr>
          <p:cNvPr id="10" name="Group 10"/>
          <p:cNvGrpSpPr/>
          <p:nvPr/>
        </p:nvGrpSpPr>
        <p:grpSpPr>
          <a:xfrm>
            <a:off x="731520" y="1499616"/>
            <a:ext cx="16824960" cy="983996"/>
            <a:chOff x="0" y="0"/>
            <a:chExt cx="22433280" cy="1311995"/>
          </a:xfrm>
        </p:grpSpPr>
        <p:sp>
          <p:nvSpPr>
            <p:cNvPr id="11" name="Freeform 11"/>
            <p:cNvSpPr/>
            <p:nvPr/>
          </p:nvSpPr>
          <p:spPr>
            <a:xfrm>
              <a:off x="0" y="0"/>
              <a:ext cx="22433280" cy="1311995"/>
            </a:xfrm>
            <a:custGeom>
              <a:avLst/>
              <a:gdLst/>
              <a:ahLst/>
              <a:cxnLst/>
              <a:rect l="l" t="t" r="r" b="b"/>
              <a:pathLst>
                <a:path w="22433280" h="1311995">
                  <a:moveTo>
                    <a:pt x="0" y="0"/>
                  </a:moveTo>
                  <a:lnTo>
                    <a:pt x="22433280" y="0"/>
                  </a:lnTo>
                  <a:lnTo>
                    <a:pt x="22433280" y="1311995"/>
                  </a:lnTo>
                  <a:lnTo>
                    <a:pt x="0" y="1311995"/>
                  </a:lnTo>
                  <a:close/>
                </a:path>
              </a:pathLst>
            </a:custGeom>
            <a:blipFill>
              <a:blip r:embed="rId3">
                <a:alphaModFix amt="0"/>
              </a:blip>
              <a:stretch>
                <a:fillRect t="-295996" b="-270337"/>
              </a:stretch>
            </a:blipFill>
          </p:spPr>
          <p:txBody>
            <a:bodyPr/>
            <a:lstStyle/>
            <a:p>
              <a:endParaRPr lang="en-IN"/>
            </a:p>
          </p:txBody>
        </p:sp>
        <p:sp>
          <p:nvSpPr>
            <p:cNvPr id="12" name="TextBox 12"/>
            <p:cNvSpPr txBox="1"/>
            <p:nvPr/>
          </p:nvSpPr>
          <p:spPr>
            <a:xfrm>
              <a:off x="0" y="9525"/>
              <a:ext cx="22433280" cy="1302470"/>
            </a:xfrm>
            <a:prstGeom prst="rect">
              <a:avLst/>
            </a:prstGeom>
          </p:spPr>
          <p:txBody>
            <a:bodyPr lIns="0" tIns="0" rIns="0" bIns="0" rtlCol="0" anchor="ctr"/>
            <a:lstStyle/>
            <a:p>
              <a:pPr algn="l">
                <a:lnSpc>
                  <a:spcPts val="3359"/>
                </a:lnSpc>
              </a:pPr>
              <a:r>
                <a:rPr lang="en-US" sz="2799" spc="55" dirty="0">
                  <a:solidFill>
                    <a:srgbClr val="FFFFFF"/>
                  </a:solidFill>
                  <a:latin typeface="Playfair Display"/>
                  <a:ea typeface="Playfair Display"/>
                  <a:cs typeface="Playfair Display"/>
                  <a:sym typeface="Playfair Display"/>
                </a:rPr>
                <a:t>So far we have embeddings for individual nodes. How do we embed an entire graph G into one vector z_G?</a:t>
              </a:r>
            </a:p>
          </p:txBody>
        </p:sp>
      </p:grpSp>
      <p:grpSp>
        <p:nvGrpSpPr>
          <p:cNvPr id="13" name="Group 13"/>
          <p:cNvGrpSpPr/>
          <p:nvPr/>
        </p:nvGrpSpPr>
        <p:grpSpPr>
          <a:xfrm>
            <a:off x="535943" y="2456183"/>
            <a:ext cx="8216960" cy="7183117"/>
            <a:chOff x="0" y="0"/>
            <a:chExt cx="10762831" cy="9177871"/>
          </a:xfrm>
        </p:grpSpPr>
        <p:sp>
          <p:nvSpPr>
            <p:cNvPr id="14" name="Freeform 14"/>
            <p:cNvSpPr/>
            <p:nvPr/>
          </p:nvSpPr>
          <p:spPr>
            <a:xfrm>
              <a:off x="0" y="0"/>
              <a:ext cx="10762742" cy="9177783"/>
            </a:xfrm>
            <a:custGeom>
              <a:avLst/>
              <a:gdLst/>
              <a:ahLst/>
              <a:cxnLst/>
              <a:rect l="l" t="t" r="r" b="b"/>
              <a:pathLst>
                <a:path w="10762742" h="9177783">
                  <a:moveTo>
                    <a:pt x="0" y="244729"/>
                  </a:moveTo>
                  <a:cubicBezTo>
                    <a:pt x="0" y="109601"/>
                    <a:pt x="109601" y="0"/>
                    <a:pt x="244729" y="0"/>
                  </a:cubicBezTo>
                  <a:lnTo>
                    <a:pt x="10518013" y="0"/>
                  </a:lnTo>
                  <a:cubicBezTo>
                    <a:pt x="10653141" y="0"/>
                    <a:pt x="10762742" y="109601"/>
                    <a:pt x="10762742" y="244729"/>
                  </a:cubicBezTo>
                  <a:lnTo>
                    <a:pt x="10762742" y="8933053"/>
                  </a:lnTo>
                  <a:cubicBezTo>
                    <a:pt x="10762742" y="9068181"/>
                    <a:pt x="10653141" y="9177782"/>
                    <a:pt x="10518013" y="9177782"/>
                  </a:cubicBezTo>
                  <a:lnTo>
                    <a:pt x="244729" y="9177782"/>
                  </a:lnTo>
                  <a:cubicBezTo>
                    <a:pt x="109601" y="9177909"/>
                    <a:pt x="0" y="9068308"/>
                    <a:pt x="0" y="8933053"/>
                  </a:cubicBezTo>
                  <a:close/>
                </a:path>
              </a:pathLst>
            </a:custGeom>
            <a:solidFill>
              <a:srgbClr val="7C898B"/>
            </a:solidFill>
            <a:ln w="25400" cap="sq">
              <a:solidFill>
                <a:srgbClr val="D8E8F8"/>
              </a:solidFill>
              <a:prstDash val="solid"/>
              <a:miter/>
            </a:ln>
          </p:spPr>
          <p:txBody>
            <a:bodyPr/>
            <a:lstStyle/>
            <a:p>
              <a:endParaRPr lang="en-IN"/>
            </a:p>
          </p:txBody>
        </p:sp>
      </p:grpSp>
      <p:grpSp>
        <p:nvGrpSpPr>
          <p:cNvPr id="15" name="Group 15"/>
          <p:cNvGrpSpPr/>
          <p:nvPr/>
        </p:nvGrpSpPr>
        <p:grpSpPr>
          <a:xfrm>
            <a:off x="914400" y="2560320"/>
            <a:ext cx="7315200" cy="694944"/>
            <a:chOff x="0" y="0"/>
            <a:chExt cx="9753600" cy="926592"/>
          </a:xfrm>
        </p:grpSpPr>
        <p:sp>
          <p:nvSpPr>
            <p:cNvPr id="16" name="Freeform 16"/>
            <p:cNvSpPr/>
            <p:nvPr/>
          </p:nvSpPr>
          <p:spPr>
            <a:xfrm>
              <a:off x="0" y="0"/>
              <a:ext cx="9753600" cy="926592"/>
            </a:xfrm>
            <a:custGeom>
              <a:avLst/>
              <a:gdLst/>
              <a:ahLst/>
              <a:cxnLst/>
              <a:rect l="l" t="t" r="r" b="b"/>
              <a:pathLst>
                <a:path w="9753600" h="926592">
                  <a:moveTo>
                    <a:pt x="0" y="0"/>
                  </a:moveTo>
                  <a:lnTo>
                    <a:pt x="9753600" y="0"/>
                  </a:lnTo>
                  <a:lnTo>
                    <a:pt x="9753600" y="926592"/>
                  </a:lnTo>
                  <a:lnTo>
                    <a:pt x="0" y="926592"/>
                  </a:lnTo>
                  <a:close/>
                </a:path>
              </a:pathLst>
            </a:custGeom>
            <a:blipFill>
              <a:blip r:embed="rId3">
                <a:alphaModFix amt="0"/>
              </a:blip>
              <a:stretch>
                <a:fillRect t="-155105" b="-155105"/>
              </a:stretch>
            </a:blipFill>
          </p:spPr>
          <p:txBody>
            <a:bodyPr/>
            <a:lstStyle/>
            <a:p>
              <a:endParaRPr lang="en-IN"/>
            </a:p>
          </p:txBody>
        </p:sp>
        <p:sp>
          <p:nvSpPr>
            <p:cNvPr id="17" name="TextBox 17"/>
            <p:cNvSpPr txBox="1"/>
            <p:nvPr/>
          </p:nvSpPr>
          <p:spPr>
            <a:xfrm>
              <a:off x="0" y="9525"/>
              <a:ext cx="9753600" cy="917067"/>
            </a:xfrm>
            <a:prstGeom prst="rect">
              <a:avLst/>
            </a:prstGeom>
          </p:spPr>
          <p:txBody>
            <a:bodyPr lIns="0" tIns="0" rIns="0" bIns="0" rtlCol="0" anchor="ctr"/>
            <a:lstStyle/>
            <a:p>
              <a:pPr algn="l">
                <a:lnSpc>
                  <a:spcPts val="3359"/>
                </a:lnSpc>
              </a:pPr>
              <a:r>
                <a:rPr lang="en-US" sz="2799" i="1" spc="140">
                  <a:solidFill>
                    <a:srgbClr val="FFFFFF"/>
                  </a:solidFill>
                  <a:latin typeface="Playfair Display Italics"/>
                  <a:ea typeface="Playfair Display Italics"/>
                  <a:cs typeface="Playfair Display Italics"/>
                  <a:sym typeface="Playfair Display Italics"/>
                </a:rPr>
                <a:t>Approach 1: Sum / Average</a:t>
              </a:r>
            </a:p>
          </p:txBody>
        </p:sp>
      </p:grpSp>
      <p:grpSp>
        <p:nvGrpSpPr>
          <p:cNvPr id="18" name="Group 18"/>
          <p:cNvGrpSpPr/>
          <p:nvPr/>
        </p:nvGrpSpPr>
        <p:grpSpPr>
          <a:xfrm>
            <a:off x="914400" y="3328416"/>
            <a:ext cx="7315200" cy="1306957"/>
            <a:chOff x="0" y="0"/>
            <a:chExt cx="9753600" cy="1742609"/>
          </a:xfrm>
        </p:grpSpPr>
        <p:sp>
          <p:nvSpPr>
            <p:cNvPr id="19" name="Freeform 19"/>
            <p:cNvSpPr/>
            <p:nvPr/>
          </p:nvSpPr>
          <p:spPr>
            <a:xfrm>
              <a:off x="0" y="0"/>
              <a:ext cx="9753600" cy="1742609"/>
            </a:xfrm>
            <a:custGeom>
              <a:avLst/>
              <a:gdLst/>
              <a:ahLst/>
              <a:cxnLst/>
              <a:rect l="l" t="t" r="r" b="b"/>
              <a:pathLst>
                <a:path w="9753600" h="1742609">
                  <a:moveTo>
                    <a:pt x="0" y="0"/>
                  </a:moveTo>
                  <a:lnTo>
                    <a:pt x="9753600" y="0"/>
                  </a:lnTo>
                  <a:lnTo>
                    <a:pt x="9753600" y="1742609"/>
                  </a:lnTo>
                  <a:lnTo>
                    <a:pt x="0" y="1742609"/>
                  </a:lnTo>
                  <a:close/>
                </a:path>
              </a:pathLst>
            </a:custGeom>
            <a:blipFill>
              <a:blip r:embed="rId3">
                <a:alphaModFix amt="0"/>
              </a:blip>
              <a:stretch>
                <a:fillRect t="-70579" b="-47540"/>
              </a:stretch>
            </a:blipFill>
          </p:spPr>
          <p:txBody>
            <a:bodyPr/>
            <a:lstStyle/>
            <a:p>
              <a:endParaRPr lang="en-IN"/>
            </a:p>
          </p:txBody>
        </p:sp>
        <p:sp>
          <p:nvSpPr>
            <p:cNvPr id="20" name="TextBox 20"/>
            <p:cNvSpPr txBox="1"/>
            <p:nvPr/>
          </p:nvSpPr>
          <p:spPr>
            <a:xfrm>
              <a:off x="0" y="0"/>
              <a:ext cx="9753600" cy="1742609"/>
            </a:xfrm>
            <a:prstGeom prst="rect">
              <a:avLst/>
            </a:prstGeom>
          </p:spPr>
          <p:txBody>
            <a:bodyPr lIns="0" tIns="0" rIns="0" bIns="0" rtlCol="0" anchor="ctr"/>
            <a:lstStyle/>
            <a:p>
              <a:pPr algn="l">
                <a:lnSpc>
                  <a:spcPts val="3120"/>
                </a:lnSpc>
              </a:pPr>
              <a:r>
                <a:rPr lang="en-US" sz="2600" spc="52">
                  <a:solidFill>
                    <a:srgbClr val="FFFFFF"/>
                  </a:solidFill>
                  <a:latin typeface="Playfair Display"/>
                  <a:ea typeface="Playfair Display"/>
                  <a:cs typeface="Playfair Display"/>
                  <a:sym typeface="Playfair Display"/>
                </a:rPr>
                <a:t>Train node embeddings normally with node2vec.</a:t>
              </a:r>
            </a:p>
            <a:p>
              <a:pPr algn="l">
                <a:lnSpc>
                  <a:spcPts val="3120"/>
                </a:lnSpc>
              </a:pPr>
              <a:r>
                <a:rPr lang="en-US" sz="2600" spc="52">
                  <a:solidFill>
                    <a:srgbClr val="FFFFFF"/>
                  </a:solidFill>
                  <a:latin typeface="Playfair Display"/>
                  <a:ea typeface="Playfair Display"/>
                  <a:cs typeface="Playfair Display"/>
                  <a:sym typeface="Playfair Display"/>
                </a:rPr>
                <a:t>Then simply aggregate all node vectors:</a:t>
              </a:r>
            </a:p>
          </p:txBody>
        </p:sp>
      </p:grpSp>
      <p:grpSp>
        <p:nvGrpSpPr>
          <p:cNvPr id="21" name="Group 21"/>
          <p:cNvGrpSpPr/>
          <p:nvPr/>
        </p:nvGrpSpPr>
        <p:grpSpPr>
          <a:xfrm>
            <a:off x="763056" y="4821319"/>
            <a:ext cx="7162800" cy="908304"/>
            <a:chOff x="0" y="0"/>
            <a:chExt cx="9550400" cy="1211072"/>
          </a:xfrm>
        </p:grpSpPr>
        <p:sp>
          <p:nvSpPr>
            <p:cNvPr id="22" name="Freeform 22"/>
            <p:cNvSpPr/>
            <p:nvPr/>
          </p:nvSpPr>
          <p:spPr>
            <a:xfrm>
              <a:off x="0" y="0"/>
              <a:ext cx="9550400" cy="1211072"/>
            </a:xfrm>
            <a:custGeom>
              <a:avLst/>
              <a:gdLst/>
              <a:ahLst/>
              <a:cxnLst/>
              <a:rect l="l" t="t" r="r" b="b"/>
              <a:pathLst>
                <a:path w="9550400" h="1211072">
                  <a:moveTo>
                    <a:pt x="0" y="176657"/>
                  </a:moveTo>
                  <a:cubicBezTo>
                    <a:pt x="0" y="79121"/>
                    <a:pt x="79121" y="0"/>
                    <a:pt x="176657" y="0"/>
                  </a:cubicBezTo>
                  <a:lnTo>
                    <a:pt x="9373743" y="0"/>
                  </a:lnTo>
                  <a:cubicBezTo>
                    <a:pt x="9471279" y="0"/>
                    <a:pt x="9550400" y="79121"/>
                    <a:pt x="9550400" y="176657"/>
                  </a:cubicBezTo>
                  <a:lnTo>
                    <a:pt x="9550400" y="1034415"/>
                  </a:lnTo>
                  <a:cubicBezTo>
                    <a:pt x="9550400" y="1131951"/>
                    <a:pt x="9471279" y="1211072"/>
                    <a:pt x="9373743" y="1211072"/>
                  </a:cubicBezTo>
                  <a:lnTo>
                    <a:pt x="176657" y="1211072"/>
                  </a:lnTo>
                  <a:cubicBezTo>
                    <a:pt x="79121" y="1211072"/>
                    <a:pt x="0" y="1131951"/>
                    <a:pt x="0" y="1034415"/>
                  </a:cubicBezTo>
                  <a:close/>
                </a:path>
              </a:pathLst>
            </a:custGeom>
            <a:solidFill>
              <a:srgbClr val="253439"/>
            </a:solidFill>
            <a:ln w="30480" cap="sq">
              <a:solidFill>
                <a:srgbClr val="C8DDF5"/>
              </a:solidFill>
              <a:prstDash val="solid"/>
              <a:miter/>
            </a:ln>
          </p:spPr>
          <p:txBody>
            <a:bodyPr/>
            <a:lstStyle/>
            <a:p>
              <a:endParaRPr lang="en-IN"/>
            </a:p>
          </p:txBody>
        </p:sp>
      </p:grpSp>
      <p:grpSp>
        <p:nvGrpSpPr>
          <p:cNvPr id="23" name="Group 23"/>
          <p:cNvGrpSpPr/>
          <p:nvPr/>
        </p:nvGrpSpPr>
        <p:grpSpPr>
          <a:xfrm>
            <a:off x="1133856" y="4425696"/>
            <a:ext cx="6693408" cy="1251204"/>
            <a:chOff x="0" y="0"/>
            <a:chExt cx="8924544" cy="1668272"/>
          </a:xfrm>
        </p:grpSpPr>
        <p:sp>
          <p:nvSpPr>
            <p:cNvPr id="24" name="Freeform 24"/>
            <p:cNvSpPr/>
            <p:nvPr/>
          </p:nvSpPr>
          <p:spPr>
            <a:xfrm>
              <a:off x="0" y="0"/>
              <a:ext cx="8924544" cy="1170432"/>
            </a:xfrm>
            <a:custGeom>
              <a:avLst/>
              <a:gdLst/>
              <a:ahLst/>
              <a:cxnLst/>
              <a:rect l="l" t="t" r="r" b="b"/>
              <a:pathLst>
                <a:path w="8924544" h="1170432">
                  <a:moveTo>
                    <a:pt x="0" y="0"/>
                  </a:moveTo>
                  <a:lnTo>
                    <a:pt x="8924544" y="0"/>
                  </a:lnTo>
                  <a:lnTo>
                    <a:pt x="8924544" y="1170432"/>
                  </a:lnTo>
                  <a:lnTo>
                    <a:pt x="0" y="1170432"/>
                  </a:lnTo>
                  <a:close/>
                </a:path>
              </a:pathLst>
            </a:custGeom>
            <a:blipFill>
              <a:blip r:embed="rId3">
                <a:alphaModFix amt="0"/>
              </a:blip>
              <a:stretch>
                <a:fillRect t="-98573" b="-98573"/>
              </a:stretch>
            </a:blipFill>
          </p:spPr>
          <p:txBody>
            <a:bodyPr/>
            <a:lstStyle/>
            <a:p>
              <a:endParaRPr lang="en-IN"/>
            </a:p>
          </p:txBody>
        </p:sp>
        <p:sp>
          <p:nvSpPr>
            <p:cNvPr id="25" name="TextBox 25"/>
            <p:cNvSpPr txBox="1"/>
            <p:nvPr/>
          </p:nvSpPr>
          <p:spPr>
            <a:xfrm>
              <a:off x="0" y="497840"/>
              <a:ext cx="8924544" cy="1170432"/>
            </a:xfrm>
            <a:prstGeom prst="rect">
              <a:avLst/>
            </a:prstGeom>
          </p:spPr>
          <p:txBody>
            <a:bodyPr lIns="0" tIns="0" rIns="0" bIns="0" rtlCol="0" anchor="ctr"/>
            <a:lstStyle/>
            <a:p>
              <a:pPr algn="l">
                <a:lnSpc>
                  <a:spcPts val="3120"/>
                </a:lnSpc>
              </a:pPr>
              <a:r>
                <a:rPr lang="en-US" sz="2600" i="1" spc="130" dirty="0">
                  <a:solidFill>
                    <a:srgbClr val="FFFFFF"/>
                  </a:solidFill>
                  <a:latin typeface="Playfair Display Italics"/>
                  <a:ea typeface="Playfair Display Italics"/>
                  <a:cs typeface="Playfair Display Italics"/>
                  <a:sym typeface="Playfair Display Italics"/>
                </a:rPr>
                <a:t>z_G = Σ z_v  (or average)</a:t>
              </a:r>
            </a:p>
          </p:txBody>
        </p:sp>
      </p:grpSp>
      <p:grpSp>
        <p:nvGrpSpPr>
          <p:cNvPr id="26" name="Group 26"/>
          <p:cNvGrpSpPr/>
          <p:nvPr/>
        </p:nvGrpSpPr>
        <p:grpSpPr>
          <a:xfrm>
            <a:off x="914400" y="5394960"/>
            <a:ext cx="7315200" cy="3566160"/>
            <a:chOff x="0" y="0"/>
            <a:chExt cx="9753600" cy="4754880"/>
          </a:xfrm>
        </p:grpSpPr>
        <p:sp>
          <p:nvSpPr>
            <p:cNvPr id="27" name="Freeform 27"/>
            <p:cNvSpPr/>
            <p:nvPr/>
          </p:nvSpPr>
          <p:spPr>
            <a:xfrm>
              <a:off x="0" y="0"/>
              <a:ext cx="9753600" cy="4754880"/>
            </a:xfrm>
            <a:custGeom>
              <a:avLst/>
              <a:gdLst/>
              <a:ahLst/>
              <a:cxnLst/>
              <a:rect l="l" t="t" r="r" b="b"/>
              <a:pathLst>
                <a:path w="9753600" h="4754880">
                  <a:moveTo>
                    <a:pt x="0" y="0"/>
                  </a:moveTo>
                  <a:lnTo>
                    <a:pt x="9753600" y="0"/>
                  </a:lnTo>
                  <a:lnTo>
                    <a:pt x="9753600" y="4754880"/>
                  </a:lnTo>
                  <a:lnTo>
                    <a:pt x="0" y="4754880"/>
                  </a:lnTo>
                  <a:close/>
                </a:path>
              </a:pathLst>
            </a:custGeom>
            <a:blipFill>
              <a:blip r:embed="rId3">
                <a:alphaModFix amt="0"/>
              </a:blip>
              <a:stretch>
                <a:fillRect l="-12547" r="-12547"/>
              </a:stretch>
            </a:blipFill>
          </p:spPr>
          <p:txBody>
            <a:bodyPr/>
            <a:lstStyle/>
            <a:p>
              <a:endParaRPr lang="en-IN"/>
            </a:p>
          </p:txBody>
        </p:sp>
        <p:sp>
          <p:nvSpPr>
            <p:cNvPr id="28" name="TextBox 28"/>
            <p:cNvSpPr txBox="1"/>
            <p:nvPr/>
          </p:nvSpPr>
          <p:spPr>
            <a:xfrm>
              <a:off x="0" y="0"/>
              <a:ext cx="9753600" cy="4754880"/>
            </a:xfrm>
            <a:prstGeom prst="rect">
              <a:avLst/>
            </a:prstGeom>
          </p:spPr>
          <p:txBody>
            <a:bodyPr lIns="0" tIns="0" rIns="0" bIns="0" rtlCol="0" anchor="ctr"/>
            <a:lstStyle/>
            <a:p>
              <a:pPr algn="l">
                <a:lnSpc>
                  <a:spcPts val="3120"/>
                </a:lnSpc>
              </a:pPr>
              <a:endParaRPr/>
            </a:p>
            <a:p>
              <a:pPr algn="l">
                <a:lnSpc>
                  <a:spcPts val="3120"/>
                </a:lnSpc>
              </a:pPr>
              <a:r>
                <a:rPr lang="en-US" sz="2600" spc="52">
                  <a:solidFill>
                    <a:srgbClr val="FFFFFF"/>
                  </a:solidFill>
                  <a:latin typeface="Playfair Display"/>
                  <a:ea typeface="Playfair Display"/>
                  <a:cs typeface="Playfair Display"/>
                  <a:sym typeface="Playfair Display"/>
                </a:rPr>
                <a:t>Simple and fast.</a:t>
              </a:r>
            </a:p>
            <a:p>
              <a:pPr algn="l">
                <a:lnSpc>
                  <a:spcPts val="3120"/>
                </a:lnSpc>
              </a:pPr>
              <a:endParaRPr lang="en-US" sz="2600" spc="52">
                <a:solidFill>
                  <a:srgbClr val="FFFFFF"/>
                </a:solidFill>
                <a:latin typeface="Playfair Display"/>
                <a:ea typeface="Playfair Display"/>
                <a:cs typeface="Playfair Display"/>
                <a:sym typeface="Playfair Display"/>
              </a:endParaRPr>
            </a:p>
            <a:p>
              <a:pPr algn="l">
                <a:lnSpc>
                  <a:spcPts val="3120"/>
                </a:lnSpc>
              </a:pPr>
              <a:r>
                <a:rPr lang="en-US" sz="2600" spc="52">
                  <a:solidFill>
                    <a:srgbClr val="FFFFFF"/>
                  </a:solidFill>
                  <a:latin typeface="Playfair Display"/>
                  <a:ea typeface="Playfair Display"/>
                  <a:cs typeface="Playfair Display"/>
                  <a:sym typeface="Playfair Display"/>
                </a:rPr>
                <a:t>Used for molecular graph classification</a:t>
              </a:r>
            </a:p>
            <a:p>
              <a:pPr algn="l">
                <a:lnSpc>
                  <a:spcPts val="3120"/>
                </a:lnSpc>
              </a:pPr>
              <a:endParaRPr lang="en-US" sz="2600" spc="52">
                <a:solidFill>
                  <a:srgbClr val="FFFFFF"/>
                </a:solidFill>
                <a:latin typeface="Playfair Display"/>
                <a:ea typeface="Playfair Display"/>
                <a:cs typeface="Playfair Display"/>
                <a:sym typeface="Playfair Display"/>
              </a:endParaRPr>
            </a:p>
            <a:p>
              <a:pPr algn="l">
                <a:lnSpc>
                  <a:spcPts val="3120"/>
                </a:lnSpc>
              </a:pPr>
              <a:r>
                <a:rPr lang="en-US" sz="2600" spc="52">
                  <a:solidFill>
                    <a:srgbClr val="FFFFFF"/>
                  </a:solidFill>
                  <a:latin typeface="Playfair Display"/>
                  <a:ea typeface="Playfair Display"/>
                  <a:cs typeface="Playfair Display"/>
                  <a:sym typeface="Playfair Display"/>
                </a:rPr>
                <a:t>(Duvenaud et al.) — each atom = node,</a:t>
              </a:r>
            </a:p>
            <a:p>
              <a:pPr algn="l">
                <a:lnSpc>
                  <a:spcPts val="3120"/>
                </a:lnSpc>
              </a:pPr>
              <a:endParaRPr lang="en-US" sz="2600" spc="52">
                <a:solidFill>
                  <a:srgbClr val="FFFFFF"/>
                </a:solidFill>
                <a:latin typeface="Playfair Display"/>
                <a:ea typeface="Playfair Display"/>
                <a:cs typeface="Playfair Display"/>
                <a:sym typeface="Playfair Display"/>
              </a:endParaRPr>
            </a:p>
            <a:p>
              <a:pPr algn="l">
                <a:lnSpc>
                  <a:spcPts val="3120"/>
                </a:lnSpc>
              </a:pPr>
              <a:r>
                <a:rPr lang="en-US" sz="2600" spc="52">
                  <a:solidFill>
                    <a:srgbClr val="FFFFFF"/>
                  </a:solidFill>
                  <a:latin typeface="Playfair Display"/>
                  <a:ea typeface="Playfair Display"/>
                  <a:cs typeface="Playfair Display"/>
                  <a:sym typeface="Playfair Display"/>
                </a:rPr>
                <a:t>molecule = graph → predict properties.</a:t>
              </a:r>
            </a:p>
          </p:txBody>
        </p:sp>
      </p:grpSp>
      <p:grpSp>
        <p:nvGrpSpPr>
          <p:cNvPr id="29" name="Group 29"/>
          <p:cNvGrpSpPr/>
          <p:nvPr/>
        </p:nvGrpSpPr>
        <p:grpSpPr>
          <a:xfrm>
            <a:off x="9131303" y="2456183"/>
            <a:ext cx="8576521" cy="7183048"/>
            <a:chOff x="0" y="0"/>
            <a:chExt cx="11250511" cy="9177871"/>
          </a:xfrm>
        </p:grpSpPr>
        <p:sp>
          <p:nvSpPr>
            <p:cNvPr id="30" name="Freeform 30"/>
            <p:cNvSpPr/>
            <p:nvPr/>
          </p:nvSpPr>
          <p:spPr>
            <a:xfrm>
              <a:off x="0" y="0"/>
              <a:ext cx="11250423" cy="9177783"/>
            </a:xfrm>
            <a:custGeom>
              <a:avLst/>
              <a:gdLst/>
              <a:ahLst/>
              <a:cxnLst/>
              <a:rect l="l" t="t" r="r" b="b"/>
              <a:pathLst>
                <a:path w="11250423" h="9177783">
                  <a:moveTo>
                    <a:pt x="0" y="244729"/>
                  </a:moveTo>
                  <a:cubicBezTo>
                    <a:pt x="0" y="109601"/>
                    <a:pt x="109601" y="0"/>
                    <a:pt x="244729" y="0"/>
                  </a:cubicBezTo>
                  <a:lnTo>
                    <a:pt x="11005693" y="0"/>
                  </a:lnTo>
                  <a:cubicBezTo>
                    <a:pt x="11140822" y="0"/>
                    <a:pt x="11250423" y="109601"/>
                    <a:pt x="11250423" y="244729"/>
                  </a:cubicBezTo>
                  <a:lnTo>
                    <a:pt x="11250423" y="8933053"/>
                  </a:lnTo>
                  <a:cubicBezTo>
                    <a:pt x="11250423" y="9068181"/>
                    <a:pt x="11140822" y="9177782"/>
                    <a:pt x="11005693" y="9177782"/>
                  </a:cubicBezTo>
                  <a:lnTo>
                    <a:pt x="244729" y="9177782"/>
                  </a:lnTo>
                  <a:cubicBezTo>
                    <a:pt x="109601" y="9177909"/>
                    <a:pt x="0" y="9068308"/>
                    <a:pt x="0" y="8933053"/>
                  </a:cubicBezTo>
                  <a:close/>
                </a:path>
              </a:pathLst>
            </a:custGeom>
            <a:solidFill>
              <a:srgbClr val="7C898B"/>
            </a:solidFill>
            <a:ln w="25400" cap="sq">
              <a:solidFill>
                <a:srgbClr val="D8E8F8"/>
              </a:solidFill>
              <a:prstDash val="solid"/>
              <a:miter/>
            </a:ln>
          </p:spPr>
          <p:txBody>
            <a:bodyPr/>
            <a:lstStyle/>
            <a:p>
              <a:endParaRPr lang="en-IN"/>
            </a:p>
          </p:txBody>
        </p:sp>
      </p:grpSp>
      <p:grpSp>
        <p:nvGrpSpPr>
          <p:cNvPr id="31" name="Group 31"/>
          <p:cNvGrpSpPr/>
          <p:nvPr/>
        </p:nvGrpSpPr>
        <p:grpSpPr>
          <a:xfrm>
            <a:off x="9457548" y="2462311"/>
            <a:ext cx="7733172" cy="792953"/>
            <a:chOff x="-69616" y="-130679"/>
            <a:chExt cx="10310896" cy="1057271"/>
          </a:xfrm>
        </p:grpSpPr>
        <p:sp>
          <p:nvSpPr>
            <p:cNvPr id="32" name="Freeform 32"/>
            <p:cNvSpPr/>
            <p:nvPr/>
          </p:nvSpPr>
          <p:spPr>
            <a:xfrm>
              <a:off x="0" y="0"/>
              <a:ext cx="10241280" cy="926592"/>
            </a:xfrm>
            <a:custGeom>
              <a:avLst/>
              <a:gdLst/>
              <a:ahLst/>
              <a:cxnLst/>
              <a:rect l="l" t="t" r="r" b="b"/>
              <a:pathLst>
                <a:path w="10241280" h="926592">
                  <a:moveTo>
                    <a:pt x="0" y="0"/>
                  </a:moveTo>
                  <a:lnTo>
                    <a:pt x="10241280" y="0"/>
                  </a:lnTo>
                  <a:lnTo>
                    <a:pt x="10241280" y="926592"/>
                  </a:lnTo>
                  <a:lnTo>
                    <a:pt x="0" y="926592"/>
                  </a:lnTo>
                  <a:close/>
                </a:path>
              </a:pathLst>
            </a:custGeom>
            <a:blipFill>
              <a:blip r:embed="rId3">
                <a:alphaModFix amt="0"/>
              </a:blip>
              <a:stretch>
                <a:fillRect t="-165360" b="-165360"/>
              </a:stretch>
            </a:blipFill>
          </p:spPr>
          <p:txBody>
            <a:bodyPr/>
            <a:lstStyle/>
            <a:p>
              <a:endParaRPr lang="en-IN"/>
            </a:p>
          </p:txBody>
        </p:sp>
        <p:sp>
          <p:nvSpPr>
            <p:cNvPr id="33" name="TextBox 33"/>
            <p:cNvSpPr txBox="1"/>
            <p:nvPr/>
          </p:nvSpPr>
          <p:spPr>
            <a:xfrm>
              <a:off x="-69616" y="-130679"/>
              <a:ext cx="10241280" cy="917067"/>
            </a:xfrm>
            <a:prstGeom prst="rect">
              <a:avLst/>
            </a:prstGeom>
          </p:spPr>
          <p:txBody>
            <a:bodyPr lIns="0" tIns="0" rIns="0" bIns="0" rtlCol="0" anchor="ctr"/>
            <a:lstStyle/>
            <a:p>
              <a:pPr algn="l">
                <a:lnSpc>
                  <a:spcPts val="3359"/>
                </a:lnSpc>
              </a:pPr>
              <a:r>
                <a:rPr lang="en-US" sz="2799" i="1" spc="140" dirty="0">
                  <a:solidFill>
                    <a:srgbClr val="FFFFFF"/>
                  </a:solidFill>
                  <a:latin typeface="Playfair Display Italics"/>
                  <a:ea typeface="Playfair Display Italics"/>
                  <a:cs typeface="Playfair Display Italics"/>
                  <a:sym typeface="Playfair Display Italics"/>
                </a:rPr>
                <a:t>Approach 2: Virtual Node</a:t>
              </a:r>
            </a:p>
          </p:txBody>
        </p:sp>
      </p:grpSp>
      <p:grpSp>
        <p:nvGrpSpPr>
          <p:cNvPr id="34" name="Group 34"/>
          <p:cNvGrpSpPr/>
          <p:nvPr/>
        </p:nvGrpSpPr>
        <p:grpSpPr>
          <a:xfrm>
            <a:off x="9494520" y="3071008"/>
            <a:ext cx="7696200" cy="1263248"/>
            <a:chOff x="-20320" y="-343211"/>
            <a:chExt cx="10261600" cy="1684331"/>
          </a:xfrm>
        </p:grpSpPr>
        <p:sp>
          <p:nvSpPr>
            <p:cNvPr id="35" name="Freeform 35"/>
            <p:cNvSpPr/>
            <p:nvPr/>
          </p:nvSpPr>
          <p:spPr>
            <a:xfrm>
              <a:off x="0" y="0"/>
              <a:ext cx="10241280" cy="1341120"/>
            </a:xfrm>
            <a:custGeom>
              <a:avLst/>
              <a:gdLst/>
              <a:ahLst/>
              <a:cxnLst/>
              <a:rect l="l" t="t" r="r" b="b"/>
              <a:pathLst>
                <a:path w="10241280" h="1341120">
                  <a:moveTo>
                    <a:pt x="0" y="0"/>
                  </a:moveTo>
                  <a:lnTo>
                    <a:pt x="10241280" y="0"/>
                  </a:lnTo>
                  <a:lnTo>
                    <a:pt x="10241280" y="1341120"/>
                  </a:lnTo>
                  <a:lnTo>
                    <a:pt x="0" y="1341120"/>
                  </a:lnTo>
                  <a:close/>
                </a:path>
              </a:pathLst>
            </a:custGeom>
            <a:blipFill>
              <a:blip r:embed="rId3">
                <a:alphaModFix amt="0"/>
              </a:blip>
              <a:stretch>
                <a:fillRect t="-98794" b="-98794"/>
              </a:stretch>
            </a:blipFill>
          </p:spPr>
          <p:txBody>
            <a:bodyPr/>
            <a:lstStyle/>
            <a:p>
              <a:endParaRPr lang="en-IN"/>
            </a:p>
          </p:txBody>
        </p:sp>
        <p:sp>
          <p:nvSpPr>
            <p:cNvPr id="36" name="TextBox 36"/>
            <p:cNvSpPr txBox="1"/>
            <p:nvPr/>
          </p:nvSpPr>
          <p:spPr>
            <a:xfrm>
              <a:off x="-20320" y="-343211"/>
              <a:ext cx="10241280" cy="1341120"/>
            </a:xfrm>
            <a:prstGeom prst="rect">
              <a:avLst/>
            </a:prstGeom>
          </p:spPr>
          <p:txBody>
            <a:bodyPr lIns="0" tIns="0" rIns="0" bIns="0" rtlCol="0" anchor="ctr"/>
            <a:lstStyle/>
            <a:p>
              <a:pPr algn="l">
                <a:lnSpc>
                  <a:spcPts val="3120"/>
                </a:lnSpc>
              </a:pPr>
              <a:r>
                <a:rPr lang="en-US" sz="2600" spc="52" dirty="0">
                  <a:solidFill>
                    <a:srgbClr val="FFFFFF"/>
                  </a:solidFill>
                  <a:latin typeface="Playfair Display"/>
                  <a:ea typeface="Playfair Display"/>
                  <a:cs typeface="Playfair Display"/>
                  <a:sym typeface="Playfair Display"/>
                </a:rPr>
                <a:t>Add a special fake node S connected to every node in the subgraph.</a:t>
              </a:r>
            </a:p>
          </p:txBody>
        </p:sp>
      </p:grpSp>
      <p:grpSp>
        <p:nvGrpSpPr>
          <p:cNvPr id="37" name="Group 37"/>
          <p:cNvGrpSpPr/>
          <p:nvPr/>
        </p:nvGrpSpPr>
        <p:grpSpPr>
          <a:xfrm>
            <a:off x="10777223" y="5147712"/>
            <a:ext cx="720347" cy="720347"/>
            <a:chOff x="0" y="0"/>
            <a:chExt cx="960463" cy="960463"/>
          </a:xfrm>
        </p:grpSpPr>
        <p:sp>
          <p:nvSpPr>
            <p:cNvPr id="38" name="Freeform 38"/>
            <p:cNvSpPr/>
            <p:nvPr/>
          </p:nvSpPr>
          <p:spPr>
            <a:xfrm>
              <a:off x="0" y="0"/>
              <a:ext cx="960501" cy="960501"/>
            </a:xfrm>
            <a:custGeom>
              <a:avLst/>
              <a:gdLst/>
              <a:ahLst/>
              <a:cxnLst/>
              <a:rect l="l" t="t" r="r" b="b"/>
              <a:pathLst>
                <a:path w="960501" h="960501">
                  <a:moveTo>
                    <a:pt x="0" y="480187"/>
                  </a:moveTo>
                  <a:cubicBezTo>
                    <a:pt x="0" y="215011"/>
                    <a:pt x="215011" y="0"/>
                    <a:pt x="480187" y="0"/>
                  </a:cubicBezTo>
                  <a:cubicBezTo>
                    <a:pt x="745363" y="0"/>
                    <a:pt x="960501" y="215011"/>
                    <a:pt x="960501" y="480187"/>
                  </a:cubicBezTo>
                  <a:cubicBezTo>
                    <a:pt x="960501" y="745363"/>
                    <a:pt x="745490" y="960501"/>
                    <a:pt x="480187" y="960501"/>
                  </a:cubicBezTo>
                  <a:cubicBezTo>
                    <a:pt x="214884" y="960501"/>
                    <a:pt x="0" y="745490"/>
                    <a:pt x="0" y="480187"/>
                  </a:cubicBezTo>
                  <a:close/>
                </a:path>
              </a:pathLst>
            </a:custGeom>
            <a:solidFill>
              <a:srgbClr val="253439"/>
            </a:solidFill>
            <a:ln w="25400" cap="sq">
              <a:solidFill>
                <a:srgbClr val="FFFFFF"/>
              </a:solidFill>
              <a:prstDash val="solid"/>
              <a:miter/>
            </a:ln>
          </p:spPr>
          <p:txBody>
            <a:bodyPr/>
            <a:lstStyle/>
            <a:p>
              <a:endParaRPr lang="en-IN"/>
            </a:p>
          </p:txBody>
        </p:sp>
      </p:grpSp>
      <p:grpSp>
        <p:nvGrpSpPr>
          <p:cNvPr id="39" name="Group 39"/>
          <p:cNvGrpSpPr/>
          <p:nvPr/>
        </p:nvGrpSpPr>
        <p:grpSpPr>
          <a:xfrm>
            <a:off x="11118342" y="5488831"/>
            <a:ext cx="1976628" cy="147828"/>
            <a:chOff x="0" y="0"/>
            <a:chExt cx="2635504" cy="197104"/>
          </a:xfrm>
        </p:grpSpPr>
        <p:sp>
          <p:nvSpPr>
            <p:cNvPr id="40" name="Freeform 40"/>
            <p:cNvSpPr/>
            <p:nvPr/>
          </p:nvSpPr>
          <p:spPr>
            <a:xfrm>
              <a:off x="0" y="0"/>
              <a:ext cx="2635504" cy="197104"/>
            </a:xfrm>
            <a:custGeom>
              <a:avLst/>
              <a:gdLst/>
              <a:ahLst/>
              <a:cxnLst/>
              <a:rect l="l" t="t" r="r" b="b"/>
              <a:pathLst>
                <a:path w="2635504" h="197104">
                  <a:moveTo>
                    <a:pt x="0" y="0"/>
                  </a:moveTo>
                  <a:lnTo>
                    <a:pt x="2635504" y="197104"/>
                  </a:lnTo>
                </a:path>
              </a:pathLst>
            </a:custGeom>
            <a:blipFill>
              <a:blip r:embed="rId3">
                <a:alphaModFix amt="0"/>
              </a:blip>
              <a:stretch>
                <a:fillRect t="-210537" b="-210537"/>
              </a:stretch>
            </a:blipFill>
            <a:ln w="38100" cap="sq">
              <a:solidFill>
                <a:srgbClr val="2CB9A0"/>
              </a:solidFill>
              <a:prstDash val="dash"/>
              <a:miter/>
            </a:ln>
          </p:spPr>
          <p:txBody>
            <a:bodyPr/>
            <a:lstStyle/>
            <a:p>
              <a:endParaRPr lang="en-IN"/>
            </a:p>
          </p:txBody>
        </p:sp>
      </p:grpSp>
      <p:grpSp>
        <p:nvGrpSpPr>
          <p:cNvPr id="41" name="Group 41"/>
          <p:cNvGrpSpPr/>
          <p:nvPr/>
        </p:nvGrpSpPr>
        <p:grpSpPr>
          <a:xfrm>
            <a:off x="12423143" y="4010663"/>
            <a:ext cx="720347" cy="720347"/>
            <a:chOff x="0" y="0"/>
            <a:chExt cx="960463" cy="960463"/>
          </a:xfrm>
        </p:grpSpPr>
        <p:sp>
          <p:nvSpPr>
            <p:cNvPr id="42" name="Freeform 42"/>
            <p:cNvSpPr/>
            <p:nvPr/>
          </p:nvSpPr>
          <p:spPr>
            <a:xfrm>
              <a:off x="0" y="0"/>
              <a:ext cx="960501" cy="960501"/>
            </a:xfrm>
            <a:custGeom>
              <a:avLst/>
              <a:gdLst/>
              <a:ahLst/>
              <a:cxnLst/>
              <a:rect l="l" t="t" r="r" b="b"/>
              <a:pathLst>
                <a:path w="960501" h="960501">
                  <a:moveTo>
                    <a:pt x="0" y="480187"/>
                  </a:moveTo>
                  <a:cubicBezTo>
                    <a:pt x="0" y="215011"/>
                    <a:pt x="215011" y="0"/>
                    <a:pt x="480187" y="0"/>
                  </a:cubicBezTo>
                  <a:cubicBezTo>
                    <a:pt x="745363" y="0"/>
                    <a:pt x="960501" y="215011"/>
                    <a:pt x="960501" y="480187"/>
                  </a:cubicBezTo>
                  <a:cubicBezTo>
                    <a:pt x="960501" y="745363"/>
                    <a:pt x="745490" y="960501"/>
                    <a:pt x="480187" y="960501"/>
                  </a:cubicBezTo>
                  <a:cubicBezTo>
                    <a:pt x="214884" y="960501"/>
                    <a:pt x="0" y="745490"/>
                    <a:pt x="0" y="480187"/>
                  </a:cubicBezTo>
                  <a:close/>
                </a:path>
              </a:pathLst>
            </a:custGeom>
            <a:solidFill>
              <a:srgbClr val="253439"/>
            </a:solidFill>
            <a:ln w="25400" cap="sq">
              <a:solidFill>
                <a:srgbClr val="FFFFFF"/>
              </a:solidFill>
              <a:prstDash val="solid"/>
              <a:miter/>
            </a:ln>
          </p:spPr>
          <p:txBody>
            <a:bodyPr/>
            <a:lstStyle/>
            <a:p>
              <a:endParaRPr lang="en-IN"/>
            </a:p>
          </p:txBody>
        </p:sp>
      </p:grpSp>
      <p:grpSp>
        <p:nvGrpSpPr>
          <p:cNvPr id="43" name="Group 43"/>
          <p:cNvGrpSpPr/>
          <p:nvPr/>
        </p:nvGrpSpPr>
        <p:grpSpPr>
          <a:xfrm>
            <a:off x="12764262" y="4757311"/>
            <a:ext cx="330708" cy="879348"/>
            <a:chOff x="0" y="0"/>
            <a:chExt cx="440944" cy="1172464"/>
          </a:xfrm>
        </p:grpSpPr>
        <p:sp>
          <p:nvSpPr>
            <p:cNvPr id="44" name="Freeform 44"/>
            <p:cNvSpPr/>
            <p:nvPr/>
          </p:nvSpPr>
          <p:spPr>
            <a:xfrm>
              <a:off x="0" y="0"/>
              <a:ext cx="440944" cy="1172464"/>
            </a:xfrm>
            <a:custGeom>
              <a:avLst/>
              <a:gdLst/>
              <a:ahLst/>
              <a:cxnLst/>
              <a:rect l="l" t="t" r="r" b="b"/>
              <a:pathLst>
                <a:path w="440944" h="1172464">
                  <a:moveTo>
                    <a:pt x="0" y="0"/>
                  </a:moveTo>
                  <a:lnTo>
                    <a:pt x="440944" y="1172464"/>
                  </a:lnTo>
                </a:path>
              </a:pathLst>
            </a:custGeom>
            <a:blipFill>
              <a:blip r:embed="rId3">
                <a:alphaModFix amt="0"/>
              </a:blip>
              <a:stretch>
                <a:fillRect l="-291157" r="-291157"/>
              </a:stretch>
            </a:blipFill>
            <a:ln w="38100" cap="sq">
              <a:solidFill>
                <a:srgbClr val="2CB9A0"/>
              </a:solidFill>
              <a:prstDash val="dash"/>
              <a:miter/>
            </a:ln>
          </p:spPr>
          <p:txBody>
            <a:bodyPr/>
            <a:lstStyle/>
            <a:p>
              <a:endParaRPr lang="en-IN"/>
            </a:p>
          </p:txBody>
        </p:sp>
      </p:grpSp>
      <p:grpSp>
        <p:nvGrpSpPr>
          <p:cNvPr id="45" name="Group 45"/>
          <p:cNvGrpSpPr/>
          <p:nvPr/>
        </p:nvGrpSpPr>
        <p:grpSpPr>
          <a:xfrm>
            <a:off x="14069063" y="5147712"/>
            <a:ext cx="720347" cy="720347"/>
            <a:chOff x="0" y="0"/>
            <a:chExt cx="960463" cy="960463"/>
          </a:xfrm>
        </p:grpSpPr>
        <p:sp>
          <p:nvSpPr>
            <p:cNvPr id="46" name="Freeform 46"/>
            <p:cNvSpPr/>
            <p:nvPr/>
          </p:nvSpPr>
          <p:spPr>
            <a:xfrm>
              <a:off x="0" y="0"/>
              <a:ext cx="960501" cy="960501"/>
            </a:xfrm>
            <a:custGeom>
              <a:avLst/>
              <a:gdLst/>
              <a:ahLst/>
              <a:cxnLst/>
              <a:rect l="l" t="t" r="r" b="b"/>
              <a:pathLst>
                <a:path w="960501" h="960501">
                  <a:moveTo>
                    <a:pt x="0" y="480187"/>
                  </a:moveTo>
                  <a:cubicBezTo>
                    <a:pt x="0" y="215011"/>
                    <a:pt x="215011" y="0"/>
                    <a:pt x="480187" y="0"/>
                  </a:cubicBezTo>
                  <a:cubicBezTo>
                    <a:pt x="745363" y="0"/>
                    <a:pt x="960501" y="215011"/>
                    <a:pt x="960501" y="480187"/>
                  </a:cubicBezTo>
                  <a:cubicBezTo>
                    <a:pt x="960501" y="745363"/>
                    <a:pt x="745490" y="960501"/>
                    <a:pt x="480187" y="960501"/>
                  </a:cubicBezTo>
                  <a:cubicBezTo>
                    <a:pt x="214884" y="960501"/>
                    <a:pt x="0" y="745490"/>
                    <a:pt x="0" y="480187"/>
                  </a:cubicBezTo>
                  <a:close/>
                </a:path>
              </a:pathLst>
            </a:custGeom>
            <a:solidFill>
              <a:srgbClr val="253439"/>
            </a:solidFill>
            <a:ln w="25400" cap="sq">
              <a:solidFill>
                <a:srgbClr val="FFFFFF"/>
              </a:solidFill>
              <a:prstDash val="solid"/>
              <a:miter/>
            </a:ln>
          </p:spPr>
          <p:txBody>
            <a:bodyPr/>
            <a:lstStyle/>
            <a:p>
              <a:endParaRPr lang="en-IN"/>
            </a:p>
          </p:txBody>
        </p:sp>
      </p:grpSp>
      <p:grpSp>
        <p:nvGrpSpPr>
          <p:cNvPr id="47" name="Group 47"/>
          <p:cNvGrpSpPr/>
          <p:nvPr/>
        </p:nvGrpSpPr>
        <p:grpSpPr>
          <a:xfrm>
            <a:off x="11806100" y="5993034"/>
            <a:ext cx="720375" cy="720375"/>
            <a:chOff x="-308191" y="387389"/>
            <a:chExt cx="960500" cy="960500"/>
          </a:xfrm>
        </p:grpSpPr>
        <p:sp>
          <p:nvSpPr>
            <p:cNvPr id="48" name="Freeform 48"/>
            <p:cNvSpPr/>
            <p:nvPr/>
          </p:nvSpPr>
          <p:spPr>
            <a:xfrm>
              <a:off x="-308191" y="387389"/>
              <a:ext cx="960500" cy="960500"/>
            </a:xfrm>
            <a:custGeom>
              <a:avLst/>
              <a:gdLst/>
              <a:ahLst/>
              <a:cxnLst/>
              <a:rect l="l" t="t" r="r" b="b"/>
              <a:pathLst>
                <a:path w="960501" h="960501">
                  <a:moveTo>
                    <a:pt x="0" y="480187"/>
                  </a:moveTo>
                  <a:cubicBezTo>
                    <a:pt x="0" y="215011"/>
                    <a:pt x="215011" y="0"/>
                    <a:pt x="480187" y="0"/>
                  </a:cubicBezTo>
                  <a:cubicBezTo>
                    <a:pt x="745363" y="0"/>
                    <a:pt x="960501" y="215011"/>
                    <a:pt x="960501" y="480187"/>
                  </a:cubicBezTo>
                  <a:cubicBezTo>
                    <a:pt x="960501" y="745363"/>
                    <a:pt x="745490" y="960501"/>
                    <a:pt x="480187" y="960501"/>
                  </a:cubicBezTo>
                  <a:cubicBezTo>
                    <a:pt x="214884" y="960501"/>
                    <a:pt x="0" y="745490"/>
                    <a:pt x="0" y="480187"/>
                  </a:cubicBezTo>
                  <a:close/>
                </a:path>
              </a:pathLst>
            </a:custGeom>
            <a:solidFill>
              <a:srgbClr val="253439"/>
            </a:solidFill>
            <a:ln w="25400" cap="sq">
              <a:solidFill>
                <a:srgbClr val="FFFFFF"/>
              </a:solidFill>
              <a:prstDash val="solid"/>
              <a:miter/>
            </a:ln>
          </p:spPr>
          <p:txBody>
            <a:bodyPr/>
            <a:lstStyle/>
            <a:p>
              <a:endParaRPr lang="en-IN" dirty="0"/>
            </a:p>
          </p:txBody>
        </p:sp>
      </p:grpSp>
      <p:grpSp>
        <p:nvGrpSpPr>
          <p:cNvPr id="49" name="Group 49"/>
          <p:cNvGrpSpPr/>
          <p:nvPr/>
        </p:nvGrpSpPr>
        <p:grpSpPr>
          <a:xfrm>
            <a:off x="12703045" y="5244734"/>
            <a:ext cx="1056637" cy="1056637"/>
            <a:chOff x="0" y="0"/>
            <a:chExt cx="1408849" cy="1408849"/>
          </a:xfrm>
        </p:grpSpPr>
        <p:sp>
          <p:nvSpPr>
            <p:cNvPr id="50" name="Freeform 50"/>
            <p:cNvSpPr/>
            <p:nvPr/>
          </p:nvSpPr>
          <p:spPr>
            <a:xfrm>
              <a:off x="0" y="0"/>
              <a:ext cx="1408938" cy="1408938"/>
            </a:xfrm>
            <a:custGeom>
              <a:avLst/>
              <a:gdLst/>
              <a:ahLst/>
              <a:cxnLst/>
              <a:rect l="l" t="t" r="r" b="b"/>
              <a:pathLst>
                <a:path w="1408938" h="1408938">
                  <a:moveTo>
                    <a:pt x="0" y="704469"/>
                  </a:moveTo>
                  <a:cubicBezTo>
                    <a:pt x="0" y="315341"/>
                    <a:pt x="315341" y="0"/>
                    <a:pt x="704469" y="0"/>
                  </a:cubicBezTo>
                  <a:cubicBezTo>
                    <a:pt x="1093597" y="0"/>
                    <a:pt x="1408938" y="315341"/>
                    <a:pt x="1408938" y="704469"/>
                  </a:cubicBezTo>
                  <a:cubicBezTo>
                    <a:pt x="1408938" y="1093597"/>
                    <a:pt x="1093597" y="1408938"/>
                    <a:pt x="704469" y="1408938"/>
                  </a:cubicBezTo>
                  <a:cubicBezTo>
                    <a:pt x="315341" y="1408938"/>
                    <a:pt x="0" y="1093470"/>
                    <a:pt x="0" y="704469"/>
                  </a:cubicBezTo>
                  <a:close/>
                </a:path>
              </a:pathLst>
            </a:custGeom>
            <a:solidFill>
              <a:srgbClr val="FFFFFF"/>
            </a:solidFill>
            <a:ln w="50800" cap="sq">
              <a:solidFill>
                <a:srgbClr val="FFFFFF"/>
              </a:solidFill>
              <a:prstDash val="solid"/>
              <a:miter/>
            </a:ln>
          </p:spPr>
          <p:txBody>
            <a:bodyPr/>
            <a:lstStyle/>
            <a:p>
              <a:endParaRPr lang="en-IN"/>
            </a:p>
          </p:txBody>
        </p:sp>
      </p:grpSp>
      <p:grpSp>
        <p:nvGrpSpPr>
          <p:cNvPr id="51" name="Group 51"/>
          <p:cNvGrpSpPr/>
          <p:nvPr/>
        </p:nvGrpSpPr>
        <p:grpSpPr>
          <a:xfrm>
            <a:off x="12728448" y="5244229"/>
            <a:ext cx="1005840" cy="1005840"/>
            <a:chOff x="0" y="0"/>
            <a:chExt cx="1341120" cy="1341120"/>
          </a:xfrm>
        </p:grpSpPr>
        <p:sp>
          <p:nvSpPr>
            <p:cNvPr id="52" name="Freeform 52"/>
            <p:cNvSpPr/>
            <p:nvPr/>
          </p:nvSpPr>
          <p:spPr>
            <a:xfrm>
              <a:off x="0" y="0"/>
              <a:ext cx="1341120" cy="1341120"/>
            </a:xfrm>
            <a:custGeom>
              <a:avLst/>
              <a:gdLst/>
              <a:ahLst/>
              <a:cxnLst/>
              <a:rect l="l" t="t" r="r" b="b"/>
              <a:pathLst>
                <a:path w="1341120" h="1341120">
                  <a:moveTo>
                    <a:pt x="0" y="0"/>
                  </a:moveTo>
                  <a:lnTo>
                    <a:pt x="1341120" y="0"/>
                  </a:lnTo>
                  <a:lnTo>
                    <a:pt x="1341120" y="1341120"/>
                  </a:lnTo>
                  <a:lnTo>
                    <a:pt x="0" y="1341120"/>
                  </a:lnTo>
                  <a:close/>
                </a:path>
              </a:pathLst>
            </a:custGeom>
            <a:blipFill>
              <a:blip r:embed="rId3">
                <a:alphaModFix amt="0"/>
              </a:blip>
              <a:stretch>
                <a:fillRect l="-78303" r="-78303"/>
              </a:stretch>
            </a:blipFill>
          </p:spPr>
          <p:txBody>
            <a:bodyPr/>
            <a:lstStyle/>
            <a:p>
              <a:endParaRPr lang="en-IN"/>
            </a:p>
          </p:txBody>
        </p:sp>
        <p:sp>
          <p:nvSpPr>
            <p:cNvPr id="53" name="TextBox 53"/>
            <p:cNvSpPr txBox="1"/>
            <p:nvPr/>
          </p:nvSpPr>
          <p:spPr>
            <a:xfrm>
              <a:off x="0" y="0"/>
              <a:ext cx="1341120" cy="1341120"/>
            </a:xfrm>
            <a:prstGeom prst="rect">
              <a:avLst/>
            </a:prstGeom>
          </p:spPr>
          <p:txBody>
            <a:bodyPr lIns="0" tIns="0" rIns="0" bIns="0" rtlCol="0" anchor="ctr"/>
            <a:lstStyle/>
            <a:p>
              <a:pPr algn="ctr">
                <a:lnSpc>
                  <a:spcPts val="3600"/>
                </a:lnSpc>
              </a:pPr>
              <a:r>
                <a:rPr lang="en-US" sz="3000" i="1" spc="150">
                  <a:solidFill>
                    <a:srgbClr val="B29E84"/>
                  </a:solidFill>
                  <a:latin typeface="Playfair Display Italics"/>
                  <a:ea typeface="Playfair Display Italics"/>
                  <a:cs typeface="Playfair Display Italics"/>
                  <a:sym typeface="Playfair Display Italics"/>
                </a:rPr>
                <a:t>S</a:t>
              </a:r>
            </a:p>
          </p:txBody>
        </p:sp>
      </p:grpSp>
      <p:grpSp>
        <p:nvGrpSpPr>
          <p:cNvPr id="54" name="Group 54"/>
          <p:cNvGrpSpPr/>
          <p:nvPr/>
        </p:nvGrpSpPr>
        <p:grpSpPr>
          <a:xfrm>
            <a:off x="13411200" y="5270137"/>
            <a:ext cx="2316480" cy="1574292"/>
            <a:chOff x="-650240" y="0"/>
            <a:chExt cx="3088640" cy="2099056"/>
          </a:xfrm>
        </p:grpSpPr>
        <p:sp>
          <p:nvSpPr>
            <p:cNvPr id="55" name="Freeform 55"/>
            <p:cNvSpPr/>
            <p:nvPr/>
          </p:nvSpPr>
          <p:spPr>
            <a:xfrm>
              <a:off x="0" y="0"/>
              <a:ext cx="2438400" cy="1341120"/>
            </a:xfrm>
            <a:custGeom>
              <a:avLst/>
              <a:gdLst/>
              <a:ahLst/>
              <a:cxnLst/>
              <a:rect l="l" t="t" r="r" b="b"/>
              <a:pathLst>
                <a:path w="2438400" h="1341120">
                  <a:moveTo>
                    <a:pt x="0" y="0"/>
                  </a:moveTo>
                  <a:lnTo>
                    <a:pt x="2438400" y="0"/>
                  </a:lnTo>
                  <a:lnTo>
                    <a:pt x="2438400" y="1341120"/>
                  </a:lnTo>
                  <a:lnTo>
                    <a:pt x="0" y="1341120"/>
                  </a:lnTo>
                  <a:close/>
                </a:path>
              </a:pathLst>
            </a:custGeom>
            <a:blipFill>
              <a:blip r:embed="rId3">
                <a:alphaModFix amt="0"/>
              </a:blip>
              <a:stretch>
                <a:fillRect l="-20566" r="-20566"/>
              </a:stretch>
            </a:blipFill>
          </p:spPr>
          <p:txBody>
            <a:bodyPr/>
            <a:lstStyle/>
            <a:p>
              <a:endParaRPr lang="en-IN"/>
            </a:p>
          </p:txBody>
        </p:sp>
        <p:sp>
          <p:nvSpPr>
            <p:cNvPr id="56" name="TextBox 56"/>
            <p:cNvSpPr txBox="1"/>
            <p:nvPr/>
          </p:nvSpPr>
          <p:spPr>
            <a:xfrm>
              <a:off x="-650240" y="757936"/>
              <a:ext cx="2438400" cy="1341120"/>
            </a:xfrm>
            <a:prstGeom prst="rect">
              <a:avLst/>
            </a:prstGeom>
          </p:spPr>
          <p:txBody>
            <a:bodyPr lIns="0" tIns="0" rIns="0" bIns="0" rtlCol="0" anchor="ctr"/>
            <a:lstStyle/>
            <a:p>
              <a:pPr algn="ctr">
                <a:lnSpc>
                  <a:spcPts val="2640"/>
                </a:lnSpc>
              </a:pPr>
              <a:r>
                <a:rPr lang="en-US" sz="2200" spc="43" dirty="0">
                  <a:solidFill>
                    <a:srgbClr val="FFFFFF"/>
                  </a:solidFill>
                  <a:latin typeface="Playfair Display"/>
                  <a:ea typeface="Playfair Display"/>
                  <a:cs typeface="Playfair Display"/>
                  <a:sym typeface="Playfair Display"/>
                </a:rPr>
                <a:t>Virtual</a:t>
              </a:r>
            </a:p>
            <a:p>
              <a:pPr algn="ctr">
                <a:lnSpc>
                  <a:spcPts val="2640"/>
                </a:lnSpc>
              </a:pPr>
              <a:r>
                <a:rPr lang="en-US" sz="2200" spc="43" dirty="0">
                  <a:solidFill>
                    <a:srgbClr val="FFFFFF"/>
                  </a:solidFill>
                  <a:latin typeface="Playfair Display"/>
                  <a:ea typeface="Playfair Display"/>
                  <a:cs typeface="Playfair Display"/>
                  <a:sym typeface="Playfair Display"/>
                </a:rPr>
                <a:t>Node</a:t>
              </a:r>
            </a:p>
          </p:txBody>
        </p:sp>
      </p:grpSp>
      <p:grpSp>
        <p:nvGrpSpPr>
          <p:cNvPr id="57" name="Group 57"/>
          <p:cNvGrpSpPr/>
          <p:nvPr/>
        </p:nvGrpSpPr>
        <p:grpSpPr>
          <a:xfrm>
            <a:off x="9509760" y="6217920"/>
            <a:ext cx="7680960" cy="3259582"/>
            <a:chOff x="0" y="0"/>
            <a:chExt cx="10241280" cy="4346109"/>
          </a:xfrm>
        </p:grpSpPr>
        <p:sp>
          <p:nvSpPr>
            <p:cNvPr id="58" name="Freeform 58"/>
            <p:cNvSpPr/>
            <p:nvPr/>
          </p:nvSpPr>
          <p:spPr>
            <a:xfrm>
              <a:off x="0" y="0"/>
              <a:ext cx="10241280" cy="4346110"/>
            </a:xfrm>
            <a:custGeom>
              <a:avLst/>
              <a:gdLst/>
              <a:ahLst/>
              <a:cxnLst/>
              <a:rect l="l" t="t" r="r" b="b"/>
              <a:pathLst>
                <a:path w="10241280" h="4346110">
                  <a:moveTo>
                    <a:pt x="0" y="0"/>
                  </a:moveTo>
                  <a:lnTo>
                    <a:pt x="10241280" y="0"/>
                  </a:lnTo>
                  <a:lnTo>
                    <a:pt x="10241280" y="4346110"/>
                  </a:lnTo>
                  <a:lnTo>
                    <a:pt x="0" y="4346110"/>
                  </a:lnTo>
                  <a:close/>
                </a:path>
              </a:pathLst>
            </a:custGeom>
            <a:blipFill>
              <a:blip r:embed="rId3">
                <a:alphaModFix amt="0"/>
              </a:blip>
              <a:stretch>
                <a:fillRect t="-2433" b="10603"/>
              </a:stretch>
            </a:blipFill>
          </p:spPr>
          <p:txBody>
            <a:bodyPr/>
            <a:lstStyle/>
            <a:p>
              <a:endParaRPr lang="en-IN"/>
            </a:p>
          </p:txBody>
        </p:sp>
        <p:sp>
          <p:nvSpPr>
            <p:cNvPr id="59" name="TextBox 59"/>
            <p:cNvSpPr txBox="1"/>
            <p:nvPr/>
          </p:nvSpPr>
          <p:spPr>
            <a:xfrm>
              <a:off x="0" y="0"/>
              <a:ext cx="10241280" cy="4346109"/>
            </a:xfrm>
            <a:prstGeom prst="rect">
              <a:avLst/>
            </a:prstGeom>
          </p:spPr>
          <p:txBody>
            <a:bodyPr lIns="0" tIns="0" rIns="0" bIns="0" rtlCol="0" anchor="ctr"/>
            <a:lstStyle/>
            <a:p>
              <a:pPr algn="l">
                <a:lnSpc>
                  <a:spcPts val="3120"/>
                </a:lnSpc>
              </a:pPr>
              <a:endParaRPr dirty="0"/>
            </a:p>
            <a:p>
              <a:pPr algn="l">
                <a:lnSpc>
                  <a:spcPts val="3120"/>
                </a:lnSpc>
              </a:pPr>
              <a:r>
                <a:rPr lang="en-US" sz="2600" spc="52" dirty="0">
                  <a:solidFill>
                    <a:srgbClr val="FFFFFF"/>
                  </a:solidFill>
                  <a:latin typeface="Playfair Display"/>
                  <a:ea typeface="Playfair Display"/>
                  <a:cs typeface="Playfair Display"/>
                  <a:sym typeface="Playfair Display"/>
                </a:rPr>
                <a:t>When node2vec runs, the virtual node S</a:t>
              </a:r>
            </a:p>
            <a:p>
              <a:pPr algn="l">
                <a:lnSpc>
                  <a:spcPts val="3120"/>
                </a:lnSpc>
              </a:pPr>
              <a:endParaRPr lang="en-US" sz="2600" spc="52" dirty="0">
                <a:solidFill>
                  <a:srgbClr val="FFFFFF"/>
                </a:solidFill>
                <a:latin typeface="Playfair Display"/>
                <a:ea typeface="Playfair Display"/>
                <a:cs typeface="Playfair Display"/>
                <a:sym typeface="Playfair Display"/>
              </a:endParaRPr>
            </a:p>
            <a:p>
              <a:pPr algn="l">
                <a:lnSpc>
                  <a:spcPts val="3120"/>
                </a:lnSpc>
              </a:pPr>
              <a:r>
                <a:rPr lang="en-US" sz="2600" spc="52" dirty="0">
                  <a:solidFill>
                    <a:srgbClr val="FFFFFF"/>
                  </a:solidFill>
                  <a:latin typeface="Playfair Display"/>
                  <a:ea typeface="Playfair Display"/>
                  <a:cs typeface="Playfair Display"/>
                  <a:sym typeface="Playfair Display"/>
                </a:rPr>
                <a:t>interacts with every real node.</a:t>
              </a:r>
            </a:p>
            <a:p>
              <a:pPr algn="l">
                <a:lnSpc>
                  <a:spcPts val="3120"/>
                </a:lnSpc>
              </a:pPr>
              <a:endParaRPr lang="en-US" sz="2600" spc="52" dirty="0">
                <a:solidFill>
                  <a:srgbClr val="FFFFFF"/>
                </a:solidFill>
                <a:latin typeface="Playfair Display"/>
                <a:ea typeface="Playfair Display"/>
                <a:cs typeface="Playfair Display"/>
                <a:sym typeface="Playfair Display"/>
              </a:endParaRPr>
            </a:p>
            <a:p>
              <a:pPr algn="l">
                <a:lnSpc>
                  <a:spcPts val="3120"/>
                </a:lnSpc>
              </a:pPr>
              <a:r>
                <a:rPr lang="en-US" sz="2600" spc="52" dirty="0">
                  <a:solidFill>
                    <a:srgbClr val="FFFFFF"/>
                  </a:solidFill>
                  <a:latin typeface="Playfair Display"/>
                  <a:ea typeface="Playfair Display"/>
                  <a:cs typeface="Playfair Display"/>
                  <a:sym typeface="Playfair Display"/>
                </a:rPr>
                <a:t>Its embedding z_S naturally encodes the</a:t>
              </a:r>
            </a:p>
            <a:p>
              <a:pPr algn="l">
                <a:lnSpc>
                  <a:spcPts val="3120"/>
                </a:lnSpc>
              </a:pPr>
              <a:endParaRPr lang="en-US" sz="2600" spc="52" dirty="0">
                <a:solidFill>
                  <a:srgbClr val="FFFFFF"/>
                </a:solidFill>
                <a:latin typeface="Playfair Display"/>
                <a:ea typeface="Playfair Display"/>
                <a:cs typeface="Playfair Display"/>
                <a:sym typeface="Playfair Display"/>
              </a:endParaRPr>
            </a:p>
            <a:p>
              <a:pPr algn="l">
                <a:lnSpc>
                  <a:spcPts val="3120"/>
                </a:lnSpc>
              </a:pPr>
              <a:r>
                <a:rPr lang="en-US" sz="2600" spc="52" dirty="0">
                  <a:solidFill>
                    <a:srgbClr val="FFFFFF"/>
                  </a:solidFill>
                  <a:latin typeface="Playfair Display"/>
                  <a:ea typeface="Playfair Display"/>
                  <a:cs typeface="Playfair Display"/>
                  <a:sym typeface="Playfair Display"/>
                </a:rPr>
                <a:t>whole subgraph structure.</a:t>
              </a:r>
            </a:p>
          </p:txBody>
        </p:sp>
      </p:grpSp>
      <p:grpSp>
        <p:nvGrpSpPr>
          <p:cNvPr id="60" name="Group 39">
            <a:extLst>
              <a:ext uri="{FF2B5EF4-FFF2-40B4-BE49-F238E27FC236}">
                <a16:creationId xmlns:a16="http://schemas.microsoft.com/office/drawing/2014/main" id="{A61D6065-F77C-E24A-9EB3-24255E1CFC85}"/>
              </a:ext>
            </a:extLst>
          </p:cNvPr>
          <p:cNvGrpSpPr/>
          <p:nvPr/>
        </p:nvGrpSpPr>
        <p:grpSpPr>
          <a:xfrm rot="19047016" flipV="1">
            <a:off x="12319866" y="6012372"/>
            <a:ext cx="739446" cy="103203"/>
            <a:chOff x="0" y="0"/>
            <a:chExt cx="2635504" cy="197104"/>
          </a:xfrm>
        </p:grpSpPr>
        <p:sp>
          <p:nvSpPr>
            <p:cNvPr id="61" name="Freeform 40">
              <a:extLst>
                <a:ext uri="{FF2B5EF4-FFF2-40B4-BE49-F238E27FC236}">
                  <a16:creationId xmlns:a16="http://schemas.microsoft.com/office/drawing/2014/main" id="{BD5C850C-56E1-A291-6435-DE0E77C48A27}"/>
                </a:ext>
              </a:extLst>
            </p:cNvPr>
            <p:cNvSpPr/>
            <p:nvPr/>
          </p:nvSpPr>
          <p:spPr>
            <a:xfrm>
              <a:off x="0" y="0"/>
              <a:ext cx="2635504" cy="197104"/>
            </a:xfrm>
            <a:custGeom>
              <a:avLst/>
              <a:gdLst/>
              <a:ahLst/>
              <a:cxnLst/>
              <a:rect l="l" t="t" r="r" b="b"/>
              <a:pathLst>
                <a:path w="2635504" h="197104">
                  <a:moveTo>
                    <a:pt x="0" y="0"/>
                  </a:moveTo>
                  <a:lnTo>
                    <a:pt x="2635504" y="197104"/>
                  </a:lnTo>
                </a:path>
              </a:pathLst>
            </a:custGeom>
            <a:blipFill>
              <a:blip r:embed="rId3">
                <a:alphaModFix amt="0"/>
              </a:blip>
              <a:stretch>
                <a:fillRect t="-210537" b="-210537"/>
              </a:stretch>
            </a:blipFill>
            <a:ln w="38100" cap="sq">
              <a:solidFill>
                <a:srgbClr val="2CB9A0"/>
              </a:solidFill>
              <a:prstDash val="dash"/>
              <a:miter/>
            </a:ln>
          </p:spPr>
          <p:txBody>
            <a:bodyPr/>
            <a:lstStyle/>
            <a:p>
              <a:endParaRPr lang="en-IN"/>
            </a:p>
          </p:txBody>
        </p:sp>
      </p:grpSp>
      <p:grpSp>
        <p:nvGrpSpPr>
          <p:cNvPr id="62" name="Group 39">
            <a:extLst>
              <a:ext uri="{FF2B5EF4-FFF2-40B4-BE49-F238E27FC236}">
                <a16:creationId xmlns:a16="http://schemas.microsoft.com/office/drawing/2014/main" id="{317FDF29-5C36-EED7-2346-FD38C88BCB5E}"/>
              </a:ext>
            </a:extLst>
          </p:cNvPr>
          <p:cNvGrpSpPr/>
          <p:nvPr/>
        </p:nvGrpSpPr>
        <p:grpSpPr>
          <a:xfrm rot="20483538">
            <a:off x="13640603" y="5574966"/>
            <a:ext cx="591431" cy="72198"/>
            <a:chOff x="0" y="0"/>
            <a:chExt cx="2635504" cy="197104"/>
          </a:xfrm>
        </p:grpSpPr>
        <p:sp>
          <p:nvSpPr>
            <p:cNvPr id="63" name="Freeform 40">
              <a:extLst>
                <a:ext uri="{FF2B5EF4-FFF2-40B4-BE49-F238E27FC236}">
                  <a16:creationId xmlns:a16="http://schemas.microsoft.com/office/drawing/2014/main" id="{6E9B96FB-1E09-3DFB-63D3-A3EFFB53E731}"/>
                </a:ext>
              </a:extLst>
            </p:cNvPr>
            <p:cNvSpPr/>
            <p:nvPr/>
          </p:nvSpPr>
          <p:spPr>
            <a:xfrm>
              <a:off x="0" y="0"/>
              <a:ext cx="2635504" cy="197104"/>
            </a:xfrm>
            <a:custGeom>
              <a:avLst/>
              <a:gdLst/>
              <a:ahLst/>
              <a:cxnLst/>
              <a:rect l="l" t="t" r="r" b="b"/>
              <a:pathLst>
                <a:path w="2635504" h="197104">
                  <a:moveTo>
                    <a:pt x="0" y="0"/>
                  </a:moveTo>
                  <a:lnTo>
                    <a:pt x="2635504" y="197104"/>
                  </a:lnTo>
                </a:path>
              </a:pathLst>
            </a:custGeom>
            <a:blipFill>
              <a:blip r:embed="rId3">
                <a:alphaModFix amt="0"/>
              </a:blip>
              <a:stretch>
                <a:fillRect t="-210537" b="-210537"/>
              </a:stretch>
            </a:blipFill>
            <a:ln w="38100" cap="sq">
              <a:solidFill>
                <a:srgbClr val="2CB9A0"/>
              </a:solidFill>
              <a:prstDash val="dash"/>
              <a:miter/>
            </a:ln>
          </p:spPr>
          <p:txBody>
            <a:bodyPr/>
            <a:lstStyle/>
            <a:p>
              <a:endParaRPr lang="en-IN"/>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253439"/>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0" y="0"/>
              <a:ext cx="24417910" cy="1789557"/>
            </a:xfrm>
            <a:custGeom>
              <a:avLst/>
              <a:gdLst/>
              <a:ahLst/>
              <a:cxnLst/>
              <a:rect l="l" t="t" r="r" b="b"/>
              <a:pathLst>
                <a:path w="24417910" h="1789557">
                  <a:moveTo>
                    <a:pt x="0" y="0"/>
                  </a:moveTo>
                  <a:lnTo>
                    <a:pt x="24417910" y="0"/>
                  </a:lnTo>
                  <a:lnTo>
                    <a:pt x="24417910" y="1789557"/>
                  </a:lnTo>
                  <a:lnTo>
                    <a:pt x="0" y="1789557"/>
                  </a:lnTo>
                  <a:close/>
                </a:path>
              </a:pathLst>
            </a:custGeom>
            <a:solidFill>
              <a:srgbClr val="FFFFFF"/>
            </a:solidFill>
            <a:ln w="25400" cap="sq">
              <a:solidFill>
                <a:srgbClr val="1A3461"/>
              </a:solidFill>
              <a:prstDash val="solid"/>
              <a:miter/>
            </a:ln>
          </p:spPr>
          <p:txBody>
            <a:bodyPr/>
            <a:lstStyle/>
            <a:p>
              <a:endParaRPr lang="en-IN"/>
            </a:p>
          </p:txBody>
        </p:sp>
      </p:grpSp>
      <p:grpSp>
        <p:nvGrpSpPr>
          <p:cNvPr id="4" name="Group 4"/>
          <p:cNvGrpSpPr/>
          <p:nvPr/>
        </p:nvGrpSpPr>
        <p:grpSpPr>
          <a:xfrm>
            <a:off x="731520" y="0"/>
            <a:ext cx="16824960" cy="1316736"/>
            <a:chOff x="0" y="0"/>
            <a:chExt cx="22433280" cy="1755648"/>
          </a:xfrm>
        </p:grpSpPr>
        <p:sp>
          <p:nvSpPr>
            <p:cNvPr id="5" name="Freeform 5"/>
            <p:cNvSpPr/>
            <p:nvPr/>
          </p:nvSpPr>
          <p:spPr>
            <a:xfrm>
              <a:off x="0" y="0"/>
              <a:ext cx="22433280" cy="1755648"/>
            </a:xfrm>
            <a:custGeom>
              <a:avLst/>
              <a:gdLst/>
              <a:ahLst/>
              <a:cxnLst/>
              <a:rect l="l" t="t" r="r" b="b"/>
              <a:pathLst>
                <a:path w="22433280" h="1755648">
                  <a:moveTo>
                    <a:pt x="0" y="0"/>
                  </a:moveTo>
                  <a:lnTo>
                    <a:pt x="22433280" y="0"/>
                  </a:lnTo>
                  <a:lnTo>
                    <a:pt x="22433280" y="1755648"/>
                  </a:lnTo>
                  <a:lnTo>
                    <a:pt x="0" y="1755648"/>
                  </a:lnTo>
                  <a:close/>
                </a:path>
              </a:pathLst>
            </a:custGeom>
            <a:blipFill>
              <a:blip r:embed="rId3">
                <a:alphaModFix amt="0"/>
              </a:blip>
              <a:stretch>
                <a:fillRect t="-198975" b="-198975"/>
              </a:stretch>
            </a:blipFill>
          </p:spPr>
          <p:txBody>
            <a:bodyPr/>
            <a:lstStyle/>
            <a:p>
              <a:endParaRPr lang="en-IN"/>
            </a:p>
          </p:txBody>
        </p:sp>
        <p:sp>
          <p:nvSpPr>
            <p:cNvPr id="6" name="TextBox 6"/>
            <p:cNvSpPr txBox="1"/>
            <p:nvPr/>
          </p:nvSpPr>
          <p:spPr>
            <a:xfrm>
              <a:off x="0" y="-9525"/>
              <a:ext cx="22433280" cy="1765173"/>
            </a:xfrm>
            <a:prstGeom prst="rect">
              <a:avLst/>
            </a:prstGeom>
          </p:spPr>
          <p:txBody>
            <a:bodyPr lIns="0" tIns="0" rIns="0" bIns="0" rtlCol="0" anchor="ctr"/>
            <a:lstStyle/>
            <a:p>
              <a:pPr algn="l">
                <a:lnSpc>
                  <a:spcPts val="4800"/>
                </a:lnSpc>
              </a:pPr>
              <a:r>
                <a:rPr lang="en-US" sz="4000" spc="560" dirty="0">
                  <a:latin typeface="Times New Roman" panose="02020603050405020304" pitchFamily="18" charset="0"/>
                  <a:ea typeface="Hammersmith One"/>
                  <a:cs typeface="Times New Roman" panose="02020603050405020304" pitchFamily="18" charset="0"/>
                  <a:sym typeface="Hammersmith One"/>
                </a:rPr>
                <a:t>Limitations Of Shallow Embeddings</a:t>
              </a:r>
            </a:p>
          </p:txBody>
        </p:sp>
      </p:grpSp>
      <p:sp>
        <p:nvSpPr>
          <p:cNvPr id="8" name="Freeform 8"/>
          <p:cNvSpPr/>
          <p:nvPr/>
        </p:nvSpPr>
        <p:spPr>
          <a:xfrm>
            <a:off x="731520" y="73152"/>
            <a:ext cx="16459200" cy="402336"/>
          </a:xfrm>
          <a:custGeom>
            <a:avLst/>
            <a:gdLst/>
            <a:ahLst/>
            <a:cxnLst/>
            <a:rect l="l" t="t" r="r" b="b"/>
            <a:pathLst>
              <a:path w="21945600" h="536448">
                <a:moveTo>
                  <a:pt x="0" y="0"/>
                </a:moveTo>
                <a:lnTo>
                  <a:pt x="21945600" y="0"/>
                </a:lnTo>
                <a:lnTo>
                  <a:pt x="21945600" y="536448"/>
                </a:lnTo>
                <a:lnTo>
                  <a:pt x="0" y="536448"/>
                </a:lnTo>
                <a:close/>
              </a:path>
            </a:pathLst>
          </a:custGeom>
          <a:blipFill>
            <a:blip r:embed="rId3">
              <a:alphaModFix amt="0"/>
            </a:blip>
            <a:stretch>
              <a:fillRect t="-747115" b="-747115"/>
            </a:stretch>
          </a:blipFill>
        </p:spPr>
        <p:txBody>
          <a:bodyPr/>
          <a:lstStyle/>
          <a:p>
            <a:endParaRPr lang="en-IN"/>
          </a:p>
        </p:txBody>
      </p:sp>
      <p:grpSp>
        <p:nvGrpSpPr>
          <p:cNvPr id="10" name="Group 10"/>
          <p:cNvGrpSpPr/>
          <p:nvPr/>
        </p:nvGrpSpPr>
        <p:grpSpPr>
          <a:xfrm>
            <a:off x="731520" y="1499616"/>
            <a:ext cx="16824960" cy="983996"/>
            <a:chOff x="0" y="0"/>
            <a:chExt cx="22433280" cy="1311995"/>
          </a:xfrm>
        </p:grpSpPr>
        <p:sp>
          <p:nvSpPr>
            <p:cNvPr id="11" name="Freeform 11"/>
            <p:cNvSpPr/>
            <p:nvPr/>
          </p:nvSpPr>
          <p:spPr>
            <a:xfrm>
              <a:off x="0" y="0"/>
              <a:ext cx="22433280" cy="1311995"/>
            </a:xfrm>
            <a:custGeom>
              <a:avLst/>
              <a:gdLst/>
              <a:ahLst/>
              <a:cxnLst/>
              <a:rect l="l" t="t" r="r" b="b"/>
              <a:pathLst>
                <a:path w="22433280" h="1311995">
                  <a:moveTo>
                    <a:pt x="0" y="0"/>
                  </a:moveTo>
                  <a:lnTo>
                    <a:pt x="22433280" y="0"/>
                  </a:lnTo>
                  <a:lnTo>
                    <a:pt x="22433280" y="1311995"/>
                  </a:lnTo>
                  <a:lnTo>
                    <a:pt x="0" y="1311995"/>
                  </a:lnTo>
                  <a:close/>
                </a:path>
              </a:pathLst>
            </a:custGeom>
            <a:blipFill>
              <a:blip r:embed="rId3">
                <a:alphaModFix amt="0"/>
              </a:blip>
              <a:stretch>
                <a:fillRect t="-294137" b="-272196"/>
              </a:stretch>
            </a:blipFill>
          </p:spPr>
          <p:txBody>
            <a:bodyPr/>
            <a:lstStyle/>
            <a:p>
              <a:endParaRPr lang="en-IN"/>
            </a:p>
          </p:txBody>
        </p:sp>
        <p:sp>
          <p:nvSpPr>
            <p:cNvPr id="12" name="TextBox 12"/>
            <p:cNvSpPr txBox="1"/>
            <p:nvPr/>
          </p:nvSpPr>
          <p:spPr>
            <a:xfrm>
              <a:off x="0" y="9525"/>
              <a:ext cx="22433280" cy="1302470"/>
            </a:xfrm>
            <a:prstGeom prst="rect">
              <a:avLst/>
            </a:prstGeom>
          </p:spPr>
          <p:txBody>
            <a:bodyPr lIns="0" tIns="0" rIns="0" bIns="0" rtlCol="0" anchor="ctr"/>
            <a:lstStyle/>
            <a:p>
              <a:pPr algn="l">
                <a:lnSpc>
                  <a:spcPts val="3359"/>
                </a:lnSpc>
              </a:pPr>
              <a:r>
                <a:rPr lang="en-US" sz="2799" spc="55">
                  <a:solidFill>
                    <a:srgbClr val="FFFFFF"/>
                  </a:solidFill>
                  <a:latin typeface="Playfair Display"/>
                  <a:ea typeface="Playfair Display"/>
                  <a:cs typeface="Playfair Display"/>
                  <a:sym typeface="Playfair Display"/>
                </a:rPr>
                <a:t>Despite their success, ALL methods in this chapter (DeepWalk, node2vec, GF, GraRep...) share three fundamental flaws.</a:t>
              </a:r>
            </a:p>
          </p:txBody>
        </p:sp>
      </p:grpSp>
      <p:grpSp>
        <p:nvGrpSpPr>
          <p:cNvPr id="13" name="Group 13"/>
          <p:cNvGrpSpPr/>
          <p:nvPr/>
        </p:nvGrpSpPr>
        <p:grpSpPr>
          <a:xfrm>
            <a:off x="535943" y="2511047"/>
            <a:ext cx="16484603" cy="2256539"/>
            <a:chOff x="0" y="0"/>
            <a:chExt cx="21979471" cy="3008719"/>
          </a:xfrm>
        </p:grpSpPr>
        <p:sp>
          <p:nvSpPr>
            <p:cNvPr id="14" name="Freeform 14"/>
            <p:cNvSpPr/>
            <p:nvPr/>
          </p:nvSpPr>
          <p:spPr>
            <a:xfrm>
              <a:off x="0" y="0"/>
              <a:ext cx="21979510" cy="3008757"/>
            </a:xfrm>
            <a:custGeom>
              <a:avLst/>
              <a:gdLst/>
              <a:ahLst/>
              <a:cxnLst/>
              <a:rect l="l" t="t" r="r" b="b"/>
              <a:pathLst>
                <a:path w="21979510" h="3008757">
                  <a:moveTo>
                    <a:pt x="0" y="246634"/>
                  </a:moveTo>
                  <a:cubicBezTo>
                    <a:pt x="0" y="110363"/>
                    <a:pt x="110363" y="0"/>
                    <a:pt x="246634" y="0"/>
                  </a:cubicBezTo>
                  <a:lnTo>
                    <a:pt x="21732875" y="0"/>
                  </a:lnTo>
                  <a:cubicBezTo>
                    <a:pt x="21869019" y="0"/>
                    <a:pt x="21979510" y="110363"/>
                    <a:pt x="21979510" y="246634"/>
                  </a:cubicBezTo>
                  <a:lnTo>
                    <a:pt x="21979510" y="2762123"/>
                  </a:lnTo>
                  <a:cubicBezTo>
                    <a:pt x="21979510" y="2898267"/>
                    <a:pt x="21869146" y="3008757"/>
                    <a:pt x="21732875" y="3008757"/>
                  </a:cubicBezTo>
                  <a:lnTo>
                    <a:pt x="246634" y="3008757"/>
                  </a:lnTo>
                  <a:cubicBezTo>
                    <a:pt x="110363" y="3008757"/>
                    <a:pt x="0" y="2898267"/>
                    <a:pt x="0" y="2762123"/>
                  </a:cubicBezTo>
                  <a:close/>
                </a:path>
              </a:pathLst>
            </a:custGeom>
            <a:solidFill>
              <a:srgbClr val="CEB99E"/>
            </a:solidFill>
            <a:ln w="25400" cap="sq">
              <a:solidFill>
                <a:srgbClr val="D8E8F8"/>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15" name="Group 15"/>
          <p:cNvGrpSpPr/>
          <p:nvPr/>
        </p:nvGrpSpPr>
        <p:grpSpPr>
          <a:xfrm>
            <a:off x="901703" y="2693927"/>
            <a:ext cx="1122683" cy="1122683"/>
            <a:chOff x="0" y="0"/>
            <a:chExt cx="1496911" cy="1496911"/>
          </a:xfrm>
        </p:grpSpPr>
        <p:sp>
          <p:nvSpPr>
            <p:cNvPr id="16" name="Freeform 16"/>
            <p:cNvSpPr/>
            <p:nvPr/>
          </p:nvSpPr>
          <p:spPr>
            <a:xfrm>
              <a:off x="0" y="0"/>
              <a:ext cx="1496822" cy="1496822"/>
            </a:xfrm>
            <a:custGeom>
              <a:avLst/>
              <a:gdLst/>
              <a:ahLst/>
              <a:cxnLst/>
              <a:rect l="l" t="t" r="r" b="b"/>
              <a:pathLst>
                <a:path w="1496822" h="1496822">
                  <a:moveTo>
                    <a:pt x="0" y="748411"/>
                  </a:moveTo>
                  <a:cubicBezTo>
                    <a:pt x="0" y="335153"/>
                    <a:pt x="335153" y="0"/>
                    <a:pt x="748411" y="0"/>
                  </a:cubicBezTo>
                  <a:cubicBezTo>
                    <a:pt x="1161669" y="0"/>
                    <a:pt x="1496822" y="335153"/>
                    <a:pt x="1496822" y="748411"/>
                  </a:cubicBezTo>
                  <a:cubicBezTo>
                    <a:pt x="1496822" y="1161669"/>
                    <a:pt x="1161669" y="1496822"/>
                    <a:pt x="748411" y="1496822"/>
                  </a:cubicBezTo>
                  <a:cubicBezTo>
                    <a:pt x="335153" y="1496822"/>
                    <a:pt x="0" y="1161796"/>
                    <a:pt x="0" y="748411"/>
                  </a:cubicBezTo>
                  <a:close/>
                </a:path>
              </a:pathLst>
            </a:custGeom>
            <a:solidFill>
              <a:srgbClr val="253439"/>
            </a:solidFill>
            <a:ln w="25400" cap="sq">
              <a:solidFill>
                <a:srgbClr val="1E5FA8"/>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17" name="Group 17"/>
          <p:cNvGrpSpPr/>
          <p:nvPr/>
        </p:nvGrpSpPr>
        <p:grpSpPr>
          <a:xfrm>
            <a:off x="914400" y="2706624"/>
            <a:ext cx="1097280" cy="1097280"/>
            <a:chOff x="0" y="0"/>
            <a:chExt cx="1463040" cy="1463040"/>
          </a:xfrm>
        </p:grpSpPr>
        <p:sp>
          <p:nvSpPr>
            <p:cNvPr id="18" name="Freeform 18"/>
            <p:cNvSpPr/>
            <p:nvPr/>
          </p:nvSpPr>
          <p:spPr>
            <a:xfrm>
              <a:off x="0" y="0"/>
              <a:ext cx="1463040" cy="1463040"/>
            </a:xfrm>
            <a:custGeom>
              <a:avLst/>
              <a:gdLst/>
              <a:ahLst/>
              <a:cxnLst/>
              <a:rect l="l" t="t" r="r" b="b"/>
              <a:pathLst>
                <a:path w="1463040" h="1463040">
                  <a:moveTo>
                    <a:pt x="0" y="0"/>
                  </a:moveTo>
                  <a:lnTo>
                    <a:pt x="1463040" y="0"/>
                  </a:lnTo>
                  <a:lnTo>
                    <a:pt x="1463040" y="1463040"/>
                  </a:lnTo>
                  <a:lnTo>
                    <a:pt x="0" y="1463040"/>
                  </a:lnTo>
                  <a:close/>
                </a:path>
              </a:pathLst>
            </a:custGeom>
            <a:blipFill>
              <a:blip r:embed="rId3">
                <a:alphaModFix amt="0"/>
              </a:blip>
              <a:stretch>
                <a:fillRect l="-78303" r="-78303"/>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19" name="TextBox 19"/>
            <p:cNvSpPr txBox="1"/>
            <p:nvPr/>
          </p:nvSpPr>
          <p:spPr>
            <a:xfrm>
              <a:off x="0" y="0"/>
              <a:ext cx="1463040" cy="1463040"/>
            </a:xfrm>
            <a:prstGeom prst="rect">
              <a:avLst/>
            </a:prstGeom>
          </p:spPr>
          <p:txBody>
            <a:bodyPr lIns="0" tIns="0" rIns="0" bIns="0" rtlCol="0" anchor="ctr"/>
            <a:lstStyle/>
            <a:p>
              <a:pPr algn="ctr">
                <a:lnSpc>
                  <a:spcPts val="3840"/>
                </a:lnSpc>
              </a:pPr>
              <a:r>
                <a:rPr lang="en-US" sz="3200" i="1" spc="160">
                  <a:solidFill>
                    <a:srgbClr val="CEB99E"/>
                  </a:solidFill>
                  <a:latin typeface="Times New Roman" panose="02020603050405020304" pitchFamily="18" charset="0"/>
                  <a:ea typeface="Playfair Display Italics"/>
                  <a:cs typeface="Times New Roman" panose="02020603050405020304" pitchFamily="18" charset="0"/>
                  <a:sym typeface="Playfair Display Italics"/>
                </a:rPr>
                <a:t>1</a:t>
              </a:r>
            </a:p>
          </p:txBody>
        </p:sp>
      </p:grpSp>
      <p:grpSp>
        <p:nvGrpSpPr>
          <p:cNvPr id="20" name="Group 20"/>
          <p:cNvGrpSpPr/>
          <p:nvPr/>
        </p:nvGrpSpPr>
        <p:grpSpPr>
          <a:xfrm>
            <a:off x="2286000" y="2651760"/>
            <a:ext cx="8229600" cy="768096"/>
            <a:chOff x="0" y="0"/>
            <a:chExt cx="10972800" cy="1024128"/>
          </a:xfrm>
        </p:grpSpPr>
        <p:sp>
          <p:nvSpPr>
            <p:cNvPr id="21" name="Freeform 21"/>
            <p:cNvSpPr/>
            <p:nvPr/>
          </p:nvSpPr>
          <p:spPr>
            <a:xfrm>
              <a:off x="0" y="0"/>
              <a:ext cx="10972800" cy="1024128"/>
            </a:xfrm>
            <a:custGeom>
              <a:avLst/>
              <a:gdLst/>
              <a:ahLst/>
              <a:cxnLst/>
              <a:rect l="l" t="t" r="r" b="b"/>
              <a:pathLst>
                <a:path w="10972800" h="1024128">
                  <a:moveTo>
                    <a:pt x="0" y="0"/>
                  </a:moveTo>
                  <a:lnTo>
                    <a:pt x="10972800" y="0"/>
                  </a:lnTo>
                  <a:lnTo>
                    <a:pt x="10972800" y="1024128"/>
                  </a:lnTo>
                  <a:lnTo>
                    <a:pt x="0" y="1024128"/>
                  </a:lnTo>
                  <a:close/>
                </a:path>
              </a:pathLst>
            </a:custGeom>
            <a:blipFill>
              <a:blip r:embed="rId3">
                <a:alphaModFix amt="0"/>
              </a:blip>
              <a:stretch>
                <a:fillRect t="-158768" b="-158768"/>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22" name="TextBox 22"/>
            <p:cNvSpPr txBox="1"/>
            <p:nvPr/>
          </p:nvSpPr>
          <p:spPr>
            <a:xfrm>
              <a:off x="0" y="9525"/>
              <a:ext cx="10972800" cy="1014603"/>
            </a:xfrm>
            <a:prstGeom prst="rect">
              <a:avLst/>
            </a:prstGeom>
          </p:spPr>
          <p:txBody>
            <a:bodyPr lIns="0" tIns="0" rIns="0" bIns="0" rtlCol="0" anchor="ctr"/>
            <a:lstStyle/>
            <a:p>
              <a:pPr algn="l">
                <a:lnSpc>
                  <a:spcPts val="3359"/>
                </a:lnSpc>
              </a:pPr>
              <a:r>
                <a:rPr lang="en-US" sz="2799" i="1" spc="140">
                  <a:solidFill>
                    <a:srgbClr val="253439"/>
                  </a:solidFill>
                  <a:latin typeface="Times New Roman" panose="02020603050405020304" pitchFamily="18" charset="0"/>
                  <a:ea typeface="Playfair Display Italics"/>
                  <a:cs typeface="Times New Roman" panose="02020603050405020304" pitchFamily="18" charset="0"/>
                  <a:sym typeface="Playfair Display Italics"/>
                </a:rPr>
                <a:t>No Parameter Sharing</a:t>
              </a:r>
            </a:p>
          </p:txBody>
        </p:sp>
      </p:grpSp>
      <p:grpSp>
        <p:nvGrpSpPr>
          <p:cNvPr id="23" name="Group 23"/>
          <p:cNvGrpSpPr/>
          <p:nvPr/>
        </p:nvGrpSpPr>
        <p:grpSpPr>
          <a:xfrm>
            <a:off x="13716000" y="2706624"/>
            <a:ext cx="3108960" cy="694944"/>
            <a:chOff x="0" y="0"/>
            <a:chExt cx="4145280" cy="926592"/>
          </a:xfrm>
        </p:grpSpPr>
        <p:sp>
          <p:nvSpPr>
            <p:cNvPr id="24" name="Freeform 24"/>
            <p:cNvSpPr/>
            <p:nvPr/>
          </p:nvSpPr>
          <p:spPr>
            <a:xfrm>
              <a:off x="0" y="0"/>
              <a:ext cx="4145280" cy="926592"/>
            </a:xfrm>
            <a:custGeom>
              <a:avLst/>
              <a:gdLst/>
              <a:ahLst/>
              <a:cxnLst/>
              <a:rect l="l" t="t" r="r" b="b"/>
              <a:pathLst>
                <a:path w="4145280" h="926592">
                  <a:moveTo>
                    <a:pt x="0" y="0"/>
                  </a:moveTo>
                  <a:lnTo>
                    <a:pt x="4145280" y="0"/>
                  </a:lnTo>
                  <a:lnTo>
                    <a:pt x="4145280" y="926592"/>
                  </a:lnTo>
                  <a:lnTo>
                    <a:pt x="0" y="926592"/>
                  </a:lnTo>
                  <a:close/>
                </a:path>
              </a:pathLst>
            </a:custGeom>
            <a:solidFill>
              <a:srgbClr val="253439"/>
            </a:solidFill>
          </p:spPr>
          <p:txBody>
            <a:bodyPr/>
            <a:lstStyle/>
            <a:p>
              <a:endParaRPr lang="en-IN">
                <a:latin typeface="Times New Roman" panose="02020603050405020304" pitchFamily="18" charset="0"/>
                <a:cs typeface="Times New Roman" panose="02020603050405020304" pitchFamily="18" charset="0"/>
              </a:endParaRPr>
            </a:p>
          </p:txBody>
        </p:sp>
        <p:sp>
          <p:nvSpPr>
            <p:cNvPr id="25" name="TextBox 25"/>
            <p:cNvSpPr txBox="1"/>
            <p:nvPr/>
          </p:nvSpPr>
          <p:spPr>
            <a:xfrm>
              <a:off x="0" y="0"/>
              <a:ext cx="4145280" cy="926592"/>
            </a:xfrm>
            <a:prstGeom prst="rect">
              <a:avLst/>
            </a:prstGeom>
          </p:spPr>
          <p:txBody>
            <a:bodyPr lIns="50800" tIns="50800" rIns="50800" bIns="50800" rtlCol="0" anchor="ctr"/>
            <a:lstStyle/>
            <a:p>
              <a:pPr algn="ctr">
                <a:lnSpc>
                  <a:spcPts val="2640"/>
                </a:lnSpc>
              </a:pPr>
              <a:r>
                <a:rPr lang="en-US" sz="2200" spc="43">
                  <a:solidFill>
                    <a:srgbClr val="CEB99E"/>
                  </a:solidFill>
                  <a:latin typeface="Times New Roman" panose="02020603050405020304" pitchFamily="18" charset="0"/>
                  <a:ea typeface="Playfair Display"/>
                  <a:cs typeface="Times New Roman" panose="02020603050405020304" pitchFamily="18" charset="0"/>
                  <a:sym typeface="Playfair Display"/>
                </a:rPr>
                <a:t>O(|V|) parameters</a:t>
              </a:r>
            </a:p>
          </p:txBody>
        </p:sp>
      </p:grpSp>
      <p:grpSp>
        <p:nvGrpSpPr>
          <p:cNvPr id="26" name="Group 26"/>
          <p:cNvGrpSpPr/>
          <p:nvPr/>
        </p:nvGrpSpPr>
        <p:grpSpPr>
          <a:xfrm>
            <a:off x="13703303" y="2693927"/>
            <a:ext cx="3134363" cy="720347"/>
            <a:chOff x="0" y="0"/>
            <a:chExt cx="4179151" cy="960463"/>
          </a:xfrm>
        </p:grpSpPr>
        <p:sp>
          <p:nvSpPr>
            <p:cNvPr id="27" name="Freeform 27"/>
            <p:cNvSpPr/>
            <p:nvPr/>
          </p:nvSpPr>
          <p:spPr>
            <a:xfrm>
              <a:off x="0" y="0"/>
              <a:ext cx="4179062" cy="960374"/>
            </a:xfrm>
            <a:custGeom>
              <a:avLst/>
              <a:gdLst/>
              <a:ahLst/>
              <a:cxnLst/>
              <a:rect l="l" t="t" r="r" b="b"/>
              <a:pathLst>
                <a:path w="4179062" h="960374">
                  <a:moveTo>
                    <a:pt x="0" y="252730"/>
                  </a:moveTo>
                  <a:cubicBezTo>
                    <a:pt x="0" y="113157"/>
                    <a:pt x="113157" y="0"/>
                    <a:pt x="252730" y="0"/>
                  </a:cubicBezTo>
                  <a:lnTo>
                    <a:pt x="3926332" y="0"/>
                  </a:lnTo>
                  <a:cubicBezTo>
                    <a:pt x="4065905" y="0"/>
                    <a:pt x="4179062" y="113157"/>
                    <a:pt x="4179062" y="252730"/>
                  </a:cubicBezTo>
                  <a:lnTo>
                    <a:pt x="4179062" y="707644"/>
                  </a:lnTo>
                  <a:cubicBezTo>
                    <a:pt x="4179062" y="847217"/>
                    <a:pt x="4065905" y="960374"/>
                    <a:pt x="3926332" y="960374"/>
                  </a:cubicBezTo>
                  <a:lnTo>
                    <a:pt x="252730" y="960374"/>
                  </a:lnTo>
                  <a:cubicBezTo>
                    <a:pt x="113157" y="960501"/>
                    <a:pt x="0" y="847344"/>
                    <a:pt x="0" y="707644"/>
                  </a:cubicBezTo>
                  <a:close/>
                </a:path>
              </a:pathLst>
            </a:custGeom>
            <a:solidFill>
              <a:srgbClr val="253439"/>
            </a:solidFill>
            <a:ln w="25400" cap="sq">
              <a:solidFill>
                <a:srgbClr val="1E5FA8"/>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28" name="Group 28"/>
          <p:cNvGrpSpPr/>
          <p:nvPr/>
        </p:nvGrpSpPr>
        <p:grpSpPr>
          <a:xfrm>
            <a:off x="13716000" y="2706624"/>
            <a:ext cx="3108960" cy="694944"/>
            <a:chOff x="0" y="0"/>
            <a:chExt cx="4145280" cy="926592"/>
          </a:xfrm>
        </p:grpSpPr>
        <p:sp>
          <p:nvSpPr>
            <p:cNvPr id="29" name="Freeform 29"/>
            <p:cNvSpPr/>
            <p:nvPr/>
          </p:nvSpPr>
          <p:spPr>
            <a:xfrm>
              <a:off x="0" y="0"/>
              <a:ext cx="4145280" cy="926592"/>
            </a:xfrm>
            <a:custGeom>
              <a:avLst/>
              <a:gdLst/>
              <a:ahLst/>
              <a:cxnLst/>
              <a:rect l="l" t="t" r="r" b="b"/>
              <a:pathLst>
                <a:path w="4145280" h="926592">
                  <a:moveTo>
                    <a:pt x="0" y="0"/>
                  </a:moveTo>
                  <a:lnTo>
                    <a:pt x="4145280" y="0"/>
                  </a:lnTo>
                  <a:lnTo>
                    <a:pt x="4145280" y="926592"/>
                  </a:lnTo>
                  <a:lnTo>
                    <a:pt x="0" y="926592"/>
                  </a:lnTo>
                  <a:close/>
                </a:path>
              </a:pathLst>
            </a:custGeom>
            <a:blipFill>
              <a:blip r:embed="rId3">
                <a:alphaModFix amt="0"/>
              </a:blip>
              <a:stretch>
                <a:fillRect t="-37169" b="-37169"/>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30" name="TextBox 30"/>
            <p:cNvSpPr txBox="1"/>
            <p:nvPr/>
          </p:nvSpPr>
          <p:spPr>
            <a:xfrm>
              <a:off x="0" y="0"/>
              <a:ext cx="4145280" cy="926592"/>
            </a:xfrm>
            <a:prstGeom prst="rect">
              <a:avLst/>
            </a:prstGeom>
          </p:spPr>
          <p:txBody>
            <a:bodyPr lIns="0" tIns="0" rIns="0" bIns="0" rtlCol="0" anchor="ctr"/>
            <a:lstStyle/>
            <a:p>
              <a:pPr algn="ctr">
                <a:lnSpc>
                  <a:spcPts val="2400"/>
                </a:lnSpc>
              </a:pPr>
              <a:r>
                <a:rPr lang="en-US" sz="2000" spc="40">
                  <a:solidFill>
                    <a:srgbClr val="CEB99E"/>
                  </a:solidFill>
                  <a:latin typeface="Times New Roman" panose="02020603050405020304" pitchFamily="18" charset="0"/>
                  <a:ea typeface="Playfair Display"/>
                  <a:cs typeface="Times New Roman" panose="02020603050405020304" pitchFamily="18" charset="0"/>
                  <a:sym typeface="Playfair Display"/>
                </a:rPr>
                <a:t>O(|V|) parameters</a:t>
              </a:r>
            </a:p>
          </p:txBody>
        </p:sp>
      </p:grpSp>
      <p:grpSp>
        <p:nvGrpSpPr>
          <p:cNvPr id="31" name="Group 31"/>
          <p:cNvGrpSpPr/>
          <p:nvPr/>
        </p:nvGrpSpPr>
        <p:grpSpPr>
          <a:xfrm>
            <a:off x="2286000" y="3474720"/>
            <a:ext cx="15087600" cy="1210818"/>
            <a:chOff x="0" y="0"/>
            <a:chExt cx="20116800" cy="1614424"/>
          </a:xfrm>
        </p:grpSpPr>
        <p:sp>
          <p:nvSpPr>
            <p:cNvPr id="32" name="Freeform 32"/>
            <p:cNvSpPr/>
            <p:nvPr/>
          </p:nvSpPr>
          <p:spPr>
            <a:xfrm>
              <a:off x="0" y="0"/>
              <a:ext cx="20116800" cy="1614424"/>
            </a:xfrm>
            <a:custGeom>
              <a:avLst/>
              <a:gdLst/>
              <a:ahLst/>
              <a:cxnLst/>
              <a:rect l="l" t="t" r="r" b="b"/>
              <a:pathLst>
                <a:path w="20116800" h="1614424">
                  <a:moveTo>
                    <a:pt x="0" y="0"/>
                  </a:moveTo>
                  <a:lnTo>
                    <a:pt x="20116800" y="0"/>
                  </a:lnTo>
                  <a:lnTo>
                    <a:pt x="20116800" y="1614424"/>
                  </a:lnTo>
                  <a:lnTo>
                    <a:pt x="0" y="1614424"/>
                  </a:lnTo>
                  <a:close/>
                </a:path>
              </a:pathLst>
            </a:custGeom>
            <a:blipFill>
              <a:blip r:embed="rId3">
                <a:alphaModFix amt="0"/>
              </a:blip>
              <a:stretch>
                <a:fillRect t="-197485" b="-188108"/>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33" name="TextBox 33"/>
            <p:cNvSpPr txBox="1"/>
            <p:nvPr/>
          </p:nvSpPr>
          <p:spPr>
            <a:xfrm>
              <a:off x="0" y="0"/>
              <a:ext cx="20116800" cy="1614424"/>
            </a:xfrm>
            <a:prstGeom prst="rect">
              <a:avLst/>
            </a:prstGeom>
          </p:spPr>
          <p:txBody>
            <a:bodyPr lIns="0" tIns="0" rIns="0" bIns="0" rtlCol="0" anchor="ctr"/>
            <a:lstStyle/>
            <a:p>
              <a:pPr algn="l">
                <a:lnSpc>
                  <a:spcPts val="2879"/>
                </a:lnSpc>
              </a:pPr>
              <a:r>
                <a:rPr lang="en-US" sz="2400" spc="48" dirty="0">
                  <a:latin typeface="Times New Roman" panose="02020603050405020304" pitchFamily="18" charset="0"/>
                  <a:ea typeface="Playfair Display"/>
                  <a:cs typeface="Times New Roman" panose="02020603050405020304" pitchFamily="18" charset="0"/>
                  <a:sym typeface="Playfair Display"/>
                </a:rPr>
                <a:t>Each node gets its own unique independent embedding vector. No information is shared between connected nodes during encoding. This is statistically inefficient and the number of model parameters grows as O(|V|) — unmanageable for massive graphs.</a:t>
              </a:r>
            </a:p>
          </p:txBody>
        </p:sp>
      </p:grpSp>
      <p:grpSp>
        <p:nvGrpSpPr>
          <p:cNvPr id="34" name="Group 34"/>
          <p:cNvGrpSpPr/>
          <p:nvPr/>
        </p:nvGrpSpPr>
        <p:grpSpPr>
          <a:xfrm>
            <a:off x="535943" y="4979927"/>
            <a:ext cx="16484603" cy="2256539"/>
            <a:chOff x="0" y="0"/>
            <a:chExt cx="21979471" cy="3008719"/>
          </a:xfrm>
        </p:grpSpPr>
        <p:sp>
          <p:nvSpPr>
            <p:cNvPr id="35" name="Freeform 35"/>
            <p:cNvSpPr/>
            <p:nvPr/>
          </p:nvSpPr>
          <p:spPr>
            <a:xfrm>
              <a:off x="0" y="0"/>
              <a:ext cx="21979510" cy="3008757"/>
            </a:xfrm>
            <a:custGeom>
              <a:avLst/>
              <a:gdLst/>
              <a:ahLst/>
              <a:cxnLst/>
              <a:rect l="l" t="t" r="r" b="b"/>
              <a:pathLst>
                <a:path w="21979510" h="3008757">
                  <a:moveTo>
                    <a:pt x="0" y="246634"/>
                  </a:moveTo>
                  <a:cubicBezTo>
                    <a:pt x="0" y="110363"/>
                    <a:pt x="110363" y="0"/>
                    <a:pt x="246634" y="0"/>
                  </a:cubicBezTo>
                  <a:lnTo>
                    <a:pt x="21732875" y="0"/>
                  </a:lnTo>
                  <a:cubicBezTo>
                    <a:pt x="21869019" y="0"/>
                    <a:pt x="21979510" y="110363"/>
                    <a:pt x="21979510" y="246634"/>
                  </a:cubicBezTo>
                  <a:lnTo>
                    <a:pt x="21979510" y="2762123"/>
                  </a:lnTo>
                  <a:cubicBezTo>
                    <a:pt x="21979510" y="2898267"/>
                    <a:pt x="21869146" y="3008757"/>
                    <a:pt x="21732875" y="3008757"/>
                  </a:cubicBezTo>
                  <a:lnTo>
                    <a:pt x="246634" y="3008757"/>
                  </a:lnTo>
                  <a:cubicBezTo>
                    <a:pt x="110363" y="3008757"/>
                    <a:pt x="0" y="2898267"/>
                    <a:pt x="0" y="2762123"/>
                  </a:cubicBezTo>
                  <a:close/>
                </a:path>
              </a:pathLst>
            </a:custGeom>
            <a:solidFill>
              <a:srgbClr val="CEB99E"/>
            </a:solidFill>
            <a:ln w="25400" cap="sq">
              <a:solidFill>
                <a:srgbClr val="D8E8F8"/>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36" name="Group 36"/>
          <p:cNvGrpSpPr/>
          <p:nvPr/>
        </p:nvGrpSpPr>
        <p:grpSpPr>
          <a:xfrm>
            <a:off x="901703" y="5162807"/>
            <a:ext cx="1122683" cy="1122683"/>
            <a:chOff x="0" y="0"/>
            <a:chExt cx="1496911" cy="1496911"/>
          </a:xfrm>
        </p:grpSpPr>
        <p:sp>
          <p:nvSpPr>
            <p:cNvPr id="37" name="Freeform 37"/>
            <p:cNvSpPr/>
            <p:nvPr/>
          </p:nvSpPr>
          <p:spPr>
            <a:xfrm>
              <a:off x="0" y="0"/>
              <a:ext cx="1496822" cy="1496822"/>
            </a:xfrm>
            <a:custGeom>
              <a:avLst/>
              <a:gdLst/>
              <a:ahLst/>
              <a:cxnLst/>
              <a:rect l="l" t="t" r="r" b="b"/>
              <a:pathLst>
                <a:path w="1496822" h="1496822">
                  <a:moveTo>
                    <a:pt x="0" y="748411"/>
                  </a:moveTo>
                  <a:cubicBezTo>
                    <a:pt x="0" y="335153"/>
                    <a:pt x="335153" y="0"/>
                    <a:pt x="748411" y="0"/>
                  </a:cubicBezTo>
                  <a:cubicBezTo>
                    <a:pt x="1161669" y="0"/>
                    <a:pt x="1496822" y="335153"/>
                    <a:pt x="1496822" y="748411"/>
                  </a:cubicBezTo>
                  <a:cubicBezTo>
                    <a:pt x="1496822" y="1161669"/>
                    <a:pt x="1161669" y="1496822"/>
                    <a:pt x="748411" y="1496822"/>
                  </a:cubicBezTo>
                  <a:cubicBezTo>
                    <a:pt x="335153" y="1496822"/>
                    <a:pt x="0" y="1161796"/>
                    <a:pt x="0" y="748411"/>
                  </a:cubicBezTo>
                  <a:close/>
                </a:path>
              </a:pathLst>
            </a:custGeom>
            <a:solidFill>
              <a:srgbClr val="253439"/>
            </a:solidFill>
            <a:ln w="25400" cap="sq">
              <a:solidFill>
                <a:srgbClr val="3A9BD5"/>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38" name="Group 38"/>
          <p:cNvGrpSpPr/>
          <p:nvPr/>
        </p:nvGrpSpPr>
        <p:grpSpPr>
          <a:xfrm>
            <a:off x="914400" y="5175504"/>
            <a:ext cx="1097280" cy="1097280"/>
            <a:chOff x="0" y="0"/>
            <a:chExt cx="1463040" cy="1463040"/>
          </a:xfrm>
        </p:grpSpPr>
        <p:sp>
          <p:nvSpPr>
            <p:cNvPr id="39" name="Freeform 39"/>
            <p:cNvSpPr/>
            <p:nvPr/>
          </p:nvSpPr>
          <p:spPr>
            <a:xfrm>
              <a:off x="0" y="0"/>
              <a:ext cx="1463040" cy="1463040"/>
            </a:xfrm>
            <a:custGeom>
              <a:avLst/>
              <a:gdLst/>
              <a:ahLst/>
              <a:cxnLst/>
              <a:rect l="l" t="t" r="r" b="b"/>
              <a:pathLst>
                <a:path w="1463040" h="1463040">
                  <a:moveTo>
                    <a:pt x="0" y="0"/>
                  </a:moveTo>
                  <a:lnTo>
                    <a:pt x="1463040" y="0"/>
                  </a:lnTo>
                  <a:lnTo>
                    <a:pt x="1463040" y="1463040"/>
                  </a:lnTo>
                  <a:lnTo>
                    <a:pt x="0" y="1463040"/>
                  </a:lnTo>
                  <a:close/>
                </a:path>
              </a:pathLst>
            </a:custGeom>
            <a:blipFill>
              <a:blip r:embed="rId3">
                <a:alphaModFix amt="0"/>
              </a:blip>
              <a:stretch>
                <a:fillRect l="-78303" r="-78303"/>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40" name="TextBox 40"/>
            <p:cNvSpPr txBox="1"/>
            <p:nvPr/>
          </p:nvSpPr>
          <p:spPr>
            <a:xfrm>
              <a:off x="0" y="0"/>
              <a:ext cx="1463040" cy="1463040"/>
            </a:xfrm>
            <a:prstGeom prst="rect">
              <a:avLst/>
            </a:prstGeom>
          </p:spPr>
          <p:txBody>
            <a:bodyPr lIns="0" tIns="0" rIns="0" bIns="0" rtlCol="0" anchor="ctr"/>
            <a:lstStyle/>
            <a:p>
              <a:pPr algn="ctr">
                <a:lnSpc>
                  <a:spcPts val="3840"/>
                </a:lnSpc>
              </a:pPr>
              <a:r>
                <a:rPr lang="en-US" sz="3200" i="1" spc="160">
                  <a:solidFill>
                    <a:srgbClr val="CEB99E"/>
                  </a:solidFill>
                  <a:latin typeface="Times New Roman" panose="02020603050405020304" pitchFamily="18" charset="0"/>
                  <a:ea typeface="Playfair Display Italics"/>
                  <a:cs typeface="Times New Roman" panose="02020603050405020304" pitchFamily="18" charset="0"/>
                  <a:sym typeface="Playfair Display Italics"/>
                </a:rPr>
                <a:t>2</a:t>
              </a:r>
            </a:p>
          </p:txBody>
        </p:sp>
      </p:grpSp>
      <p:grpSp>
        <p:nvGrpSpPr>
          <p:cNvPr id="41" name="Group 41"/>
          <p:cNvGrpSpPr/>
          <p:nvPr/>
        </p:nvGrpSpPr>
        <p:grpSpPr>
          <a:xfrm>
            <a:off x="2286000" y="5120640"/>
            <a:ext cx="8229600" cy="768096"/>
            <a:chOff x="0" y="0"/>
            <a:chExt cx="10972800" cy="1024128"/>
          </a:xfrm>
        </p:grpSpPr>
        <p:sp>
          <p:nvSpPr>
            <p:cNvPr id="42" name="Freeform 42"/>
            <p:cNvSpPr/>
            <p:nvPr/>
          </p:nvSpPr>
          <p:spPr>
            <a:xfrm>
              <a:off x="0" y="0"/>
              <a:ext cx="10972800" cy="1024128"/>
            </a:xfrm>
            <a:custGeom>
              <a:avLst/>
              <a:gdLst/>
              <a:ahLst/>
              <a:cxnLst/>
              <a:rect l="l" t="t" r="r" b="b"/>
              <a:pathLst>
                <a:path w="10972800" h="1024128">
                  <a:moveTo>
                    <a:pt x="0" y="0"/>
                  </a:moveTo>
                  <a:lnTo>
                    <a:pt x="10972800" y="0"/>
                  </a:lnTo>
                  <a:lnTo>
                    <a:pt x="10972800" y="1024128"/>
                  </a:lnTo>
                  <a:lnTo>
                    <a:pt x="0" y="1024128"/>
                  </a:lnTo>
                  <a:close/>
                </a:path>
              </a:pathLst>
            </a:custGeom>
            <a:blipFill>
              <a:blip r:embed="rId3">
                <a:alphaModFix amt="0"/>
              </a:blip>
              <a:stretch>
                <a:fillRect t="-158768" b="-158768"/>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43" name="TextBox 43"/>
            <p:cNvSpPr txBox="1"/>
            <p:nvPr/>
          </p:nvSpPr>
          <p:spPr>
            <a:xfrm>
              <a:off x="0" y="9525"/>
              <a:ext cx="10972800" cy="1014603"/>
            </a:xfrm>
            <a:prstGeom prst="rect">
              <a:avLst/>
            </a:prstGeom>
          </p:spPr>
          <p:txBody>
            <a:bodyPr lIns="0" tIns="0" rIns="0" bIns="0" rtlCol="0" anchor="ctr"/>
            <a:lstStyle/>
            <a:p>
              <a:pPr algn="l">
                <a:lnSpc>
                  <a:spcPts val="3359"/>
                </a:lnSpc>
              </a:pPr>
              <a:r>
                <a:rPr lang="en-US" sz="2799" i="1" spc="140">
                  <a:solidFill>
                    <a:srgbClr val="253439"/>
                  </a:solidFill>
                  <a:latin typeface="Times New Roman" panose="02020603050405020304" pitchFamily="18" charset="0"/>
                  <a:ea typeface="Playfair Display Italics"/>
                  <a:cs typeface="Times New Roman" panose="02020603050405020304" pitchFamily="18" charset="0"/>
                  <a:sym typeface="Playfair Display Italics"/>
                </a:rPr>
                <a:t>Ignores Node Features</a:t>
              </a:r>
            </a:p>
          </p:txBody>
        </p:sp>
      </p:grpSp>
      <p:grpSp>
        <p:nvGrpSpPr>
          <p:cNvPr id="44" name="Group 44"/>
          <p:cNvGrpSpPr/>
          <p:nvPr/>
        </p:nvGrpSpPr>
        <p:grpSpPr>
          <a:xfrm>
            <a:off x="13716000" y="5175504"/>
            <a:ext cx="3108960" cy="857504"/>
            <a:chOff x="0" y="0"/>
            <a:chExt cx="4145280" cy="1143339"/>
          </a:xfrm>
        </p:grpSpPr>
        <p:sp>
          <p:nvSpPr>
            <p:cNvPr id="45" name="Freeform 45"/>
            <p:cNvSpPr/>
            <p:nvPr/>
          </p:nvSpPr>
          <p:spPr>
            <a:xfrm>
              <a:off x="0" y="0"/>
              <a:ext cx="4145280" cy="1143339"/>
            </a:xfrm>
            <a:custGeom>
              <a:avLst/>
              <a:gdLst/>
              <a:ahLst/>
              <a:cxnLst/>
              <a:rect l="l" t="t" r="r" b="b"/>
              <a:pathLst>
                <a:path w="4145280" h="1143339">
                  <a:moveTo>
                    <a:pt x="0" y="0"/>
                  </a:moveTo>
                  <a:lnTo>
                    <a:pt x="4145280" y="0"/>
                  </a:lnTo>
                  <a:lnTo>
                    <a:pt x="4145280" y="1143339"/>
                  </a:lnTo>
                  <a:lnTo>
                    <a:pt x="0" y="1143339"/>
                  </a:lnTo>
                  <a:close/>
                </a:path>
              </a:pathLst>
            </a:custGeom>
            <a:solidFill>
              <a:srgbClr val="253439"/>
            </a:solidFill>
          </p:spPr>
          <p:txBody>
            <a:bodyPr/>
            <a:lstStyle/>
            <a:p>
              <a:endParaRPr lang="en-IN">
                <a:latin typeface="Times New Roman" panose="02020603050405020304" pitchFamily="18" charset="0"/>
                <a:cs typeface="Times New Roman" panose="02020603050405020304" pitchFamily="18" charset="0"/>
              </a:endParaRPr>
            </a:p>
          </p:txBody>
        </p:sp>
        <p:sp>
          <p:nvSpPr>
            <p:cNvPr id="46" name="TextBox 46"/>
            <p:cNvSpPr txBox="1"/>
            <p:nvPr/>
          </p:nvSpPr>
          <p:spPr>
            <a:xfrm>
              <a:off x="0" y="0"/>
              <a:ext cx="4145280" cy="1143339"/>
            </a:xfrm>
            <a:prstGeom prst="rect">
              <a:avLst/>
            </a:prstGeom>
          </p:spPr>
          <p:txBody>
            <a:bodyPr lIns="50800" tIns="50800" rIns="50800" bIns="50800" rtlCol="0" anchor="ctr"/>
            <a:lstStyle/>
            <a:p>
              <a:pPr algn="ctr">
                <a:lnSpc>
                  <a:spcPts val="2640"/>
                </a:lnSpc>
              </a:pPr>
              <a:r>
                <a:rPr lang="en-US" sz="2200" spc="43">
                  <a:solidFill>
                    <a:srgbClr val="CEB99E"/>
                  </a:solidFill>
                  <a:latin typeface="Times New Roman" panose="02020603050405020304" pitchFamily="18" charset="0"/>
                  <a:ea typeface="Playfair Display"/>
                  <a:cs typeface="Times New Roman" panose="02020603050405020304" pitchFamily="18" charset="0"/>
                  <a:sym typeface="Playfair Display"/>
                </a:rPr>
                <a:t>Structure only — no features</a:t>
              </a:r>
            </a:p>
          </p:txBody>
        </p:sp>
      </p:grpSp>
      <p:grpSp>
        <p:nvGrpSpPr>
          <p:cNvPr id="47" name="Group 47"/>
          <p:cNvGrpSpPr/>
          <p:nvPr/>
        </p:nvGrpSpPr>
        <p:grpSpPr>
          <a:xfrm>
            <a:off x="13703303" y="5162807"/>
            <a:ext cx="3134363" cy="720347"/>
            <a:chOff x="0" y="0"/>
            <a:chExt cx="4179151" cy="960463"/>
          </a:xfrm>
        </p:grpSpPr>
        <p:sp>
          <p:nvSpPr>
            <p:cNvPr id="48" name="Freeform 48"/>
            <p:cNvSpPr/>
            <p:nvPr/>
          </p:nvSpPr>
          <p:spPr>
            <a:xfrm>
              <a:off x="0" y="0"/>
              <a:ext cx="4179062" cy="960374"/>
            </a:xfrm>
            <a:custGeom>
              <a:avLst/>
              <a:gdLst/>
              <a:ahLst/>
              <a:cxnLst/>
              <a:rect l="l" t="t" r="r" b="b"/>
              <a:pathLst>
                <a:path w="4179062" h="960374">
                  <a:moveTo>
                    <a:pt x="0" y="252730"/>
                  </a:moveTo>
                  <a:cubicBezTo>
                    <a:pt x="0" y="113157"/>
                    <a:pt x="113157" y="0"/>
                    <a:pt x="252730" y="0"/>
                  </a:cubicBezTo>
                  <a:lnTo>
                    <a:pt x="3926332" y="0"/>
                  </a:lnTo>
                  <a:cubicBezTo>
                    <a:pt x="4065905" y="0"/>
                    <a:pt x="4179062" y="113157"/>
                    <a:pt x="4179062" y="252730"/>
                  </a:cubicBezTo>
                  <a:lnTo>
                    <a:pt x="4179062" y="707644"/>
                  </a:lnTo>
                  <a:cubicBezTo>
                    <a:pt x="4179062" y="847217"/>
                    <a:pt x="4065905" y="960374"/>
                    <a:pt x="3926332" y="960374"/>
                  </a:cubicBezTo>
                  <a:lnTo>
                    <a:pt x="252730" y="960374"/>
                  </a:lnTo>
                  <a:cubicBezTo>
                    <a:pt x="113157" y="960501"/>
                    <a:pt x="0" y="847344"/>
                    <a:pt x="0" y="707644"/>
                  </a:cubicBezTo>
                  <a:close/>
                </a:path>
              </a:pathLst>
            </a:custGeom>
            <a:solidFill>
              <a:srgbClr val="253439"/>
            </a:solidFill>
            <a:ln w="25400" cap="sq">
              <a:solidFill>
                <a:srgbClr val="3A9BD5"/>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49" name="Group 49"/>
          <p:cNvGrpSpPr/>
          <p:nvPr/>
        </p:nvGrpSpPr>
        <p:grpSpPr>
          <a:xfrm>
            <a:off x="13716000" y="5175504"/>
            <a:ext cx="3108960" cy="694944"/>
            <a:chOff x="0" y="0"/>
            <a:chExt cx="4145280" cy="926592"/>
          </a:xfrm>
        </p:grpSpPr>
        <p:sp>
          <p:nvSpPr>
            <p:cNvPr id="50" name="Freeform 50"/>
            <p:cNvSpPr/>
            <p:nvPr/>
          </p:nvSpPr>
          <p:spPr>
            <a:xfrm>
              <a:off x="0" y="0"/>
              <a:ext cx="4145280" cy="926592"/>
            </a:xfrm>
            <a:custGeom>
              <a:avLst/>
              <a:gdLst/>
              <a:ahLst/>
              <a:cxnLst/>
              <a:rect l="l" t="t" r="r" b="b"/>
              <a:pathLst>
                <a:path w="4145280" h="926592">
                  <a:moveTo>
                    <a:pt x="0" y="0"/>
                  </a:moveTo>
                  <a:lnTo>
                    <a:pt x="4145280" y="0"/>
                  </a:lnTo>
                  <a:lnTo>
                    <a:pt x="4145280" y="926592"/>
                  </a:lnTo>
                  <a:lnTo>
                    <a:pt x="0" y="926592"/>
                  </a:lnTo>
                  <a:close/>
                </a:path>
              </a:pathLst>
            </a:custGeom>
            <a:blipFill>
              <a:blip r:embed="rId3">
                <a:alphaModFix amt="0"/>
              </a:blip>
              <a:stretch>
                <a:fillRect t="-37169" b="-37169"/>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51" name="TextBox 51"/>
            <p:cNvSpPr txBox="1"/>
            <p:nvPr/>
          </p:nvSpPr>
          <p:spPr>
            <a:xfrm>
              <a:off x="0" y="0"/>
              <a:ext cx="4145280" cy="926592"/>
            </a:xfrm>
            <a:prstGeom prst="rect">
              <a:avLst/>
            </a:prstGeom>
          </p:spPr>
          <p:txBody>
            <a:bodyPr lIns="0" tIns="0" rIns="0" bIns="0" rtlCol="0" anchor="ctr"/>
            <a:lstStyle/>
            <a:p>
              <a:pPr algn="ctr">
                <a:lnSpc>
                  <a:spcPts val="2400"/>
                </a:lnSpc>
              </a:pPr>
              <a:r>
                <a:rPr lang="en-US" sz="2000" spc="40" dirty="0">
                  <a:solidFill>
                    <a:srgbClr val="CEB99E"/>
                  </a:solidFill>
                  <a:latin typeface="Times New Roman" panose="02020603050405020304" pitchFamily="18" charset="0"/>
                  <a:ea typeface="Playfair Display"/>
                  <a:cs typeface="Times New Roman" panose="02020603050405020304" pitchFamily="18" charset="0"/>
                  <a:sym typeface="Playfair Display"/>
                </a:rPr>
                <a:t>Structure only — no features</a:t>
              </a:r>
            </a:p>
          </p:txBody>
        </p:sp>
      </p:grpSp>
      <p:grpSp>
        <p:nvGrpSpPr>
          <p:cNvPr id="52" name="Group 52"/>
          <p:cNvGrpSpPr/>
          <p:nvPr/>
        </p:nvGrpSpPr>
        <p:grpSpPr>
          <a:xfrm>
            <a:off x="2286000" y="5943600"/>
            <a:ext cx="15087600" cy="1210818"/>
            <a:chOff x="0" y="0"/>
            <a:chExt cx="20116800" cy="1614424"/>
          </a:xfrm>
        </p:grpSpPr>
        <p:sp>
          <p:nvSpPr>
            <p:cNvPr id="53" name="Freeform 53"/>
            <p:cNvSpPr/>
            <p:nvPr/>
          </p:nvSpPr>
          <p:spPr>
            <a:xfrm>
              <a:off x="0" y="0"/>
              <a:ext cx="20116800" cy="1614424"/>
            </a:xfrm>
            <a:custGeom>
              <a:avLst/>
              <a:gdLst/>
              <a:ahLst/>
              <a:cxnLst/>
              <a:rect l="l" t="t" r="r" b="b"/>
              <a:pathLst>
                <a:path w="20116800" h="1614424">
                  <a:moveTo>
                    <a:pt x="0" y="0"/>
                  </a:moveTo>
                  <a:lnTo>
                    <a:pt x="20116800" y="0"/>
                  </a:lnTo>
                  <a:lnTo>
                    <a:pt x="20116800" y="1614424"/>
                  </a:lnTo>
                  <a:lnTo>
                    <a:pt x="0" y="1614424"/>
                  </a:lnTo>
                  <a:close/>
                </a:path>
              </a:pathLst>
            </a:custGeom>
            <a:blipFill>
              <a:blip r:embed="rId3">
                <a:alphaModFix amt="0"/>
              </a:blip>
              <a:stretch>
                <a:fillRect t="-197485" b="-188108"/>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54" name="TextBox 54"/>
            <p:cNvSpPr txBox="1"/>
            <p:nvPr/>
          </p:nvSpPr>
          <p:spPr>
            <a:xfrm>
              <a:off x="0" y="0"/>
              <a:ext cx="20116800" cy="1614424"/>
            </a:xfrm>
            <a:prstGeom prst="rect">
              <a:avLst/>
            </a:prstGeom>
          </p:spPr>
          <p:txBody>
            <a:bodyPr lIns="0" tIns="0" rIns="0" bIns="0" rtlCol="0" anchor="ctr"/>
            <a:lstStyle/>
            <a:p>
              <a:pPr algn="l">
                <a:lnSpc>
                  <a:spcPts val="2879"/>
                </a:lnSpc>
              </a:pPr>
              <a:r>
                <a:rPr lang="en-US" sz="2400" spc="48" dirty="0">
                  <a:latin typeface="Times New Roman" panose="02020603050405020304" pitchFamily="18" charset="0"/>
                  <a:ea typeface="Playfair Display"/>
                  <a:cs typeface="Times New Roman" panose="02020603050405020304" pitchFamily="18" charset="0"/>
                  <a:sym typeface="Playfair Display"/>
                </a:rPr>
                <a:t>These methods only use graph topology (node IDs and edge paths). They completely ignore rich external node attributes — like user profiles on social networks, text content on paper citation graphs, or chemical properties of atoms.</a:t>
              </a:r>
            </a:p>
          </p:txBody>
        </p:sp>
      </p:grpSp>
      <p:grpSp>
        <p:nvGrpSpPr>
          <p:cNvPr id="55" name="Group 55"/>
          <p:cNvGrpSpPr/>
          <p:nvPr/>
        </p:nvGrpSpPr>
        <p:grpSpPr>
          <a:xfrm>
            <a:off x="535943" y="7448807"/>
            <a:ext cx="16484603" cy="2256539"/>
            <a:chOff x="0" y="0"/>
            <a:chExt cx="21979471" cy="3008719"/>
          </a:xfrm>
        </p:grpSpPr>
        <p:sp>
          <p:nvSpPr>
            <p:cNvPr id="56" name="Freeform 56"/>
            <p:cNvSpPr/>
            <p:nvPr/>
          </p:nvSpPr>
          <p:spPr>
            <a:xfrm>
              <a:off x="0" y="0"/>
              <a:ext cx="21979510" cy="3008757"/>
            </a:xfrm>
            <a:custGeom>
              <a:avLst/>
              <a:gdLst/>
              <a:ahLst/>
              <a:cxnLst/>
              <a:rect l="l" t="t" r="r" b="b"/>
              <a:pathLst>
                <a:path w="21979510" h="3008757">
                  <a:moveTo>
                    <a:pt x="0" y="246634"/>
                  </a:moveTo>
                  <a:cubicBezTo>
                    <a:pt x="0" y="110363"/>
                    <a:pt x="110363" y="0"/>
                    <a:pt x="246634" y="0"/>
                  </a:cubicBezTo>
                  <a:lnTo>
                    <a:pt x="21732875" y="0"/>
                  </a:lnTo>
                  <a:cubicBezTo>
                    <a:pt x="21869019" y="0"/>
                    <a:pt x="21979510" y="110363"/>
                    <a:pt x="21979510" y="246634"/>
                  </a:cubicBezTo>
                  <a:lnTo>
                    <a:pt x="21979510" y="2762123"/>
                  </a:lnTo>
                  <a:cubicBezTo>
                    <a:pt x="21979510" y="2898267"/>
                    <a:pt x="21869146" y="3008757"/>
                    <a:pt x="21732875" y="3008757"/>
                  </a:cubicBezTo>
                  <a:lnTo>
                    <a:pt x="246634" y="3008757"/>
                  </a:lnTo>
                  <a:cubicBezTo>
                    <a:pt x="110363" y="3008757"/>
                    <a:pt x="0" y="2898267"/>
                    <a:pt x="0" y="2762123"/>
                  </a:cubicBezTo>
                  <a:close/>
                </a:path>
              </a:pathLst>
            </a:custGeom>
            <a:solidFill>
              <a:srgbClr val="CEB99E"/>
            </a:solidFill>
            <a:ln w="25400" cap="sq">
              <a:solidFill>
                <a:srgbClr val="D8E8F8"/>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57" name="Group 57"/>
          <p:cNvGrpSpPr/>
          <p:nvPr/>
        </p:nvGrpSpPr>
        <p:grpSpPr>
          <a:xfrm>
            <a:off x="901703" y="7631687"/>
            <a:ext cx="1122683" cy="1122683"/>
            <a:chOff x="0" y="0"/>
            <a:chExt cx="1496911" cy="1496911"/>
          </a:xfrm>
        </p:grpSpPr>
        <p:sp>
          <p:nvSpPr>
            <p:cNvPr id="58" name="Freeform 58"/>
            <p:cNvSpPr/>
            <p:nvPr/>
          </p:nvSpPr>
          <p:spPr>
            <a:xfrm>
              <a:off x="0" y="0"/>
              <a:ext cx="1496822" cy="1496822"/>
            </a:xfrm>
            <a:custGeom>
              <a:avLst/>
              <a:gdLst/>
              <a:ahLst/>
              <a:cxnLst/>
              <a:rect l="l" t="t" r="r" b="b"/>
              <a:pathLst>
                <a:path w="1496822" h="1496822">
                  <a:moveTo>
                    <a:pt x="0" y="748411"/>
                  </a:moveTo>
                  <a:cubicBezTo>
                    <a:pt x="0" y="335153"/>
                    <a:pt x="335153" y="0"/>
                    <a:pt x="748411" y="0"/>
                  </a:cubicBezTo>
                  <a:cubicBezTo>
                    <a:pt x="1161669" y="0"/>
                    <a:pt x="1496822" y="335153"/>
                    <a:pt x="1496822" y="748411"/>
                  </a:cubicBezTo>
                  <a:cubicBezTo>
                    <a:pt x="1496822" y="1161669"/>
                    <a:pt x="1161669" y="1496822"/>
                    <a:pt x="748411" y="1496822"/>
                  </a:cubicBezTo>
                  <a:cubicBezTo>
                    <a:pt x="335153" y="1496822"/>
                    <a:pt x="0" y="1161796"/>
                    <a:pt x="0" y="748411"/>
                  </a:cubicBezTo>
                  <a:close/>
                </a:path>
              </a:pathLst>
            </a:custGeom>
            <a:solidFill>
              <a:srgbClr val="253439"/>
            </a:solidFill>
            <a:ln w="25400" cap="sq">
              <a:solidFill>
                <a:srgbClr val="2CB9A0"/>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59" name="Group 59"/>
          <p:cNvGrpSpPr/>
          <p:nvPr/>
        </p:nvGrpSpPr>
        <p:grpSpPr>
          <a:xfrm>
            <a:off x="914400" y="7644384"/>
            <a:ext cx="1097280" cy="1097280"/>
            <a:chOff x="0" y="0"/>
            <a:chExt cx="1463040" cy="1463040"/>
          </a:xfrm>
        </p:grpSpPr>
        <p:sp>
          <p:nvSpPr>
            <p:cNvPr id="60" name="Freeform 60"/>
            <p:cNvSpPr/>
            <p:nvPr/>
          </p:nvSpPr>
          <p:spPr>
            <a:xfrm>
              <a:off x="0" y="0"/>
              <a:ext cx="1463040" cy="1463040"/>
            </a:xfrm>
            <a:custGeom>
              <a:avLst/>
              <a:gdLst/>
              <a:ahLst/>
              <a:cxnLst/>
              <a:rect l="l" t="t" r="r" b="b"/>
              <a:pathLst>
                <a:path w="1463040" h="1463040">
                  <a:moveTo>
                    <a:pt x="0" y="0"/>
                  </a:moveTo>
                  <a:lnTo>
                    <a:pt x="1463040" y="0"/>
                  </a:lnTo>
                  <a:lnTo>
                    <a:pt x="1463040" y="1463040"/>
                  </a:lnTo>
                  <a:lnTo>
                    <a:pt x="0" y="1463040"/>
                  </a:lnTo>
                  <a:close/>
                </a:path>
              </a:pathLst>
            </a:custGeom>
            <a:blipFill>
              <a:blip r:embed="rId3">
                <a:alphaModFix amt="0"/>
              </a:blip>
              <a:stretch>
                <a:fillRect l="-78303" r="-78303"/>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61" name="TextBox 61"/>
            <p:cNvSpPr txBox="1"/>
            <p:nvPr/>
          </p:nvSpPr>
          <p:spPr>
            <a:xfrm>
              <a:off x="0" y="0"/>
              <a:ext cx="1463040" cy="1463040"/>
            </a:xfrm>
            <a:prstGeom prst="rect">
              <a:avLst/>
            </a:prstGeom>
          </p:spPr>
          <p:txBody>
            <a:bodyPr lIns="0" tIns="0" rIns="0" bIns="0" rtlCol="0" anchor="ctr"/>
            <a:lstStyle/>
            <a:p>
              <a:pPr algn="ctr">
                <a:lnSpc>
                  <a:spcPts val="3840"/>
                </a:lnSpc>
              </a:pPr>
              <a:r>
                <a:rPr lang="en-US" sz="3200" i="1" spc="160">
                  <a:solidFill>
                    <a:srgbClr val="CEB99E"/>
                  </a:solidFill>
                  <a:latin typeface="Times New Roman" panose="02020603050405020304" pitchFamily="18" charset="0"/>
                  <a:ea typeface="Playfair Display Italics"/>
                  <a:cs typeface="Times New Roman" panose="02020603050405020304" pitchFamily="18" charset="0"/>
                  <a:sym typeface="Playfair Display Italics"/>
                </a:rPr>
                <a:t>3</a:t>
              </a:r>
            </a:p>
          </p:txBody>
        </p:sp>
      </p:grpSp>
      <p:grpSp>
        <p:nvGrpSpPr>
          <p:cNvPr id="62" name="Group 62"/>
          <p:cNvGrpSpPr/>
          <p:nvPr/>
        </p:nvGrpSpPr>
        <p:grpSpPr>
          <a:xfrm>
            <a:off x="2286000" y="7589520"/>
            <a:ext cx="8229600" cy="768096"/>
            <a:chOff x="0" y="0"/>
            <a:chExt cx="10972800" cy="1024128"/>
          </a:xfrm>
        </p:grpSpPr>
        <p:sp>
          <p:nvSpPr>
            <p:cNvPr id="63" name="Freeform 63"/>
            <p:cNvSpPr/>
            <p:nvPr/>
          </p:nvSpPr>
          <p:spPr>
            <a:xfrm>
              <a:off x="0" y="0"/>
              <a:ext cx="10972800" cy="1024128"/>
            </a:xfrm>
            <a:custGeom>
              <a:avLst/>
              <a:gdLst/>
              <a:ahLst/>
              <a:cxnLst/>
              <a:rect l="l" t="t" r="r" b="b"/>
              <a:pathLst>
                <a:path w="10972800" h="1024128">
                  <a:moveTo>
                    <a:pt x="0" y="0"/>
                  </a:moveTo>
                  <a:lnTo>
                    <a:pt x="10972800" y="0"/>
                  </a:lnTo>
                  <a:lnTo>
                    <a:pt x="10972800" y="1024128"/>
                  </a:lnTo>
                  <a:lnTo>
                    <a:pt x="0" y="1024128"/>
                  </a:lnTo>
                  <a:close/>
                </a:path>
              </a:pathLst>
            </a:custGeom>
            <a:blipFill>
              <a:blip r:embed="rId3">
                <a:alphaModFix amt="0"/>
              </a:blip>
              <a:stretch>
                <a:fillRect t="-158768" b="-158768"/>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64" name="TextBox 64"/>
            <p:cNvSpPr txBox="1"/>
            <p:nvPr/>
          </p:nvSpPr>
          <p:spPr>
            <a:xfrm>
              <a:off x="0" y="9525"/>
              <a:ext cx="10972800" cy="1014603"/>
            </a:xfrm>
            <a:prstGeom prst="rect">
              <a:avLst/>
            </a:prstGeom>
          </p:spPr>
          <p:txBody>
            <a:bodyPr lIns="0" tIns="0" rIns="0" bIns="0" rtlCol="0" anchor="ctr"/>
            <a:lstStyle/>
            <a:p>
              <a:pPr algn="l">
                <a:lnSpc>
                  <a:spcPts val="3359"/>
                </a:lnSpc>
              </a:pPr>
              <a:r>
                <a:rPr lang="en-US" sz="2799" i="1" spc="140" dirty="0">
                  <a:solidFill>
                    <a:srgbClr val="253439"/>
                  </a:solidFill>
                  <a:latin typeface="Times New Roman" panose="02020603050405020304" pitchFamily="18" charset="0"/>
                  <a:ea typeface="Playfair Display Italics"/>
                  <a:cs typeface="Times New Roman" panose="02020603050405020304" pitchFamily="18" charset="0"/>
                  <a:sym typeface="Playfair Display Italics"/>
                </a:rPr>
                <a:t>Transductive — Cannot Generalize</a:t>
              </a:r>
            </a:p>
          </p:txBody>
        </p:sp>
      </p:grpSp>
      <p:grpSp>
        <p:nvGrpSpPr>
          <p:cNvPr id="65" name="Group 65"/>
          <p:cNvGrpSpPr/>
          <p:nvPr/>
        </p:nvGrpSpPr>
        <p:grpSpPr>
          <a:xfrm>
            <a:off x="13716000" y="7644384"/>
            <a:ext cx="3108960" cy="694944"/>
            <a:chOff x="0" y="0"/>
            <a:chExt cx="4145280" cy="926592"/>
          </a:xfrm>
        </p:grpSpPr>
        <p:sp>
          <p:nvSpPr>
            <p:cNvPr id="66" name="Freeform 66"/>
            <p:cNvSpPr/>
            <p:nvPr/>
          </p:nvSpPr>
          <p:spPr>
            <a:xfrm>
              <a:off x="0" y="0"/>
              <a:ext cx="4145280" cy="926592"/>
            </a:xfrm>
            <a:custGeom>
              <a:avLst/>
              <a:gdLst/>
              <a:ahLst/>
              <a:cxnLst/>
              <a:rect l="l" t="t" r="r" b="b"/>
              <a:pathLst>
                <a:path w="4145280" h="926592">
                  <a:moveTo>
                    <a:pt x="0" y="0"/>
                  </a:moveTo>
                  <a:lnTo>
                    <a:pt x="4145280" y="0"/>
                  </a:lnTo>
                  <a:lnTo>
                    <a:pt x="4145280" y="926592"/>
                  </a:lnTo>
                  <a:lnTo>
                    <a:pt x="0" y="926592"/>
                  </a:lnTo>
                  <a:close/>
                </a:path>
              </a:pathLst>
            </a:custGeom>
            <a:solidFill>
              <a:srgbClr val="253439"/>
            </a:solidFill>
          </p:spPr>
          <p:txBody>
            <a:bodyPr/>
            <a:lstStyle/>
            <a:p>
              <a:endParaRPr lang="en-IN">
                <a:latin typeface="Times New Roman" panose="02020603050405020304" pitchFamily="18" charset="0"/>
                <a:cs typeface="Times New Roman" panose="02020603050405020304" pitchFamily="18" charset="0"/>
              </a:endParaRPr>
            </a:p>
          </p:txBody>
        </p:sp>
        <p:sp>
          <p:nvSpPr>
            <p:cNvPr id="67" name="TextBox 67"/>
            <p:cNvSpPr txBox="1"/>
            <p:nvPr/>
          </p:nvSpPr>
          <p:spPr>
            <a:xfrm>
              <a:off x="0" y="0"/>
              <a:ext cx="4145280" cy="926592"/>
            </a:xfrm>
            <a:prstGeom prst="rect">
              <a:avLst/>
            </a:prstGeom>
          </p:spPr>
          <p:txBody>
            <a:bodyPr lIns="50800" tIns="50800" rIns="50800" bIns="50800" rtlCol="0" anchor="ctr"/>
            <a:lstStyle/>
            <a:p>
              <a:pPr algn="ctr">
                <a:lnSpc>
                  <a:spcPts val="2640"/>
                </a:lnSpc>
              </a:pPr>
              <a:r>
                <a:rPr lang="en-US" sz="2200" spc="43">
                  <a:solidFill>
                    <a:srgbClr val="CEB99E"/>
                  </a:solidFill>
                  <a:latin typeface="Times New Roman" panose="02020603050405020304" pitchFamily="18" charset="0"/>
                  <a:ea typeface="Playfair Display"/>
                  <a:cs typeface="Times New Roman" panose="02020603050405020304" pitchFamily="18" charset="0"/>
                  <a:sym typeface="Playfair Display"/>
                </a:rPr>
                <a:t>No inductive capability</a:t>
              </a:r>
            </a:p>
          </p:txBody>
        </p:sp>
      </p:grpSp>
      <p:grpSp>
        <p:nvGrpSpPr>
          <p:cNvPr id="68" name="Group 68"/>
          <p:cNvGrpSpPr/>
          <p:nvPr/>
        </p:nvGrpSpPr>
        <p:grpSpPr>
          <a:xfrm>
            <a:off x="13703303" y="7631687"/>
            <a:ext cx="3134363" cy="720347"/>
            <a:chOff x="0" y="0"/>
            <a:chExt cx="4179151" cy="960463"/>
          </a:xfrm>
        </p:grpSpPr>
        <p:sp>
          <p:nvSpPr>
            <p:cNvPr id="69" name="Freeform 69"/>
            <p:cNvSpPr/>
            <p:nvPr/>
          </p:nvSpPr>
          <p:spPr>
            <a:xfrm>
              <a:off x="0" y="0"/>
              <a:ext cx="4179062" cy="960374"/>
            </a:xfrm>
            <a:custGeom>
              <a:avLst/>
              <a:gdLst/>
              <a:ahLst/>
              <a:cxnLst/>
              <a:rect l="l" t="t" r="r" b="b"/>
              <a:pathLst>
                <a:path w="4179062" h="960374">
                  <a:moveTo>
                    <a:pt x="0" y="252730"/>
                  </a:moveTo>
                  <a:cubicBezTo>
                    <a:pt x="0" y="113157"/>
                    <a:pt x="113157" y="0"/>
                    <a:pt x="252730" y="0"/>
                  </a:cubicBezTo>
                  <a:lnTo>
                    <a:pt x="3926332" y="0"/>
                  </a:lnTo>
                  <a:cubicBezTo>
                    <a:pt x="4065905" y="0"/>
                    <a:pt x="4179062" y="113157"/>
                    <a:pt x="4179062" y="252730"/>
                  </a:cubicBezTo>
                  <a:lnTo>
                    <a:pt x="4179062" y="707644"/>
                  </a:lnTo>
                  <a:cubicBezTo>
                    <a:pt x="4179062" y="847217"/>
                    <a:pt x="4065905" y="960374"/>
                    <a:pt x="3926332" y="960374"/>
                  </a:cubicBezTo>
                  <a:lnTo>
                    <a:pt x="252730" y="960374"/>
                  </a:lnTo>
                  <a:cubicBezTo>
                    <a:pt x="113157" y="960501"/>
                    <a:pt x="0" y="847344"/>
                    <a:pt x="0" y="707644"/>
                  </a:cubicBezTo>
                  <a:close/>
                </a:path>
              </a:pathLst>
            </a:custGeom>
            <a:solidFill>
              <a:srgbClr val="253439"/>
            </a:solidFill>
            <a:ln w="25400" cap="sq">
              <a:solidFill>
                <a:srgbClr val="2CB9A0"/>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70" name="Group 70"/>
          <p:cNvGrpSpPr/>
          <p:nvPr/>
        </p:nvGrpSpPr>
        <p:grpSpPr>
          <a:xfrm>
            <a:off x="13716000" y="7644384"/>
            <a:ext cx="3108960" cy="694944"/>
            <a:chOff x="0" y="0"/>
            <a:chExt cx="4145280" cy="926592"/>
          </a:xfrm>
        </p:grpSpPr>
        <p:sp>
          <p:nvSpPr>
            <p:cNvPr id="71" name="Freeform 71"/>
            <p:cNvSpPr/>
            <p:nvPr/>
          </p:nvSpPr>
          <p:spPr>
            <a:xfrm>
              <a:off x="0" y="0"/>
              <a:ext cx="4145280" cy="926592"/>
            </a:xfrm>
            <a:custGeom>
              <a:avLst/>
              <a:gdLst/>
              <a:ahLst/>
              <a:cxnLst/>
              <a:rect l="l" t="t" r="r" b="b"/>
              <a:pathLst>
                <a:path w="4145280" h="926592">
                  <a:moveTo>
                    <a:pt x="0" y="0"/>
                  </a:moveTo>
                  <a:lnTo>
                    <a:pt x="4145280" y="0"/>
                  </a:lnTo>
                  <a:lnTo>
                    <a:pt x="4145280" y="926592"/>
                  </a:lnTo>
                  <a:lnTo>
                    <a:pt x="0" y="926592"/>
                  </a:lnTo>
                  <a:close/>
                </a:path>
              </a:pathLst>
            </a:custGeom>
            <a:blipFill>
              <a:blip r:embed="rId3">
                <a:alphaModFix amt="0"/>
              </a:blip>
              <a:stretch>
                <a:fillRect t="-37169" b="-37169"/>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72" name="TextBox 72"/>
            <p:cNvSpPr txBox="1"/>
            <p:nvPr/>
          </p:nvSpPr>
          <p:spPr>
            <a:xfrm>
              <a:off x="0" y="0"/>
              <a:ext cx="4145280" cy="926592"/>
            </a:xfrm>
            <a:prstGeom prst="rect">
              <a:avLst/>
            </a:prstGeom>
          </p:spPr>
          <p:txBody>
            <a:bodyPr lIns="0" tIns="0" rIns="0" bIns="0" rtlCol="0" anchor="ctr"/>
            <a:lstStyle/>
            <a:p>
              <a:pPr algn="ctr">
                <a:lnSpc>
                  <a:spcPts val="2400"/>
                </a:lnSpc>
              </a:pPr>
              <a:r>
                <a:rPr lang="en-US" sz="2000" spc="40">
                  <a:solidFill>
                    <a:srgbClr val="CEB99E"/>
                  </a:solidFill>
                  <a:latin typeface="Times New Roman" panose="02020603050405020304" pitchFamily="18" charset="0"/>
                  <a:ea typeface="Playfair Display"/>
                  <a:cs typeface="Times New Roman" panose="02020603050405020304" pitchFamily="18" charset="0"/>
                  <a:sym typeface="Playfair Display"/>
                </a:rPr>
                <a:t>No inductive capability</a:t>
              </a:r>
            </a:p>
          </p:txBody>
        </p:sp>
      </p:grpSp>
      <p:grpSp>
        <p:nvGrpSpPr>
          <p:cNvPr id="73" name="Group 73"/>
          <p:cNvGrpSpPr/>
          <p:nvPr/>
        </p:nvGrpSpPr>
        <p:grpSpPr>
          <a:xfrm>
            <a:off x="2286000" y="8412480"/>
            <a:ext cx="14356079" cy="1210818"/>
            <a:chOff x="0" y="0"/>
            <a:chExt cx="20116800" cy="1614424"/>
          </a:xfrm>
        </p:grpSpPr>
        <p:sp>
          <p:nvSpPr>
            <p:cNvPr id="74" name="Freeform 74"/>
            <p:cNvSpPr/>
            <p:nvPr/>
          </p:nvSpPr>
          <p:spPr>
            <a:xfrm>
              <a:off x="0" y="0"/>
              <a:ext cx="20116800" cy="1614424"/>
            </a:xfrm>
            <a:custGeom>
              <a:avLst/>
              <a:gdLst/>
              <a:ahLst/>
              <a:cxnLst/>
              <a:rect l="l" t="t" r="r" b="b"/>
              <a:pathLst>
                <a:path w="20116800" h="1614424">
                  <a:moveTo>
                    <a:pt x="0" y="0"/>
                  </a:moveTo>
                  <a:lnTo>
                    <a:pt x="20116800" y="0"/>
                  </a:lnTo>
                  <a:lnTo>
                    <a:pt x="20116800" y="1614424"/>
                  </a:lnTo>
                  <a:lnTo>
                    <a:pt x="0" y="1614424"/>
                  </a:lnTo>
                  <a:close/>
                </a:path>
              </a:pathLst>
            </a:custGeom>
            <a:blipFill>
              <a:blip r:embed="rId3">
                <a:alphaModFix amt="0"/>
              </a:blip>
              <a:stretch>
                <a:fillRect t="-197485" b="-188108"/>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75" name="TextBox 75"/>
            <p:cNvSpPr txBox="1"/>
            <p:nvPr/>
          </p:nvSpPr>
          <p:spPr>
            <a:xfrm>
              <a:off x="0" y="0"/>
              <a:ext cx="20116800" cy="1614424"/>
            </a:xfrm>
            <a:prstGeom prst="rect">
              <a:avLst/>
            </a:prstGeom>
          </p:spPr>
          <p:txBody>
            <a:bodyPr lIns="0" tIns="0" rIns="0" bIns="0" rtlCol="0" anchor="ctr"/>
            <a:lstStyle/>
            <a:p>
              <a:pPr algn="l">
                <a:lnSpc>
                  <a:spcPts val="2879"/>
                </a:lnSpc>
              </a:pPr>
              <a:r>
                <a:rPr lang="en-US" sz="2400" spc="48" dirty="0">
                  <a:latin typeface="Times New Roman" panose="02020603050405020304" pitchFamily="18" charset="0"/>
                  <a:ea typeface="Playfair Display"/>
                  <a:cs typeface="Times New Roman" panose="02020603050405020304" pitchFamily="18" charset="0"/>
                  <a:sym typeface="Playfair Display"/>
                </a:rPr>
                <a:t>Embeddings can only be generated for nodes present during training. If a new user joins a network after training, you cannot compute their embedding without re-running the entire training procedure from scratch.</a:t>
              </a:r>
            </a:p>
          </p:txBody>
        </p:sp>
      </p:grpSp>
      <p:grpSp>
        <p:nvGrpSpPr>
          <p:cNvPr id="76" name="Group 76"/>
          <p:cNvGrpSpPr/>
          <p:nvPr/>
        </p:nvGrpSpPr>
        <p:grpSpPr>
          <a:xfrm>
            <a:off x="535943" y="9917687"/>
            <a:ext cx="16654777" cy="1210818"/>
            <a:chOff x="0" y="0"/>
            <a:chExt cx="21979471" cy="960463"/>
          </a:xfrm>
        </p:grpSpPr>
        <p:sp>
          <p:nvSpPr>
            <p:cNvPr id="77" name="Freeform 77"/>
            <p:cNvSpPr/>
            <p:nvPr/>
          </p:nvSpPr>
          <p:spPr>
            <a:xfrm>
              <a:off x="0" y="0"/>
              <a:ext cx="21979382" cy="960374"/>
            </a:xfrm>
            <a:custGeom>
              <a:avLst/>
              <a:gdLst/>
              <a:ahLst/>
              <a:cxnLst/>
              <a:rect l="l" t="t" r="r" b="b"/>
              <a:pathLst>
                <a:path w="21979382" h="960374">
                  <a:moveTo>
                    <a:pt x="0" y="252730"/>
                  </a:moveTo>
                  <a:cubicBezTo>
                    <a:pt x="0" y="113157"/>
                    <a:pt x="113157" y="0"/>
                    <a:pt x="252730" y="0"/>
                  </a:cubicBezTo>
                  <a:lnTo>
                    <a:pt x="21726652" y="0"/>
                  </a:lnTo>
                  <a:cubicBezTo>
                    <a:pt x="21866225" y="0"/>
                    <a:pt x="21979382" y="113157"/>
                    <a:pt x="21979382" y="252730"/>
                  </a:cubicBezTo>
                  <a:lnTo>
                    <a:pt x="21979382" y="707644"/>
                  </a:lnTo>
                  <a:cubicBezTo>
                    <a:pt x="21979382" y="847217"/>
                    <a:pt x="21866225" y="960374"/>
                    <a:pt x="21726652" y="960374"/>
                  </a:cubicBezTo>
                  <a:lnTo>
                    <a:pt x="252730" y="960374"/>
                  </a:lnTo>
                  <a:cubicBezTo>
                    <a:pt x="113157" y="960501"/>
                    <a:pt x="0" y="847344"/>
                    <a:pt x="0" y="707644"/>
                  </a:cubicBezTo>
                  <a:close/>
                </a:path>
              </a:pathLst>
            </a:custGeom>
            <a:solidFill>
              <a:srgbClr val="B29E84"/>
            </a:solidFill>
            <a:ln w="25400" cap="sq">
              <a:solidFill>
                <a:srgbClr val="D8E8F8"/>
              </a:solidFill>
              <a:prstDash val="solid"/>
              <a:miter/>
            </a:ln>
          </p:spPr>
          <p:txBody>
            <a:bodyPr/>
            <a:lstStyle/>
            <a:p>
              <a:endParaRPr lang="en-IN">
                <a:latin typeface="Times New Roman" panose="02020603050405020304" pitchFamily="18" charset="0"/>
                <a:cs typeface="Times New Roman" panose="02020603050405020304" pitchFamily="18" charset="0"/>
              </a:endParaRPr>
            </a:p>
          </p:txBody>
        </p:sp>
      </p:grpSp>
      <p:grpSp>
        <p:nvGrpSpPr>
          <p:cNvPr id="78" name="Group 78"/>
          <p:cNvGrpSpPr/>
          <p:nvPr/>
        </p:nvGrpSpPr>
        <p:grpSpPr>
          <a:xfrm>
            <a:off x="914400" y="9930384"/>
            <a:ext cx="15727680" cy="916432"/>
            <a:chOff x="0" y="0"/>
            <a:chExt cx="20970240" cy="1221909"/>
          </a:xfrm>
        </p:grpSpPr>
        <p:sp>
          <p:nvSpPr>
            <p:cNvPr id="79" name="Freeform 79"/>
            <p:cNvSpPr/>
            <p:nvPr/>
          </p:nvSpPr>
          <p:spPr>
            <a:xfrm>
              <a:off x="0" y="0"/>
              <a:ext cx="20970239" cy="1221909"/>
            </a:xfrm>
            <a:custGeom>
              <a:avLst/>
              <a:gdLst/>
              <a:ahLst/>
              <a:cxnLst/>
              <a:rect l="l" t="t" r="r" b="b"/>
              <a:pathLst>
                <a:path w="20970239" h="1221909">
                  <a:moveTo>
                    <a:pt x="0" y="0"/>
                  </a:moveTo>
                  <a:lnTo>
                    <a:pt x="20970239" y="0"/>
                  </a:lnTo>
                  <a:lnTo>
                    <a:pt x="20970239" y="1221909"/>
                  </a:lnTo>
                  <a:lnTo>
                    <a:pt x="0" y="1221909"/>
                  </a:lnTo>
                  <a:close/>
                </a:path>
              </a:pathLst>
            </a:custGeom>
            <a:blipFill>
              <a:blip r:embed="rId3">
                <a:alphaModFix amt="0"/>
              </a:blip>
              <a:stretch>
                <a:fillRect t="-296483" b="-272315"/>
              </a:stretch>
            </a:blipFill>
          </p:spPr>
          <p:txBody>
            <a:bodyPr/>
            <a:lstStyle/>
            <a:p>
              <a:endParaRPr lang="en-IN"/>
            </a:p>
          </p:txBody>
        </p:sp>
        <p:sp>
          <p:nvSpPr>
            <p:cNvPr id="80" name="TextBox 80"/>
            <p:cNvSpPr txBox="1"/>
            <p:nvPr/>
          </p:nvSpPr>
          <p:spPr>
            <a:xfrm>
              <a:off x="0" y="0"/>
              <a:ext cx="20970240" cy="1221909"/>
            </a:xfrm>
            <a:prstGeom prst="rect">
              <a:avLst/>
            </a:prstGeom>
          </p:spPr>
          <p:txBody>
            <a:bodyPr lIns="0" tIns="0" rIns="0" bIns="0" rtlCol="0" anchor="ctr"/>
            <a:lstStyle/>
            <a:p>
              <a:pPr algn="ctr">
                <a:lnSpc>
                  <a:spcPts val="3120"/>
                </a:lnSpc>
              </a:pPr>
              <a:r>
                <a:rPr lang="en-US" sz="2600" spc="52" dirty="0">
                  <a:latin typeface="Playfair Display"/>
                  <a:ea typeface="Playfair Display"/>
                  <a:cs typeface="Playfair Display"/>
                  <a:sym typeface="Playfair Display"/>
                </a:rPr>
                <a:t>Solution: Replace shallow encoder with Graph Neural Networks (GNNs) — covered in Part II of the book.</a:t>
              </a: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253439"/>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0" y="0"/>
              <a:ext cx="24417910" cy="1789557"/>
            </a:xfrm>
            <a:custGeom>
              <a:avLst/>
              <a:gdLst/>
              <a:ahLst/>
              <a:cxnLst/>
              <a:rect l="l" t="t" r="r" b="b"/>
              <a:pathLst>
                <a:path w="24417910" h="1789557">
                  <a:moveTo>
                    <a:pt x="0" y="0"/>
                  </a:moveTo>
                  <a:lnTo>
                    <a:pt x="24417910" y="0"/>
                  </a:lnTo>
                  <a:lnTo>
                    <a:pt x="24417910" y="1789557"/>
                  </a:lnTo>
                  <a:lnTo>
                    <a:pt x="0" y="1789557"/>
                  </a:lnTo>
                  <a:close/>
                </a:path>
              </a:pathLst>
            </a:custGeom>
            <a:solidFill>
              <a:srgbClr val="FFFFFF"/>
            </a:solidFill>
            <a:ln w="25400" cap="sq">
              <a:solidFill>
                <a:srgbClr val="1A3461"/>
              </a:solidFill>
              <a:prstDash val="solid"/>
              <a:miter/>
            </a:ln>
          </p:spPr>
          <p:txBody>
            <a:bodyPr/>
            <a:lstStyle/>
            <a:p>
              <a:endParaRPr lang="en-IN"/>
            </a:p>
          </p:txBody>
        </p:sp>
      </p:grpSp>
      <p:grpSp>
        <p:nvGrpSpPr>
          <p:cNvPr id="4" name="Group 4"/>
          <p:cNvGrpSpPr/>
          <p:nvPr/>
        </p:nvGrpSpPr>
        <p:grpSpPr>
          <a:xfrm>
            <a:off x="731520" y="0"/>
            <a:ext cx="16824960" cy="1316736"/>
            <a:chOff x="0" y="0"/>
            <a:chExt cx="22433280" cy="1755648"/>
          </a:xfrm>
        </p:grpSpPr>
        <p:sp>
          <p:nvSpPr>
            <p:cNvPr id="5" name="Freeform 5"/>
            <p:cNvSpPr/>
            <p:nvPr/>
          </p:nvSpPr>
          <p:spPr>
            <a:xfrm>
              <a:off x="0" y="0"/>
              <a:ext cx="22433280" cy="1755648"/>
            </a:xfrm>
            <a:custGeom>
              <a:avLst/>
              <a:gdLst/>
              <a:ahLst/>
              <a:cxnLst/>
              <a:rect l="l" t="t" r="r" b="b"/>
              <a:pathLst>
                <a:path w="22433280" h="1755648">
                  <a:moveTo>
                    <a:pt x="0" y="0"/>
                  </a:moveTo>
                  <a:lnTo>
                    <a:pt x="22433280" y="0"/>
                  </a:lnTo>
                  <a:lnTo>
                    <a:pt x="22433280" y="1755648"/>
                  </a:lnTo>
                  <a:lnTo>
                    <a:pt x="0" y="1755648"/>
                  </a:lnTo>
                  <a:close/>
                </a:path>
              </a:pathLst>
            </a:custGeom>
            <a:blipFill>
              <a:blip r:embed="rId3">
                <a:alphaModFix amt="0"/>
              </a:blip>
              <a:stretch>
                <a:fillRect t="-198975" b="-198975"/>
              </a:stretch>
            </a:blipFill>
          </p:spPr>
          <p:txBody>
            <a:bodyPr/>
            <a:lstStyle/>
            <a:p>
              <a:endParaRPr lang="en-IN"/>
            </a:p>
          </p:txBody>
        </p:sp>
        <p:sp>
          <p:nvSpPr>
            <p:cNvPr id="6" name="TextBox 6"/>
            <p:cNvSpPr txBox="1"/>
            <p:nvPr/>
          </p:nvSpPr>
          <p:spPr>
            <a:xfrm>
              <a:off x="0" y="-9525"/>
              <a:ext cx="22433280" cy="1765173"/>
            </a:xfrm>
            <a:prstGeom prst="rect">
              <a:avLst/>
            </a:prstGeom>
          </p:spPr>
          <p:txBody>
            <a:bodyPr lIns="0" tIns="0" rIns="0" bIns="0" rtlCol="0" anchor="ctr"/>
            <a:lstStyle/>
            <a:p>
              <a:pPr algn="l">
                <a:lnSpc>
                  <a:spcPts val="4800"/>
                </a:lnSpc>
              </a:pPr>
              <a:r>
                <a:rPr lang="en-US" sz="4000" spc="560" dirty="0">
                  <a:latin typeface="Times New Roman" panose="02020603050405020304" pitchFamily="18" charset="0"/>
                  <a:ea typeface="Hammersmith One"/>
                  <a:cs typeface="Times New Roman" panose="02020603050405020304" pitchFamily="18" charset="0"/>
                  <a:sym typeface="Hammersmith One"/>
                </a:rPr>
                <a:t>What Comes Next – Graph Neural Networks</a:t>
              </a:r>
            </a:p>
          </p:txBody>
        </p:sp>
      </p:grpSp>
      <p:sp>
        <p:nvSpPr>
          <p:cNvPr id="8" name="Freeform 8"/>
          <p:cNvSpPr/>
          <p:nvPr/>
        </p:nvSpPr>
        <p:spPr>
          <a:xfrm>
            <a:off x="731520" y="73152"/>
            <a:ext cx="16459200" cy="402336"/>
          </a:xfrm>
          <a:custGeom>
            <a:avLst/>
            <a:gdLst/>
            <a:ahLst/>
            <a:cxnLst/>
            <a:rect l="l" t="t" r="r" b="b"/>
            <a:pathLst>
              <a:path w="21945600" h="536448">
                <a:moveTo>
                  <a:pt x="0" y="0"/>
                </a:moveTo>
                <a:lnTo>
                  <a:pt x="21945600" y="0"/>
                </a:lnTo>
                <a:lnTo>
                  <a:pt x="21945600" y="536448"/>
                </a:lnTo>
                <a:lnTo>
                  <a:pt x="0" y="536448"/>
                </a:lnTo>
                <a:close/>
              </a:path>
            </a:pathLst>
          </a:custGeom>
          <a:blipFill>
            <a:blip r:embed="rId3">
              <a:alphaModFix amt="0"/>
            </a:blip>
            <a:stretch>
              <a:fillRect t="-747115" b="-747115"/>
            </a:stretch>
          </a:blipFill>
        </p:spPr>
        <p:txBody>
          <a:bodyPr/>
          <a:lstStyle/>
          <a:p>
            <a:endParaRPr lang="en-IN"/>
          </a:p>
        </p:txBody>
      </p:sp>
      <p:grpSp>
        <p:nvGrpSpPr>
          <p:cNvPr id="10" name="Group 10"/>
          <p:cNvGrpSpPr/>
          <p:nvPr/>
        </p:nvGrpSpPr>
        <p:grpSpPr>
          <a:xfrm>
            <a:off x="731520" y="1499616"/>
            <a:ext cx="16824960" cy="694944"/>
            <a:chOff x="0" y="0"/>
            <a:chExt cx="22433280" cy="926592"/>
          </a:xfrm>
        </p:grpSpPr>
        <p:sp>
          <p:nvSpPr>
            <p:cNvPr id="11" name="Freeform 11"/>
            <p:cNvSpPr/>
            <p:nvPr/>
          </p:nvSpPr>
          <p:spPr>
            <a:xfrm>
              <a:off x="0" y="0"/>
              <a:ext cx="22433280" cy="926592"/>
            </a:xfrm>
            <a:custGeom>
              <a:avLst/>
              <a:gdLst/>
              <a:ahLst/>
              <a:cxnLst/>
              <a:rect l="l" t="t" r="r" b="b"/>
              <a:pathLst>
                <a:path w="22433280" h="926592">
                  <a:moveTo>
                    <a:pt x="0" y="0"/>
                  </a:moveTo>
                  <a:lnTo>
                    <a:pt x="22433280" y="0"/>
                  </a:lnTo>
                  <a:lnTo>
                    <a:pt x="22433280" y="926592"/>
                  </a:lnTo>
                  <a:lnTo>
                    <a:pt x="0" y="926592"/>
                  </a:lnTo>
                  <a:close/>
                </a:path>
              </a:pathLst>
            </a:custGeom>
            <a:blipFill>
              <a:blip r:embed="rId3">
                <a:alphaModFix amt="0"/>
              </a:blip>
              <a:stretch>
                <a:fillRect t="-421743" b="-421743"/>
              </a:stretch>
            </a:blipFill>
          </p:spPr>
          <p:txBody>
            <a:bodyPr/>
            <a:lstStyle/>
            <a:p>
              <a:endParaRPr lang="en-IN"/>
            </a:p>
          </p:txBody>
        </p:sp>
        <p:sp>
          <p:nvSpPr>
            <p:cNvPr id="12" name="TextBox 12"/>
            <p:cNvSpPr txBox="1"/>
            <p:nvPr/>
          </p:nvSpPr>
          <p:spPr>
            <a:xfrm>
              <a:off x="0" y="9525"/>
              <a:ext cx="22433280" cy="917067"/>
            </a:xfrm>
            <a:prstGeom prst="rect">
              <a:avLst/>
            </a:prstGeom>
          </p:spPr>
          <p:txBody>
            <a:bodyPr lIns="0" tIns="0" rIns="0" bIns="0" rtlCol="0" anchor="ctr"/>
            <a:lstStyle/>
            <a:p>
              <a:pPr algn="l">
                <a:lnSpc>
                  <a:spcPts val="3359"/>
                </a:lnSpc>
              </a:pPr>
              <a:r>
                <a:rPr lang="en-US" sz="2799" spc="55">
                  <a:solidFill>
                    <a:srgbClr val="FFFFFF"/>
                  </a:solidFill>
                  <a:latin typeface="Playfair Display"/>
                  <a:ea typeface="Playfair Display"/>
                  <a:cs typeface="Playfair Display"/>
                  <a:sym typeface="Playfair Display"/>
                </a:rPr>
                <a:t>Graph Neural Networks (GNNs) solve all three limitations of shallow embeddings:</a:t>
              </a:r>
            </a:p>
          </p:txBody>
        </p:sp>
      </p:grpSp>
      <p:grpSp>
        <p:nvGrpSpPr>
          <p:cNvPr id="13" name="Group 13"/>
          <p:cNvGrpSpPr/>
          <p:nvPr/>
        </p:nvGrpSpPr>
        <p:grpSpPr>
          <a:xfrm>
            <a:off x="535943" y="2456183"/>
            <a:ext cx="16484603" cy="2183387"/>
            <a:chOff x="0" y="0"/>
            <a:chExt cx="21979471" cy="2911183"/>
          </a:xfrm>
        </p:grpSpPr>
        <p:sp>
          <p:nvSpPr>
            <p:cNvPr id="14" name="Freeform 14"/>
            <p:cNvSpPr/>
            <p:nvPr/>
          </p:nvSpPr>
          <p:spPr>
            <a:xfrm>
              <a:off x="0" y="0"/>
              <a:ext cx="21979510" cy="2911221"/>
            </a:xfrm>
            <a:custGeom>
              <a:avLst/>
              <a:gdLst/>
              <a:ahLst/>
              <a:cxnLst/>
              <a:rect l="l" t="t" r="r" b="b"/>
              <a:pathLst>
                <a:path w="21979510" h="2911221">
                  <a:moveTo>
                    <a:pt x="0" y="246761"/>
                  </a:moveTo>
                  <a:cubicBezTo>
                    <a:pt x="0" y="110490"/>
                    <a:pt x="110490" y="0"/>
                    <a:pt x="246761" y="0"/>
                  </a:cubicBezTo>
                  <a:lnTo>
                    <a:pt x="21732748" y="0"/>
                  </a:lnTo>
                  <a:cubicBezTo>
                    <a:pt x="21869019" y="0"/>
                    <a:pt x="21979510" y="110490"/>
                    <a:pt x="21979510" y="246761"/>
                  </a:cubicBezTo>
                  <a:lnTo>
                    <a:pt x="21979510" y="2664460"/>
                  </a:lnTo>
                  <a:cubicBezTo>
                    <a:pt x="21979510" y="2800731"/>
                    <a:pt x="21869019" y="2911221"/>
                    <a:pt x="21732748" y="2911221"/>
                  </a:cubicBezTo>
                  <a:lnTo>
                    <a:pt x="246761" y="2911221"/>
                  </a:lnTo>
                  <a:cubicBezTo>
                    <a:pt x="110490" y="2911221"/>
                    <a:pt x="0" y="2800731"/>
                    <a:pt x="0" y="2664460"/>
                  </a:cubicBezTo>
                  <a:close/>
                </a:path>
              </a:pathLst>
            </a:custGeom>
            <a:solidFill>
              <a:srgbClr val="595551"/>
            </a:solidFill>
            <a:ln w="25400" cap="sq">
              <a:solidFill>
                <a:srgbClr val="D8E8F8"/>
              </a:solidFill>
              <a:prstDash val="solid"/>
              <a:miter/>
            </a:ln>
          </p:spPr>
          <p:txBody>
            <a:bodyPr/>
            <a:lstStyle/>
            <a:p>
              <a:endParaRPr lang="en-IN"/>
            </a:p>
          </p:txBody>
        </p:sp>
      </p:grpSp>
      <p:grpSp>
        <p:nvGrpSpPr>
          <p:cNvPr id="15" name="Group 15"/>
          <p:cNvGrpSpPr/>
          <p:nvPr/>
        </p:nvGrpSpPr>
        <p:grpSpPr>
          <a:xfrm>
            <a:off x="865127" y="2602487"/>
            <a:ext cx="976379" cy="976379"/>
            <a:chOff x="0" y="0"/>
            <a:chExt cx="1301839" cy="1301839"/>
          </a:xfrm>
        </p:grpSpPr>
        <p:sp>
          <p:nvSpPr>
            <p:cNvPr id="16" name="Freeform 16"/>
            <p:cNvSpPr/>
            <p:nvPr/>
          </p:nvSpPr>
          <p:spPr>
            <a:xfrm>
              <a:off x="0" y="0"/>
              <a:ext cx="1301750" cy="1301750"/>
            </a:xfrm>
            <a:custGeom>
              <a:avLst/>
              <a:gdLst/>
              <a:ahLst/>
              <a:cxnLst/>
              <a:rect l="l" t="t" r="r" b="b"/>
              <a:pathLst>
                <a:path w="1301750" h="1301750">
                  <a:moveTo>
                    <a:pt x="0" y="650875"/>
                  </a:moveTo>
                  <a:cubicBezTo>
                    <a:pt x="0" y="291465"/>
                    <a:pt x="291465" y="0"/>
                    <a:pt x="650875" y="0"/>
                  </a:cubicBezTo>
                  <a:cubicBezTo>
                    <a:pt x="1010285" y="0"/>
                    <a:pt x="1301750" y="291465"/>
                    <a:pt x="1301750" y="650875"/>
                  </a:cubicBezTo>
                  <a:cubicBezTo>
                    <a:pt x="1301750" y="1010285"/>
                    <a:pt x="1010285" y="1301750"/>
                    <a:pt x="650875" y="1301750"/>
                  </a:cubicBezTo>
                  <a:cubicBezTo>
                    <a:pt x="291465" y="1301750"/>
                    <a:pt x="0" y="1010412"/>
                    <a:pt x="0" y="650875"/>
                  </a:cubicBezTo>
                  <a:close/>
                </a:path>
              </a:pathLst>
            </a:custGeom>
            <a:solidFill>
              <a:srgbClr val="FFFFFF"/>
            </a:solidFill>
            <a:ln w="25400" cap="sq">
              <a:solidFill>
                <a:srgbClr val="2CB9A0"/>
              </a:solidFill>
              <a:prstDash val="solid"/>
              <a:miter/>
            </a:ln>
          </p:spPr>
          <p:txBody>
            <a:bodyPr/>
            <a:lstStyle/>
            <a:p>
              <a:endParaRPr lang="en-IN"/>
            </a:p>
          </p:txBody>
        </p:sp>
      </p:grpSp>
      <p:grpSp>
        <p:nvGrpSpPr>
          <p:cNvPr id="17" name="Group 17"/>
          <p:cNvGrpSpPr/>
          <p:nvPr/>
        </p:nvGrpSpPr>
        <p:grpSpPr>
          <a:xfrm>
            <a:off x="877824" y="2615184"/>
            <a:ext cx="950976" cy="950976"/>
            <a:chOff x="0" y="0"/>
            <a:chExt cx="1267968" cy="1267968"/>
          </a:xfrm>
        </p:grpSpPr>
        <p:sp>
          <p:nvSpPr>
            <p:cNvPr id="18" name="Freeform 18"/>
            <p:cNvSpPr/>
            <p:nvPr/>
          </p:nvSpPr>
          <p:spPr>
            <a:xfrm>
              <a:off x="0" y="0"/>
              <a:ext cx="1267968" cy="1267968"/>
            </a:xfrm>
            <a:custGeom>
              <a:avLst/>
              <a:gdLst/>
              <a:ahLst/>
              <a:cxnLst/>
              <a:rect l="l" t="t" r="r" b="b"/>
              <a:pathLst>
                <a:path w="1267968" h="1267968">
                  <a:moveTo>
                    <a:pt x="0" y="0"/>
                  </a:moveTo>
                  <a:lnTo>
                    <a:pt x="1267968" y="0"/>
                  </a:lnTo>
                  <a:lnTo>
                    <a:pt x="1267968" y="1267968"/>
                  </a:lnTo>
                  <a:lnTo>
                    <a:pt x="0" y="1267968"/>
                  </a:lnTo>
                  <a:close/>
                </a:path>
              </a:pathLst>
            </a:custGeom>
            <a:blipFill>
              <a:blip r:embed="rId3">
                <a:alphaModFix amt="0"/>
              </a:blip>
              <a:stretch>
                <a:fillRect l="-78303" r="-78303"/>
              </a:stretch>
            </a:blipFill>
          </p:spPr>
          <p:txBody>
            <a:bodyPr/>
            <a:lstStyle/>
            <a:p>
              <a:endParaRPr lang="en-IN"/>
            </a:p>
          </p:txBody>
        </p:sp>
        <p:sp>
          <p:nvSpPr>
            <p:cNvPr id="19" name="TextBox 19"/>
            <p:cNvSpPr txBox="1"/>
            <p:nvPr/>
          </p:nvSpPr>
          <p:spPr>
            <a:xfrm>
              <a:off x="0" y="0"/>
              <a:ext cx="1267968" cy="1267968"/>
            </a:xfrm>
            <a:prstGeom prst="rect">
              <a:avLst/>
            </a:prstGeom>
          </p:spPr>
          <p:txBody>
            <a:bodyPr lIns="0" tIns="0" rIns="0" bIns="0" rtlCol="0" anchor="ctr"/>
            <a:lstStyle/>
            <a:p>
              <a:pPr algn="ctr">
                <a:lnSpc>
                  <a:spcPts val="3840"/>
                </a:lnSpc>
              </a:pPr>
              <a:r>
                <a:rPr lang="en-US" sz="3200" i="1" spc="160">
                  <a:solidFill>
                    <a:srgbClr val="253439"/>
                  </a:solidFill>
                  <a:latin typeface="Playfair Display Italics"/>
                  <a:ea typeface="Playfair Display Italics"/>
                  <a:cs typeface="Playfair Display Italics"/>
                  <a:sym typeface="Playfair Display Italics"/>
                </a:rPr>
                <a:t>✓</a:t>
              </a:r>
            </a:p>
          </p:txBody>
        </p:sp>
      </p:grpSp>
      <p:grpSp>
        <p:nvGrpSpPr>
          <p:cNvPr id="20" name="Group 20"/>
          <p:cNvGrpSpPr/>
          <p:nvPr/>
        </p:nvGrpSpPr>
        <p:grpSpPr>
          <a:xfrm>
            <a:off x="2103120" y="2523744"/>
            <a:ext cx="4572000" cy="768096"/>
            <a:chOff x="0" y="0"/>
            <a:chExt cx="6096000" cy="1024128"/>
          </a:xfrm>
        </p:grpSpPr>
        <p:sp>
          <p:nvSpPr>
            <p:cNvPr id="21" name="Freeform 21"/>
            <p:cNvSpPr/>
            <p:nvPr/>
          </p:nvSpPr>
          <p:spPr>
            <a:xfrm>
              <a:off x="0" y="0"/>
              <a:ext cx="6096000" cy="1024128"/>
            </a:xfrm>
            <a:custGeom>
              <a:avLst/>
              <a:gdLst/>
              <a:ahLst/>
              <a:cxnLst/>
              <a:rect l="l" t="t" r="r" b="b"/>
              <a:pathLst>
                <a:path w="6096000" h="1024128">
                  <a:moveTo>
                    <a:pt x="0" y="0"/>
                  </a:moveTo>
                  <a:lnTo>
                    <a:pt x="6096000" y="0"/>
                  </a:lnTo>
                  <a:lnTo>
                    <a:pt x="6096000" y="1024128"/>
                  </a:lnTo>
                  <a:lnTo>
                    <a:pt x="0" y="1024128"/>
                  </a:lnTo>
                  <a:close/>
                </a:path>
              </a:pathLst>
            </a:custGeom>
            <a:blipFill>
              <a:blip r:embed="rId3">
                <a:alphaModFix amt="0"/>
              </a:blip>
              <a:stretch>
                <a:fillRect t="-65982" b="-65982"/>
              </a:stretch>
            </a:blipFill>
          </p:spPr>
          <p:txBody>
            <a:bodyPr/>
            <a:lstStyle/>
            <a:p>
              <a:endParaRPr lang="en-IN"/>
            </a:p>
          </p:txBody>
        </p:sp>
        <p:sp>
          <p:nvSpPr>
            <p:cNvPr id="22" name="TextBox 22"/>
            <p:cNvSpPr txBox="1"/>
            <p:nvPr/>
          </p:nvSpPr>
          <p:spPr>
            <a:xfrm>
              <a:off x="0" y="0"/>
              <a:ext cx="6096000" cy="1024128"/>
            </a:xfrm>
            <a:prstGeom prst="rect">
              <a:avLst/>
            </a:prstGeom>
          </p:spPr>
          <p:txBody>
            <a:bodyPr lIns="0" tIns="0" rIns="0" bIns="0" rtlCol="0" anchor="ctr"/>
            <a:lstStyle/>
            <a:p>
              <a:pPr algn="l">
                <a:lnSpc>
                  <a:spcPts val="3120"/>
                </a:lnSpc>
              </a:pPr>
              <a:r>
                <a:rPr lang="en-US" sz="2600" i="1" spc="130">
                  <a:solidFill>
                    <a:srgbClr val="FFFFFF"/>
                  </a:solidFill>
                  <a:latin typeface="Playfair Display Italics"/>
                  <a:ea typeface="Playfair Display Italics"/>
                  <a:cs typeface="Playfair Display Italics"/>
                  <a:sym typeface="Playfair Display Italics"/>
                </a:rPr>
                <a:t>No Parameter Sharing</a:t>
              </a:r>
            </a:p>
          </p:txBody>
        </p:sp>
      </p:grpSp>
      <p:grpSp>
        <p:nvGrpSpPr>
          <p:cNvPr id="23" name="Group 23"/>
          <p:cNvGrpSpPr/>
          <p:nvPr/>
        </p:nvGrpSpPr>
        <p:grpSpPr>
          <a:xfrm>
            <a:off x="6766560" y="2523744"/>
            <a:ext cx="731520" cy="768096"/>
            <a:chOff x="0" y="0"/>
            <a:chExt cx="975360" cy="1024128"/>
          </a:xfrm>
        </p:grpSpPr>
        <p:sp>
          <p:nvSpPr>
            <p:cNvPr id="24" name="Freeform 24"/>
            <p:cNvSpPr/>
            <p:nvPr/>
          </p:nvSpPr>
          <p:spPr>
            <a:xfrm>
              <a:off x="0" y="0"/>
              <a:ext cx="975360" cy="1024128"/>
            </a:xfrm>
            <a:custGeom>
              <a:avLst/>
              <a:gdLst/>
              <a:ahLst/>
              <a:cxnLst/>
              <a:rect l="l" t="t" r="r" b="b"/>
              <a:pathLst>
                <a:path w="975360" h="1024128">
                  <a:moveTo>
                    <a:pt x="0" y="0"/>
                  </a:moveTo>
                  <a:lnTo>
                    <a:pt x="975360" y="0"/>
                  </a:lnTo>
                  <a:lnTo>
                    <a:pt x="975360" y="1024128"/>
                  </a:lnTo>
                  <a:lnTo>
                    <a:pt x="0" y="1024128"/>
                  </a:lnTo>
                  <a:close/>
                </a:path>
              </a:pathLst>
            </a:custGeom>
            <a:blipFill>
              <a:blip r:embed="rId3">
                <a:alphaModFix amt="0"/>
              </a:blip>
              <a:stretch>
                <a:fillRect l="-84718" r="-84718"/>
              </a:stretch>
            </a:blipFill>
          </p:spPr>
          <p:txBody>
            <a:bodyPr/>
            <a:lstStyle/>
            <a:p>
              <a:endParaRPr lang="en-IN"/>
            </a:p>
          </p:txBody>
        </p:sp>
        <p:sp>
          <p:nvSpPr>
            <p:cNvPr id="25" name="TextBox 25"/>
            <p:cNvSpPr txBox="1"/>
            <p:nvPr/>
          </p:nvSpPr>
          <p:spPr>
            <a:xfrm>
              <a:off x="0" y="0"/>
              <a:ext cx="975360" cy="1024128"/>
            </a:xfrm>
            <a:prstGeom prst="rect">
              <a:avLst/>
            </a:prstGeom>
          </p:spPr>
          <p:txBody>
            <a:bodyPr lIns="0" tIns="0" rIns="0" bIns="0" rtlCol="0" anchor="ctr"/>
            <a:lstStyle/>
            <a:p>
              <a:pPr algn="ctr">
                <a:lnSpc>
                  <a:spcPts val="4320"/>
                </a:lnSpc>
              </a:pPr>
              <a:r>
                <a:rPr lang="en-US" sz="3600" spc="504">
                  <a:solidFill>
                    <a:srgbClr val="FFFFFF"/>
                  </a:solidFill>
                  <a:latin typeface="Hammersmith One"/>
                  <a:ea typeface="Hammersmith One"/>
                  <a:cs typeface="Hammersmith One"/>
                  <a:sym typeface="Hammersmith One"/>
                </a:rPr>
                <a:t>→</a:t>
              </a:r>
            </a:p>
          </p:txBody>
        </p:sp>
      </p:grpSp>
      <p:grpSp>
        <p:nvGrpSpPr>
          <p:cNvPr id="26" name="Group 26"/>
          <p:cNvGrpSpPr/>
          <p:nvPr/>
        </p:nvGrpSpPr>
        <p:grpSpPr>
          <a:xfrm>
            <a:off x="7589520" y="2468880"/>
            <a:ext cx="9144000" cy="1975104"/>
            <a:chOff x="0" y="0"/>
            <a:chExt cx="12192000" cy="2633472"/>
          </a:xfrm>
        </p:grpSpPr>
        <p:sp>
          <p:nvSpPr>
            <p:cNvPr id="27" name="Freeform 27"/>
            <p:cNvSpPr/>
            <p:nvPr/>
          </p:nvSpPr>
          <p:spPr>
            <a:xfrm>
              <a:off x="0" y="0"/>
              <a:ext cx="12192000" cy="2633472"/>
            </a:xfrm>
            <a:custGeom>
              <a:avLst/>
              <a:gdLst/>
              <a:ahLst/>
              <a:cxnLst/>
              <a:rect l="l" t="t" r="r" b="b"/>
              <a:pathLst>
                <a:path w="12192000" h="2633472">
                  <a:moveTo>
                    <a:pt x="0" y="0"/>
                  </a:moveTo>
                  <a:lnTo>
                    <a:pt x="12192000" y="0"/>
                  </a:lnTo>
                  <a:lnTo>
                    <a:pt x="12192000" y="2633472"/>
                  </a:lnTo>
                  <a:lnTo>
                    <a:pt x="0" y="2633472"/>
                  </a:lnTo>
                  <a:close/>
                </a:path>
              </a:pathLst>
            </a:custGeom>
            <a:blipFill>
              <a:blip r:embed="rId3">
                <a:alphaModFix amt="0"/>
              </a:blip>
              <a:stretch>
                <a:fillRect t="-40208" b="-40208"/>
              </a:stretch>
            </a:blipFill>
          </p:spPr>
          <p:txBody>
            <a:bodyPr/>
            <a:lstStyle/>
            <a:p>
              <a:endParaRPr lang="en-IN"/>
            </a:p>
          </p:txBody>
        </p:sp>
        <p:sp>
          <p:nvSpPr>
            <p:cNvPr id="28" name="TextBox 28"/>
            <p:cNvSpPr txBox="1"/>
            <p:nvPr/>
          </p:nvSpPr>
          <p:spPr>
            <a:xfrm>
              <a:off x="0" y="0"/>
              <a:ext cx="12192000" cy="2633472"/>
            </a:xfrm>
            <a:prstGeom prst="rect">
              <a:avLst/>
            </a:prstGeom>
          </p:spPr>
          <p:txBody>
            <a:bodyPr lIns="0" tIns="0" rIns="0" bIns="0" rtlCol="0" anchor="ctr"/>
            <a:lstStyle/>
            <a:p>
              <a:pPr algn="l">
                <a:lnSpc>
                  <a:spcPts val="2879"/>
                </a:lnSpc>
              </a:pPr>
              <a:r>
                <a:rPr lang="en-US" sz="2400" spc="48">
                  <a:solidFill>
                    <a:srgbClr val="FFFFFF"/>
                  </a:solidFill>
                  <a:latin typeface="Playfair Display"/>
                  <a:ea typeface="Playfair Display"/>
                  <a:cs typeface="Playfair Display"/>
                  <a:sym typeface="Playfair Display"/>
                </a:rPr>
                <a:t>GNNs share parameters across all nodes through message-passing. Every node aggregates information from its neighbors using the same learnable weights.</a:t>
              </a:r>
            </a:p>
          </p:txBody>
        </p:sp>
      </p:grpSp>
      <p:grpSp>
        <p:nvGrpSpPr>
          <p:cNvPr id="29" name="Group 29"/>
          <p:cNvGrpSpPr/>
          <p:nvPr/>
        </p:nvGrpSpPr>
        <p:grpSpPr>
          <a:xfrm>
            <a:off x="535943" y="4870199"/>
            <a:ext cx="16484603" cy="2183387"/>
            <a:chOff x="0" y="0"/>
            <a:chExt cx="21979471" cy="2911183"/>
          </a:xfrm>
        </p:grpSpPr>
        <p:sp>
          <p:nvSpPr>
            <p:cNvPr id="30" name="Freeform 30"/>
            <p:cNvSpPr/>
            <p:nvPr/>
          </p:nvSpPr>
          <p:spPr>
            <a:xfrm>
              <a:off x="0" y="0"/>
              <a:ext cx="21979510" cy="2911221"/>
            </a:xfrm>
            <a:custGeom>
              <a:avLst/>
              <a:gdLst/>
              <a:ahLst/>
              <a:cxnLst/>
              <a:rect l="l" t="t" r="r" b="b"/>
              <a:pathLst>
                <a:path w="21979510" h="2911221">
                  <a:moveTo>
                    <a:pt x="0" y="246761"/>
                  </a:moveTo>
                  <a:cubicBezTo>
                    <a:pt x="0" y="110490"/>
                    <a:pt x="110490" y="0"/>
                    <a:pt x="246761" y="0"/>
                  </a:cubicBezTo>
                  <a:lnTo>
                    <a:pt x="21732748" y="0"/>
                  </a:lnTo>
                  <a:cubicBezTo>
                    <a:pt x="21869019" y="0"/>
                    <a:pt x="21979510" y="110490"/>
                    <a:pt x="21979510" y="246761"/>
                  </a:cubicBezTo>
                  <a:lnTo>
                    <a:pt x="21979510" y="2664460"/>
                  </a:lnTo>
                  <a:cubicBezTo>
                    <a:pt x="21979510" y="2800731"/>
                    <a:pt x="21869019" y="2911221"/>
                    <a:pt x="21732748" y="2911221"/>
                  </a:cubicBezTo>
                  <a:lnTo>
                    <a:pt x="246761" y="2911221"/>
                  </a:lnTo>
                  <a:cubicBezTo>
                    <a:pt x="110490" y="2911221"/>
                    <a:pt x="0" y="2800731"/>
                    <a:pt x="0" y="2664460"/>
                  </a:cubicBezTo>
                  <a:close/>
                </a:path>
              </a:pathLst>
            </a:custGeom>
            <a:solidFill>
              <a:srgbClr val="595551"/>
            </a:solidFill>
            <a:ln w="25400" cap="sq">
              <a:solidFill>
                <a:srgbClr val="D8E8F8"/>
              </a:solidFill>
              <a:prstDash val="solid"/>
              <a:miter/>
            </a:ln>
          </p:spPr>
          <p:txBody>
            <a:bodyPr/>
            <a:lstStyle/>
            <a:p>
              <a:endParaRPr lang="en-IN"/>
            </a:p>
          </p:txBody>
        </p:sp>
      </p:grpSp>
      <p:grpSp>
        <p:nvGrpSpPr>
          <p:cNvPr id="31" name="Group 31"/>
          <p:cNvGrpSpPr/>
          <p:nvPr/>
        </p:nvGrpSpPr>
        <p:grpSpPr>
          <a:xfrm>
            <a:off x="865127" y="5016503"/>
            <a:ext cx="976379" cy="976379"/>
            <a:chOff x="0" y="0"/>
            <a:chExt cx="1301839" cy="1301839"/>
          </a:xfrm>
        </p:grpSpPr>
        <p:sp>
          <p:nvSpPr>
            <p:cNvPr id="32" name="Freeform 32"/>
            <p:cNvSpPr/>
            <p:nvPr/>
          </p:nvSpPr>
          <p:spPr>
            <a:xfrm>
              <a:off x="0" y="0"/>
              <a:ext cx="1301750" cy="1301750"/>
            </a:xfrm>
            <a:custGeom>
              <a:avLst/>
              <a:gdLst/>
              <a:ahLst/>
              <a:cxnLst/>
              <a:rect l="l" t="t" r="r" b="b"/>
              <a:pathLst>
                <a:path w="1301750" h="1301750">
                  <a:moveTo>
                    <a:pt x="0" y="650875"/>
                  </a:moveTo>
                  <a:cubicBezTo>
                    <a:pt x="0" y="291465"/>
                    <a:pt x="291465" y="0"/>
                    <a:pt x="650875" y="0"/>
                  </a:cubicBezTo>
                  <a:cubicBezTo>
                    <a:pt x="1010285" y="0"/>
                    <a:pt x="1301750" y="291465"/>
                    <a:pt x="1301750" y="650875"/>
                  </a:cubicBezTo>
                  <a:cubicBezTo>
                    <a:pt x="1301750" y="1010285"/>
                    <a:pt x="1010285" y="1301750"/>
                    <a:pt x="650875" y="1301750"/>
                  </a:cubicBezTo>
                  <a:cubicBezTo>
                    <a:pt x="291465" y="1301750"/>
                    <a:pt x="0" y="1010412"/>
                    <a:pt x="0" y="650875"/>
                  </a:cubicBezTo>
                  <a:close/>
                </a:path>
              </a:pathLst>
            </a:custGeom>
            <a:solidFill>
              <a:srgbClr val="FFFFFF"/>
            </a:solidFill>
            <a:ln w="25400" cap="sq">
              <a:solidFill>
                <a:srgbClr val="2CB9A0"/>
              </a:solidFill>
              <a:prstDash val="solid"/>
              <a:miter/>
            </a:ln>
          </p:spPr>
          <p:txBody>
            <a:bodyPr/>
            <a:lstStyle/>
            <a:p>
              <a:endParaRPr lang="en-IN"/>
            </a:p>
          </p:txBody>
        </p:sp>
      </p:grpSp>
      <p:grpSp>
        <p:nvGrpSpPr>
          <p:cNvPr id="33" name="Group 33"/>
          <p:cNvGrpSpPr/>
          <p:nvPr/>
        </p:nvGrpSpPr>
        <p:grpSpPr>
          <a:xfrm>
            <a:off x="877824" y="5029200"/>
            <a:ext cx="950976" cy="950976"/>
            <a:chOff x="0" y="0"/>
            <a:chExt cx="1267968" cy="1267968"/>
          </a:xfrm>
        </p:grpSpPr>
        <p:sp>
          <p:nvSpPr>
            <p:cNvPr id="34" name="Freeform 34"/>
            <p:cNvSpPr/>
            <p:nvPr/>
          </p:nvSpPr>
          <p:spPr>
            <a:xfrm>
              <a:off x="0" y="0"/>
              <a:ext cx="1267968" cy="1267968"/>
            </a:xfrm>
            <a:custGeom>
              <a:avLst/>
              <a:gdLst/>
              <a:ahLst/>
              <a:cxnLst/>
              <a:rect l="l" t="t" r="r" b="b"/>
              <a:pathLst>
                <a:path w="1267968" h="1267968">
                  <a:moveTo>
                    <a:pt x="0" y="0"/>
                  </a:moveTo>
                  <a:lnTo>
                    <a:pt x="1267968" y="0"/>
                  </a:lnTo>
                  <a:lnTo>
                    <a:pt x="1267968" y="1267968"/>
                  </a:lnTo>
                  <a:lnTo>
                    <a:pt x="0" y="1267968"/>
                  </a:lnTo>
                  <a:close/>
                </a:path>
              </a:pathLst>
            </a:custGeom>
            <a:blipFill>
              <a:blip r:embed="rId3">
                <a:alphaModFix amt="0"/>
              </a:blip>
              <a:stretch>
                <a:fillRect l="-78303" r="-78303"/>
              </a:stretch>
            </a:blipFill>
          </p:spPr>
          <p:txBody>
            <a:bodyPr/>
            <a:lstStyle/>
            <a:p>
              <a:endParaRPr lang="en-IN"/>
            </a:p>
          </p:txBody>
        </p:sp>
        <p:sp>
          <p:nvSpPr>
            <p:cNvPr id="35" name="TextBox 35"/>
            <p:cNvSpPr txBox="1"/>
            <p:nvPr/>
          </p:nvSpPr>
          <p:spPr>
            <a:xfrm>
              <a:off x="0" y="0"/>
              <a:ext cx="1267968" cy="1267968"/>
            </a:xfrm>
            <a:prstGeom prst="rect">
              <a:avLst/>
            </a:prstGeom>
          </p:spPr>
          <p:txBody>
            <a:bodyPr lIns="0" tIns="0" rIns="0" bIns="0" rtlCol="0" anchor="ctr"/>
            <a:lstStyle/>
            <a:p>
              <a:pPr algn="ctr">
                <a:lnSpc>
                  <a:spcPts val="3840"/>
                </a:lnSpc>
              </a:pPr>
              <a:r>
                <a:rPr lang="en-US" sz="3200" i="1" spc="160">
                  <a:solidFill>
                    <a:srgbClr val="253439"/>
                  </a:solidFill>
                  <a:latin typeface="Playfair Display Italics"/>
                  <a:ea typeface="Playfair Display Italics"/>
                  <a:cs typeface="Playfair Display Italics"/>
                  <a:sym typeface="Playfair Display Italics"/>
                </a:rPr>
                <a:t>✓</a:t>
              </a:r>
            </a:p>
          </p:txBody>
        </p:sp>
      </p:grpSp>
      <p:grpSp>
        <p:nvGrpSpPr>
          <p:cNvPr id="36" name="Group 36"/>
          <p:cNvGrpSpPr/>
          <p:nvPr/>
        </p:nvGrpSpPr>
        <p:grpSpPr>
          <a:xfrm>
            <a:off x="2103120" y="4937760"/>
            <a:ext cx="4572000" cy="768096"/>
            <a:chOff x="0" y="0"/>
            <a:chExt cx="6096000" cy="1024128"/>
          </a:xfrm>
        </p:grpSpPr>
        <p:sp>
          <p:nvSpPr>
            <p:cNvPr id="37" name="Freeform 37"/>
            <p:cNvSpPr/>
            <p:nvPr/>
          </p:nvSpPr>
          <p:spPr>
            <a:xfrm>
              <a:off x="0" y="0"/>
              <a:ext cx="6096000" cy="1024128"/>
            </a:xfrm>
            <a:custGeom>
              <a:avLst/>
              <a:gdLst/>
              <a:ahLst/>
              <a:cxnLst/>
              <a:rect l="l" t="t" r="r" b="b"/>
              <a:pathLst>
                <a:path w="6096000" h="1024128">
                  <a:moveTo>
                    <a:pt x="0" y="0"/>
                  </a:moveTo>
                  <a:lnTo>
                    <a:pt x="6096000" y="0"/>
                  </a:lnTo>
                  <a:lnTo>
                    <a:pt x="6096000" y="1024128"/>
                  </a:lnTo>
                  <a:lnTo>
                    <a:pt x="0" y="1024128"/>
                  </a:lnTo>
                  <a:close/>
                </a:path>
              </a:pathLst>
            </a:custGeom>
            <a:blipFill>
              <a:blip r:embed="rId3">
                <a:alphaModFix amt="0"/>
              </a:blip>
              <a:stretch>
                <a:fillRect t="-65982" b="-65982"/>
              </a:stretch>
            </a:blipFill>
          </p:spPr>
          <p:txBody>
            <a:bodyPr/>
            <a:lstStyle/>
            <a:p>
              <a:endParaRPr lang="en-IN"/>
            </a:p>
          </p:txBody>
        </p:sp>
        <p:sp>
          <p:nvSpPr>
            <p:cNvPr id="38" name="TextBox 38"/>
            <p:cNvSpPr txBox="1"/>
            <p:nvPr/>
          </p:nvSpPr>
          <p:spPr>
            <a:xfrm>
              <a:off x="0" y="0"/>
              <a:ext cx="6096000" cy="1024128"/>
            </a:xfrm>
            <a:prstGeom prst="rect">
              <a:avLst/>
            </a:prstGeom>
          </p:spPr>
          <p:txBody>
            <a:bodyPr lIns="0" tIns="0" rIns="0" bIns="0" rtlCol="0" anchor="ctr"/>
            <a:lstStyle/>
            <a:p>
              <a:pPr algn="l">
                <a:lnSpc>
                  <a:spcPts val="3120"/>
                </a:lnSpc>
              </a:pPr>
              <a:r>
                <a:rPr lang="en-US" sz="2600" i="1" spc="130">
                  <a:solidFill>
                    <a:srgbClr val="FFFFFF"/>
                  </a:solidFill>
                  <a:latin typeface="Playfair Display Italics"/>
                  <a:ea typeface="Playfair Display Italics"/>
                  <a:cs typeface="Playfair Display Italics"/>
                  <a:sym typeface="Playfair Display Italics"/>
                </a:rPr>
                <a:t>Ignores Node Features</a:t>
              </a:r>
            </a:p>
          </p:txBody>
        </p:sp>
      </p:grpSp>
      <p:grpSp>
        <p:nvGrpSpPr>
          <p:cNvPr id="39" name="Group 39"/>
          <p:cNvGrpSpPr/>
          <p:nvPr/>
        </p:nvGrpSpPr>
        <p:grpSpPr>
          <a:xfrm>
            <a:off x="6766560" y="4937760"/>
            <a:ext cx="731520" cy="768096"/>
            <a:chOff x="0" y="0"/>
            <a:chExt cx="975360" cy="1024128"/>
          </a:xfrm>
        </p:grpSpPr>
        <p:sp>
          <p:nvSpPr>
            <p:cNvPr id="40" name="Freeform 40"/>
            <p:cNvSpPr/>
            <p:nvPr/>
          </p:nvSpPr>
          <p:spPr>
            <a:xfrm>
              <a:off x="0" y="0"/>
              <a:ext cx="975360" cy="1024128"/>
            </a:xfrm>
            <a:custGeom>
              <a:avLst/>
              <a:gdLst/>
              <a:ahLst/>
              <a:cxnLst/>
              <a:rect l="l" t="t" r="r" b="b"/>
              <a:pathLst>
                <a:path w="975360" h="1024128">
                  <a:moveTo>
                    <a:pt x="0" y="0"/>
                  </a:moveTo>
                  <a:lnTo>
                    <a:pt x="975360" y="0"/>
                  </a:lnTo>
                  <a:lnTo>
                    <a:pt x="975360" y="1024128"/>
                  </a:lnTo>
                  <a:lnTo>
                    <a:pt x="0" y="1024128"/>
                  </a:lnTo>
                  <a:close/>
                </a:path>
              </a:pathLst>
            </a:custGeom>
            <a:blipFill>
              <a:blip r:embed="rId3">
                <a:alphaModFix amt="0"/>
              </a:blip>
              <a:stretch>
                <a:fillRect l="-84718" r="-84718"/>
              </a:stretch>
            </a:blipFill>
          </p:spPr>
          <p:txBody>
            <a:bodyPr/>
            <a:lstStyle/>
            <a:p>
              <a:endParaRPr lang="en-IN"/>
            </a:p>
          </p:txBody>
        </p:sp>
        <p:sp>
          <p:nvSpPr>
            <p:cNvPr id="41" name="TextBox 41"/>
            <p:cNvSpPr txBox="1"/>
            <p:nvPr/>
          </p:nvSpPr>
          <p:spPr>
            <a:xfrm>
              <a:off x="0" y="0"/>
              <a:ext cx="975360" cy="1024128"/>
            </a:xfrm>
            <a:prstGeom prst="rect">
              <a:avLst/>
            </a:prstGeom>
          </p:spPr>
          <p:txBody>
            <a:bodyPr lIns="0" tIns="0" rIns="0" bIns="0" rtlCol="0" anchor="ctr"/>
            <a:lstStyle/>
            <a:p>
              <a:pPr algn="ctr">
                <a:lnSpc>
                  <a:spcPts val="4320"/>
                </a:lnSpc>
              </a:pPr>
              <a:r>
                <a:rPr lang="en-US" sz="3600" spc="504">
                  <a:solidFill>
                    <a:srgbClr val="FFFFFF"/>
                  </a:solidFill>
                  <a:latin typeface="Hammersmith One"/>
                  <a:ea typeface="Hammersmith One"/>
                  <a:cs typeface="Hammersmith One"/>
                  <a:sym typeface="Hammersmith One"/>
                </a:rPr>
                <a:t>→</a:t>
              </a:r>
            </a:p>
          </p:txBody>
        </p:sp>
      </p:grpSp>
      <p:grpSp>
        <p:nvGrpSpPr>
          <p:cNvPr id="42" name="Group 42"/>
          <p:cNvGrpSpPr/>
          <p:nvPr/>
        </p:nvGrpSpPr>
        <p:grpSpPr>
          <a:xfrm>
            <a:off x="7589520" y="4882896"/>
            <a:ext cx="9144000" cy="1975104"/>
            <a:chOff x="0" y="0"/>
            <a:chExt cx="12192000" cy="2633472"/>
          </a:xfrm>
        </p:grpSpPr>
        <p:sp>
          <p:nvSpPr>
            <p:cNvPr id="43" name="Freeform 43"/>
            <p:cNvSpPr/>
            <p:nvPr/>
          </p:nvSpPr>
          <p:spPr>
            <a:xfrm>
              <a:off x="0" y="0"/>
              <a:ext cx="12192000" cy="2633472"/>
            </a:xfrm>
            <a:custGeom>
              <a:avLst/>
              <a:gdLst/>
              <a:ahLst/>
              <a:cxnLst/>
              <a:rect l="l" t="t" r="r" b="b"/>
              <a:pathLst>
                <a:path w="12192000" h="2633472">
                  <a:moveTo>
                    <a:pt x="0" y="0"/>
                  </a:moveTo>
                  <a:lnTo>
                    <a:pt x="12192000" y="0"/>
                  </a:lnTo>
                  <a:lnTo>
                    <a:pt x="12192000" y="2633472"/>
                  </a:lnTo>
                  <a:lnTo>
                    <a:pt x="0" y="2633472"/>
                  </a:lnTo>
                  <a:close/>
                </a:path>
              </a:pathLst>
            </a:custGeom>
            <a:blipFill>
              <a:blip r:embed="rId3">
                <a:alphaModFix amt="0"/>
              </a:blip>
              <a:stretch>
                <a:fillRect t="-40208" b="-40208"/>
              </a:stretch>
            </a:blipFill>
          </p:spPr>
          <p:txBody>
            <a:bodyPr/>
            <a:lstStyle/>
            <a:p>
              <a:endParaRPr lang="en-IN"/>
            </a:p>
          </p:txBody>
        </p:sp>
        <p:sp>
          <p:nvSpPr>
            <p:cNvPr id="44" name="TextBox 44"/>
            <p:cNvSpPr txBox="1"/>
            <p:nvPr/>
          </p:nvSpPr>
          <p:spPr>
            <a:xfrm>
              <a:off x="0" y="0"/>
              <a:ext cx="12192000" cy="2633472"/>
            </a:xfrm>
            <a:prstGeom prst="rect">
              <a:avLst/>
            </a:prstGeom>
          </p:spPr>
          <p:txBody>
            <a:bodyPr lIns="0" tIns="0" rIns="0" bIns="0" rtlCol="0" anchor="ctr"/>
            <a:lstStyle/>
            <a:p>
              <a:pPr algn="l">
                <a:lnSpc>
                  <a:spcPts val="2879"/>
                </a:lnSpc>
              </a:pPr>
              <a:r>
                <a:rPr lang="en-US" sz="2400" spc="48">
                  <a:solidFill>
                    <a:srgbClr val="FFFFFF"/>
                  </a:solidFill>
                  <a:latin typeface="Playfair Display"/>
                  <a:ea typeface="Playfair Display"/>
                  <a:cs typeface="Playfair Display"/>
                  <a:sym typeface="Playfair Display"/>
                </a:rPr>
                <a:t>GNNs take node features (text, attributes, etc.) as explicit inputs. The encoder becomes: ENC(v) = f(A, X) where X contains feature vectors.</a:t>
              </a:r>
            </a:p>
          </p:txBody>
        </p:sp>
      </p:grpSp>
      <p:grpSp>
        <p:nvGrpSpPr>
          <p:cNvPr id="45" name="Group 45"/>
          <p:cNvGrpSpPr/>
          <p:nvPr/>
        </p:nvGrpSpPr>
        <p:grpSpPr>
          <a:xfrm>
            <a:off x="535943" y="7284215"/>
            <a:ext cx="16484603" cy="2183387"/>
            <a:chOff x="0" y="0"/>
            <a:chExt cx="21979471" cy="2911183"/>
          </a:xfrm>
        </p:grpSpPr>
        <p:sp>
          <p:nvSpPr>
            <p:cNvPr id="46" name="Freeform 46"/>
            <p:cNvSpPr/>
            <p:nvPr/>
          </p:nvSpPr>
          <p:spPr>
            <a:xfrm>
              <a:off x="0" y="0"/>
              <a:ext cx="21979510" cy="2911221"/>
            </a:xfrm>
            <a:custGeom>
              <a:avLst/>
              <a:gdLst/>
              <a:ahLst/>
              <a:cxnLst/>
              <a:rect l="l" t="t" r="r" b="b"/>
              <a:pathLst>
                <a:path w="21979510" h="2911221">
                  <a:moveTo>
                    <a:pt x="0" y="246761"/>
                  </a:moveTo>
                  <a:cubicBezTo>
                    <a:pt x="0" y="110490"/>
                    <a:pt x="110490" y="0"/>
                    <a:pt x="246761" y="0"/>
                  </a:cubicBezTo>
                  <a:lnTo>
                    <a:pt x="21732748" y="0"/>
                  </a:lnTo>
                  <a:cubicBezTo>
                    <a:pt x="21869019" y="0"/>
                    <a:pt x="21979510" y="110490"/>
                    <a:pt x="21979510" y="246761"/>
                  </a:cubicBezTo>
                  <a:lnTo>
                    <a:pt x="21979510" y="2664460"/>
                  </a:lnTo>
                  <a:cubicBezTo>
                    <a:pt x="21979510" y="2800731"/>
                    <a:pt x="21869019" y="2911221"/>
                    <a:pt x="21732748" y="2911221"/>
                  </a:cubicBezTo>
                  <a:lnTo>
                    <a:pt x="246761" y="2911221"/>
                  </a:lnTo>
                  <a:cubicBezTo>
                    <a:pt x="110490" y="2911221"/>
                    <a:pt x="0" y="2800731"/>
                    <a:pt x="0" y="2664460"/>
                  </a:cubicBezTo>
                  <a:close/>
                </a:path>
              </a:pathLst>
            </a:custGeom>
            <a:solidFill>
              <a:srgbClr val="595551"/>
            </a:solidFill>
            <a:ln w="25400" cap="sq">
              <a:solidFill>
                <a:srgbClr val="D8E8F8"/>
              </a:solidFill>
              <a:prstDash val="solid"/>
              <a:miter/>
            </a:ln>
          </p:spPr>
          <p:txBody>
            <a:bodyPr/>
            <a:lstStyle/>
            <a:p>
              <a:endParaRPr lang="en-IN"/>
            </a:p>
          </p:txBody>
        </p:sp>
      </p:grpSp>
      <p:grpSp>
        <p:nvGrpSpPr>
          <p:cNvPr id="47" name="Group 47"/>
          <p:cNvGrpSpPr/>
          <p:nvPr/>
        </p:nvGrpSpPr>
        <p:grpSpPr>
          <a:xfrm>
            <a:off x="865127" y="7430519"/>
            <a:ext cx="976379" cy="976379"/>
            <a:chOff x="0" y="0"/>
            <a:chExt cx="1301839" cy="1301839"/>
          </a:xfrm>
        </p:grpSpPr>
        <p:sp>
          <p:nvSpPr>
            <p:cNvPr id="48" name="Freeform 48"/>
            <p:cNvSpPr/>
            <p:nvPr/>
          </p:nvSpPr>
          <p:spPr>
            <a:xfrm>
              <a:off x="0" y="0"/>
              <a:ext cx="1301750" cy="1301750"/>
            </a:xfrm>
            <a:custGeom>
              <a:avLst/>
              <a:gdLst/>
              <a:ahLst/>
              <a:cxnLst/>
              <a:rect l="l" t="t" r="r" b="b"/>
              <a:pathLst>
                <a:path w="1301750" h="1301750">
                  <a:moveTo>
                    <a:pt x="0" y="650875"/>
                  </a:moveTo>
                  <a:cubicBezTo>
                    <a:pt x="0" y="291465"/>
                    <a:pt x="291465" y="0"/>
                    <a:pt x="650875" y="0"/>
                  </a:cubicBezTo>
                  <a:cubicBezTo>
                    <a:pt x="1010285" y="0"/>
                    <a:pt x="1301750" y="291465"/>
                    <a:pt x="1301750" y="650875"/>
                  </a:cubicBezTo>
                  <a:cubicBezTo>
                    <a:pt x="1301750" y="1010285"/>
                    <a:pt x="1010285" y="1301750"/>
                    <a:pt x="650875" y="1301750"/>
                  </a:cubicBezTo>
                  <a:cubicBezTo>
                    <a:pt x="291465" y="1301750"/>
                    <a:pt x="0" y="1010412"/>
                    <a:pt x="0" y="650875"/>
                  </a:cubicBezTo>
                  <a:close/>
                </a:path>
              </a:pathLst>
            </a:custGeom>
            <a:solidFill>
              <a:srgbClr val="FFFFFF"/>
            </a:solidFill>
            <a:ln w="25400" cap="sq">
              <a:solidFill>
                <a:srgbClr val="2CB9A0"/>
              </a:solidFill>
              <a:prstDash val="solid"/>
              <a:miter/>
            </a:ln>
          </p:spPr>
          <p:txBody>
            <a:bodyPr/>
            <a:lstStyle/>
            <a:p>
              <a:endParaRPr lang="en-IN"/>
            </a:p>
          </p:txBody>
        </p:sp>
      </p:grpSp>
      <p:grpSp>
        <p:nvGrpSpPr>
          <p:cNvPr id="49" name="Group 49"/>
          <p:cNvGrpSpPr/>
          <p:nvPr/>
        </p:nvGrpSpPr>
        <p:grpSpPr>
          <a:xfrm>
            <a:off x="877824" y="7443216"/>
            <a:ext cx="950976" cy="950976"/>
            <a:chOff x="0" y="0"/>
            <a:chExt cx="1267968" cy="1267968"/>
          </a:xfrm>
        </p:grpSpPr>
        <p:sp>
          <p:nvSpPr>
            <p:cNvPr id="50" name="Freeform 50"/>
            <p:cNvSpPr/>
            <p:nvPr/>
          </p:nvSpPr>
          <p:spPr>
            <a:xfrm>
              <a:off x="0" y="0"/>
              <a:ext cx="1267968" cy="1267968"/>
            </a:xfrm>
            <a:custGeom>
              <a:avLst/>
              <a:gdLst/>
              <a:ahLst/>
              <a:cxnLst/>
              <a:rect l="l" t="t" r="r" b="b"/>
              <a:pathLst>
                <a:path w="1267968" h="1267968">
                  <a:moveTo>
                    <a:pt x="0" y="0"/>
                  </a:moveTo>
                  <a:lnTo>
                    <a:pt x="1267968" y="0"/>
                  </a:lnTo>
                  <a:lnTo>
                    <a:pt x="1267968" y="1267968"/>
                  </a:lnTo>
                  <a:lnTo>
                    <a:pt x="0" y="1267968"/>
                  </a:lnTo>
                  <a:close/>
                </a:path>
              </a:pathLst>
            </a:custGeom>
            <a:blipFill>
              <a:blip r:embed="rId3">
                <a:alphaModFix amt="0"/>
              </a:blip>
              <a:stretch>
                <a:fillRect l="-78303" r="-78303"/>
              </a:stretch>
            </a:blipFill>
          </p:spPr>
          <p:txBody>
            <a:bodyPr/>
            <a:lstStyle/>
            <a:p>
              <a:endParaRPr lang="en-IN"/>
            </a:p>
          </p:txBody>
        </p:sp>
        <p:sp>
          <p:nvSpPr>
            <p:cNvPr id="51" name="TextBox 51"/>
            <p:cNvSpPr txBox="1"/>
            <p:nvPr/>
          </p:nvSpPr>
          <p:spPr>
            <a:xfrm>
              <a:off x="0" y="0"/>
              <a:ext cx="1267968" cy="1267968"/>
            </a:xfrm>
            <a:prstGeom prst="rect">
              <a:avLst/>
            </a:prstGeom>
          </p:spPr>
          <p:txBody>
            <a:bodyPr lIns="0" tIns="0" rIns="0" bIns="0" rtlCol="0" anchor="ctr"/>
            <a:lstStyle/>
            <a:p>
              <a:pPr algn="ctr">
                <a:lnSpc>
                  <a:spcPts val="3840"/>
                </a:lnSpc>
              </a:pPr>
              <a:r>
                <a:rPr lang="en-US" sz="3200" i="1" spc="160">
                  <a:solidFill>
                    <a:srgbClr val="253439"/>
                  </a:solidFill>
                  <a:latin typeface="Playfair Display Italics"/>
                  <a:ea typeface="Playfair Display Italics"/>
                  <a:cs typeface="Playfair Display Italics"/>
                  <a:sym typeface="Playfair Display Italics"/>
                </a:rPr>
                <a:t>✓</a:t>
              </a:r>
            </a:p>
          </p:txBody>
        </p:sp>
      </p:grpSp>
      <p:grpSp>
        <p:nvGrpSpPr>
          <p:cNvPr id="52" name="Group 52"/>
          <p:cNvGrpSpPr/>
          <p:nvPr/>
        </p:nvGrpSpPr>
        <p:grpSpPr>
          <a:xfrm>
            <a:off x="2103120" y="7351776"/>
            <a:ext cx="4572000" cy="768096"/>
            <a:chOff x="0" y="0"/>
            <a:chExt cx="6096000" cy="1024128"/>
          </a:xfrm>
        </p:grpSpPr>
        <p:sp>
          <p:nvSpPr>
            <p:cNvPr id="53" name="Freeform 53"/>
            <p:cNvSpPr/>
            <p:nvPr/>
          </p:nvSpPr>
          <p:spPr>
            <a:xfrm>
              <a:off x="0" y="0"/>
              <a:ext cx="6096000" cy="1024128"/>
            </a:xfrm>
            <a:custGeom>
              <a:avLst/>
              <a:gdLst/>
              <a:ahLst/>
              <a:cxnLst/>
              <a:rect l="l" t="t" r="r" b="b"/>
              <a:pathLst>
                <a:path w="6096000" h="1024128">
                  <a:moveTo>
                    <a:pt x="0" y="0"/>
                  </a:moveTo>
                  <a:lnTo>
                    <a:pt x="6096000" y="0"/>
                  </a:lnTo>
                  <a:lnTo>
                    <a:pt x="6096000" y="1024128"/>
                  </a:lnTo>
                  <a:lnTo>
                    <a:pt x="0" y="1024128"/>
                  </a:lnTo>
                  <a:close/>
                </a:path>
              </a:pathLst>
            </a:custGeom>
            <a:blipFill>
              <a:blip r:embed="rId3">
                <a:alphaModFix amt="0"/>
              </a:blip>
              <a:stretch>
                <a:fillRect t="-65982" b="-65982"/>
              </a:stretch>
            </a:blipFill>
          </p:spPr>
          <p:txBody>
            <a:bodyPr/>
            <a:lstStyle/>
            <a:p>
              <a:endParaRPr lang="en-IN"/>
            </a:p>
          </p:txBody>
        </p:sp>
        <p:sp>
          <p:nvSpPr>
            <p:cNvPr id="54" name="TextBox 54"/>
            <p:cNvSpPr txBox="1"/>
            <p:nvPr/>
          </p:nvSpPr>
          <p:spPr>
            <a:xfrm>
              <a:off x="0" y="0"/>
              <a:ext cx="6096000" cy="1024128"/>
            </a:xfrm>
            <a:prstGeom prst="rect">
              <a:avLst/>
            </a:prstGeom>
          </p:spPr>
          <p:txBody>
            <a:bodyPr lIns="0" tIns="0" rIns="0" bIns="0" rtlCol="0" anchor="ctr"/>
            <a:lstStyle/>
            <a:p>
              <a:pPr algn="l">
                <a:lnSpc>
                  <a:spcPts val="3120"/>
                </a:lnSpc>
              </a:pPr>
              <a:r>
                <a:rPr lang="en-US" sz="2600" i="1" spc="130" dirty="0">
                  <a:solidFill>
                    <a:srgbClr val="FFFFFF"/>
                  </a:solidFill>
                  <a:latin typeface="Playfair Display Italics"/>
                  <a:ea typeface="Playfair Display Italics"/>
                  <a:cs typeface="Playfair Display Italics"/>
                  <a:sym typeface="Playfair Display Italics"/>
                </a:rPr>
                <a:t>Transductive</a:t>
              </a:r>
            </a:p>
          </p:txBody>
        </p:sp>
      </p:grpSp>
      <p:grpSp>
        <p:nvGrpSpPr>
          <p:cNvPr id="55" name="Group 55"/>
          <p:cNvGrpSpPr/>
          <p:nvPr/>
        </p:nvGrpSpPr>
        <p:grpSpPr>
          <a:xfrm>
            <a:off x="6766560" y="7351776"/>
            <a:ext cx="731520" cy="768096"/>
            <a:chOff x="0" y="0"/>
            <a:chExt cx="975360" cy="1024128"/>
          </a:xfrm>
        </p:grpSpPr>
        <p:sp>
          <p:nvSpPr>
            <p:cNvPr id="56" name="Freeform 56"/>
            <p:cNvSpPr/>
            <p:nvPr/>
          </p:nvSpPr>
          <p:spPr>
            <a:xfrm>
              <a:off x="0" y="0"/>
              <a:ext cx="975360" cy="1024128"/>
            </a:xfrm>
            <a:custGeom>
              <a:avLst/>
              <a:gdLst/>
              <a:ahLst/>
              <a:cxnLst/>
              <a:rect l="l" t="t" r="r" b="b"/>
              <a:pathLst>
                <a:path w="975360" h="1024128">
                  <a:moveTo>
                    <a:pt x="0" y="0"/>
                  </a:moveTo>
                  <a:lnTo>
                    <a:pt x="975360" y="0"/>
                  </a:lnTo>
                  <a:lnTo>
                    <a:pt x="975360" y="1024128"/>
                  </a:lnTo>
                  <a:lnTo>
                    <a:pt x="0" y="1024128"/>
                  </a:lnTo>
                  <a:close/>
                </a:path>
              </a:pathLst>
            </a:custGeom>
            <a:blipFill>
              <a:blip r:embed="rId3">
                <a:alphaModFix amt="0"/>
              </a:blip>
              <a:stretch>
                <a:fillRect l="-84718" r="-84718"/>
              </a:stretch>
            </a:blipFill>
          </p:spPr>
          <p:txBody>
            <a:bodyPr/>
            <a:lstStyle/>
            <a:p>
              <a:endParaRPr lang="en-IN"/>
            </a:p>
          </p:txBody>
        </p:sp>
        <p:sp>
          <p:nvSpPr>
            <p:cNvPr id="57" name="TextBox 57"/>
            <p:cNvSpPr txBox="1"/>
            <p:nvPr/>
          </p:nvSpPr>
          <p:spPr>
            <a:xfrm>
              <a:off x="0" y="0"/>
              <a:ext cx="975360" cy="1024128"/>
            </a:xfrm>
            <a:prstGeom prst="rect">
              <a:avLst/>
            </a:prstGeom>
          </p:spPr>
          <p:txBody>
            <a:bodyPr lIns="0" tIns="0" rIns="0" bIns="0" rtlCol="0" anchor="ctr"/>
            <a:lstStyle/>
            <a:p>
              <a:pPr algn="ctr">
                <a:lnSpc>
                  <a:spcPts val="4320"/>
                </a:lnSpc>
              </a:pPr>
              <a:r>
                <a:rPr lang="en-US" sz="3600" spc="504">
                  <a:solidFill>
                    <a:srgbClr val="FFFFFF"/>
                  </a:solidFill>
                  <a:latin typeface="Hammersmith One"/>
                  <a:ea typeface="Hammersmith One"/>
                  <a:cs typeface="Hammersmith One"/>
                  <a:sym typeface="Hammersmith One"/>
                </a:rPr>
                <a:t>→</a:t>
              </a:r>
            </a:p>
          </p:txBody>
        </p:sp>
      </p:grpSp>
      <p:grpSp>
        <p:nvGrpSpPr>
          <p:cNvPr id="58" name="Group 58"/>
          <p:cNvGrpSpPr/>
          <p:nvPr/>
        </p:nvGrpSpPr>
        <p:grpSpPr>
          <a:xfrm>
            <a:off x="7589520" y="7296912"/>
            <a:ext cx="9144000" cy="1975104"/>
            <a:chOff x="0" y="0"/>
            <a:chExt cx="12192000" cy="2633472"/>
          </a:xfrm>
        </p:grpSpPr>
        <p:sp>
          <p:nvSpPr>
            <p:cNvPr id="59" name="Freeform 59"/>
            <p:cNvSpPr/>
            <p:nvPr/>
          </p:nvSpPr>
          <p:spPr>
            <a:xfrm>
              <a:off x="0" y="0"/>
              <a:ext cx="12192000" cy="2633472"/>
            </a:xfrm>
            <a:custGeom>
              <a:avLst/>
              <a:gdLst/>
              <a:ahLst/>
              <a:cxnLst/>
              <a:rect l="l" t="t" r="r" b="b"/>
              <a:pathLst>
                <a:path w="12192000" h="2633472">
                  <a:moveTo>
                    <a:pt x="0" y="0"/>
                  </a:moveTo>
                  <a:lnTo>
                    <a:pt x="12192000" y="0"/>
                  </a:lnTo>
                  <a:lnTo>
                    <a:pt x="12192000" y="2633472"/>
                  </a:lnTo>
                  <a:lnTo>
                    <a:pt x="0" y="2633472"/>
                  </a:lnTo>
                  <a:close/>
                </a:path>
              </a:pathLst>
            </a:custGeom>
            <a:blipFill>
              <a:blip r:embed="rId3">
                <a:alphaModFix amt="0"/>
              </a:blip>
              <a:stretch>
                <a:fillRect t="-40208" b="-40208"/>
              </a:stretch>
            </a:blipFill>
          </p:spPr>
          <p:txBody>
            <a:bodyPr/>
            <a:lstStyle/>
            <a:p>
              <a:endParaRPr lang="en-IN"/>
            </a:p>
          </p:txBody>
        </p:sp>
        <p:sp>
          <p:nvSpPr>
            <p:cNvPr id="60" name="TextBox 60"/>
            <p:cNvSpPr txBox="1"/>
            <p:nvPr/>
          </p:nvSpPr>
          <p:spPr>
            <a:xfrm>
              <a:off x="0" y="0"/>
              <a:ext cx="12192000" cy="2633472"/>
            </a:xfrm>
            <a:prstGeom prst="rect">
              <a:avLst/>
            </a:prstGeom>
          </p:spPr>
          <p:txBody>
            <a:bodyPr lIns="0" tIns="0" rIns="0" bIns="0" rtlCol="0" anchor="ctr"/>
            <a:lstStyle/>
            <a:p>
              <a:pPr algn="l">
                <a:lnSpc>
                  <a:spcPts val="2879"/>
                </a:lnSpc>
              </a:pPr>
              <a:r>
                <a:rPr lang="en-US" sz="2400" spc="48">
                  <a:solidFill>
                    <a:srgbClr val="FFFFFF"/>
                  </a:solidFill>
                  <a:latin typeface="Playfair Display"/>
                  <a:ea typeface="Playfair Display"/>
                  <a:cs typeface="Playfair Display"/>
                  <a:sym typeface="Playfair Display"/>
                </a:rPr>
                <a:t>GNNs are inductive — the encoder function f works on any graph structure. New nodes can get embeddings immediately by running the learned encoder on them.</a:t>
              </a:r>
            </a:p>
          </p:txBody>
        </p:sp>
      </p:grpSp>
      <p:grpSp>
        <p:nvGrpSpPr>
          <p:cNvPr id="61" name="Group 61"/>
          <p:cNvGrpSpPr/>
          <p:nvPr/>
        </p:nvGrpSpPr>
        <p:grpSpPr>
          <a:xfrm>
            <a:off x="535943" y="9826247"/>
            <a:ext cx="16484603" cy="720347"/>
            <a:chOff x="0" y="0"/>
            <a:chExt cx="21979471" cy="960463"/>
          </a:xfrm>
        </p:grpSpPr>
        <p:sp>
          <p:nvSpPr>
            <p:cNvPr id="62" name="Freeform 62"/>
            <p:cNvSpPr/>
            <p:nvPr/>
          </p:nvSpPr>
          <p:spPr>
            <a:xfrm>
              <a:off x="0" y="0"/>
              <a:ext cx="21979382" cy="960374"/>
            </a:xfrm>
            <a:custGeom>
              <a:avLst/>
              <a:gdLst/>
              <a:ahLst/>
              <a:cxnLst/>
              <a:rect l="l" t="t" r="r" b="b"/>
              <a:pathLst>
                <a:path w="21979382" h="960374">
                  <a:moveTo>
                    <a:pt x="0" y="252730"/>
                  </a:moveTo>
                  <a:cubicBezTo>
                    <a:pt x="0" y="113157"/>
                    <a:pt x="113157" y="0"/>
                    <a:pt x="252730" y="0"/>
                  </a:cubicBezTo>
                  <a:lnTo>
                    <a:pt x="21726652" y="0"/>
                  </a:lnTo>
                  <a:cubicBezTo>
                    <a:pt x="21866225" y="0"/>
                    <a:pt x="21979382" y="113157"/>
                    <a:pt x="21979382" y="252730"/>
                  </a:cubicBezTo>
                  <a:lnTo>
                    <a:pt x="21979382" y="707644"/>
                  </a:lnTo>
                  <a:cubicBezTo>
                    <a:pt x="21979382" y="847217"/>
                    <a:pt x="21866225" y="960374"/>
                    <a:pt x="21726652" y="960374"/>
                  </a:cubicBezTo>
                  <a:lnTo>
                    <a:pt x="252730" y="960374"/>
                  </a:lnTo>
                  <a:cubicBezTo>
                    <a:pt x="113157" y="960501"/>
                    <a:pt x="0" y="847344"/>
                    <a:pt x="0" y="707644"/>
                  </a:cubicBezTo>
                  <a:close/>
                </a:path>
              </a:pathLst>
            </a:custGeom>
            <a:solidFill>
              <a:srgbClr val="7C898B"/>
            </a:solidFill>
            <a:ln w="25400" cap="sq">
              <a:solidFill>
                <a:srgbClr val="D8E8F8"/>
              </a:solidFill>
              <a:prstDash val="solid"/>
              <a:miter/>
            </a:ln>
          </p:spPr>
          <p:txBody>
            <a:bodyPr/>
            <a:lstStyle/>
            <a:p>
              <a:endParaRPr lang="en-IN"/>
            </a:p>
          </p:txBody>
        </p:sp>
      </p:grpSp>
      <p:grpSp>
        <p:nvGrpSpPr>
          <p:cNvPr id="63" name="Group 63"/>
          <p:cNvGrpSpPr/>
          <p:nvPr/>
        </p:nvGrpSpPr>
        <p:grpSpPr>
          <a:xfrm>
            <a:off x="914400" y="9838944"/>
            <a:ext cx="15727680" cy="694944"/>
            <a:chOff x="0" y="0"/>
            <a:chExt cx="20970240" cy="926592"/>
          </a:xfrm>
        </p:grpSpPr>
        <p:sp>
          <p:nvSpPr>
            <p:cNvPr id="64" name="Freeform 64"/>
            <p:cNvSpPr/>
            <p:nvPr/>
          </p:nvSpPr>
          <p:spPr>
            <a:xfrm>
              <a:off x="0" y="0"/>
              <a:ext cx="20970239" cy="926592"/>
            </a:xfrm>
            <a:custGeom>
              <a:avLst/>
              <a:gdLst/>
              <a:ahLst/>
              <a:cxnLst/>
              <a:rect l="l" t="t" r="r" b="b"/>
              <a:pathLst>
                <a:path w="20970239" h="926592">
                  <a:moveTo>
                    <a:pt x="0" y="0"/>
                  </a:moveTo>
                  <a:lnTo>
                    <a:pt x="20970239" y="0"/>
                  </a:lnTo>
                  <a:lnTo>
                    <a:pt x="20970239" y="926592"/>
                  </a:lnTo>
                  <a:lnTo>
                    <a:pt x="0" y="926592"/>
                  </a:lnTo>
                  <a:close/>
                </a:path>
              </a:pathLst>
            </a:custGeom>
            <a:blipFill>
              <a:blip r:embed="rId3">
                <a:alphaModFix amt="0"/>
              </a:blip>
              <a:stretch>
                <a:fillRect t="-390977" b="-390977"/>
              </a:stretch>
            </a:blipFill>
          </p:spPr>
          <p:txBody>
            <a:bodyPr/>
            <a:lstStyle/>
            <a:p>
              <a:endParaRPr lang="en-IN"/>
            </a:p>
          </p:txBody>
        </p:sp>
        <p:sp>
          <p:nvSpPr>
            <p:cNvPr id="65" name="TextBox 65"/>
            <p:cNvSpPr txBox="1"/>
            <p:nvPr/>
          </p:nvSpPr>
          <p:spPr>
            <a:xfrm>
              <a:off x="0" y="0"/>
              <a:ext cx="20970240" cy="926592"/>
            </a:xfrm>
            <a:prstGeom prst="rect">
              <a:avLst/>
            </a:prstGeom>
          </p:spPr>
          <p:txBody>
            <a:bodyPr lIns="0" tIns="0" rIns="0" bIns="0" rtlCol="0" anchor="ctr"/>
            <a:lstStyle/>
            <a:p>
              <a:pPr algn="ctr">
                <a:lnSpc>
                  <a:spcPts val="3120"/>
                </a:lnSpc>
              </a:pPr>
              <a:r>
                <a:rPr lang="en-US" sz="2600" spc="52">
                  <a:solidFill>
                    <a:srgbClr val="FFFFFF"/>
                  </a:solidFill>
                  <a:latin typeface="Playfair Display"/>
                  <a:ea typeface="Playfair Display"/>
                  <a:cs typeface="Playfair Display"/>
                  <a:sym typeface="Playfair Display"/>
                </a:rPr>
                <a:t>Next step: Chapter 5 of Hamilton's GRL Book — The Graph Neural Network Model</a:t>
              </a: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253439"/>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0" y="0"/>
              <a:ext cx="24417910" cy="1789557"/>
            </a:xfrm>
            <a:custGeom>
              <a:avLst/>
              <a:gdLst/>
              <a:ahLst/>
              <a:cxnLst/>
              <a:rect l="l" t="t" r="r" b="b"/>
              <a:pathLst>
                <a:path w="24417910" h="1789557">
                  <a:moveTo>
                    <a:pt x="0" y="0"/>
                  </a:moveTo>
                  <a:lnTo>
                    <a:pt x="24417910" y="0"/>
                  </a:lnTo>
                  <a:lnTo>
                    <a:pt x="24417910" y="1789557"/>
                  </a:lnTo>
                  <a:lnTo>
                    <a:pt x="0" y="1789557"/>
                  </a:lnTo>
                  <a:close/>
                </a:path>
              </a:pathLst>
            </a:custGeom>
            <a:solidFill>
              <a:srgbClr val="FFFFFF"/>
            </a:solidFill>
            <a:ln w="25400" cap="sq">
              <a:solidFill>
                <a:srgbClr val="1A3461"/>
              </a:solidFill>
              <a:prstDash val="solid"/>
              <a:miter/>
            </a:ln>
          </p:spPr>
          <p:txBody>
            <a:bodyPr/>
            <a:lstStyle/>
            <a:p>
              <a:endParaRPr lang="en-IN"/>
            </a:p>
          </p:txBody>
        </p:sp>
      </p:grpSp>
      <p:grpSp>
        <p:nvGrpSpPr>
          <p:cNvPr id="4" name="Group 4"/>
          <p:cNvGrpSpPr/>
          <p:nvPr/>
        </p:nvGrpSpPr>
        <p:grpSpPr>
          <a:xfrm>
            <a:off x="731520" y="0"/>
            <a:ext cx="16824960" cy="1316736"/>
            <a:chOff x="0" y="0"/>
            <a:chExt cx="22433280" cy="1755648"/>
          </a:xfrm>
        </p:grpSpPr>
        <p:sp>
          <p:nvSpPr>
            <p:cNvPr id="5" name="Freeform 5"/>
            <p:cNvSpPr/>
            <p:nvPr/>
          </p:nvSpPr>
          <p:spPr>
            <a:xfrm>
              <a:off x="0" y="0"/>
              <a:ext cx="22433280" cy="1755648"/>
            </a:xfrm>
            <a:custGeom>
              <a:avLst/>
              <a:gdLst/>
              <a:ahLst/>
              <a:cxnLst/>
              <a:rect l="l" t="t" r="r" b="b"/>
              <a:pathLst>
                <a:path w="22433280" h="1755648">
                  <a:moveTo>
                    <a:pt x="0" y="0"/>
                  </a:moveTo>
                  <a:lnTo>
                    <a:pt x="22433280" y="0"/>
                  </a:lnTo>
                  <a:lnTo>
                    <a:pt x="22433280" y="1755648"/>
                  </a:lnTo>
                  <a:lnTo>
                    <a:pt x="0" y="1755648"/>
                  </a:lnTo>
                  <a:close/>
                </a:path>
              </a:pathLst>
            </a:custGeom>
            <a:blipFill>
              <a:blip r:embed="rId3">
                <a:alphaModFix amt="0"/>
              </a:blip>
              <a:stretch>
                <a:fillRect t="-198975" b="-198975"/>
              </a:stretch>
            </a:blipFill>
          </p:spPr>
          <p:txBody>
            <a:bodyPr/>
            <a:lstStyle/>
            <a:p>
              <a:endParaRPr lang="en-IN"/>
            </a:p>
          </p:txBody>
        </p:sp>
        <p:sp>
          <p:nvSpPr>
            <p:cNvPr id="6" name="TextBox 6"/>
            <p:cNvSpPr txBox="1"/>
            <p:nvPr/>
          </p:nvSpPr>
          <p:spPr>
            <a:xfrm>
              <a:off x="0" y="-9525"/>
              <a:ext cx="22433280" cy="1765173"/>
            </a:xfrm>
            <a:prstGeom prst="rect">
              <a:avLst/>
            </a:prstGeom>
          </p:spPr>
          <p:txBody>
            <a:bodyPr lIns="0" tIns="0" rIns="0" bIns="0" rtlCol="0" anchor="ctr"/>
            <a:lstStyle/>
            <a:p>
              <a:pPr algn="l">
                <a:lnSpc>
                  <a:spcPts val="4800"/>
                </a:lnSpc>
              </a:pPr>
              <a:r>
                <a:rPr lang="en-US" sz="4000" spc="560">
                  <a:solidFill>
                    <a:srgbClr val="7C898B"/>
                  </a:solidFill>
                  <a:latin typeface="Hammersmith One"/>
                  <a:ea typeface="Hammersmith One"/>
                  <a:cs typeface="Hammersmith One"/>
                  <a:sym typeface="Hammersmith One"/>
                </a:rPr>
                <a:t>SUMMARY — ALL METHODS AT A GLANCE</a:t>
              </a:r>
            </a:p>
          </p:txBody>
        </p:sp>
      </p:grpSp>
      <p:grpSp>
        <p:nvGrpSpPr>
          <p:cNvPr id="7" name="Group 7"/>
          <p:cNvGrpSpPr/>
          <p:nvPr/>
        </p:nvGrpSpPr>
        <p:grpSpPr>
          <a:xfrm>
            <a:off x="731520" y="73152"/>
            <a:ext cx="16459200" cy="402336"/>
            <a:chOff x="0" y="0"/>
            <a:chExt cx="21945600" cy="536448"/>
          </a:xfrm>
        </p:grpSpPr>
        <p:sp>
          <p:nvSpPr>
            <p:cNvPr id="8" name="Freeform 8"/>
            <p:cNvSpPr/>
            <p:nvPr/>
          </p:nvSpPr>
          <p:spPr>
            <a:xfrm>
              <a:off x="0" y="0"/>
              <a:ext cx="21945600" cy="536448"/>
            </a:xfrm>
            <a:custGeom>
              <a:avLst/>
              <a:gdLst/>
              <a:ahLst/>
              <a:cxnLst/>
              <a:rect l="l" t="t" r="r" b="b"/>
              <a:pathLst>
                <a:path w="21945600" h="536448">
                  <a:moveTo>
                    <a:pt x="0" y="0"/>
                  </a:moveTo>
                  <a:lnTo>
                    <a:pt x="21945600" y="0"/>
                  </a:lnTo>
                  <a:lnTo>
                    <a:pt x="21945600" y="536448"/>
                  </a:lnTo>
                  <a:lnTo>
                    <a:pt x="0" y="536448"/>
                  </a:lnTo>
                  <a:close/>
                </a:path>
              </a:pathLst>
            </a:custGeom>
            <a:blipFill>
              <a:blip r:embed="rId3">
                <a:alphaModFix amt="0"/>
              </a:blip>
              <a:stretch>
                <a:fillRect t="-747115" b="-747115"/>
              </a:stretch>
            </a:blipFill>
          </p:spPr>
          <p:txBody>
            <a:bodyPr/>
            <a:lstStyle/>
            <a:p>
              <a:endParaRPr lang="en-IN"/>
            </a:p>
          </p:txBody>
        </p:sp>
        <p:sp>
          <p:nvSpPr>
            <p:cNvPr id="9" name="TextBox 9"/>
            <p:cNvSpPr txBox="1"/>
            <p:nvPr/>
          </p:nvSpPr>
          <p:spPr>
            <a:xfrm>
              <a:off x="0" y="0"/>
              <a:ext cx="21945600" cy="536448"/>
            </a:xfrm>
            <a:prstGeom prst="rect">
              <a:avLst/>
            </a:prstGeom>
          </p:spPr>
          <p:txBody>
            <a:bodyPr lIns="0" tIns="0" rIns="0" bIns="0" rtlCol="0" anchor="ctr"/>
            <a:lstStyle/>
            <a:p>
              <a:pPr algn="l">
                <a:lnSpc>
                  <a:spcPts val="2160"/>
                </a:lnSpc>
              </a:pPr>
              <a:r>
                <a:rPr lang="en-US" sz="1800" spc="36">
                  <a:solidFill>
                    <a:srgbClr val="253439"/>
                  </a:solidFill>
                  <a:latin typeface="Playfair Display"/>
                  <a:ea typeface="Playfair Display"/>
                  <a:cs typeface="Playfair Display"/>
                  <a:sym typeface="Playfair Display"/>
                </a:rPr>
                <a:t>SUMMARY</a:t>
              </a:r>
            </a:p>
          </p:txBody>
        </p:sp>
      </p:grpSp>
      <p:graphicFrame>
        <p:nvGraphicFramePr>
          <p:cNvPr id="10" name="Table 10"/>
          <p:cNvGraphicFramePr>
            <a:graphicFrameLocks noGrp="1"/>
          </p:cNvGraphicFramePr>
          <p:nvPr>
            <p:extLst>
              <p:ext uri="{D42A27DB-BD31-4B8C-83A1-F6EECF244321}">
                <p14:modId xmlns:p14="http://schemas.microsoft.com/office/powerpoint/2010/main" val="3175897052"/>
              </p:ext>
            </p:extLst>
          </p:nvPr>
        </p:nvGraphicFramePr>
        <p:xfrm>
          <a:off x="548640" y="1554480"/>
          <a:ext cx="17145000" cy="7990840"/>
        </p:xfrm>
        <a:graphic>
          <a:graphicData uri="http://schemas.openxmlformats.org/drawingml/2006/table">
            <a:tbl>
              <a:tblPr/>
              <a:tblGrid>
                <a:gridCol w="3429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gridCol w="3429000">
                  <a:extLst>
                    <a:ext uri="{9D8B030D-6E8A-4147-A177-3AD203B41FA5}">
                      <a16:colId xmlns:a16="http://schemas.microsoft.com/office/drawing/2014/main" val="20003"/>
                    </a:ext>
                  </a:extLst>
                </a:gridCol>
                <a:gridCol w="3429000">
                  <a:extLst>
                    <a:ext uri="{9D8B030D-6E8A-4147-A177-3AD203B41FA5}">
                      <a16:colId xmlns:a16="http://schemas.microsoft.com/office/drawing/2014/main" val="20004"/>
                    </a:ext>
                  </a:extLst>
                </a:gridCol>
              </a:tblGrid>
              <a:tr h="1117600">
                <a:tc>
                  <a:txBody>
                    <a:bodyPr/>
                    <a:lstStyle/>
                    <a:p>
                      <a:pPr algn="ctr">
                        <a:lnSpc>
                          <a:spcPts val="2879"/>
                        </a:lnSpc>
                        <a:defRPr/>
                      </a:pPr>
                      <a:r>
                        <a:rPr lang="en-US" sz="2400" i="1" spc="120" dirty="0">
                          <a:solidFill>
                            <a:schemeClr val="tx1"/>
                          </a:solidFill>
                          <a:latin typeface="Playfair Display Italics"/>
                          <a:ea typeface="Playfair Display Italics"/>
                          <a:cs typeface="Playfair Display Italics"/>
                          <a:sym typeface="Playfair Display Italics"/>
                        </a:rPr>
                        <a:t>Method</a:t>
                      </a:r>
                      <a:endParaRPr lang="en-US" sz="1100" dirty="0">
                        <a:solidFill>
                          <a:schemeClr val="tx1"/>
                        </a:solidFill>
                      </a:endParaRPr>
                    </a:p>
                  </a:txBody>
                  <a:tcPr marT="91440" marB="91440">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tc>
                  <a:txBody>
                    <a:bodyPr/>
                    <a:lstStyle/>
                    <a:p>
                      <a:pPr algn="ctr">
                        <a:lnSpc>
                          <a:spcPts val="2879"/>
                        </a:lnSpc>
                        <a:defRPr/>
                      </a:pPr>
                      <a:r>
                        <a:rPr lang="en-US" sz="2400" i="1" spc="120">
                          <a:solidFill>
                            <a:schemeClr val="tx1"/>
                          </a:solidFill>
                          <a:latin typeface="Playfair Display Italics"/>
                          <a:ea typeface="Playfair Display Italics"/>
                          <a:cs typeface="Playfair Display Italics"/>
                          <a:sym typeface="Playfair Display Italics"/>
                        </a:rPr>
                        <a:t>Decoder</a:t>
                      </a:r>
                      <a:endParaRPr lang="en-US" sz="1100">
                        <a:solidFill>
                          <a:schemeClr val="tx1"/>
                        </a:solidFill>
                      </a:endParaRPr>
                    </a:p>
                  </a:txBody>
                  <a:tcPr marT="91440" marB="91440">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tc>
                  <a:txBody>
                    <a:bodyPr/>
                    <a:lstStyle/>
                    <a:p>
                      <a:pPr algn="ctr">
                        <a:lnSpc>
                          <a:spcPts val="2879"/>
                        </a:lnSpc>
                        <a:defRPr/>
                      </a:pPr>
                      <a:r>
                        <a:rPr lang="en-US" sz="2400" i="1" spc="120">
                          <a:solidFill>
                            <a:schemeClr val="tx1"/>
                          </a:solidFill>
                          <a:latin typeface="Playfair Display Italics"/>
                          <a:ea typeface="Playfair Display Italics"/>
                          <a:cs typeface="Playfair Display Italics"/>
                          <a:sym typeface="Playfair Display Italics"/>
                        </a:rPr>
                        <a:t>Similarity S</a:t>
                      </a:r>
                      <a:endParaRPr lang="en-US" sz="1100">
                        <a:solidFill>
                          <a:schemeClr val="tx1"/>
                        </a:solidFill>
                      </a:endParaRPr>
                    </a:p>
                  </a:txBody>
                  <a:tcPr marT="91440" marB="91440">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tc>
                  <a:txBody>
                    <a:bodyPr/>
                    <a:lstStyle/>
                    <a:p>
                      <a:pPr algn="ctr">
                        <a:lnSpc>
                          <a:spcPts val="2879"/>
                        </a:lnSpc>
                        <a:defRPr/>
                      </a:pPr>
                      <a:r>
                        <a:rPr lang="en-US" sz="2400" i="1" spc="120">
                          <a:solidFill>
                            <a:schemeClr val="tx1"/>
                          </a:solidFill>
                          <a:latin typeface="Playfair Display Italics"/>
                          <a:ea typeface="Playfair Display Italics"/>
                          <a:cs typeface="Playfair Display Italics"/>
                          <a:sym typeface="Playfair Display Italics"/>
                        </a:rPr>
                        <a:t>Walk?</a:t>
                      </a:r>
                      <a:endParaRPr lang="en-US" sz="1100">
                        <a:solidFill>
                          <a:schemeClr val="tx1"/>
                        </a:solidFill>
                      </a:endParaRPr>
                    </a:p>
                  </a:txBody>
                  <a:tcPr marT="91440" marB="91440">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tc>
                  <a:txBody>
                    <a:bodyPr/>
                    <a:lstStyle/>
                    <a:p>
                      <a:pPr algn="ctr">
                        <a:lnSpc>
                          <a:spcPts val="2879"/>
                        </a:lnSpc>
                        <a:defRPr/>
                      </a:pPr>
                      <a:r>
                        <a:rPr lang="en-US" sz="2400" i="1" spc="120">
                          <a:solidFill>
                            <a:schemeClr val="tx1"/>
                          </a:solidFill>
                          <a:latin typeface="Playfair Display Italics"/>
                          <a:ea typeface="Playfair Display Italics"/>
                          <a:cs typeface="Playfair Display Italics"/>
                          <a:sym typeface="Playfair Display Italics"/>
                        </a:rPr>
                        <a:t>Key Strength</a:t>
                      </a:r>
                      <a:endParaRPr lang="en-US" sz="1100">
                        <a:solidFill>
                          <a:schemeClr val="tx1"/>
                        </a:solidFill>
                      </a:endParaRPr>
                    </a:p>
                  </a:txBody>
                  <a:tcPr marT="91440" marB="91440">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117600">
                <a:tc>
                  <a:txBody>
                    <a:bodyPr/>
                    <a:lstStyle/>
                    <a:p>
                      <a:pPr algn="ctr">
                        <a:lnSpc>
                          <a:spcPts val="2640"/>
                        </a:lnSpc>
                        <a:defRPr/>
                      </a:pPr>
                      <a:r>
                        <a:rPr lang="en-US" sz="2200" i="1" spc="109">
                          <a:solidFill>
                            <a:schemeClr val="tx1"/>
                          </a:solidFill>
                          <a:latin typeface="Playfair Display Italics"/>
                          <a:ea typeface="Playfair Display Italics"/>
                          <a:cs typeface="Playfair Display Italics"/>
                          <a:sym typeface="Playfair Display Italics"/>
                        </a:rPr>
                        <a:t>Laplacian Eigenmaps</a:t>
                      </a:r>
                      <a:endParaRPr lang="en-US" sz="1100">
                        <a:solidFill>
                          <a:schemeClr val="tx1"/>
                        </a:solidFill>
                      </a:endParaRP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tc>
                  <a:txBody>
                    <a:bodyPr/>
                    <a:lstStyle/>
                    <a:p>
                      <a:pPr algn="ctr">
                        <a:lnSpc>
                          <a:spcPts val="2640"/>
                        </a:lnSpc>
                        <a:defRPr/>
                      </a:pPr>
                      <a:r>
                        <a:rPr lang="en-US" sz="2200" spc="43">
                          <a:solidFill>
                            <a:schemeClr val="tx1"/>
                          </a:solidFill>
                          <a:latin typeface="Playfair Display"/>
                          <a:ea typeface="Playfair Display"/>
                          <a:cs typeface="Playfair Display"/>
                          <a:sym typeface="Playfair Display"/>
                        </a:rPr>
                        <a:t>||zᵤ−z_v||²</a:t>
                      </a:r>
                      <a:endParaRPr lang="en-US" sz="1100">
                        <a:solidFill>
                          <a:schemeClr val="tx1"/>
                        </a:solidFill>
                      </a:endParaRP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tc>
                  <a:txBody>
                    <a:bodyPr/>
                    <a:lstStyle/>
                    <a:p>
                      <a:pPr algn="ctr">
                        <a:lnSpc>
                          <a:spcPts val="2640"/>
                        </a:lnSpc>
                        <a:defRPr/>
                      </a:pPr>
                      <a:r>
                        <a:rPr lang="en-US" sz="2200" spc="43">
                          <a:solidFill>
                            <a:schemeClr val="tx1"/>
                          </a:solidFill>
                          <a:latin typeface="Playfair Display"/>
                          <a:ea typeface="Playfair Display"/>
                          <a:cs typeface="Playfair Display"/>
                          <a:sym typeface="Playfair Display"/>
                        </a:rPr>
                        <a:t>General</a:t>
                      </a:r>
                      <a:endParaRPr lang="en-US" sz="1100">
                        <a:solidFill>
                          <a:schemeClr val="tx1"/>
                        </a:solidFill>
                      </a:endParaRP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tc>
                  <a:txBody>
                    <a:bodyPr/>
                    <a:lstStyle/>
                    <a:p>
                      <a:pPr algn="ctr">
                        <a:lnSpc>
                          <a:spcPts val="2640"/>
                        </a:lnSpc>
                        <a:defRPr/>
                      </a:pPr>
                      <a:r>
                        <a:rPr lang="en-US" sz="2200" spc="43">
                          <a:solidFill>
                            <a:schemeClr val="tx1"/>
                          </a:solidFill>
                          <a:latin typeface="Playfair Display"/>
                          <a:ea typeface="Playfair Display"/>
                          <a:cs typeface="Playfair Display"/>
                          <a:sym typeface="Playfair Display"/>
                        </a:rPr>
                        <a:t>No</a:t>
                      </a:r>
                      <a:endParaRPr lang="en-US" sz="1100">
                        <a:solidFill>
                          <a:schemeClr val="tx1"/>
                        </a:solidFill>
                      </a:endParaRP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tc>
                  <a:txBody>
                    <a:bodyPr/>
                    <a:lstStyle/>
                    <a:p>
                      <a:pPr algn="ctr">
                        <a:lnSpc>
                          <a:spcPts val="2640"/>
                        </a:lnSpc>
                        <a:defRPr/>
                      </a:pPr>
                      <a:r>
                        <a:rPr lang="en-US" sz="2200" spc="43">
                          <a:solidFill>
                            <a:schemeClr val="tx1"/>
                          </a:solidFill>
                          <a:latin typeface="Playfair Display"/>
                          <a:ea typeface="Playfair Display"/>
                          <a:cs typeface="Playfair Display"/>
                          <a:sym typeface="Playfair Display"/>
                        </a:rPr>
                        <a:t>Links to spectral clustering / Laplacian eigenvectors</a:t>
                      </a:r>
                      <a:endParaRPr lang="en-US" sz="1100">
                        <a:solidFill>
                          <a:schemeClr val="tx1"/>
                        </a:solidFill>
                      </a:endParaRP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117600">
                <a:tc>
                  <a:txBody>
                    <a:bodyPr/>
                    <a:lstStyle/>
                    <a:p>
                      <a:pPr algn="ctr">
                        <a:lnSpc>
                          <a:spcPts val="2640"/>
                        </a:lnSpc>
                        <a:defRPr/>
                      </a:pPr>
                      <a:r>
                        <a:rPr lang="en-US" sz="2200" i="1" spc="109">
                          <a:solidFill>
                            <a:schemeClr val="tx1"/>
                          </a:solidFill>
                          <a:latin typeface="Playfair Display Italics"/>
                          <a:ea typeface="Playfair Display Italics"/>
                          <a:cs typeface="Playfair Display Italics"/>
                          <a:sym typeface="Playfair Display Italics"/>
                        </a:rPr>
                        <a:t>Graph Factorization</a:t>
                      </a:r>
                      <a:endParaRPr lang="en-US" sz="1100">
                        <a:solidFill>
                          <a:schemeClr val="tx1"/>
                        </a:solidFill>
                      </a:endParaRP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tc>
                  <a:txBody>
                    <a:bodyPr/>
                    <a:lstStyle/>
                    <a:p>
                      <a:pPr algn="ctr">
                        <a:lnSpc>
                          <a:spcPts val="2640"/>
                        </a:lnSpc>
                        <a:defRPr/>
                      </a:pPr>
                      <a:r>
                        <a:rPr lang="en-US" sz="2200" spc="43">
                          <a:solidFill>
                            <a:schemeClr val="tx1"/>
                          </a:solidFill>
                          <a:latin typeface="Playfair Display"/>
                          <a:ea typeface="Playfair Display"/>
                          <a:cs typeface="Playfair Display"/>
                          <a:sym typeface="Playfair Display"/>
                        </a:rPr>
                        <a:t>zᵤᵀz_v (dot)</a:t>
                      </a:r>
                      <a:endParaRPr lang="en-US" sz="1100">
                        <a:solidFill>
                          <a:schemeClr val="tx1"/>
                        </a:solidFill>
                      </a:endParaRP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tc>
                  <a:txBody>
                    <a:bodyPr/>
                    <a:lstStyle/>
                    <a:p>
                      <a:pPr algn="ctr">
                        <a:lnSpc>
                          <a:spcPts val="2640"/>
                        </a:lnSpc>
                        <a:defRPr/>
                      </a:pPr>
                      <a:r>
                        <a:rPr lang="en-US" sz="2200" spc="43">
                          <a:solidFill>
                            <a:schemeClr val="tx1"/>
                          </a:solidFill>
                          <a:latin typeface="Playfair Display"/>
                          <a:ea typeface="Playfair Display"/>
                          <a:cs typeface="Playfair Display"/>
                          <a:sym typeface="Playfair Display"/>
                        </a:rPr>
                        <a:t>A (1-hop)</a:t>
                      </a:r>
                      <a:endParaRPr lang="en-US" sz="1100">
                        <a:solidFill>
                          <a:schemeClr val="tx1"/>
                        </a:solidFill>
                      </a:endParaRP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tc>
                  <a:txBody>
                    <a:bodyPr/>
                    <a:lstStyle/>
                    <a:p>
                      <a:pPr algn="ctr">
                        <a:lnSpc>
                          <a:spcPts val="2640"/>
                        </a:lnSpc>
                        <a:defRPr/>
                      </a:pPr>
                      <a:r>
                        <a:rPr lang="en-US" sz="2200" spc="43">
                          <a:solidFill>
                            <a:schemeClr val="tx1"/>
                          </a:solidFill>
                          <a:latin typeface="Playfair Display"/>
                          <a:ea typeface="Playfair Display"/>
                          <a:cs typeface="Playfair Display"/>
                          <a:sym typeface="Playfair Display"/>
                        </a:rPr>
                        <a:t>No</a:t>
                      </a:r>
                      <a:endParaRPr lang="en-US" sz="1100">
                        <a:solidFill>
                          <a:schemeClr val="tx1"/>
                        </a:solidFill>
                      </a:endParaRP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tc>
                  <a:txBody>
                    <a:bodyPr/>
                    <a:lstStyle/>
                    <a:p>
                      <a:pPr algn="ctr">
                        <a:lnSpc>
                          <a:spcPts val="2640"/>
                        </a:lnSpc>
                        <a:defRPr/>
                      </a:pPr>
                      <a:r>
                        <a:rPr lang="en-US" sz="2200" spc="43">
                          <a:solidFill>
                            <a:schemeClr val="tx1"/>
                          </a:solidFill>
                          <a:latin typeface="Playfair Display"/>
                          <a:ea typeface="Playfair Display"/>
                          <a:cs typeface="Playfair Display"/>
                          <a:sym typeface="Playfair Display"/>
                        </a:rPr>
                        <a:t>Simple, O(|E|) scalable adjacency factorization</a:t>
                      </a:r>
                      <a:endParaRPr lang="en-US" sz="1100">
                        <a:solidFill>
                          <a:schemeClr val="tx1"/>
                        </a:solidFill>
                      </a:endParaRP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117600">
                <a:tc>
                  <a:txBody>
                    <a:bodyPr/>
                    <a:lstStyle/>
                    <a:p>
                      <a:pPr algn="ctr">
                        <a:lnSpc>
                          <a:spcPts val="2640"/>
                        </a:lnSpc>
                        <a:defRPr/>
                      </a:pPr>
                      <a:r>
                        <a:rPr lang="en-US" sz="2200" i="1" spc="109">
                          <a:solidFill>
                            <a:schemeClr val="tx1"/>
                          </a:solidFill>
                          <a:latin typeface="Playfair Display Italics"/>
                          <a:ea typeface="Playfair Display Italics"/>
                          <a:cs typeface="Playfair Display Italics"/>
                          <a:sym typeface="Playfair Display Italics"/>
                        </a:rPr>
                        <a:t>GraRep</a:t>
                      </a:r>
                      <a:endParaRPr lang="en-US" sz="1100">
                        <a:solidFill>
                          <a:schemeClr val="tx1"/>
                        </a:solidFill>
                      </a:endParaRP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tc>
                  <a:txBody>
                    <a:bodyPr/>
                    <a:lstStyle/>
                    <a:p>
                      <a:pPr algn="ctr">
                        <a:lnSpc>
                          <a:spcPts val="2640"/>
                        </a:lnSpc>
                        <a:defRPr/>
                      </a:pPr>
                      <a:r>
                        <a:rPr lang="en-US" sz="2200" spc="43">
                          <a:solidFill>
                            <a:schemeClr val="tx1"/>
                          </a:solidFill>
                          <a:latin typeface="Playfair Display"/>
                          <a:ea typeface="Playfair Display"/>
                          <a:cs typeface="Playfair Display"/>
                          <a:sym typeface="Playfair Display"/>
                        </a:rPr>
                        <a:t>zᵤᵀz_v</a:t>
                      </a:r>
                      <a:endParaRPr lang="en-US" sz="1100">
                        <a:solidFill>
                          <a:schemeClr val="tx1"/>
                        </a:solidFill>
                      </a:endParaRP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tc>
                  <a:txBody>
                    <a:bodyPr/>
                    <a:lstStyle/>
                    <a:p>
                      <a:pPr algn="ctr">
                        <a:lnSpc>
                          <a:spcPts val="2640"/>
                        </a:lnSpc>
                        <a:defRPr/>
                      </a:pPr>
                      <a:r>
                        <a:rPr lang="en-US" sz="2200" spc="43">
                          <a:solidFill>
                            <a:schemeClr val="tx1"/>
                          </a:solidFill>
                          <a:latin typeface="Playfair Display"/>
                          <a:ea typeface="Playfair Display"/>
                          <a:cs typeface="Playfair Display"/>
                          <a:sym typeface="Playfair Display"/>
                        </a:rPr>
                        <a:t>A,A²,A³...</a:t>
                      </a:r>
                      <a:endParaRPr lang="en-US" sz="1100">
                        <a:solidFill>
                          <a:schemeClr val="tx1"/>
                        </a:solidFill>
                      </a:endParaRP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tc>
                  <a:txBody>
                    <a:bodyPr/>
                    <a:lstStyle/>
                    <a:p>
                      <a:pPr algn="ctr">
                        <a:lnSpc>
                          <a:spcPts val="2640"/>
                        </a:lnSpc>
                        <a:defRPr/>
                      </a:pPr>
                      <a:r>
                        <a:rPr lang="en-US" sz="2200" spc="43">
                          <a:solidFill>
                            <a:schemeClr val="tx1"/>
                          </a:solidFill>
                          <a:latin typeface="Playfair Display"/>
                          <a:ea typeface="Playfair Display"/>
                          <a:cs typeface="Playfair Display"/>
                          <a:sym typeface="Playfair Display"/>
                        </a:rPr>
                        <a:t>No</a:t>
                      </a:r>
                      <a:endParaRPr lang="en-US" sz="1100">
                        <a:solidFill>
                          <a:schemeClr val="tx1"/>
                        </a:solidFill>
                      </a:endParaRP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tc>
                  <a:txBody>
                    <a:bodyPr/>
                    <a:lstStyle/>
                    <a:p>
                      <a:pPr algn="ctr">
                        <a:lnSpc>
                          <a:spcPts val="2640"/>
                        </a:lnSpc>
                        <a:defRPr/>
                      </a:pPr>
                      <a:r>
                        <a:rPr lang="en-US" sz="2200" spc="43">
                          <a:solidFill>
                            <a:schemeClr val="tx1"/>
                          </a:solidFill>
                          <a:latin typeface="Playfair Display"/>
                          <a:ea typeface="Playfair Display"/>
                          <a:cs typeface="Playfair Display"/>
                          <a:sym typeface="Playfair Display"/>
                        </a:rPr>
                        <a:t>Captures multi-hop structure explicitly</a:t>
                      </a:r>
                      <a:endParaRPr lang="en-US" sz="1100">
                        <a:solidFill>
                          <a:schemeClr val="tx1"/>
                        </a:solidFill>
                      </a:endParaRP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117600">
                <a:tc>
                  <a:txBody>
                    <a:bodyPr/>
                    <a:lstStyle/>
                    <a:p>
                      <a:pPr algn="ctr">
                        <a:lnSpc>
                          <a:spcPts val="2640"/>
                        </a:lnSpc>
                        <a:defRPr/>
                      </a:pPr>
                      <a:r>
                        <a:rPr lang="en-US" sz="2200" i="1" spc="109">
                          <a:solidFill>
                            <a:schemeClr val="tx1"/>
                          </a:solidFill>
                          <a:latin typeface="Playfair Display Italics"/>
                          <a:ea typeface="Playfair Display Italics"/>
                          <a:cs typeface="Playfair Display Italics"/>
                          <a:sym typeface="Playfair Display Italics"/>
                        </a:rPr>
                        <a:t>HOPE</a:t>
                      </a:r>
                      <a:endParaRPr lang="en-US" sz="1100">
                        <a:solidFill>
                          <a:schemeClr val="tx1"/>
                        </a:solidFill>
                      </a:endParaRP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tc>
                  <a:txBody>
                    <a:bodyPr/>
                    <a:lstStyle/>
                    <a:p>
                      <a:pPr algn="ctr">
                        <a:lnSpc>
                          <a:spcPts val="2640"/>
                        </a:lnSpc>
                        <a:defRPr/>
                      </a:pPr>
                      <a:r>
                        <a:rPr lang="en-US" sz="2200" spc="43">
                          <a:solidFill>
                            <a:schemeClr val="tx1"/>
                          </a:solidFill>
                          <a:latin typeface="Playfair Display"/>
                          <a:ea typeface="Playfair Display"/>
                          <a:cs typeface="Playfair Display"/>
                          <a:sym typeface="Playfair Display"/>
                        </a:rPr>
                        <a:t>zᵤᵀz_v</a:t>
                      </a:r>
                      <a:endParaRPr lang="en-US" sz="1100">
                        <a:solidFill>
                          <a:schemeClr val="tx1"/>
                        </a:solidFill>
                      </a:endParaRP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tc>
                  <a:txBody>
                    <a:bodyPr/>
                    <a:lstStyle/>
                    <a:p>
                      <a:pPr algn="ctr">
                        <a:lnSpc>
                          <a:spcPts val="2640"/>
                        </a:lnSpc>
                        <a:defRPr/>
                      </a:pPr>
                      <a:r>
                        <a:rPr lang="en-US" sz="2200" spc="43">
                          <a:solidFill>
                            <a:schemeClr val="tx1"/>
                          </a:solidFill>
                          <a:latin typeface="Playfair Display"/>
                          <a:ea typeface="Playfair Display"/>
                          <a:cs typeface="Playfair Display"/>
                          <a:sym typeface="Playfair Display"/>
                        </a:rPr>
                        <a:t>General overlap</a:t>
                      </a:r>
                      <a:endParaRPr lang="en-US" sz="1100">
                        <a:solidFill>
                          <a:schemeClr val="tx1"/>
                        </a:solidFill>
                      </a:endParaRP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tc>
                  <a:txBody>
                    <a:bodyPr/>
                    <a:lstStyle/>
                    <a:p>
                      <a:pPr algn="ctr">
                        <a:lnSpc>
                          <a:spcPts val="2640"/>
                        </a:lnSpc>
                        <a:defRPr/>
                      </a:pPr>
                      <a:r>
                        <a:rPr lang="en-US" sz="2200" spc="43">
                          <a:solidFill>
                            <a:schemeClr val="tx1"/>
                          </a:solidFill>
                          <a:latin typeface="Playfair Display"/>
                          <a:ea typeface="Playfair Display"/>
                          <a:cs typeface="Playfair Display"/>
                          <a:sym typeface="Playfair Display"/>
                        </a:rPr>
                        <a:t>No</a:t>
                      </a:r>
                      <a:endParaRPr lang="en-US" sz="1100">
                        <a:solidFill>
                          <a:schemeClr val="tx1"/>
                        </a:solidFill>
                      </a:endParaRP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tc>
                  <a:txBody>
                    <a:bodyPr/>
                    <a:lstStyle/>
                    <a:p>
                      <a:pPr algn="ctr">
                        <a:lnSpc>
                          <a:spcPts val="2640"/>
                        </a:lnSpc>
                        <a:defRPr/>
                      </a:pPr>
                      <a:r>
                        <a:rPr lang="en-US" sz="2200" spc="43">
                          <a:solidFill>
                            <a:schemeClr val="tx1"/>
                          </a:solidFill>
                          <a:latin typeface="Playfair Display"/>
                          <a:ea typeface="Playfair Display"/>
                          <a:cs typeface="Playfair Display"/>
                          <a:sym typeface="Playfair Display"/>
                        </a:rPr>
                        <a:t>Handles directed + general similarity measures</a:t>
                      </a:r>
                      <a:endParaRPr lang="en-US" sz="1100">
                        <a:solidFill>
                          <a:schemeClr val="tx1"/>
                        </a:solidFill>
                      </a:endParaRP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117600">
                <a:tc>
                  <a:txBody>
                    <a:bodyPr/>
                    <a:lstStyle/>
                    <a:p>
                      <a:pPr algn="ctr">
                        <a:lnSpc>
                          <a:spcPts val="2640"/>
                        </a:lnSpc>
                        <a:defRPr/>
                      </a:pPr>
                      <a:r>
                        <a:rPr lang="en-US" sz="2200" i="1" spc="109">
                          <a:solidFill>
                            <a:schemeClr val="tx1"/>
                          </a:solidFill>
                          <a:latin typeface="Playfair Display Italics"/>
                          <a:ea typeface="Playfair Display Italics"/>
                          <a:cs typeface="Playfair Display Italics"/>
                          <a:sym typeface="Playfair Display Italics"/>
                        </a:rPr>
                        <a:t>DeepWalk</a:t>
                      </a:r>
                      <a:endParaRPr lang="en-US" sz="1100">
                        <a:solidFill>
                          <a:schemeClr val="tx1"/>
                        </a:solidFill>
                      </a:endParaRP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tc>
                  <a:txBody>
                    <a:bodyPr/>
                    <a:lstStyle/>
                    <a:p>
                      <a:pPr algn="ctr">
                        <a:lnSpc>
                          <a:spcPts val="2640"/>
                        </a:lnSpc>
                        <a:defRPr/>
                      </a:pPr>
                      <a:r>
                        <a:rPr lang="en-US" sz="2200" spc="43" dirty="0">
                          <a:solidFill>
                            <a:schemeClr val="tx1"/>
                          </a:solidFill>
                          <a:latin typeface="Playfair Display"/>
                          <a:ea typeface="Playfair Display"/>
                          <a:cs typeface="Playfair Display"/>
                          <a:sym typeface="Playfair Display"/>
                        </a:rPr>
                        <a:t>Softmax</a:t>
                      </a:r>
                      <a:endParaRPr lang="en-US" sz="1100" dirty="0">
                        <a:solidFill>
                          <a:schemeClr val="tx1"/>
                        </a:solidFill>
                      </a:endParaRP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tc>
                  <a:txBody>
                    <a:bodyPr/>
                    <a:lstStyle/>
                    <a:p>
                      <a:pPr algn="ctr">
                        <a:lnSpc>
                          <a:spcPts val="2640"/>
                        </a:lnSpc>
                        <a:defRPr/>
                      </a:pPr>
                      <a:r>
                        <a:rPr lang="en-US" sz="2200" spc="43">
                          <a:solidFill>
                            <a:schemeClr val="tx1"/>
                          </a:solidFill>
                          <a:latin typeface="Playfair Display"/>
                          <a:ea typeface="Playfair Display"/>
                          <a:cs typeface="Playfair Display"/>
                          <a:sym typeface="Playfair Display"/>
                        </a:rPr>
                        <a:t>p(v|u) uniform</a:t>
                      </a:r>
                      <a:endParaRPr lang="en-US" sz="1100">
                        <a:solidFill>
                          <a:schemeClr val="tx1"/>
                        </a:solidFill>
                      </a:endParaRP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tc>
                  <a:txBody>
                    <a:bodyPr/>
                    <a:lstStyle/>
                    <a:p>
                      <a:pPr algn="ctr">
                        <a:lnSpc>
                          <a:spcPts val="2640"/>
                        </a:lnSpc>
                        <a:defRPr/>
                      </a:pPr>
                      <a:r>
                        <a:rPr lang="en-US" sz="2200" spc="43">
                          <a:solidFill>
                            <a:schemeClr val="tx1"/>
                          </a:solidFill>
                          <a:latin typeface="Playfair Display"/>
                          <a:ea typeface="Playfair Display"/>
                          <a:cs typeface="Playfair Display"/>
                          <a:sym typeface="Playfair Display"/>
                        </a:rPr>
                        <a:t>Yes (uniform)</a:t>
                      </a:r>
                      <a:endParaRPr lang="en-US" sz="1100">
                        <a:solidFill>
                          <a:schemeClr val="tx1"/>
                        </a:solidFill>
                      </a:endParaRP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tc>
                  <a:txBody>
                    <a:bodyPr/>
                    <a:lstStyle/>
                    <a:p>
                      <a:pPr algn="ctr">
                        <a:lnSpc>
                          <a:spcPts val="2640"/>
                        </a:lnSpc>
                        <a:defRPr/>
                      </a:pPr>
                      <a:r>
                        <a:rPr lang="en-US" sz="2200" spc="43" dirty="0">
                          <a:solidFill>
                            <a:schemeClr val="tx1"/>
                          </a:solidFill>
                          <a:latin typeface="Playfair Display"/>
                          <a:ea typeface="Playfair Display"/>
                          <a:cs typeface="Playfair Display"/>
                          <a:sym typeface="Playfair Display"/>
                        </a:rPr>
                        <a:t>Scalable; hierarchical softmax; NLP-inspired</a:t>
                      </a:r>
                      <a:endParaRPr lang="en-US" sz="1100" dirty="0">
                        <a:solidFill>
                          <a:schemeClr val="tx1"/>
                        </a:solidFill>
                      </a:endParaRP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117600">
                <a:tc>
                  <a:txBody>
                    <a:bodyPr/>
                    <a:lstStyle/>
                    <a:p>
                      <a:pPr algn="ctr">
                        <a:lnSpc>
                          <a:spcPts val="2640"/>
                        </a:lnSpc>
                        <a:defRPr/>
                      </a:pPr>
                      <a:r>
                        <a:rPr lang="en-US" sz="2200" i="1" spc="109">
                          <a:solidFill>
                            <a:schemeClr val="tx1"/>
                          </a:solidFill>
                          <a:latin typeface="Playfair Display Italics"/>
                          <a:ea typeface="Playfair Display Italics"/>
                          <a:cs typeface="Playfair Display Italics"/>
                          <a:sym typeface="Playfair Display Italics"/>
                        </a:rPr>
                        <a:t>node2vec</a:t>
                      </a:r>
                      <a:endParaRPr lang="en-US" sz="1100">
                        <a:solidFill>
                          <a:schemeClr val="tx1"/>
                        </a:solidFill>
                      </a:endParaRP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tc>
                  <a:txBody>
                    <a:bodyPr/>
                    <a:lstStyle/>
                    <a:p>
                      <a:pPr algn="ctr">
                        <a:lnSpc>
                          <a:spcPts val="2640"/>
                        </a:lnSpc>
                        <a:defRPr/>
                      </a:pPr>
                      <a:r>
                        <a:rPr lang="en-US" sz="2200" spc="43">
                          <a:solidFill>
                            <a:schemeClr val="tx1"/>
                          </a:solidFill>
                          <a:latin typeface="Playfair Display"/>
                          <a:ea typeface="Playfair Display"/>
                          <a:cs typeface="Playfair Display"/>
                          <a:sym typeface="Playfair Display"/>
                        </a:rPr>
                        <a:t>Sigmoid (neg. samp.)</a:t>
                      </a:r>
                      <a:endParaRPr lang="en-US" sz="1100">
                        <a:solidFill>
                          <a:schemeClr val="tx1"/>
                        </a:solidFill>
                      </a:endParaRP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tc>
                  <a:txBody>
                    <a:bodyPr/>
                    <a:lstStyle/>
                    <a:p>
                      <a:pPr algn="ctr">
                        <a:lnSpc>
                          <a:spcPts val="2640"/>
                        </a:lnSpc>
                        <a:defRPr/>
                      </a:pPr>
                      <a:r>
                        <a:rPr lang="en-US" sz="2200" spc="43">
                          <a:solidFill>
                            <a:schemeClr val="tx1"/>
                          </a:solidFill>
                          <a:latin typeface="Playfair Display"/>
                          <a:ea typeface="Playfair Display"/>
                          <a:cs typeface="Playfair Display"/>
                          <a:sym typeface="Playfair Display"/>
                        </a:rPr>
                        <a:t>p(v|u) biased</a:t>
                      </a:r>
                      <a:endParaRPr lang="en-US" sz="1100">
                        <a:solidFill>
                          <a:schemeClr val="tx1"/>
                        </a:solidFill>
                      </a:endParaRP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tc>
                  <a:txBody>
                    <a:bodyPr/>
                    <a:lstStyle/>
                    <a:p>
                      <a:pPr algn="ctr">
                        <a:lnSpc>
                          <a:spcPts val="2640"/>
                        </a:lnSpc>
                        <a:defRPr/>
                      </a:pPr>
                      <a:r>
                        <a:rPr lang="en-US" sz="2200" spc="43">
                          <a:solidFill>
                            <a:schemeClr val="tx1"/>
                          </a:solidFill>
                          <a:latin typeface="Playfair Display"/>
                          <a:ea typeface="Playfair Display"/>
                          <a:cs typeface="Playfair Display"/>
                          <a:sym typeface="Playfair Display"/>
                        </a:rPr>
                        <a:t>Yes (p,q bias)</a:t>
                      </a:r>
                      <a:endParaRPr lang="en-US" sz="1100">
                        <a:solidFill>
                          <a:schemeClr val="tx1"/>
                        </a:solidFill>
                      </a:endParaRP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tc>
                  <a:txBody>
                    <a:bodyPr/>
                    <a:lstStyle/>
                    <a:p>
                      <a:pPr algn="ctr">
                        <a:lnSpc>
                          <a:spcPts val="2640"/>
                        </a:lnSpc>
                        <a:defRPr/>
                      </a:pPr>
                      <a:r>
                        <a:rPr lang="en-US" sz="2200" spc="43" dirty="0">
                          <a:solidFill>
                            <a:schemeClr val="tx1"/>
                          </a:solidFill>
                          <a:latin typeface="Playfair Display"/>
                          <a:ea typeface="Playfair Display"/>
                          <a:cs typeface="Playfair Display"/>
                          <a:sym typeface="Playfair Display"/>
                        </a:rPr>
                        <a:t>BFS/DFS trade-off; negative sampling; most flexible</a:t>
                      </a:r>
                      <a:endParaRPr lang="en-US" sz="1100" dirty="0">
                        <a:solidFill>
                          <a:schemeClr val="tx1"/>
                        </a:solidFill>
                      </a:endParaRPr>
                    </a:p>
                  </a:txBody>
                  <a:tcPr marT="91440" marB="91440" anchor="ctr">
                    <a:lnL w="10160" cap="flat" cmpd="sng" algn="ctr">
                      <a:solidFill>
                        <a:srgbClr val="C8DDF5"/>
                      </a:solidFill>
                      <a:prstDash val="solid"/>
                      <a:round/>
                      <a:headEnd type="none" w="med" len="med"/>
                      <a:tailEnd type="none" w="med" len="med"/>
                    </a:lnL>
                    <a:lnR w="10160" cap="flat" cmpd="sng" algn="ctr">
                      <a:solidFill>
                        <a:srgbClr val="C8DDF5"/>
                      </a:solidFill>
                      <a:prstDash val="solid"/>
                      <a:round/>
                      <a:headEnd type="none" w="med" len="med"/>
                      <a:tailEnd type="none" w="med" len="med"/>
                    </a:lnR>
                    <a:lnT w="10160" cap="flat" cmpd="sng" algn="ctr">
                      <a:solidFill>
                        <a:srgbClr val="C8DDF5"/>
                      </a:solidFill>
                      <a:prstDash val="solid"/>
                      <a:round/>
                      <a:headEnd type="none" w="med" len="med"/>
                      <a:tailEnd type="none" w="med" len="med"/>
                    </a:lnT>
                    <a:lnB w="10160" cap="flat" cmpd="sng" algn="ctr">
                      <a:solidFill>
                        <a:srgbClr val="C8DDF5"/>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grpSp>
        <p:nvGrpSpPr>
          <p:cNvPr id="11" name="Group 11"/>
          <p:cNvGrpSpPr/>
          <p:nvPr/>
        </p:nvGrpSpPr>
        <p:grpSpPr>
          <a:xfrm>
            <a:off x="731520" y="9656064"/>
            <a:ext cx="16824960" cy="548640"/>
            <a:chOff x="0" y="0"/>
            <a:chExt cx="22433280" cy="731520"/>
          </a:xfrm>
        </p:grpSpPr>
        <p:sp>
          <p:nvSpPr>
            <p:cNvPr id="12" name="Freeform 12"/>
            <p:cNvSpPr/>
            <p:nvPr/>
          </p:nvSpPr>
          <p:spPr>
            <a:xfrm>
              <a:off x="0" y="0"/>
              <a:ext cx="22433280" cy="731520"/>
            </a:xfrm>
            <a:custGeom>
              <a:avLst/>
              <a:gdLst/>
              <a:ahLst/>
              <a:cxnLst/>
              <a:rect l="l" t="t" r="r" b="b"/>
              <a:pathLst>
                <a:path w="22433280" h="731520">
                  <a:moveTo>
                    <a:pt x="0" y="0"/>
                  </a:moveTo>
                  <a:lnTo>
                    <a:pt x="22433280" y="0"/>
                  </a:lnTo>
                  <a:lnTo>
                    <a:pt x="22433280" y="731520"/>
                  </a:lnTo>
                  <a:lnTo>
                    <a:pt x="0" y="731520"/>
                  </a:lnTo>
                  <a:close/>
                </a:path>
              </a:pathLst>
            </a:custGeom>
            <a:blipFill>
              <a:blip r:embed="rId3">
                <a:alphaModFix amt="0"/>
              </a:blip>
              <a:stretch>
                <a:fillRect t="-547541" b="-547541"/>
              </a:stretch>
            </a:blipFill>
          </p:spPr>
          <p:txBody>
            <a:bodyPr/>
            <a:lstStyle/>
            <a:p>
              <a:endParaRPr lang="en-IN"/>
            </a:p>
          </p:txBody>
        </p:sp>
        <p:sp>
          <p:nvSpPr>
            <p:cNvPr id="13" name="TextBox 13"/>
            <p:cNvSpPr txBox="1"/>
            <p:nvPr/>
          </p:nvSpPr>
          <p:spPr>
            <a:xfrm>
              <a:off x="0" y="0"/>
              <a:ext cx="22433280" cy="731520"/>
            </a:xfrm>
            <a:prstGeom prst="rect">
              <a:avLst/>
            </a:prstGeom>
          </p:spPr>
          <p:txBody>
            <a:bodyPr lIns="0" tIns="0" rIns="0" bIns="0" rtlCol="0" anchor="ctr"/>
            <a:lstStyle/>
            <a:p>
              <a:pPr algn="ctr">
                <a:lnSpc>
                  <a:spcPts val="2640"/>
                </a:lnSpc>
              </a:pPr>
              <a:r>
                <a:rPr lang="en-US" sz="2200" spc="43">
                  <a:solidFill>
                    <a:srgbClr val="FFFFFF"/>
                  </a:solidFill>
                  <a:latin typeface="Playfair Display"/>
                  <a:ea typeface="Playfair Display"/>
                  <a:cs typeface="Playfair Display"/>
                  <a:sym typeface="Playfair Display"/>
                </a:rPr>
                <a:t>Green = random walk methods  |  Blue = factorization methods</a:t>
              </a: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253439"/>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0" y="0"/>
              <a:ext cx="24417910" cy="1789557"/>
            </a:xfrm>
            <a:custGeom>
              <a:avLst/>
              <a:gdLst/>
              <a:ahLst/>
              <a:cxnLst/>
              <a:rect l="l" t="t" r="r" b="b"/>
              <a:pathLst>
                <a:path w="24417910" h="1789557">
                  <a:moveTo>
                    <a:pt x="0" y="0"/>
                  </a:moveTo>
                  <a:lnTo>
                    <a:pt x="24417910" y="0"/>
                  </a:lnTo>
                  <a:lnTo>
                    <a:pt x="24417910" y="1789557"/>
                  </a:lnTo>
                  <a:lnTo>
                    <a:pt x="0" y="1789557"/>
                  </a:lnTo>
                  <a:close/>
                </a:path>
              </a:pathLst>
            </a:custGeom>
            <a:solidFill>
              <a:srgbClr val="FFFFFF"/>
            </a:solidFill>
            <a:ln w="25400" cap="sq">
              <a:solidFill>
                <a:srgbClr val="1A3461"/>
              </a:solidFill>
              <a:prstDash val="solid"/>
              <a:miter/>
            </a:ln>
          </p:spPr>
          <p:txBody>
            <a:bodyPr/>
            <a:lstStyle/>
            <a:p>
              <a:endParaRPr lang="en-IN"/>
            </a:p>
          </p:txBody>
        </p:sp>
      </p:grpSp>
      <p:grpSp>
        <p:nvGrpSpPr>
          <p:cNvPr id="4" name="Group 4"/>
          <p:cNvGrpSpPr/>
          <p:nvPr/>
        </p:nvGrpSpPr>
        <p:grpSpPr>
          <a:xfrm>
            <a:off x="731520" y="0"/>
            <a:ext cx="16824960" cy="1316736"/>
            <a:chOff x="0" y="0"/>
            <a:chExt cx="22433280" cy="1755648"/>
          </a:xfrm>
        </p:grpSpPr>
        <p:sp>
          <p:nvSpPr>
            <p:cNvPr id="5" name="Freeform 5"/>
            <p:cNvSpPr/>
            <p:nvPr/>
          </p:nvSpPr>
          <p:spPr>
            <a:xfrm>
              <a:off x="0" y="0"/>
              <a:ext cx="22433280" cy="1755648"/>
            </a:xfrm>
            <a:custGeom>
              <a:avLst/>
              <a:gdLst/>
              <a:ahLst/>
              <a:cxnLst/>
              <a:rect l="l" t="t" r="r" b="b"/>
              <a:pathLst>
                <a:path w="22433280" h="1755648">
                  <a:moveTo>
                    <a:pt x="0" y="0"/>
                  </a:moveTo>
                  <a:lnTo>
                    <a:pt x="22433280" y="0"/>
                  </a:lnTo>
                  <a:lnTo>
                    <a:pt x="22433280" y="1755648"/>
                  </a:lnTo>
                  <a:lnTo>
                    <a:pt x="0" y="1755648"/>
                  </a:lnTo>
                  <a:close/>
                </a:path>
              </a:pathLst>
            </a:custGeom>
            <a:blipFill>
              <a:blip r:embed="rId3">
                <a:alphaModFix amt="0"/>
              </a:blip>
              <a:stretch>
                <a:fillRect t="-198975" b="-198975"/>
              </a:stretch>
            </a:blipFill>
          </p:spPr>
          <p:txBody>
            <a:bodyPr/>
            <a:lstStyle/>
            <a:p>
              <a:endParaRPr lang="en-IN"/>
            </a:p>
          </p:txBody>
        </p:sp>
        <p:sp>
          <p:nvSpPr>
            <p:cNvPr id="6" name="TextBox 6"/>
            <p:cNvSpPr txBox="1"/>
            <p:nvPr/>
          </p:nvSpPr>
          <p:spPr>
            <a:xfrm>
              <a:off x="0" y="-9525"/>
              <a:ext cx="22433280" cy="1765173"/>
            </a:xfrm>
            <a:prstGeom prst="rect">
              <a:avLst/>
            </a:prstGeom>
          </p:spPr>
          <p:txBody>
            <a:bodyPr lIns="0" tIns="0" rIns="0" bIns="0" rtlCol="0" anchor="ctr"/>
            <a:lstStyle/>
            <a:p>
              <a:pPr algn="l">
                <a:lnSpc>
                  <a:spcPts val="4800"/>
                </a:lnSpc>
              </a:pPr>
              <a:r>
                <a:rPr lang="en-US" sz="4000" spc="560">
                  <a:solidFill>
                    <a:srgbClr val="253439"/>
                  </a:solidFill>
                  <a:latin typeface="Hammersmith One"/>
                  <a:ea typeface="Hammersmith One"/>
                  <a:cs typeface="Hammersmith One"/>
                  <a:sym typeface="Hammersmith One"/>
                </a:rPr>
                <a:t>KEY EQUATIONS — QUICK REFERENCE</a:t>
              </a:r>
            </a:p>
          </p:txBody>
        </p:sp>
      </p:grpSp>
      <p:grpSp>
        <p:nvGrpSpPr>
          <p:cNvPr id="7" name="Group 7"/>
          <p:cNvGrpSpPr/>
          <p:nvPr/>
        </p:nvGrpSpPr>
        <p:grpSpPr>
          <a:xfrm>
            <a:off x="731520" y="73152"/>
            <a:ext cx="16459200" cy="402336"/>
            <a:chOff x="0" y="0"/>
            <a:chExt cx="21945600" cy="536448"/>
          </a:xfrm>
        </p:grpSpPr>
        <p:sp>
          <p:nvSpPr>
            <p:cNvPr id="8" name="Freeform 8"/>
            <p:cNvSpPr/>
            <p:nvPr/>
          </p:nvSpPr>
          <p:spPr>
            <a:xfrm>
              <a:off x="0" y="0"/>
              <a:ext cx="21945600" cy="536448"/>
            </a:xfrm>
            <a:custGeom>
              <a:avLst/>
              <a:gdLst/>
              <a:ahLst/>
              <a:cxnLst/>
              <a:rect l="l" t="t" r="r" b="b"/>
              <a:pathLst>
                <a:path w="21945600" h="536448">
                  <a:moveTo>
                    <a:pt x="0" y="0"/>
                  </a:moveTo>
                  <a:lnTo>
                    <a:pt x="21945600" y="0"/>
                  </a:lnTo>
                  <a:lnTo>
                    <a:pt x="21945600" y="536448"/>
                  </a:lnTo>
                  <a:lnTo>
                    <a:pt x="0" y="536448"/>
                  </a:lnTo>
                  <a:close/>
                </a:path>
              </a:pathLst>
            </a:custGeom>
            <a:blipFill>
              <a:blip r:embed="rId3">
                <a:alphaModFix amt="0"/>
              </a:blip>
              <a:stretch>
                <a:fillRect t="-747115" b="-747115"/>
              </a:stretch>
            </a:blipFill>
          </p:spPr>
          <p:txBody>
            <a:bodyPr/>
            <a:lstStyle/>
            <a:p>
              <a:endParaRPr lang="en-IN"/>
            </a:p>
          </p:txBody>
        </p:sp>
        <p:sp>
          <p:nvSpPr>
            <p:cNvPr id="9" name="TextBox 9"/>
            <p:cNvSpPr txBox="1"/>
            <p:nvPr/>
          </p:nvSpPr>
          <p:spPr>
            <a:xfrm>
              <a:off x="0" y="0"/>
              <a:ext cx="21945600" cy="536448"/>
            </a:xfrm>
            <a:prstGeom prst="rect">
              <a:avLst/>
            </a:prstGeom>
          </p:spPr>
          <p:txBody>
            <a:bodyPr lIns="0" tIns="0" rIns="0" bIns="0" rtlCol="0" anchor="ctr"/>
            <a:lstStyle/>
            <a:p>
              <a:pPr algn="l">
                <a:lnSpc>
                  <a:spcPts val="2160"/>
                </a:lnSpc>
              </a:pPr>
              <a:r>
                <a:rPr lang="en-US" sz="1800" spc="36">
                  <a:solidFill>
                    <a:srgbClr val="B29E84"/>
                  </a:solidFill>
                  <a:latin typeface="Playfair Display"/>
                  <a:ea typeface="Playfair Display"/>
                  <a:cs typeface="Playfair Display"/>
                  <a:sym typeface="Playfair Display"/>
                </a:rPr>
                <a:t>REFERENCE</a:t>
              </a:r>
            </a:p>
          </p:txBody>
        </p:sp>
      </p:grpSp>
      <p:grpSp>
        <p:nvGrpSpPr>
          <p:cNvPr id="10" name="Group 10"/>
          <p:cNvGrpSpPr/>
          <p:nvPr/>
        </p:nvGrpSpPr>
        <p:grpSpPr>
          <a:xfrm>
            <a:off x="535943" y="1541783"/>
            <a:ext cx="8346443" cy="1451867"/>
            <a:chOff x="0" y="0"/>
            <a:chExt cx="11128591" cy="1935823"/>
          </a:xfrm>
        </p:grpSpPr>
        <p:sp>
          <p:nvSpPr>
            <p:cNvPr id="11" name="Freeform 11"/>
            <p:cNvSpPr/>
            <p:nvPr/>
          </p:nvSpPr>
          <p:spPr>
            <a:xfrm>
              <a:off x="0" y="0"/>
              <a:ext cx="11128501" cy="1935734"/>
            </a:xfrm>
            <a:custGeom>
              <a:avLst/>
              <a:gdLst/>
              <a:ahLst/>
              <a:cxnLst/>
              <a:rect l="l" t="t" r="r" b="b"/>
              <a:pathLst>
                <a:path w="11128501" h="1935734">
                  <a:moveTo>
                    <a:pt x="0" y="248158"/>
                  </a:moveTo>
                  <a:cubicBezTo>
                    <a:pt x="0" y="111125"/>
                    <a:pt x="111125" y="0"/>
                    <a:pt x="248158" y="0"/>
                  </a:cubicBezTo>
                  <a:lnTo>
                    <a:pt x="10880344" y="0"/>
                  </a:lnTo>
                  <a:cubicBezTo>
                    <a:pt x="11017376" y="0"/>
                    <a:pt x="11128501" y="111125"/>
                    <a:pt x="11128501" y="248158"/>
                  </a:cubicBezTo>
                  <a:lnTo>
                    <a:pt x="11128501" y="1687576"/>
                  </a:lnTo>
                  <a:cubicBezTo>
                    <a:pt x="11128501" y="1824609"/>
                    <a:pt x="11017376" y="1935734"/>
                    <a:pt x="10880344" y="1935734"/>
                  </a:cubicBezTo>
                  <a:lnTo>
                    <a:pt x="248158" y="1935734"/>
                  </a:lnTo>
                  <a:cubicBezTo>
                    <a:pt x="111125" y="1935861"/>
                    <a:pt x="0" y="1824736"/>
                    <a:pt x="0" y="1687576"/>
                  </a:cubicBezTo>
                  <a:close/>
                </a:path>
              </a:pathLst>
            </a:custGeom>
            <a:solidFill>
              <a:srgbClr val="FFFFFF"/>
            </a:solidFill>
            <a:ln w="25400" cap="sq">
              <a:solidFill>
                <a:srgbClr val="C8DDF5"/>
              </a:solidFill>
              <a:prstDash val="solid"/>
              <a:miter/>
            </a:ln>
          </p:spPr>
          <p:txBody>
            <a:bodyPr/>
            <a:lstStyle/>
            <a:p>
              <a:endParaRPr lang="en-IN"/>
            </a:p>
          </p:txBody>
        </p:sp>
      </p:grpSp>
      <p:grpSp>
        <p:nvGrpSpPr>
          <p:cNvPr id="12" name="Group 12"/>
          <p:cNvGrpSpPr/>
          <p:nvPr/>
        </p:nvGrpSpPr>
        <p:grpSpPr>
          <a:xfrm>
            <a:off x="768096" y="1609344"/>
            <a:ext cx="7863840" cy="512064"/>
            <a:chOff x="0" y="0"/>
            <a:chExt cx="10485120" cy="682752"/>
          </a:xfrm>
        </p:grpSpPr>
        <p:sp>
          <p:nvSpPr>
            <p:cNvPr id="13" name="Freeform 13"/>
            <p:cNvSpPr/>
            <p:nvPr/>
          </p:nvSpPr>
          <p:spPr>
            <a:xfrm>
              <a:off x="0" y="0"/>
              <a:ext cx="10485120" cy="682752"/>
            </a:xfrm>
            <a:custGeom>
              <a:avLst/>
              <a:gdLst/>
              <a:ahLst/>
              <a:cxnLst/>
              <a:rect l="l" t="t" r="r" b="b"/>
              <a:pathLst>
                <a:path w="10485120" h="682752">
                  <a:moveTo>
                    <a:pt x="0" y="0"/>
                  </a:moveTo>
                  <a:lnTo>
                    <a:pt x="10485120" y="0"/>
                  </a:lnTo>
                  <a:lnTo>
                    <a:pt x="10485120" y="682752"/>
                  </a:lnTo>
                  <a:lnTo>
                    <a:pt x="0" y="682752"/>
                  </a:lnTo>
                  <a:close/>
                </a:path>
              </a:pathLst>
            </a:custGeom>
            <a:blipFill>
              <a:blip r:embed="rId3">
                <a:alphaModFix amt="0"/>
              </a:blip>
              <a:stretch>
                <a:fillRect t="-249234" b="-249234"/>
              </a:stretch>
            </a:blipFill>
          </p:spPr>
          <p:txBody>
            <a:bodyPr/>
            <a:lstStyle/>
            <a:p>
              <a:endParaRPr lang="en-IN"/>
            </a:p>
          </p:txBody>
        </p:sp>
        <p:sp>
          <p:nvSpPr>
            <p:cNvPr id="14" name="TextBox 14"/>
            <p:cNvSpPr txBox="1"/>
            <p:nvPr/>
          </p:nvSpPr>
          <p:spPr>
            <a:xfrm>
              <a:off x="0" y="0"/>
              <a:ext cx="10485120" cy="682752"/>
            </a:xfrm>
            <a:prstGeom prst="rect">
              <a:avLst/>
            </a:prstGeom>
          </p:spPr>
          <p:txBody>
            <a:bodyPr lIns="0" tIns="0" rIns="0" bIns="0" rtlCol="0" anchor="ctr"/>
            <a:lstStyle/>
            <a:p>
              <a:pPr algn="l">
                <a:lnSpc>
                  <a:spcPts val="2400"/>
                </a:lnSpc>
              </a:pPr>
              <a:r>
                <a:rPr lang="en-US" sz="2000" i="1" spc="100">
                  <a:solidFill>
                    <a:srgbClr val="253439"/>
                  </a:solidFill>
                  <a:latin typeface="Playfair Display Italics"/>
                  <a:ea typeface="Playfair Display Italics"/>
                  <a:cs typeface="Playfair Display Italics"/>
                  <a:sym typeface="Playfair Display Italics"/>
                </a:rPr>
                <a:t>Encoder (Shallow Embedding)</a:t>
              </a:r>
            </a:p>
          </p:txBody>
        </p:sp>
      </p:grpSp>
      <p:grpSp>
        <p:nvGrpSpPr>
          <p:cNvPr id="15" name="Group 15"/>
          <p:cNvGrpSpPr/>
          <p:nvPr/>
        </p:nvGrpSpPr>
        <p:grpSpPr>
          <a:xfrm>
            <a:off x="768096" y="2139696"/>
            <a:ext cx="7863840" cy="731520"/>
            <a:chOff x="0" y="0"/>
            <a:chExt cx="10485120" cy="975360"/>
          </a:xfrm>
        </p:grpSpPr>
        <p:sp>
          <p:nvSpPr>
            <p:cNvPr id="16" name="Freeform 16"/>
            <p:cNvSpPr/>
            <p:nvPr/>
          </p:nvSpPr>
          <p:spPr>
            <a:xfrm>
              <a:off x="0" y="0"/>
              <a:ext cx="10485120" cy="975360"/>
            </a:xfrm>
            <a:custGeom>
              <a:avLst/>
              <a:gdLst/>
              <a:ahLst/>
              <a:cxnLst/>
              <a:rect l="l" t="t" r="r" b="b"/>
              <a:pathLst>
                <a:path w="10485120" h="975360">
                  <a:moveTo>
                    <a:pt x="0" y="0"/>
                  </a:moveTo>
                  <a:lnTo>
                    <a:pt x="10485120" y="0"/>
                  </a:lnTo>
                  <a:lnTo>
                    <a:pt x="10485120" y="975360"/>
                  </a:lnTo>
                  <a:lnTo>
                    <a:pt x="0" y="975360"/>
                  </a:lnTo>
                  <a:close/>
                </a:path>
              </a:pathLst>
            </a:custGeom>
            <a:blipFill>
              <a:blip r:embed="rId3">
                <a:alphaModFix amt="0"/>
              </a:blip>
              <a:stretch>
                <a:fillRect t="-159464" b="-159464"/>
              </a:stretch>
            </a:blipFill>
          </p:spPr>
          <p:txBody>
            <a:bodyPr/>
            <a:lstStyle/>
            <a:p>
              <a:endParaRPr lang="en-IN"/>
            </a:p>
          </p:txBody>
        </p:sp>
        <p:sp>
          <p:nvSpPr>
            <p:cNvPr id="17" name="TextBox 17"/>
            <p:cNvSpPr txBox="1"/>
            <p:nvPr/>
          </p:nvSpPr>
          <p:spPr>
            <a:xfrm>
              <a:off x="0" y="0"/>
              <a:ext cx="10485120" cy="975360"/>
            </a:xfrm>
            <a:prstGeom prst="rect">
              <a:avLst/>
            </a:prstGeom>
          </p:spPr>
          <p:txBody>
            <a:bodyPr lIns="0" tIns="0" rIns="0" bIns="0" rtlCol="0" anchor="ctr"/>
            <a:lstStyle/>
            <a:p>
              <a:pPr algn="l">
                <a:lnSpc>
                  <a:spcPts val="2640"/>
                </a:lnSpc>
              </a:pPr>
              <a:r>
                <a:rPr lang="en-US" sz="2200" i="1" spc="109">
                  <a:solidFill>
                    <a:srgbClr val="253439"/>
                  </a:solidFill>
                  <a:latin typeface="Playfair Display Italics"/>
                  <a:ea typeface="Playfair Display Italics"/>
                  <a:cs typeface="Playfair Display Italics"/>
                  <a:sym typeface="Playfair Display Italics"/>
                </a:rPr>
                <a:t>ENC(v) = Z[v]     Z ∈ ℝ|V|×d</a:t>
              </a:r>
            </a:p>
          </p:txBody>
        </p:sp>
      </p:grpSp>
      <p:grpSp>
        <p:nvGrpSpPr>
          <p:cNvPr id="18" name="Group 18"/>
          <p:cNvGrpSpPr/>
          <p:nvPr/>
        </p:nvGrpSpPr>
        <p:grpSpPr>
          <a:xfrm>
            <a:off x="535943" y="3151127"/>
            <a:ext cx="8346443" cy="1451867"/>
            <a:chOff x="0" y="0"/>
            <a:chExt cx="11128591" cy="1935823"/>
          </a:xfrm>
        </p:grpSpPr>
        <p:sp>
          <p:nvSpPr>
            <p:cNvPr id="19" name="Freeform 19"/>
            <p:cNvSpPr/>
            <p:nvPr/>
          </p:nvSpPr>
          <p:spPr>
            <a:xfrm>
              <a:off x="0" y="0"/>
              <a:ext cx="11128501" cy="1935734"/>
            </a:xfrm>
            <a:custGeom>
              <a:avLst/>
              <a:gdLst/>
              <a:ahLst/>
              <a:cxnLst/>
              <a:rect l="l" t="t" r="r" b="b"/>
              <a:pathLst>
                <a:path w="11128501" h="1935734">
                  <a:moveTo>
                    <a:pt x="0" y="248158"/>
                  </a:moveTo>
                  <a:cubicBezTo>
                    <a:pt x="0" y="111125"/>
                    <a:pt x="111125" y="0"/>
                    <a:pt x="248158" y="0"/>
                  </a:cubicBezTo>
                  <a:lnTo>
                    <a:pt x="10880344" y="0"/>
                  </a:lnTo>
                  <a:cubicBezTo>
                    <a:pt x="11017376" y="0"/>
                    <a:pt x="11128501" y="111125"/>
                    <a:pt x="11128501" y="248158"/>
                  </a:cubicBezTo>
                  <a:lnTo>
                    <a:pt x="11128501" y="1687576"/>
                  </a:lnTo>
                  <a:cubicBezTo>
                    <a:pt x="11128501" y="1824609"/>
                    <a:pt x="11017376" y="1935734"/>
                    <a:pt x="10880344" y="1935734"/>
                  </a:cubicBezTo>
                  <a:lnTo>
                    <a:pt x="248158" y="1935734"/>
                  </a:lnTo>
                  <a:cubicBezTo>
                    <a:pt x="111125" y="1935861"/>
                    <a:pt x="0" y="1824736"/>
                    <a:pt x="0" y="1687576"/>
                  </a:cubicBezTo>
                  <a:close/>
                </a:path>
              </a:pathLst>
            </a:custGeom>
            <a:solidFill>
              <a:srgbClr val="FFFFFF"/>
            </a:solidFill>
            <a:ln w="25400" cap="sq">
              <a:solidFill>
                <a:srgbClr val="C8DDF5"/>
              </a:solidFill>
              <a:prstDash val="solid"/>
              <a:miter/>
            </a:ln>
          </p:spPr>
          <p:txBody>
            <a:bodyPr/>
            <a:lstStyle/>
            <a:p>
              <a:endParaRPr lang="en-IN"/>
            </a:p>
          </p:txBody>
        </p:sp>
      </p:grpSp>
      <p:grpSp>
        <p:nvGrpSpPr>
          <p:cNvPr id="20" name="Group 20"/>
          <p:cNvGrpSpPr/>
          <p:nvPr/>
        </p:nvGrpSpPr>
        <p:grpSpPr>
          <a:xfrm>
            <a:off x="768096" y="3218688"/>
            <a:ext cx="7863840" cy="512064"/>
            <a:chOff x="0" y="0"/>
            <a:chExt cx="10485120" cy="682752"/>
          </a:xfrm>
        </p:grpSpPr>
        <p:sp>
          <p:nvSpPr>
            <p:cNvPr id="21" name="Freeform 21"/>
            <p:cNvSpPr/>
            <p:nvPr/>
          </p:nvSpPr>
          <p:spPr>
            <a:xfrm>
              <a:off x="0" y="0"/>
              <a:ext cx="10485120" cy="682752"/>
            </a:xfrm>
            <a:custGeom>
              <a:avLst/>
              <a:gdLst/>
              <a:ahLst/>
              <a:cxnLst/>
              <a:rect l="l" t="t" r="r" b="b"/>
              <a:pathLst>
                <a:path w="10485120" h="682752">
                  <a:moveTo>
                    <a:pt x="0" y="0"/>
                  </a:moveTo>
                  <a:lnTo>
                    <a:pt x="10485120" y="0"/>
                  </a:lnTo>
                  <a:lnTo>
                    <a:pt x="10485120" y="682752"/>
                  </a:lnTo>
                  <a:lnTo>
                    <a:pt x="0" y="682752"/>
                  </a:lnTo>
                  <a:close/>
                </a:path>
              </a:pathLst>
            </a:custGeom>
            <a:blipFill>
              <a:blip r:embed="rId3">
                <a:alphaModFix amt="0"/>
              </a:blip>
              <a:stretch>
                <a:fillRect t="-249234" b="-249234"/>
              </a:stretch>
            </a:blipFill>
          </p:spPr>
          <p:txBody>
            <a:bodyPr/>
            <a:lstStyle/>
            <a:p>
              <a:endParaRPr lang="en-IN"/>
            </a:p>
          </p:txBody>
        </p:sp>
        <p:sp>
          <p:nvSpPr>
            <p:cNvPr id="22" name="TextBox 22"/>
            <p:cNvSpPr txBox="1"/>
            <p:nvPr/>
          </p:nvSpPr>
          <p:spPr>
            <a:xfrm>
              <a:off x="0" y="0"/>
              <a:ext cx="10485120" cy="682752"/>
            </a:xfrm>
            <a:prstGeom prst="rect">
              <a:avLst/>
            </a:prstGeom>
          </p:spPr>
          <p:txBody>
            <a:bodyPr lIns="0" tIns="0" rIns="0" bIns="0" rtlCol="0" anchor="ctr"/>
            <a:lstStyle/>
            <a:p>
              <a:pPr algn="l">
                <a:lnSpc>
                  <a:spcPts val="2400"/>
                </a:lnSpc>
              </a:pPr>
              <a:r>
                <a:rPr lang="en-US" sz="2000" i="1" spc="100">
                  <a:solidFill>
                    <a:srgbClr val="253439"/>
                  </a:solidFill>
                  <a:latin typeface="Playfair Display Italics"/>
                  <a:ea typeface="Playfair Display Italics"/>
                  <a:cs typeface="Playfair Display Italics"/>
                  <a:sym typeface="Playfair Display Italics"/>
                </a:rPr>
                <a:t>Decoder (Inner-Product)</a:t>
              </a:r>
            </a:p>
          </p:txBody>
        </p:sp>
      </p:grpSp>
      <p:grpSp>
        <p:nvGrpSpPr>
          <p:cNvPr id="23" name="Group 23"/>
          <p:cNvGrpSpPr/>
          <p:nvPr/>
        </p:nvGrpSpPr>
        <p:grpSpPr>
          <a:xfrm>
            <a:off x="768096" y="3749040"/>
            <a:ext cx="7863840" cy="731520"/>
            <a:chOff x="0" y="0"/>
            <a:chExt cx="10485120" cy="975360"/>
          </a:xfrm>
        </p:grpSpPr>
        <p:sp>
          <p:nvSpPr>
            <p:cNvPr id="24" name="Freeform 24"/>
            <p:cNvSpPr/>
            <p:nvPr/>
          </p:nvSpPr>
          <p:spPr>
            <a:xfrm>
              <a:off x="0" y="0"/>
              <a:ext cx="10485120" cy="975360"/>
            </a:xfrm>
            <a:custGeom>
              <a:avLst/>
              <a:gdLst/>
              <a:ahLst/>
              <a:cxnLst/>
              <a:rect l="l" t="t" r="r" b="b"/>
              <a:pathLst>
                <a:path w="10485120" h="975360">
                  <a:moveTo>
                    <a:pt x="0" y="0"/>
                  </a:moveTo>
                  <a:lnTo>
                    <a:pt x="10485120" y="0"/>
                  </a:lnTo>
                  <a:lnTo>
                    <a:pt x="10485120" y="975360"/>
                  </a:lnTo>
                  <a:lnTo>
                    <a:pt x="0" y="975360"/>
                  </a:lnTo>
                  <a:close/>
                </a:path>
              </a:pathLst>
            </a:custGeom>
            <a:blipFill>
              <a:blip r:embed="rId3">
                <a:alphaModFix amt="0"/>
              </a:blip>
              <a:stretch>
                <a:fillRect t="-159464" b="-159464"/>
              </a:stretch>
            </a:blipFill>
          </p:spPr>
          <p:txBody>
            <a:bodyPr/>
            <a:lstStyle/>
            <a:p>
              <a:endParaRPr lang="en-IN"/>
            </a:p>
          </p:txBody>
        </p:sp>
        <p:sp>
          <p:nvSpPr>
            <p:cNvPr id="25" name="TextBox 25"/>
            <p:cNvSpPr txBox="1"/>
            <p:nvPr/>
          </p:nvSpPr>
          <p:spPr>
            <a:xfrm>
              <a:off x="0" y="0"/>
              <a:ext cx="10485120" cy="975360"/>
            </a:xfrm>
            <a:prstGeom prst="rect">
              <a:avLst/>
            </a:prstGeom>
          </p:spPr>
          <p:txBody>
            <a:bodyPr lIns="0" tIns="0" rIns="0" bIns="0" rtlCol="0" anchor="ctr"/>
            <a:lstStyle/>
            <a:p>
              <a:pPr algn="l">
                <a:lnSpc>
                  <a:spcPts val="2640"/>
                </a:lnSpc>
              </a:pPr>
              <a:r>
                <a:rPr lang="en-US" sz="2200" i="1" spc="109">
                  <a:solidFill>
                    <a:srgbClr val="253439"/>
                  </a:solidFill>
                  <a:latin typeface="Playfair Display Italics"/>
                  <a:ea typeface="Playfair Display Italics"/>
                  <a:cs typeface="Playfair Display Italics"/>
                  <a:sym typeface="Playfair Display Italics"/>
                </a:rPr>
                <a:t>DEC(zᵤ, z_v) = zᵤᵀ z_v</a:t>
              </a:r>
            </a:p>
          </p:txBody>
        </p:sp>
      </p:grpSp>
      <p:grpSp>
        <p:nvGrpSpPr>
          <p:cNvPr id="26" name="Group 26"/>
          <p:cNvGrpSpPr/>
          <p:nvPr/>
        </p:nvGrpSpPr>
        <p:grpSpPr>
          <a:xfrm>
            <a:off x="535943" y="4760471"/>
            <a:ext cx="8346443" cy="1451867"/>
            <a:chOff x="0" y="0"/>
            <a:chExt cx="11128591" cy="1935823"/>
          </a:xfrm>
        </p:grpSpPr>
        <p:sp>
          <p:nvSpPr>
            <p:cNvPr id="27" name="Freeform 27"/>
            <p:cNvSpPr/>
            <p:nvPr/>
          </p:nvSpPr>
          <p:spPr>
            <a:xfrm>
              <a:off x="0" y="0"/>
              <a:ext cx="11128501" cy="1935734"/>
            </a:xfrm>
            <a:custGeom>
              <a:avLst/>
              <a:gdLst/>
              <a:ahLst/>
              <a:cxnLst/>
              <a:rect l="l" t="t" r="r" b="b"/>
              <a:pathLst>
                <a:path w="11128501" h="1935734">
                  <a:moveTo>
                    <a:pt x="0" y="248158"/>
                  </a:moveTo>
                  <a:cubicBezTo>
                    <a:pt x="0" y="111125"/>
                    <a:pt x="111125" y="0"/>
                    <a:pt x="248158" y="0"/>
                  </a:cubicBezTo>
                  <a:lnTo>
                    <a:pt x="10880344" y="0"/>
                  </a:lnTo>
                  <a:cubicBezTo>
                    <a:pt x="11017376" y="0"/>
                    <a:pt x="11128501" y="111125"/>
                    <a:pt x="11128501" y="248158"/>
                  </a:cubicBezTo>
                  <a:lnTo>
                    <a:pt x="11128501" y="1687576"/>
                  </a:lnTo>
                  <a:cubicBezTo>
                    <a:pt x="11128501" y="1824609"/>
                    <a:pt x="11017376" y="1935734"/>
                    <a:pt x="10880344" y="1935734"/>
                  </a:cubicBezTo>
                  <a:lnTo>
                    <a:pt x="248158" y="1935734"/>
                  </a:lnTo>
                  <a:cubicBezTo>
                    <a:pt x="111125" y="1935861"/>
                    <a:pt x="0" y="1824736"/>
                    <a:pt x="0" y="1687576"/>
                  </a:cubicBezTo>
                  <a:close/>
                </a:path>
              </a:pathLst>
            </a:custGeom>
            <a:solidFill>
              <a:srgbClr val="FFFFFF"/>
            </a:solidFill>
            <a:ln w="25400" cap="sq">
              <a:solidFill>
                <a:srgbClr val="C8DDF5"/>
              </a:solidFill>
              <a:prstDash val="solid"/>
              <a:miter/>
            </a:ln>
          </p:spPr>
          <p:txBody>
            <a:bodyPr/>
            <a:lstStyle/>
            <a:p>
              <a:endParaRPr lang="en-IN"/>
            </a:p>
          </p:txBody>
        </p:sp>
      </p:grpSp>
      <p:grpSp>
        <p:nvGrpSpPr>
          <p:cNvPr id="28" name="Group 28"/>
          <p:cNvGrpSpPr/>
          <p:nvPr/>
        </p:nvGrpSpPr>
        <p:grpSpPr>
          <a:xfrm>
            <a:off x="768096" y="4828032"/>
            <a:ext cx="7863840" cy="512064"/>
            <a:chOff x="0" y="0"/>
            <a:chExt cx="10485120" cy="682752"/>
          </a:xfrm>
        </p:grpSpPr>
        <p:sp>
          <p:nvSpPr>
            <p:cNvPr id="29" name="Freeform 29"/>
            <p:cNvSpPr/>
            <p:nvPr/>
          </p:nvSpPr>
          <p:spPr>
            <a:xfrm>
              <a:off x="0" y="0"/>
              <a:ext cx="10485120" cy="682752"/>
            </a:xfrm>
            <a:custGeom>
              <a:avLst/>
              <a:gdLst/>
              <a:ahLst/>
              <a:cxnLst/>
              <a:rect l="l" t="t" r="r" b="b"/>
              <a:pathLst>
                <a:path w="10485120" h="682752">
                  <a:moveTo>
                    <a:pt x="0" y="0"/>
                  </a:moveTo>
                  <a:lnTo>
                    <a:pt x="10485120" y="0"/>
                  </a:lnTo>
                  <a:lnTo>
                    <a:pt x="10485120" y="682752"/>
                  </a:lnTo>
                  <a:lnTo>
                    <a:pt x="0" y="682752"/>
                  </a:lnTo>
                  <a:close/>
                </a:path>
              </a:pathLst>
            </a:custGeom>
            <a:blipFill>
              <a:blip r:embed="rId3">
                <a:alphaModFix amt="0"/>
              </a:blip>
              <a:stretch>
                <a:fillRect t="-249234" b="-249234"/>
              </a:stretch>
            </a:blipFill>
          </p:spPr>
          <p:txBody>
            <a:bodyPr/>
            <a:lstStyle/>
            <a:p>
              <a:endParaRPr lang="en-IN"/>
            </a:p>
          </p:txBody>
        </p:sp>
        <p:sp>
          <p:nvSpPr>
            <p:cNvPr id="30" name="TextBox 30"/>
            <p:cNvSpPr txBox="1"/>
            <p:nvPr/>
          </p:nvSpPr>
          <p:spPr>
            <a:xfrm>
              <a:off x="0" y="0"/>
              <a:ext cx="10485120" cy="682752"/>
            </a:xfrm>
            <a:prstGeom prst="rect">
              <a:avLst/>
            </a:prstGeom>
          </p:spPr>
          <p:txBody>
            <a:bodyPr lIns="0" tIns="0" rIns="0" bIns="0" rtlCol="0" anchor="ctr"/>
            <a:lstStyle/>
            <a:p>
              <a:pPr algn="l">
                <a:lnSpc>
                  <a:spcPts val="2400"/>
                </a:lnSpc>
              </a:pPr>
              <a:r>
                <a:rPr lang="en-US" sz="2000" i="1" spc="100">
                  <a:solidFill>
                    <a:srgbClr val="253439"/>
                  </a:solidFill>
                  <a:latin typeface="Playfair Display Italics"/>
                  <a:ea typeface="Playfair Display Italics"/>
                  <a:cs typeface="Playfair Display Italics"/>
                  <a:sym typeface="Playfair Display Italics"/>
                </a:rPr>
                <a:t>Reconstruction Goal</a:t>
              </a:r>
            </a:p>
          </p:txBody>
        </p:sp>
      </p:grpSp>
      <p:grpSp>
        <p:nvGrpSpPr>
          <p:cNvPr id="31" name="Group 31"/>
          <p:cNvGrpSpPr/>
          <p:nvPr/>
        </p:nvGrpSpPr>
        <p:grpSpPr>
          <a:xfrm>
            <a:off x="768096" y="5358384"/>
            <a:ext cx="7863840" cy="731520"/>
            <a:chOff x="0" y="0"/>
            <a:chExt cx="10485120" cy="975360"/>
          </a:xfrm>
        </p:grpSpPr>
        <p:sp>
          <p:nvSpPr>
            <p:cNvPr id="32" name="Freeform 32"/>
            <p:cNvSpPr/>
            <p:nvPr/>
          </p:nvSpPr>
          <p:spPr>
            <a:xfrm>
              <a:off x="0" y="0"/>
              <a:ext cx="10485120" cy="975360"/>
            </a:xfrm>
            <a:custGeom>
              <a:avLst/>
              <a:gdLst/>
              <a:ahLst/>
              <a:cxnLst/>
              <a:rect l="l" t="t" r="r" b="b"/>
              <a:pathLst>
                <a:path w="10485120" h="975360">
                  <a:moveTo>
                    <a:pt x="0" y="0"/>
                  </a:moveTo>
                  <a:lnTo>
                    <a:pt x="10485120" y="0"/>
                  </a:lnTo>
                  <a:lnTo>
                    <a:pt x="10485120" y="975360"/>
                  </a:lnTo>
                  <a:lnTo>
                    <a:pt x="0" y="975360"/>
                  </a:lnTo>
                  <a:close/>
                </a:path>
              </a:pathLst>
            </a:custGeom>
            <a:blipFill>
              <a:blip r:embed="rId3">
                <a:alphaModFix amt="0"/>
              </a:blip>
              <a:stretch>
                <a:fillRect t="-159464" b="-159464"/>
              </a:stretch>
            </a:blipFill>
          </p:spPr>
          <p:txBody>
            <a:bodyPr/>
            <a:lstStyle/>
            <a:p>
              <a:endParaRPr lang="en-IN"/>
            </a:p>
          </p:txBody>
        </p:sp>
        <p:sp>
          <p:nvSpPr>
            <p:cNvPr id="33" name="TextBox 33"/>
            <p:cNvSpPr txBox="1"/>
            <p:nvPr/>
          </p:nvSpPr>
          <p:spPr>
            <a:xfrm>
              <a:off x="0" y="0"/>
              <a:ext cx="10485120" cy="975360"/>
            </a:xfrm>
            <a:prstGeom prst="rect">
              <a:avLst/>
            </a:prstGeom>
          </p:spPr>
          <p:txBody>
            <a:bodyPr lIns="0" tIns="0" rIns="0" bIns="0" rtlCol="0" anchor="ctr"/>
            <a:lstStyle/>
            <a:p>
              <a:pPr algn="l">
                <a:lnSpc>
                  <a:spcPts val="2640"/>
                </a:lnSpc>
              </a:pPr>
              <a:r>
                <a:rPr lang="en-US" sz="2200" i="1" spc="109">
                  <a:solidFill>
                    <a:srgbClr val="253439"/>
                  </a:solidFill>
                  <a:latin typeface="Playfair Display Italics"/>
                  <a:ea typeface="Playfair Display Italics"/>
                  <a:cs typeface="Playfair Display Italics"/>
                  <a:sym typeface="Playfair Display Italics"/>
                </a:rPr>
                <a:t>DEC(ENC(u), ENC(v))  ≈  S[u,v]</a:t>
              </a:r>
            </a:p>
          </p:txBody>
        </p:sp>
      </p:grpSp>
      <p:grpSp>
        <p:nvGrpSpPr>
          <p:cNvPr id="34" name="Group 34"/>
          <p:cNvGrpSpPr/>
          <p:nvPr/>
        </p:nvGrpSpPr>
        <p:grpSpPr>
          <a:xfrm>
            <a:off x="535943" y="6369815"/>
            <a:ext cx="8346443" cy="1451867"/>
            <a:chOff x="0" y="0"/>
            <a:chExt cx="11128591" cy="1935823"/>
          </a:xfrm>
        </p:grpSpPr>
        <p:sp>
          <p:nvSpPr>
            <p:cNvPr id="35" name="Freeform 35"/>
            <p:cNvSpPr/>
            <p:nvPr/>
          </p:nvSpPr>
          <p:spPr>
            <a:xfrm>
              <a:off x="0" y="0"/>
              <a:ext cx="11128501" cy="1935734"/>
            </a:xfrm>
            <a:custGeom>
              <a:avLst/>
              <a:gdLst/>
              <a:ahLst/>
              <a:cxnLst/>
              <a:rect l="l" t="t" r="r" b="b"/>
              <a:pathLst>
                <a:path w="11128501" h="1935734">
                  <a:moveTo>
                    <a:pt x="0" y="248158"/>
                  </a:moveTo>
                  <a:cubicBezTo>
                    <a:pt x="0" y="111125"/>
                    <a:pt x="111125" y="0"/>
                    <a:pt x="248158" y="0"/>
                  </a:cubicBezTo>
                  <a:lnTo>
                    <a:pt x="10880344" y="0"/>
                  </a:lnTo>
                  <a:cubicBezTo>
                    <a:pt x="11017376" y="0"/>
                    <a:pt x="11128501" y="111125"/>
                    <a:pt x="11128501" y="248158"/>
                  </a:cubicBezTo>
                  <a:lnTo>
                    <a:pt x="11128501" y="1687576"/>
                  </a:lnTo>
                  <a:cubicBezTo>
                    <a:pt x="11128501" y="1824609"/>
                    <a:pt x="11017376" y="1935734"/>
                    <a:pt x="10880344" y="1935734"/>
                  </a:cubicBezTo>
                  <a:lnTo>
                    <a:pt x="248158" y="1935734"/>
                  </a:lnTo>
                  <a:cubicBezTo>
                    <a:pt x="111125" y="1935861"/>
                    <a:pt x="0" y="1824736"/>
                    <a:pt x="0" y="1687576"/>
                  </a:cubicBezTo>
                  <a:close/>
                </a:path>
              </a:pathLst>
            </a:custGeom>
            <a:solidFill>
              <a:srgbClr val="FFFFFF"/>
            </a:solidFill>
            <a:ln w="25400" cap="sq">
              <a:solidFill>
                <a:srgbClr val="C8DDF5"/>
              </a:solidFill>
              <a:prstDash val="solid"/>
              <a:miter/>
            </a:ln>
          </p:spPr>
          <p:txBody>
            <a:bodyPr/>
            <a:lstStyle/>
            <a:p>
              <a:endParaRPr lang="en-IN"/>
            </a:p>
          </p:txBody>
        </p:sp>
      </p:grpSp>
      <p:grpSp>
        <p:nvGrpSpPr>
          <p:cNvPr id="36" name="Group 36"/>
          <p:cNvGrpSpPr/>
          <p:nvPr/>
        </p:nvGrpSpPr>
        <p:grpSpPr>
          <a:xfrm>
            <a:off x="768096" y="6437376"/>
            <a:ext cx="7863840" cy="512064"/>
            <a:chOff x="0" y="0"/>
            <a:chExt cx="10485120" cy="682752"/>
          </a:xfrm>
        </p:grpSpPr>
        <p:sp>
          <p:nvSpPr>
            <p:cNvPr id="37" name="Freeform 37"/>
            <p:cNvSpPr/>
            <p:nvPr/>
          </p:nvSpPr>
          <p:spPr>
            <a:xfrm>
              <a:off x="0" y="0"/>
              <a:ext cx="10485120" cy="682752"/>
            </a:xfrm>
            <a:custGeom>
              <a:avLst/>
              <a:gdLst/>
              <a:ahLst/>
              <a:cxnLst/>
              <a:rect l="l" t="t" r="r" b="b"/>
              <a:pathLst>
                <a:path w="10485120" h="682752">
                  <a:moveTo>
                    <a:pt x="0" y="0"/>
                  </a:moveTo>
                  <a:lnTo>
                    <a:pt x="10485120" y="0"/>
                  </a:lnTo>
                  <a:lnTo>
                    <a:pt x="10485120" y="682752"/>
                  </a:lnTo>
                  <a:lnTo>
                    <a:pt x="0" y="682752"/>
                  </a:lnTo>
                  <a:close/>
                </a:path>
              </a:pathLst>
            </a:custGeom>
            <a:blipFill>
              <a:blip r:embed="rId3">
                <a:alphaModFix amt="0"/>
              </a:blip>
              <a:stretch>
                <a:fillRect t="-249234" b="-249234"/>
              </a:stretch>
            </a:blipFill>
          </p:spPr>
          <p:txBody>
            <a:bodyPr/>
            <a:lstStyle/>
            <a:p>
              <a:endParaRPr lang="en-IN"/>
            </a:p>
          </p:txBody>
        </p:sp>
        <p:sp>
          <p:nvSpPr>
            <p:cNvPr id="38" name="TextBox 38"/>
            <p:cNvSpPr txBox="1"/>
            <p:nvPr/>
          </p:nvSpPr>
          <p:spPr>
            <a:xfrm>
              <a:off x="0" y="0"/>
              <a:ext cx="10485120" cy="682752"/>
            </a:xfrm>
            <a:prstGeom prst="rect">
              <a:avLst/>
            </a:prstGeom>
          </p:spPr>
          <p:txBody>
            <a:bodyPr lIns="0" tIns="0" rIns="0" bIns="0" rtlCol="0" anchor="ctr"/>
            <a:lstStyle/>
            <a:p>
              <a:pPr algn="l">
                <a:lnSpc>
                  <a:spcPts val="2400"/>
                </a:lnSpc>
              </a:pPr>
              <a:r>
                <a:rPr lang="en-US" sz="2000" i="1" spc="100">
                  <a:solidFill>
                    <a:srgbClr val="253439"/>
                  </a:solidFill>
                  <a:latin typeface="Playfair Display Italics"/>
                  <a:ea typeface="Playfair Display Italics"/>
                  <a:cs typeface="Playfair Display Italics"/>
                  <a:sym typeface="Playfair Display Italics"/>
                </a:rPr>
                <a:t>Loss (MSE — GF/GraRep/HOPE)</a:t>
              </a:r>
            </a:p>
          </p:txBody>
        </p:sp>
      </p:grpSp>
      <p:grpSp>
        <p:nvGrpSpPr>
          <p:cNvPr id="39" name="Group 39"/>
          <p:cNvGrpSpPr/>
          <p:nvPr/>
        </p:nvGrpSpPr>
        <p:grpSpPr>
          <a:xfrm>
            <a:off x="768096" y="6967728"/>
            <a:ext cx="7863840" cy="731520"/>
            <a:chOff x="0" y="0"/>
            <a:chExt cx="10485120" cy="975360"/>
          </a:xfrm>
        </p:grpSpPr>
        <p:sp>
          <p:nvSpPr>
            <p:cNvPr id="40" name="Freeform 40"/>
            <p:cNvSpPr/>
            <p:nvPr/>
          </p:nvSpPr>
          <p:spPr>
            <a:xfrm>
              <a:off x="0" y="0"/>
              <a:ext cx="10485120" cy="975360"/>
            </a:xfrm>
            <a:custGeom>
              <a:avLst/>
              <a:gdLst/>
              <a:ahLst/>
              <a:cxnLst/>
              <a:rect l="l" t="t" r="r" b="b"/>
              <a:pathLst>
                <a:path w="10485120" h="975360">
                  <a:moveTo>
                    <a:pt x="0" y="0"/>
                  </a:moveTo>
                  <a:lnTo>
                    <a:pt x="10485120" y="0"/>
                  </a:lnTo>
                  <a:lnTo>
                    <a:pt x="10485120" y="975360"/>
                  </a:lnTo>
                  <a:lnTo>
                    <a:pt x="0" y="975360"/>
                  </a:lnTo>
                  <a:close/>
                </a:path>
              </a:pathLst>
            </a:custGeom>
            <a:blipFill>
              <a:blip r:embed="rId3">
                <a:alphaModFix amt="0"/>
              </a:blip>
              <a:stretch>
                <a:fillRect t="-159464" b="-159464"/>
              </a:stretch>
            </a:blipFill>
          </p:spPr>
          <p:txBody>
            <a:bodyPr/>
            <a:lstStyle/>
            <a:p>
              <a:endParaRPr lang="en-IN"/>
            </a:p>
          </p:txBody>
        </p:sp>
        <p:sp>
          <p:nvSpPr>
            <p:cNvPr id="41" name="TextBox 41"/>
            <p:cNvSpPr txBox="1"/>
            <p:nvPr/>
          </p:nvSpPr>
          <p:spPr>
            <a:xfrm>
              <a:off x="0" y="0"/>
              <a:ext cx="10485120" cy="975360"/>
            </a:xfrm>
            <a:prstGeom prst="rect">
              <a:avLst/>
            </a:prstGeom>
          </p:spPr>
          <p:txBody>
            <a:bodyPr lIns="0" tIns="0" rIns="0" bIns="0" rtlCol="0" anchor="ctr"/>
            <a:lstStyle/>
            <a:p>
              <a:pPr algn="l">
                <a:lnSpc>
                  <a:spcPts val="2640"/>
                </a:lnSpc>
              </a:pPr>
              <a:r>
                <a:rPr lang="en-US" sz="2200" i="1" spc="109">
                  <a:solidFill>
                    <a:srgbClr val="253439"/>
                  </a:solidFill>
                  <a:latin typeface="Playfair Display Italics"/>
                  <a:ea typeface="Playfair Display Italics"/>
                  <a:cs typeface="Playfair Display Italics"/>
                  <a:sym typeface="Playfair Display Italics"/>
                </a:rPr>
                <a:t>L = Σ ||zᵤᵀz_v − S[u,v]||²</a:t>
              </a:r>
            </a:p>
          </p:txBody>
        </p:sp>
      </p:grpSp>
      <p:grpSp>
        <p:nvGrpSpPr>
          <p:cNvPr id="42" name="Group 42"/>
          <p:cNvGrpSpPr/>
          <p:nvPr/>
        </p:nvGrpSpPr>
        <p:grpSpPr>
          <a:xfrm>
            <a:off x="535943" y="7979159"/>
            <a:ext cx="8346443" cy="1451867"/>
            <a:chOff x="0" y="0"/>
            <a:chExt cx="11128591" cy="1935823"/>
          </a:xfrm>
        </p:grpSpPr>
        <p:sp>
          <p:nvSpPr>
            <p:cNvPr id="43" name="Freeform 43"/>
            <p:cNvSpPr/>
            <p:nvPr/>
          </p:nvSpPr>
          <p:spPr>
            <a:xfrm>
              <a:off x="0" y="0"/>
              <a:ext cx="11128501" cy="1935734"/>
            </a:xfrm>
            <a:custGeom>
              <a:avLst/>
              <a:gdLst/>
              <a:ahLst/>
              <a:cxnLst/>
              <a:rect l="l" t="t" r="r" b="b"/>
              <a:pathLst>
                <a:path w="11128501" h="1935734">
                  <a:moveTo>
                    <a:pt x="0" y="248158"/>
                  </a:moveTo>
                  <a:cubicBezTo>
                    <a:pt x="0" y="111125"/>
                    <a:pt x="111125" y="0"/>
                    <a:pt x="248158" y="0"/>
                  </a:cubicBezTo>
                  <a:lnTo>
                    <a:pt x="10880344" y="0"/>
                  </a:lnTo>
                  <a:cubicBezTo>
                    <a:pt x="11017376" y="0"/>
                    <a:pt x="11128501" y="111125"/>
                    <a:pt x="11128501" y="248158"/>
                  </a:cubicBezTo>
                  <a:lnTo>
                    <a:pt x="11128501" y="1687576"/>
                  </a:lnTo>
                  <a:cubicBezTo>
                    <a:pt x="11128501" y="1824609"/>
                    <a:pt x="11017376" y="1935734"/>
                    <a:pt x="10880344" y="1935734"/>
                  </a:cubicBezTo>
                  <a:lnTo>
                    <a:pt x="248158" y="1935734"/>
                  </a:lnTo>
                  <a:cubicBezTo>
                    <a:pt x="111125" y="1935861"/>
                    <a:pt x="0" y="1824736"/>
                    <a:pt x="0" y="1687576"/>
                  </a:cubicBezTo>
                  <a:close/>
                </a:path>
              </a:pathLst>
            </a:custGeom>
            <a:solidFill>
              <a:srgbClr val="FFFFFF"/>
            </a:solidFill>
            <a:ln w="25400" cap="sq">
              <a:solidFill>
                <a:srgbClr val="C8DDF5"/>
              </a:solidFill>
              <a:prstDash val="solid"/>
              <a:miter/>
            </a:ln>
          </p:spPr>
          <p:txBody>
            <a:bodyPr/>
            <a:lstStyle/>
            <a:p>
              <a:endParaRPr lang="en-IN"/>
            </a:p>
          </p:txBody>
        </p:sp>
      </p:grpSp>
      <p:grpSp>
        <p:nvGrpSpPr>
          <p:cNvPr id="44" name="Group 44"/>
          <p:cNvGrpSpPr/>
          <p:nvPr/>
        </p:nvGrpSpPr>
        <p:grpSpPr>
          <a:xfrm>
            <a:off x="768096" y="8046720"/>
            <a:ext cx="7863840" cy="512064"/>
            <a:chOff x="0" y="0"/>
            <a:chExt cx="10485120" cy="682752"/>
          </a:xfrm>
        </p:grpSpPr>
        <p:sp>
          <p:nvSpPr>
            <p:cNvPr id="45" name="Freeform 45"/>
            <p:cNvSpPr/>
            <p:nvPr/>
          </p:nvSpPr>
          <p:spPr>
            <a:xfrm>
              <a:off x="0" y="0"/>
              <a:ext cx="10485120" cy="682752"/>
            </a:xfrm>
            <a:custGeom>
              <a:avLst/>
              <a:gdLst/>
              <a:ahLst/>
              <a:cxnLst/>
              <a:rect l="l" t="t" r="r" b="b"/>
              <a:pathLst>
                <a:path w="10485120" h="682752">
                  <a:moveTo>
                    <a:pt x="0" y="0"/>
                  </a:moveTo>
                  <a:lnTo>
                    <a:pt x="10485120" y="0"/>
                  </a:lnTo>
                  <a:lnTo>
                    <a:pt x="10485120" y="682752"/>
                  </a:lnTo>
                  <a:lnTo>
                    <a:pt x="0" y="682752"/>
                  </a:lnTo>
                  <a:close/>
                </a:path>
              </a:pathLst>
            </a:custGeom>
            <a:blipFill>
              <a:blip r:embed="rId3">
                <a:alphaModFix amt="0"/>
              </a:blip>
              <a:stretch>
                <a:fillRect t="-249234" b="-249234"/>
              </a:stretch>
            </a:blipFill>
          </p:spPr>
          <p:txBody>
            <a:bodyPr/>
            <a:lstStyle/>
            <a:p>
              <a:endParaRPr lang="en-IN"/>
            </a:p>
          </p:txBody>
        </p:sp>
        <p:sp>
          <p:nvSpPr>
            <p:cNvPr id="46" name="TextBox 46"/>
            <p:cNvSpPr txBox="1"/>
            <p:nvPr/>
          </p:nvSpPr>
          <p:spPr>
            <a:xfrm>
              <a:off x="0" y="0"/>
              <a:ext cx="10485120" cy="682752"/>
            </a:xfrm>
            <a:prstGeom prst="rect">
              <a:avLst/>
            </a:prstGeom>
          </p:spPr>
          <p:txBody>
            <a:bodyPr lIns="0" tIns="0" rIns="0" bIns="0" rtlCol="0" anchor="ctr"/>
            <a:lstStyle/>
            <a:p>
              <a:pPr algn="l">
                <a:lnSpc>
                  <a:spcPts val="2400"/>
                </a:lnSpc>
              </a:pPr>
              <a:r>
                <a:rPr lang="en-US" sz="2000" i="1" spc="100">
                  <a:solidFill>
                    <a:srgbClr val="253439"/>
                  </a:solidFill>
                  <a:latin typeface="Playfair Display Italics"/>
                  <a:ea typeface="Playfair Display Italics"/>
                  <a:cs typeface="Playfair Display Italics"/>
                  <a:sym typeface="Playfair Display Italics"/>
                </a:rPr>
                <a:t>Matrix Form (Eq. 3.9)</a:t>
              </a:r>
            </a:p>
          </p:txBody>
        </p:sp>
      </p:grpSp>
      <p:grpSp>
        <p:nvGrpSpPr>
          <p:cNvPr id="47" name="Group 47"/>
          <p:cNvGrpSpPr/>
          <p:nvPr/>
        </p:nvGrpSpPr>
        <p:grpSpPr>
          <a:xfrm>
            <a:off x="768096" y="8577072"/>
            <a:ext cx="7863840" cy="731520"/>
            <a:chOff x="0" y="0"/>
            <a:chExt cx="10485120" cy="975360"/>
          </a:xfrm>
        </p:grpSpPr>
        <p:sp>
          <p:nvSpPr>
            <p:cNvPr id="48" name="Freeform 48"/>
            <p:cNvSpPr/>
            <p:nvPr/>
          </p:nvSpPr>
          <p:spPr>
            <a:xfrm>
              <a:off x="0" y="0"/>
              <a:ext cx="10485120" cy="975360"/>
            </a:xfrm>
            <a:custGeom>
              <a:avLst/>
              <a:gdLst/>
              <a:ahLst/>
              <a:cxnLst/>
              <a:rect l="l" t="t" r="r" b="b"/>
              <a:pathLst>
                <a:path w="10485120" h="975360">
                  <a:moveTo>
                    <a:pt x="0" y="0"/>
                  </a:moveTo>
                  <a:lnTo>
                    <a:pt x="10485120" y="0"/>
                  </a:lnTo>
                  <a:lnTo>
                    <a:pt x="10485120" y="975360"/>
                  </a:lnTo>
                  <a:lnTo>
                    <a:pt x="0" y="975360"/>
                  </a:lnTo>
                  <a:close/>
                </a:path>
              </a:pathLst>
            </a:custGeom>
            <a:blipFill>
              <a:blip r:embed="rId3">
                <a:alphaModFix amt="0"/>
              </a:blip>
              <a:stretch>
                <a:fillRect t="-159464" b="-159464"/>
              </a:stretch>
            </a:blipFill>
          </p:spPr>
          <p:txBody>
            <a:bodyPr/>
            <a:lstStyle/>
            <a:p>
              <a:endParaRPr lang="en-IN"/>
            </a:p>
          </p:txBody>
        </p:sp>
        <p:sp>
          <p:nvSpPr>
            <p:cNvPr id="49" name="TextBox 49"/>
            <p:cNvSpPr txBox="1"/>
            <p:nvPr/>
          </p:nvSpPr>
          <p:spPr>
            <a:xfrm>
              <a:off x="0" y="0"/>
              <a:ext cx="10485120" cy="975360"/>
            </a:xfrm>
            <a:prstGeom prst="rect">
              <a:avLst/>
            </a:prstGeom>
          </p:spPr>
          <p:txBody>
            <a:bodyPr lIns="0" tIns="0" rIns="0" bIns="0" rtlCol="0" anchor="ctr"/>
            <a:lstStyle/>
            <a:p>
              <a:pPr algn="l">
                <a:lnSpc>
                  <a:spcPts val="2640"/>
                </a:lnSpc>
              </a:pPr>
              <a:r>
                <a:rPr lang="en-US" sz="2200" i="1" spc="109">
                  <a:solidFill>
                    <a:srgbClr val="253439"/>
                  </a:solidFill>
                  <a:latin typeface="Playfair Display Italics"/>
                  <a:ea typeface="Playfair Display Italics"/>
                  <a:cs typeface="Playfair Display Italics"/>
                  <a:sym typeface="Playfair Display Italics"/>
                </a:rPr>
                <a:t>L ≈ ||ZZᵀ − S||²</a:t>
              </a:r>
            </a:p>
          </p:txBody>
        </p:sp>
      </p:grpSp>
      <p:grpSp>
        <p:nvGrpSpPr>
          <p:cNvPr id="50" name="Group 50"/>
          <p:cNvGrpSpPr/>
          <p:nvPr/>
        </p:nvGrpSpPr>
        <p:grpSpPr>
          <a:xfrm>
            <a:off x="9314183" y="1541783"/>
            <a:ext cx="8346443" cy="1451867"/>
            <a:chOff x="0" y="0"/>
            <a:chExt cx="11128591" cy="1935823"/>
          </a:xfrm>
        </p:grpSpPr>
        <p:sp>
          <p:nvSpPr>
            <p:cNvPr id="51" name="Freeform 51"/>
            <p:cNvSpPr/>
            <p:nvPr/>
          </p:nvSpPr>
          <p:spPr>
            <a:xfrm>
              <a:off x="0" y="0"/>
              <a:ext cx="11128501" cy="1935734"/>
            </a:xfrm>
            <a:custGeom>
              <a:avLst/>
              <a:gdLst/>
              <a:ahLst/>
              <a:cxnLst/>
              <a:rect l="l" t="t" r="r" b="b"/>
              <a:pathLst>
                <a:path w="11128501" h="1935734">
                  <a:moveTo>
                    <a:pt x="0" y="248158"/>
                  </a:moveTo>
                  <a:cubicBezTo>
                    <a:pt x="0" y="111125"/>
                    <a:pt x="111125" y="0"/>
                    <a:pt x="248158" y="0"/>
                  </a:cubicBezTo>
                  <a:lnTo>
                    <a:pt x="10880344" y="0"/>
                  </a:lnTo>
                  <a:cubicBezTo>
                    <a:pt x="11017376" y="0"/>
                    <a:pt x="11128501" y="111125"/>
                    <a:pt x="11128501" y="248158"/>
                  </a:cubicBezTo>
                  <a:lnTo>
                    <a:pt x="11128501" y="1687576"/>
                  </a:lnTo>
                  <a:cubicBezTo>
                    <a:pt x="11128501" y="1824609"/>
                    <a:pt x="11017376" y="1935734"/>
                    <a:pt x="10880344" y="1935734"/>
                  </a:cubicBezTo>
                  <a:lnTo>
                    <a:pt x="248158" y="1935734"/>
                  </a:lnTo>
                  <a:cubicBezTo>
                    <a:pt x="111125" y="1935861"/>
                    <a:pt x="0" y="1824736"/>
                    <a:pt x="0" y="1687576"/>
                  </a:cubicBezTo>
                  <a:close/>
                </a:path>
              </a:pathLst>
            </a:custGeom>
            <a:solidFill>
              <a:srgbClr val="FFFFFF"/>
            </a:solidFill>
            <a:ln w="25400" cap="sq">
              <a:solidFill>
                <a:srgbClr val="C8DDF5"/>
              </a:solidFill>
              <a:prstDash val="solid"/>
              <a:miter/>
            </a:ln>
          </p:spPr>
          <p:txBody>
            <a:bodyPr/>
            <a:lstStyle/>
            <a:p>
              <a:endParaRPr lang="en-IN"/>
            </a:p>
          </p:txBody>
        </p:sp>
      </p:grpSp>
      <p:grpSp>
        <p:nvGrpSpPr>
          <p:cNvPr id="52" name="Group 52"/>
          <p:cNvGrpSpPr/>
          <p:nvPr/>
        </p:nvGrpSpPr>
        <p:grpSpPr>
          <a:xfrm>
            <a:off x="9546336" y="1609344"/>
            <a:ext cx="7863840" cy="512064"/>
            <a:chOff x="0" y="0"/>
            <a:chExt cx="10485120" cy="682752"/>
          </a:xfrm>
        </p:grpSpPr>
        <p:sp>
          <p:nvSpPr>
            <p:cNvPr id="53" name="Freeform 53"/>
            <p:cNvSpPr/>
            <p:nvPr/>
          </p:nvSpPr>
          <p:spPr>
            <a:xfrm>
              <a:off x="0" y="0"/>
              <a:ext cx="10485120" cy="682752"/>
            </a:xfrm>
            <a:custGeom>
              <a:avLst/>
              <a:gdLst/>
              <a:ahLst/>
              <a:cxnLst/>
              <a:rect l="l" t="t" r="r" b="b"/>
              <a:pathLst>
                <a:path w="10485120" h="682752">
                  <a:moveTo>
                    <a:pt x="0" y="0"/>
                  </a:moveTo>
                  <a:lnTo>
                    <a:pt x="10485120" y="0"/>
                  </a:lnTo>
                  <a:lnTo>
                    <a:pt x="10485120" y="682752"/>
                  </a:lnTo>
                  <a:lnTo>
                    <a:pt x="0" y="682752"/>
                  </a:lnTo>
                  <a:close/>
                </a:path>
              </a:pathLst>
            </a:custGeom>
            <a:blipFill>
              <a:blip r:embed="rId3">
                <a:alphaModFix amt="0"/>
              </a:blip>
              <a:stretch>
                <a:fillRect t="-249234" b="-249234"/>
              </a:stretch>
            </a:blipFill>
          </p:spPr>
          <p:txBody>
            <a:bodyPr/>
            <a:lstStyle/>
            <a:p>
              <a:endParaRPr lang="en-IN"/>
            </a:p>
          </p:txBody>
        </p:sp>
        <p:sp>
          <p:nvSpPr>
            <p:cNvPr id="54" name="TextBox 54"/>
            <p:cNvSpPr txBox="1"/>
            <p:nvPr/>
          </p:nvSpPr>
          <p:spPr>
            <a:xfrm>
              <a:off x="0" y="0"/>
              <a:ext cx="10485120" cy="682752"/>
            </a:xfrm>
            <a:prstGeom prst="rect">
              <a:avLst/>
            </a:prstGeom>
          </p:spPr>
          <p:txBody>
            <a:bodyPr lIns="0" tIns="0" rIns="0" bIns="0" rtlCol="0" anchor="ctr"/>
            <a:lstStyle/>
            <a:p>
              <a:pPr algn="l">
                <a:lnSpc>
                  <a:spcPts val="2400"/>
                </a:lnSpc>
              </a:pPr>
              <a:r>
                <a:rPr lang="en-US" sz="2000" i="1" spc="100">
                  <a:solidFill>
                    <a:srgbClr val="253439"/>
                  </a:solidFill>
                  <a:latin typeface="Playfair Display Italics"/>
                  <a:ea typeface="Playfair Display Italics"/>
                  <a:cs typeface="Playfair Display Italics"/>
                  <a:sym typeface="Playfair Display Italics"/>
                </a:rPr>
                <a:t>Random Walk Decoder (DeepWalk)</a:t>
              </a:r>
            </a:p>
          </p:txBody>
        </p:sp>
      </p:grpSp>
      <p:grpSp>
        <p:nvGrpSpPr>
          <p:cNvPr id="55" name="Group 55"/>
          <p:cNvGrpSpPr/>
          <p:nvPr/>
        </p:nvGrpSpPr>
        <p:grpSpPr>
          <a:xfrm>
            <a:off x="9546336" y="2139696"/>
            <a:ext cx="7863840" cy="731520"/>
            <a:chOff x="0" y="0"/>
            <a:chExt cx="10485120" cy="975360"/>
          </a:xfrm>
        </p:grpSpPr>
        <p:sp>
          <p:nvSpPr>
            <p:cNvPr id="56" name="Freeform 56"/>
            <p:cNvSpPr/>
            <p:nvPr/>
          </p:nvSpPr>
          <p:spPr>
            <a:xfrm>
              <a:off x="0" y="0"/>
              <a:ext cx="10485120" cy="975360"/>
            </a:xfrm>
            <a:custGeom>
              <a:avLst/>
              <a:gdLst/>
              <a:ahLst/>
              <a:cxnLst/>
              <a:rect l="l" t="t" r="r" b="b"/>
              <a:pathLst>
                <a:path w="10485120" h="975360">
                  <a:moveTo>
                    <a:pt x="0" y="0"/>
                  </a:moveTo>
                  <a:lnTo>
                    <a:pt x="10485120" y="0"/>
                  </a:lnTo>
                  <a:lnTo>
                    <a:pt x="10485120" y="975360"/>
                  </a:lnTo>
                  <a:lnTo>
                    <a:pt x="0" y="975360"/>
                  </a:lnTo>
                  <a:close/>
                </a:path>
              </a:pathLst>
            </a:custGeom>
            <a:blipFill>
              <a:blip r:embed="rId3">
                <a:alphaModFix amt="0"/>
              </a:blip>
              <a:stretch>
                <a:fillRect t="-159464" b="-159464"/>
              </a:stretch>
            </a:blipFill>
          </p:spPr>
          <p:txBody>
            <a:bodyPr/>
            <a:lstStyle/>
            <a:p>
              <a:endParaRPr lang="en-IN"/>
            </a:p>
          </p:txBody>
        </p:sp>
        <p:sp>
          <p:nvSpPr>
            <p:cNvPr id="57" name="TextBox 57"/>
            <p:cNvSpPr txBox="1"/>
            <p:nvPr/>
          </p:nvSpPr>
          <p:spPr>
            <a:xfrm>
              <a:off x="0" y="0"/>
              <a:ext cx="10485120" cy="975360"/>
            </a:xfrm>
            <a:prstGeom prst="rect">
              <a:avLst/>
            </a:prstGeom>
          </p:spPr>
          <p:txBody>
            <a:bodyPr lIns="0" tIns="0" rIns="0" bIns="0" rtlCol="0" anchor="ctr"/>
            <a:lstStyle/>
            <a:p>
              <a:pPr algn="l">
                <a:lnSpc>
                  <a:spcPts val="2640"/>
                </a:lnSpc>
              </a:pPr>
              <a:r>
                <a:rPr lang="en-US" sz="2200" i="1" spc="109">
                  <a:solidFill>
                    <a:srgbClr val="253439"/>
                  </a:solidFill>
                  <a:latin typeface="Playfair Display Italics"/>
                  <a:ea typeface="Playfair Display Italics"/>
                  <a:cs typeface="Playfair Display Italics"/>
                  <a:sym typeface="Playfair Display Italics"/>
                </a:rPr>
                <a:t>DEC(zᵤ,z_v) = exp(zᵤᵀz_v) / Σexp(zᵤᵀzₖ)</a:t>
              </a:r>
            </a:p>
          </p:txBody>
        </p:sp>
      </p:grpSp>
      <p:grpSp>
        <p:nvGrpSpPr>
          <p:cNvPr id="58" name="Group 58"/>
          <p:cNvGrpSpPr/>
          <p:nvPr/>
        </p:nvGrpSpPr>
        <p:grpSpPr>
          <a:xfrm>
            <a:off x="9314183" y="3151127"/>
            <a:ext cx="8346443" cy="1451867"/>
            <a:chOff x="0" y="0"/>
            <a:chExt cx="11128591" cy="1935823"/>
          </a:xfrm>
        </p:grpSpPr>
        <p:sp>
          <p:nvSpPr>
            <p:cNvPr id="59" name="Freeform 59"/>
            <p:cNvSpPr/>
            <p:nvPr/>
          </p:nvSpPr>
          <p:spPr>
            <a:xfrm>
              <a:off x="0" y="0"/>
              <a:ext cx="11128501" cy="1935734"/>
            </a:xfrm>
            <a:custGeom>
              <a:avLst/>
              <a:gdLst/>
              <a:ahLst/>
              <a:cxnLst/>
              <a:rect l="l" t="t" r="r" b="b"/>
              <a:pathLst>
                <a:path w="11128501" h="1935734">
                  <a:moveTo>
                    <a:pt x="0" y="248158"/>
                  </a:moveTo>
                  <a:cubicBezTo>
                    <a:pt x="0" y="111125"/>
                    <a:pt x="111125" y="0"/>
                    <a:pt x="248158" y="0"/>
                  </a:cubicBezTo>
                  <a:lnTo>
                    <a:pt x="10880344" y="0"/>
                  </a:lnTo>
                  <a:cubicBezTo>
                    <a:pt x="11017376" y="0"/>
                    <a:pt x="11128501" y="111125"/>
                    <a:pt x="11128501" y="248158"/>
                  </a:cubicBezTo>
                  <a:lnTo>
                    <a:pt x="11128501" y="1687576"/>
                  </a:lnTo>
                  <a:cubicBezTo>
                    <a:pt x="11128501" y="1824609"/>
                    <a:pt x="11017376" y="1935734"/>
                    <a:pt x="10880344" y="1935734"/>
                  </a:cubicBezTo>
                  <a:lnTo>
                    <a:pt x="248158" y="1935734"/>
                  </a:lnTo>
                  <a:cubicBezTo>
                    <a:pt x="111125" y="1935861"/>
                    <a:pt x="0" y="1824736"/>
                    <a:pt x="0" y="1687576"/>
                  </a:cubicBezTo>
                  <a:close/>
                </a:path>
              </a:pathLst>
            </a:custGeom>
            <a:solidFill>
              <a:srgbClr val="FFFFFF"/>
            </a:solidFill>
            <a:ln w="25400" cap="sq">
              <a:solidFill>
                <a:srgbClr val="C8DDF5"/>
              </a:solidFill>
              <a:prstDash val="solid"/>
              <a:miter/>
            </a:ln>
          </p:spPr>
          <p:txBody>
            <a:bodyPr/>
            <a:lstStyle/>
            <a:p>
              <a:endParaRPr lang="en-IN"/>
            </a:p>
          </p:txBody>
        </p:sp>
      </p:grpSp>
      <p:grpSp>
        <p:nvGrpSpPr>
          <p:cNvPr id="60" name="Group 60"/>
          <p:cNvGrpSpPr/>
          <p:nvPr/>
        </p:nvGrpSpPr>
        <p:grpSpPr>
          <a:xfrm>
            <a:off x="9546336" y="3218688"/>
            <a:ext cx="7863840" cy="512064"/>
            <a:chOff x="0" y="0"/>
            <a:chExt cx="10485120" cy="682752"/>
          </a:xfrm>
        </p:grpSpPr>
        <p:sp>
          <p:nvSpPr>
            <p:cNvPr id="61" name="Freeform 61"/>
            <p:cNvSpPr/>
            <p:nvPr/>
          </p:nvSpPr>
          <p:spPr>
            <a:xfrm>
              <a:off x="0" y="0"/>
              <a:ext cx="10485120" cy="682752"/>
            </a:xfrm>
            <a:custGeom>
              <a:avLst/>
              <a:gdLst/>
              <a:ahLst/>
              <a:cxnLst/>
              <a:rect l="l" t="t" r="r" b="b"/>
              <a:pathLst>
                <a:path w="10485120" h="682752">
                  <a:moveTo>
                    <a:pt x="0" y="0"/>
                  </a:moveTo>
                  <a:lnTo>
                    <a:pt x="10485120" y="0"/>
                  </a:lnTo>
                  <a:lnTo>
                    <a:pt x="10485120" y="682752"/>
                  </a:lnTo>
                  <a:lnTo>
                    <a:pt x="0" y="682752"/>
                  </a:lnTo>
                  <a:close/>
                </a:path>
              </a:pathLst>
            </a:custGeom>
            <a:blipFill>
              <a:blip r:embed="rId3">
                <a:alphaModFix amt="0"/>
              </a:blip>
              <a:stretch>
                <a:fillRect t="-249234" b="-249234"/>
              </a:stretch>
            </a:blipFill>
          </p:spPr>
          <p:txBody>
            <a:bodyPr/>
            <a:lstStyle/>
            <a:p>
              <a:endParaRPr lang="en-IN"/>
            </a:p>
          </p:txBody>
        </p:sp>
        <p:sp>
          <p:nvSpPr>
            <p:cNvPr id="62" name="TextBox 62"/>
            <p:cNvSpPr txBox="1"/>
            <p:nvPr/>
          </p:nvSpPr>
          <p:spPr>
            <a:xfrm>
              <a:off x="0" y="0"/>
              <a:ext cx="10485120" cy="682752"/>
            </a:xfrm>
            <a:prstGeom prst="rect">
              <a:avLst/>
            </a:prstGeom>
          </p:spPr>
          <p:txBody>
            <a:bodyPr lIns="0" tIns="0" rIns="0" bIns="0" rtlCol="0" anchor="ctr"/>
            <a:lstStyle/>
            <a:p>
              <a:pPr algn="l">
                <a:lnSpc>
                  <a:spcPts val="2400"/>
                </a:lnSpc>
              </a:pPr>
              <a:r>
                <a:rPr lang="en-US" sz="2000" i="1" spc="100">
                  <a:solidFill>
                    <a:srgbClr val="253439"/>
                  </a:solidFill>
                  <a:latin typeface="Playfair Display Italics"/>
                  <a:ea typeface="Playfair Display Italics"/>
                  <a:cs typeface="Playfair Display Italics"/>
                  <a:sym typeface="Playfair Display Italics"/>
                </a:rPr>
                <a:t>Cross-Entropy Loss (DeepWalk)</a:t>
              </a:r>
            </a:p>
          </p:txBody>
        </p:sp>
      </p:grpSp>
      <p:grpSp>
        <p:nvGrpSpPr>
          <p:cNvPr id="63" name="Group 63"/>
          <p:cNvGrpSpPr/>
          <p:nvPr/>
        </p:nvGrpSpPr>
        <p:grpSpPr>
          <a:xfrm>
            <a:off x="9546336" y="3749040"/>
            <a:ext cx="7863840" cy="731520"/>
            <a:chOff x="0" y="0"/>
            <a:chExt cx="10485120" cy="975360"/>
          </a:xfrm>
        </p:grpSpPr>
        <p:sp>
          <p:nvSpPr>
            <p:cNvPr id="64" name="Freeform 64"/>
            <p:cNvSpPr/>
            <p:nvPr/>
          </p:nvSpPr>
          <p:spPr>
            <a:xfrm>
              <a:off x="0" y="0"/>
              <a:ext cx="10485120" cy="975360"/>
            </a:xfrm>
            <a:custGeom>
              <a:avLst/>
              <a:gdLst/>
              <a:ahLst/>
              <a:cxnLst/>
              <a:rect l="l" t="t" r="r" b="b"/>
              <a:pathLst>
                <a:path w="10485120" h="975360">
                  <a:moveTo>
                    <a:pt x="0" y="0"/>
                  </a:moveTo>
                  <a:lnTo>
                    <a:pt x="10485120" y="0"/>
                  </a:lnTo>
                  <a:lnTo>
                    <a:pt x="10485120" y="975360"/>
                  </a:lnTo>
                  <a:lnTo>
                    <a:pt x="0" y="975360"/>
                  </a:lnTo>
                  <a:close/>
                </a:path>
              </a:pathLst>
            </a:custGeom>
            <a:blipFill>
              <a:blip r:embed="rId3">
                <a:alphaModFix amt="0"/>
              </a:blip>
              <a:stretch>
                <a:fillRect t="-159464" b="-159464"/>
              </a:stretch>
            </a:blipFill>
          </p:spPr>
          <p:txBody>
            <a:bodyPr/>
            <a:lstStyle/>
            <a:p>
              <a:endParaRPr lang="en-IN"/>
            </a:p>
          </p:txBody>
        </p:sp>
        <p:sp>
          <p:nvSpPr>
            <p:cNvPr id="65" name="TextBox 65"/>
            <p:cNvSpPr txBox="1"/>
            <p:nvPr/>
          </p:nvSpPr>
          <p:spPr>
            <a:xfrm>
              <a:off x="0" y="0"/>
              <a:ext cx="10485120" cy="975360"/>
            </a:xfrm>
            <a:prstGeom prst="rect">
              <a:avLst/>
            </a:prstGeom>
          </p:spPr>
          <p:txBody>
            <a:bodyPr lIns="0" tIns="0" rIns="0" bIns="0" rtlCol="0" anchor="ctr"/>
            <a:lstStyle/>
            <a:p>
              <a:pPr algn="l">
                <a:lnSpc>
                  <a:spcPts val="2640"/>
                </a:lnSpc>
              </a:pPr>
              <a:r>
                <a:rPr lang="en-US" sz="2200" i="1" spc="109">
                  <a:solidFill>
                    <a:srgbClr val="253439"/>
                  </a:solidFill>
                  <a:latin typeface="Playfair Display Italics"/>
                  <a:ea typeface="Playfair Display Italics"/>
                  <a:cs typeface="Playfair Display Italics"/>
                  <a:sym typeface="Playfair Display Italics"/>
                </a:rPr>
                <a:t>L = Σ −log(DEC(zᵤ, z_v))</a:t>
              </a:r>
            </a:p>
          </p:txBody>
        </p:sp>
      </p:grpSp>
      <p:grpSp>
        <p:nvGrpSpPr>
          <p:cNvPr id="66" name="Group 66"/>
          <p:cNvGrpSpPr/>
          <p:nvPr/>
        </p:nvGrpSpPr>
        <p:grpSpPr>
          <a:xfrm>
            <a:off x="9314183" y="4760471"/>
            <a:ext cx="8346443" cy="1451867"/>
            <a:chOff x="0" y="0"/>
            <a:chExt cx="11128591" cy="1935823"/>
          </a:xfrm>
        </p:grpSpPr>
        <p:sp>
          <p:nvSpPr>
            <p:cNvPr id="67" name="Freeform 67"/>
            <p:cNvSpPr/>
            <p:nvPr/>
          </p:nvSpPr>
          <p:spPr>
            <a:xfrm>
              <a:off x="0" y="0"/>
              <a:ext cx="11128501" cy="1935734"/>
            </a:xfrm>
            <a:custGeom>
              <a:avLst/>
              <a:gdLst/>
              <a:ahLst/>
              <a:cxnLst/>
              <a:rect l="l" t="t" r="r" b="b"/>
              <a:pathLst>
                <a:path w="11128501" h="1935734">
                  <a:moveTo>
                    <a:pt x="0" y="248158"/>
                  </a:moveTo>
                  <a:cubicBezTo>
                    <a:pt x="0" y="111125"/>
                    <a:pt x="111125" y="0"/>
                    <a:pt x="248158" y="0"/>
                  </a:cubicBezTo>
                  <a:lnTo>
                    <a:pt x="10880344" y="0"/>
                  </a:lnTo>
                  <a:cubicBezTo>
                    <a:pt x="11017376" y="0"/>
                    <a:pt x="11128501" y="111125"/>
                    <a:pt x="11128501" y="248158"/>
                  </a:cubicBezTo>
                  <a:lnTo>
                    <a:pt x="11128501" y="1687576"/>
                  </a:lnTo>
                  <a:cubicBezTo>
                    <a:pt x="11128501" y="1824609"/>
                    <a:pt x="11017376" y="1935734"/>
                    <a:pt x="10880344" y="1935734"/>
                  </a:cubicBezTo>
                  <a:lnTo>
                    <a:pt x="248158" y="1935734"/>
                  </a:lnTo>
                  <a:cubicBezTo>
                    <a:pt x="111125" y="1935861"/>
                    <a:pt x="0" y="1824736"/>
                    <a:pt x="0" y="1687576"/>
                  </a:cubicBezTo>
                  <a:close/>
                </a:path>
              </a:pathLst>
            </a:custGeom>
            <a:solidFill>
              <a:srgbClr val="FFFFFF"/>
            </a:solidFill>
            <a:ln w="25400" cap="sq">
              <a:solidFill>
                <a:srgbClr val="C8DDF5"/>
              </a:solidFill>
              <a:prstDash val="solid"/>
              <a:miter/>
            </a:ln>
          </p:spPr>
          <p:txBody>
            <a:bodyPr/>
            <a:lstStyle/>
            <a:p>
              <a:endParaRPr lang="en-IN"/>
            </a:p>
          </p:txBody>
        </p:sp>
      </p:grpSp>
      <p:grpSp>
        <p:nvGrpSpPr>
          <p:cNvPr id="68" name="Group 68"/>
          <p:cNvGrpSpPr/>
          <p:nvPr/>
        </p:nvGrpSpPr>
        <p:grpSpPr>
          <a:xfrm>
            <a:off x="9546336" y="4828032"/>
            <a:ext cx="7863840" cy="512064"/>
            <a:chOff x="0" y="0"/>
            <a:chExt cx="10485120" cy="682752"/>
          </a:xfrm>
        </p:grpSpPr>
        <p:sp>
          <p:nvSpPr>
            <p:cNvPr id="69" name="Freeform 69"/>
            <p:cNvSpPr/>
            <p:nvPr/>
          </p:nvSpPr>
          <p:spPr>
            <a:xfrm>
              <a:off x="0" y="0"/>
              <a:ext cx="10485120" cy="682752"/>
            </a:xfrm>
            <a:custGeom>
              <a:avLst/>
              <a:gdLst/>
              <a:ahLst/>
              <a:cxnLst/>
              <a:rect l="l" t="t" r="r" b="b"/>
              <a:pathLst>
                <a:path w="10485120" h="682752">
                  <a:moveTo>
                    <a:pt x="0" y="0"/>
                  </a:moveTo>
                  <a:lnTo>
                    <a:pt x="10485120" y="0"/>
                  </a:lnTo>
                  <a:lnTo>
                    <a:pt x="10485120" y="682752"/>
                  </a:lnTo>
                  <a:lnTo>
                    <a:pt x="0" y="682752"/>
                  </a:lnTo>
                  <a:close/>
                </a:path>
              </a:pathLst>
            </a:custGeom>
            <a:blipFill>
              <a:blip r:embed="rId3">
                <a:alphaModFix amt="0"/>
              </a:blip>
              <a:stretch>
                <a:fillRect t="-249234" b="-249234"/>
              </a:stretch>
            </a:blipFill>
          </p:spPr>
          <p:txBody>
            <a:bodyPr/>
            <a:lstStyle/>
            <a:p>
              <a:endParaRPr lang="en-IN"/>
            </a:p>
          </p:txBody>
        </p:sp>
        <p:sp>
          <p:nvSpPr>
            <p:cNvPr id="70" name="TextBox 70"/>
            <p:cNvSpPr txBox="1"/>
            <p:nvPr/>
          </p:nvSpPr>
          <p:spPr>
            <a:xfrm>
              <a:off x="0" y="0"/>
              <a:ext cx="10485120" cy="682752"/>
            </a:xfrm>
            <a:prstGeom prst="rect">
              <a:avLst/>
            </a:prstGeom>
          </p:spPr>
          <p:txBody>
            <a:bodyPr lIns="0" tIns="0" rIns="0" bIns="0" rtlCol="0" anchor="ctr"/>
            <a:lstStyle/>
            <a:p>
              <a:pPr algn="l">
                <a:lnSpc>
                  <a:spcPts val="2400"/>
                </a:lnSpc>
              </a:pPr>
              <a:r>
                <a:rPr lang="en-US" sz="2000" i="1" spc="100">
                  <a:solidFill>
                    <a:srgbClr val="253439"/>
                  </a:solidFill>
                  <a:latin typeface="Playfair Display Italics"/>
                  <a:ea typeface="Playfair Display Italics"/>
                  <a:cs typeface="Playfair Display Italics"/>
                  <a:sym typeface="Playfair Display Italics"/>
                </a:rPr>
                <a:t>Negative Sampling Loss (node2vec)</a:t>
              </a:r>
            </a:p>
          </p:txBody>
        </p:sp>
      </p:grpSp>
      <p:grpSp>
        <p:nvGrpSpPr>
          <p:cNvPr id="71" name="Group 71"/>
          <p:cNvGrpSpPr/>
          <p:nvPr/>
        </p:nvGrpSpPr>
        <p:grpSpPr>
          <a:xfrm>
            <a:off x="9546336" y="5358384"/>
            <a:ext cx="7863840" cy="731520"/>
            <a:chOff x="0" y="0"/>
            <a:chExt cx="10485120" cy="975360"/>
          </a:xfrm>
        </p:grpSpPr>
        <p:sp>
          <p:nvSpPr>
            <p:cNvPr id="72" name="Freeform 72"/>
            <p:cNvSpPr/>
            <p:nvPr/>
          </p:nvSpPr>
          <p:spPr>
            <a:xfrm>
              <a:off x="0" y="0"/>
              <a:ext cx="10485120" cy="975360"/>
            </a:xfrm>
            <a:custGeom>
              <a:avLst/>
              <a:gdLst/>
              <a:ahLst/>
              <a:cxnLst/>
              <a:rect l="l" t="t" r="r" b="b"/>
              <a:pathLst>
                <a:path w="10485120" h="975360">
                  <a:moveTo>
                    <a:pt x="0" y="0"/>
                  </a:moveTo>
                  <a:lnTo>
                    <a:pt x="10485120" y="0"/>
                  </a:lnTo>
                  <a:lnTo>
                    <a:pt x="10485120" y="975360"/>
                  </a:lnTo>
                  <a:lnTo>
                    <a:pt x="0" y="975360"/>
                  </a:lnTo>
                  <a:close/>
                </a:path>
              </a:pathLst>
            </a:custGeom>
            <a:blipFill>
              <a:blip r:embed="rId3">
                <a:alphaModFix amt="0"/>
              </a:blip>
              <a:stretch>
                <a:fillRect t="-159464" b="-159464"/>
              </a:stretch>
            </a:blipFill>
          </p:spPr>
          <p:txBody>
            <a:bodyPr/>
            <a:lstStyle/>
            <a:p>
              <a:endParaRPr lang="en-IN"/>
            </a:p>
          </p:txBody>
        </p:sp>
        <p:sp>
          <p:nvSpPr>
            <p:cNvPr id="73" name="TextBox 73"/>
            <p:cNvSpPr txBox="1"/>
            <p:nvPr/>
          </p:nvSpPr>
          <p:spPr>
            <a:xfrm>
              <a:off x="0" y="0"/>
              <a:ext cx="10485120" cy="975360"/>
            </a:xfrm>
            <a:prstGeom prst="rect">
              <a:avLst/>
            </a:prstGeom>
          </p:spPr>
          <p:txBody>
            <a:bodyPr lIns="0" tIns="0" rIns="0" bIns="0" rtlCol="0" anchor="ctr"/>
            <a:lstStyle/>
            <a:p>
              <a:pPr algn="l">
                <a:lnSpc>
                  <a:spcPts val="2640"/>
                </a:lnSpc>
              </a:pPr>
              <a:r>
                <a:rPr lang="en-US" sz="2200" i="1" spc="109">
                  <a:solidFill>
                    <a:srgbClr val="253439"/>
                  </a:solidFill>
                  <a:latin typeface="Playfair Display Italics"/>
                  <a:ea typeface="Playfair Display Italics"/>
                  <a:cs typeface="Playfair Display Italics"/>
                  <a:sym typeface="Playfair Display Italics"/>
                </a:rPr>
                <a:t>L = Σ −log(σ(zᵤᵀz_v)) − γ·E[log(−σ(zᵤᵀz_vₙ))]</a:t>
              </a:r>
            </a:p>
          </p:txBody>
        </p:sp>
      </p:grpSp>
      <p:grpSp>
        <p:nvGrpSpPr>
          <p:cNvPr id="74" name="Group 74"/>
          <p:cNvGrpSpPr/>
          <p:nvPr/>
        </p:nvGrpSpPr>
        <p:grpSpPr>
          <a:xfrm>
            <a:off x="9314183" y="6369815"/>
            <a:ext cx="8346443" cy="1451867"/>
            <a:chOff x="0" y="0"/>
            <a:chExt cx="11128591" cy="1935823"/>
          </a:xfrm>
        </p:grpSpPr>
        <p:sp>
          <p:nvSpPr>
            <p:cNvPr id="75" name="Freeform 75"/>
            <p:cNvSpPr/>
            <p:nvPr/>
          </p:nvSpPr>
          <p:spPr>
            <a:xfrm>
              <a:off x="0" y="0"/>
              <a:ext cx="11128501" cy="1935734"/>
            </a:xfrm>
            <a:custGeom>
              <a:avLst/>
              <a:gdLst/>
              <a:ahLst/>
              <a:cxnLst/>
              <a:rect l="l" t="t" r="r" b="b"/>
              <a:pathLst>
                <a:path w="11128501" h="1935734">
                  <a:moveTo>
                    <a:pt x="0" y="248158"/>
                  </a:moveTo>
                  <a:cubicBezTo>
                    <a:pt x="0" y="111125"/>
                    <a:pt x="111125" y="0"/>
                    <a:pt x="248158" y="0"/>
                  </a:cubicBezTo>
                  <a:lnTo>
                    <a:pt x="10880344" y="0"/>
                  </a:lnTo>
                  <a:cubicBezTo>
                    <a:pt x="11017376" y="0"/>
                    <a:pt x="11128501" y="111125"/>
                    <a:pt x="11128501" y="248158"/>
                  </a:cubicBezTo>
                  <a:lnTo>
                    <a:pt x="11128501" y="1687576"/>
                  </a:lnTo>
                  <a:cubicBezTo>
                    <a:pt x="11128501" y="1824609"/>
                    <a:pt x="11017376" y="1935734"/>
                    <a:pt x="10880344" y="1935734"/>
                  </a:cubicBezTo>
                  <a:lnTo>
                    <a:pt x="248158" y="1935734"/>
                  </a:lnTo>
                  <a:cubicBezTo>
                    <a:pt x="111125" y="1935861"/>
                    <a:pt x="0" y="1824736"/>
                    <a:pt x="0" y="1687576"/>
                  </a:cubicBezTo>
                  <a:close/>
                </a:path>
              </a:pathLst>
            </a:custGeom>
            <a:solidFill>
              <a:srgbClr val="FFFFFF"/>
            </a:solidFill>
            <a:ln w="25400" cap="sq">
              <a:solidFill>
                <a:srgbClr val="C8DDF5"/>
              </a:solidFill>
              <a:prstDash val="solid"/>
              <a:miter/>
            </a:ln>
          </p:spPr>
          <p:txBody>
            <a:bodyPr/>
            <a:lstStyle/>
            <a:p>
              <a:endParaRPr lang="en-IN"/>
            </a:p>
          </p:txBody>
        </p:sp>
      </p:grpSp>
      <p:grpSp>
        <p:nvGrpSpPr>
          <p:cNvPr id="76" name="Group 76"/>
          <p:cNvGrpSpPr/>
          <p:nvPr/>
        </p:nvGrpSpPr>
        <p:grpSpPr>
          <a:xfrm>
            <a:off x="9546336" y="6437376"/>
            <a:ext cx="7863840" cy="512064"/>
            <a:chOff x="0" y="0"/>
            <a:chExt cx="10485120" cy="682752"/>
          </a:xfrm>
        </p:grpSpPr>
        <p:sp>
          <p:nvSpPr>
            <p:cNvPr id="77" name="Freeform 77"/>
            <p:cNvSpPr/>
            <p:nvPr/>
          </p:nvSpPr>
          <p:spPr>
            <a:xfrm>
              <a:off x="0" y="0"/>
              <a:ext cx="10485120" cy="682752"/>
            </a:xfrm>
            <a:custGeom>
              <a:avLst/>
              <a:gdLst/>
              <a:ahLst/>
              <a:cxnLst/>
              <a:rect l="l" t="t" r="r" b="b"/>
              <a:pathLst>
                <a:path w="10485120" h="682752">
                  <a:moveTo>
                    <a:pt x="0" y="0"/>
                  </a:moveTo>
                  <a:lnTo>
                    <a:pt x="10485120" y="0"/>
                  </a:lnTo>
                  <a:lnTo>
                    <a:pt x="10485120" y="682752"/>
                  </a:lnTo>
                  <a:lnTo>
                    <a:pt x="0" y="682752"/>
                  </a:lnTo>
                  <a:close/>
                </a:path>
              </a:pathLst>
            </a:custGeom>
            <a:blipFill>
              <a:blip r:embed="rId3">
                <a:alphaModFix amt="0"/>
              </a:blip>
              <a:stretch>
                <a:fillRect t="-249234" b="-249234"/>
              </a:stretch>
            </a:blipFill>
          </p:spPr>
          <p:txBody>
            <a:bodyPr/>
            <a:lstStyle/>
            <a:p>
              <a:endParaRPr lang="en-IN"/>
            </a:p>
          </p:txBody>
        </p:sp>
        <p:sp>
          <p:nvSpPr>
            <p:cNvPr id="78" name="TextBox 78"/>
            <p:cNvSpPr txBox="1"/>
            <p:nvPr/>
          </p:nvSpPr>
          <p:spPr>
            <a:xfrm>
              <a:off x="0" y="0"/>
              <a:ext cx="10485120" cy="682752"/>
            </a:xfrm>
            <a:prstGeom prst="rect">
              <a:avLst/>
            </a:prstGeom>
          </p:spPr>
          <p:txBody>
            <a:bodyPr lIns="0" tIns="0" rIns="0" bIns="0" rtlCol="0" anchor="ctr"/>
            <a:lstStyle/>
            <a:p>
              <a:pPr algn="l">
                <a:lnSpc>
                  <a:spcPts val="2400"/>
                </a:lnSpc>
              </a:pPr>
              <a:r>
                <a:rPr lang="en-US" sz="2000" i="1" spc="100">
                  <a:solidFill>
                    <a:srgbClr val="253439"/>
                  </a:solidFill>
                  <a:latin typeface="Playfair Display Italics"/>
                  <a:ea typeface="Playfair Display Italics"/>
                  <a:cs typeface="Playfair Display Italics"/>
                  <a:sym typeface="Playfair Display Italics"/>
                </a:rPr>
                <a:t>Matrix Factorization Unification</a:t>
              </a:r>
            </a:p>
          </p:txBody>
        </p:sp>
      </p:grpSp>
      <p:grpSp>
        <p:nvGrpSpPr>
          <p:cNvPr id="79" name="Group 79"/>
          <p:cNvGrpSpPr/>
          <p:nvPr/>
        </p:nvGrpSpPr>
        <p:grpSpPr>
          <a:xfrm>
            <a:off x="9546336" y="6967728"/>
            <a:ext cx="7863840" cy="731520"/>
            <a:chOff x="0" y="0"/>
            <a:chExt cx="10485120" cy="975360"/>
          </a:xfrm>
        </p:grpSpPr>
        <p:sp>
          <p:nvSpPr>
            <p:cNvPr id="80" name="Freeform 80"/>
            <p:cNvSpPr/>
            <p:nvPr/>
          </p:nvSpPr>
          <p:spPr>
            <a:xfrm>
              <a:off x="0" y="0"/>
              <a:ext cx="10485120" cy="975360"/>
            </a:xfrm>
            <a:custGeom>
              <a:avLst/>
              <a:gdLst/>
              <a:ahLst/>
              <a:cxnLst/>
              <a:rect l="l" t="t" r="r" b="b"/>
              <a:pathLst>
                <a:path w="10485120" h="975360">
                  <a:moveTo>
                    <a:pt x="0" y="0"/>
                  </a:moveTo>
                  <a:lnTo>
                    <a:pt x="10485120" y="0"/>
                  </a:lnTo>
                  <a:lnTo>
                    <a:pt x="10485120" y="975360"/>
                  </a:lnTo>
                  <a:lnTo>
                    <a:pt x="0" y="975360"/>
                  </a:lnTo>
                  <a:close/>
                </a:path>
              </a:pathLst>
            </a:custGeom>
            <a:blipFill>
              <a:blip r:embed="rId3">
                <a:alphaModFix amt="0"/>
              </a:blip>
              <a:stretch>
                <a:fillRect t="-159464" b="-159464"/>
              </a:stretch>
            </a:blipFill>
          </p:spPr>
          <p:txBody>
            <a:bodyPr/>
            <a:lstStyle/>
            <a:p>
              <a:endParaRPr lang="en-IN"/>
            </a:p>
          </p:txBody>
        </p:sp>
        <p:sp>
          <p:nvSpPr>
            <p:cNvPr id="81" name="TextBox 81"/>
            <p:cNvSpPr txBox="1"/>
            <p:nvPr/>
          </p:nvSpPr>
          <p:spPr>
            <a:xfrm>
              <a:off x="0" y="0"/>
              <a:ext cx="10485120" cy="975360"/>
            </a:xfrm>
            <a:prstGeom prst="rect">
              <a:avLst/>
            </a:prstGeom>
          </p:spPr>
          <p:txBody>
            <a:bodyPr lIns="0" tIns="0" rIns="0" bIns="0" rtlCol="0" anchor="ctr"/>
            <a:lstStyle/>
            <a:p>
              <a:pPr algn="l">
                <a:lnSpc>
                  <a:spcPts val="2640"/>
                </a:lnSpc>
              </a:pPr>
              <a:r>
                <a:rPr lang="en-US" sz="2200" i="1" spc="109">
                  <a:solidFill>
                    <a:srgbClr val="253439"/>
                  </a:solidFill>
                  <a:latin typeface="Playfair Display Italics"/>
                  <a:ea typeface="Playfair Display Italics"/>
                  <a:cs typeface="Playfair Display Italics"/>
                  <a:sym typeface="Playfair Display Italics"/>
                </a:rPr>
                <a:t>Z⊤Z ≈ S_DW = log[vol(V)/T · ΣPᵗ · D⁻¹] − log(b)</a:t>
              </a: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253439"/>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0" y="0"/>
              <a:ext cx="24417910" cy="1789557"/>
            </a:xfrm>
            <a:custGeom>
              <a:avLst/>
              <a:gdLst/>
              <a:ahLst/>
              <a:cxnLst/>
              <a:rect l="l" t="t" r="r" b="b"/>
              <a:pathLst>
                <a:path w="24417910" h="1789557">
                  <a:moveTo>
                    <a:pt x="0" y="0"/>
                  </a:moveTo>
                  <a:lnTo>
                    <a:pt x="24417910" y="0"/>
                  </a:lnTo>
                  <a:lnTo>
                    <a:pt x="24417910" y="1789557"/>
                  </a:lnTo>
                  <a:lnTo>
                    <a:pt x="0" y="1789557"/>
                  </a:lnTo>
                  <a:close/>
                </a:path>
              </a:pathLst>
            </a:custGeom>
            <a:solidFill>
              <a:srgbClr val="FFFFFF"/>
            </a:solidFill>
            <a:ln w="25400" cap="sq">
              <a:solidFill>
                <a:srgbClr val="1A3461"/>
              </a:solidFill>
              <a:prstDash val="solid"/>
              <a:miter/>
            </a:ln>
          </p:spPr>
          <p:txBody>
            <a:bodyPr/>
            <a:lstStyle/>
            <a:p>
              <a:endParaRPr lang="en-IN"/>
            </a:p>
          </p:txBody>
        </p:sp>
      </p:grpSp>
      <p:grpSp>
        <p:nvGrpSpPr>
          <p:cNvPr id="4" name="Group 4"/>
          <p:cNvGrpSpPr/>
          <p:nvPr/>
        </p:nvGrpSpPr>
        <p:grpSpPr>
          <a:xfrm>
            <a:off x="731520" y="0"/>
            <a:ext cx="16824960" cy="1316736"/>
            <a:chOff x="0" y="0"/>
            <a:chExt cx="22433280" cy="1755648"/>
          </a:xfrm>
        </p:grpSpPr>
        <p:sp>
          <p:nvSpPr>
            <p:cNvPr id="5" name="Freeform 5"/>
            <p:cNvSpPr/>
            <p:nvPr/>
          </p:nvSpPr>
          <p:spPr>
            <a:xfrm>
              <a:off x="0" y="0"/>
              <a:ext cx="22433280" cy="1755648"/>
            </a:xfrm>
            <a:custGeom>
              <a:avLst/>
              <a:gdLst/>
              <a:ahLst/>
              <a:cxnLst/>
              <a:rect l="l" t="t" r="r" b="b"/>
              <a:pathLst>
                <a:path w="22433280" h="1755648">
                  <a:moveTo>
                    <a:pt x="0" y="0"/>
                  </a:moveTo>
                  <a:lnTo>
                    <a:pt x="22433280" y="0"/>
                  </a:lnTo>
                  <a:lnTo>
                    <a:pt x="22433280" y="1755648"/>
                  </a:lnTo>
                  <a:lnTo>
                    <a:pt x="0" y="1755648"/>
                  </a:lnTo>
                  <a:close/>
                </a:path>
              </a:pathLst>
            </a:custGeom>
            <a:blipFill>
              <a:blip r:embed="rId3">
                <a:alphaModFix amt="0"/>
              </a:blip>
              <a:stretch>
                <a:fillRect t="-198975" b="-198975"/>
              </a:stretch>
            </a:blipFill>
          </p:spPr>
          <p:txBody>
            <a:bodyPr/>
            <a:lstStyle/>
            <a:p>
              <a:endParaRPr lang="en-IN"/>
            </a:p>
          </p:txBody>
        </p:sp>
        <p:sp>
          <p:nvSpPr>
            <p:cNvPr id="6" name="TextBox 6"/>
            <p:cNvSpPr txBox="1"/>
            <p:nvPr/>
          </p:nvSpPr>
          <p:spPr>
            <a:xfrm>
              <a:off x="0" y="-9525"/>
              <a:ext cx="22433280" cy="1765173"/>
            </a:xfrm>
            <a:prstGeom prst="rect">
              <a:avLst/>
            </a:prstGeom>
          </p:spPr>
          <p:txBody>
            <a:bodyPr lIns="0" tIns="0" rIns="0" bIns="0" rtlCol="0" anchor="ctr"/>
            <a:lstStyle/>
            <a:p>
              <a:pPr algn="l">
                <a:lnSpc>
                  <a:spcPts val="4800"/>
                </a:lnSpc>
              </a:pPr>
              <a:r>
                <a:rPr lang="en-US" sz="4000" spc="560">
                  <a:solidFill>
                    <a:srgbClr val="253439"/>
                  </a:solidFill>
                  <a:latin typeface="Hammersmith One"/>
                  <a:ea typeface="Hammersmith One"/>
                  <a:cs typeface="Hammersmith One"/>
                  <a:sym typeface="Hammersmith One"/>
                </a:rPr>
                <a:t>KEY TAKEAWAYS</a:t>
              </a:r>
            </a:p>
          </p:txBody>
        </p:sp>
      </p:grpSp>
      <p:sp>
        <p:nvSpPr>
          <p:cNvPr id="8" name="Freeform 8"/>
          <p:cNvSpPr/>
          <p:nvPr/>
        </p:nvSpPr>
        <p:spPr>
          <a:xfrm>
            <a:off x="731520" y="73152"/>
            <a:ext cx="16459200" cy="402336"/>
          </a:xfrm>
          <a:custGeom>
            <a:avLst/>
            <a:gdLst/>
            <a:ahLst/>
            <a:cxnLst/>
            <a:rect l="l" t="t" r="r" b="b"/>
            <a:pathLst>
              <a:path w="21945600" h="536448">
                <a:moveTo>
                  <a:pt x="0" y="0"/>
                </a:moveTo>
                <a:lnTo>
                  <a:pt x="21945600" y="0"/>
                </a:lnTo>
                <a:lnTo>
                  <a:pt x="21945600" y="536448"/>
                </a:lnTo>
                <a:lnTo>
                  <a:pt x="0" y="536448"/>
                </a:lnTo>
                <a:close/>
              </a:path>
            </a:pathLst>
          </a:custGeom>
          <a:blipFill>
            <a:blip r:embed="rId3">
              <a:alphaModFix amt="0"/>
            </a:blip>
            <a:stretch>
              <a:fillRect t="-747115" b="-747115"/>
            </a:stretch>
          </a:blipFill>
        </p:spPr>
        <p:txBody>
          <a:bodyPr/>
          <a:lstStyle/>
          <a:p>
            <a:endParaRPr lang="en-IN"/>
          </a:p>
        </p:txBody>
      </p:sp>
      <p:grpSp>
        <p:nvGrpSpPr>
          <p:cNvPr id="10" name="Group 10"/>
          <p:cNvGrpSpPr/>
          <p:nvPr/>
        </p:nvGrpSpPr>
        <p:grpSpPr>
          <a:xfrm>
            <a:off x="901703" y="1816103"/>
            <a:ext cx="574043" cy="574043"/>
            <a:chOff x="0" y="0"/>
            <a:chExt cx="765391" cy="765391"/>
          </a:xfrm>
        </p:grpSpPr>
        <p:sp>
          <p:nvSpPr>
            <p:cNvPr id="11" name="Freeform 11"/>
            <p:cNvSpPr/>
            <p:nvPr/>
          </p:nvSpPr>
          <p:spPr>
            <a:xfrm>
              <a:off x="0" y="0"/>
              <a:ext cx="765429" cy="765429"/>
            </a:xfrm>
            <a:custGeom>
              <a:avLst/>
              <a:gdLst/>
              <a:ahLst/>
              <a:cxnLst/>
              <a:rect l="l" t="t" r="r" b="b"/>
              <a:pathLst>
                <a:path w="765429" h="765429">
                  <a:moveTo>
                    <a:pt x="0" y="382651"/>
                  </a:moveTo>
                  <a:cubicBezTo>
                    <a:pt x="0" y="171323"/>
                    <a:pt x="171323" y="0"/>
                    <a:pt x="382651" y="0"/>
                  </a:cubicBezTo>
                  <a:cubicBezTo>
                    <a:pt x="593979" y="0"/>
                    <a:pt x="765429" y="171323"/>
                    <a:pt x="765429" y="382651"/>
                  </a:cubicBezTo>
                  <a:cubicBezTo>
                    <a:pt x="765429" y="593979"/>
                    <a:pt x="594106" y="765429"/>
                    <a:pt x="382651" y="765429"/>
                  </a:cubicBezTo>
                  <a:cubicBezTo>
                    <a:pt x="171196" y="765429"/>
                    <a:pt x="0" y="594106"/>
                    <a:pt x="0" y="382651"/>
                  </a:cubicBezTo>
                  <a:close/>
                </a:path>
              </a:pathLst>
            </a:custGeom>
            <a:solidFill>
              <a:srgbClr val="FFFFFF"/>
            </a:solidFill>
            <a:ln w="25400" cap="sq">
              <a:solidFill>
                <a:srgbClr val="2CB9A0"/>
              </a:solidFill>
              <a:prstDash val="solid"/>
              <a:miter/>
            </a:ln>
          </p:spPr>
          <p:txBody>
            <a:bodyPr/>
            <a:lstStyle/>
            <a:p>
              <a:endParaRPr lang="en-IN"/>
            </a:p>
          </p:txBody>
        </p:sp>
      </p:grpSp>
      <p:grpSp>
        <p:nvGrpSpPr>
          <p:cNvPr id="12" name="Group 12"/>
          <p:cNvGrpSpPr/>
          <p:nvPr/>
        </p:nvGrpSpPr>
        <p:grpSpPr>
          <a:xfrm>
            <a:off x="1737360" y="1737360"/>
            <a:ext cx="15910560" cy="950976"/>
            <a:chOff x="0" y="0"/>
            <a:chExt cx="21214080" cy="1267968"/>
          </a:xfrm>
        </p:grpSpPr>
        <p:sp>
          <p:nvSpPr>
            <p:cNvPr id="13" name="Freeform 13"/>
            <p:cNvSpPr/>
            <p:nvPr/>
          </p:nvSpPr>
          <p:spPr>
            <a:xfrm>
              <a:off x="0" y="0"/>
              <a:ext cx="21214080" cy="1267968"/>
            </a:xfrm>
            <a:custGeom>
              <a:avLst/>
              <a:gdLst/>
              <a:ahLst/>
              <a:cxnLst/>
              <a:rect l="l" t="t" r="r" b="b"/>
              <a:pathLst>
                <a:path w="21214080" h="1267968">
                  <a:moveTo>
                    <a:pt x="0" y="0"/>
                  </a:moveTo>
                  <a:lnTo>
                    <a:pt x="21214080" y="0"/>
                  </a:lnTo>
                  <a:lnTo>
                    <a:pt x="21214080" y="1267968"/>
                  </a:lnTo>
                  <a:lnTo>
                    <a:pt x="0" y="1267968"/>
                  </a:lnTo>
                  <a:close/>
                </a:path>
              </a:pathLst>
            </a:custGeom>
            <a:blipFill>
              <a:blip r:embed="rId3">
                <a:alphaModFix amt="0"/>
              </a:blip>
              <a:stretch>
                <a:fillRect t="-275999" b="-275999"/>
              </a:stretch>
            </a:blipFill>
          </p:spPr>
          <p:txBody>
            <a:bodyPr/>
            <a:lstStyle/>
            <a:p>
              <a:endParaRPr lang="en-IN"/>
            </a:p>
          </p:txBody>
        </p:sp>
        <p:sp>
          <p:nvSpPr>
            <p:cNvPr id="14" name="TextBox 14"/>
            <p:cNvSpPr txBox="1"/>
            <p:nvPr/>
          </p:nvSpPr>
          <p:spPr>
            <a:xfrm>
              <a:off x="0" y="0"/>
              <a:ext cx="21214080" cy="1267968"/>
            </a:xfrm>
            <a:prstGeom prst="rect">
              <a:avLst/>
            </a:prstGeom>
          </p:spPr>
          <p:txBody>
            <a:bodyPr lIns="0" tIns="0" rIns="0" bIns="0" rtlCol="0" anchor="ctr"/>
            <a:lstStyle/>
            <a:p>
              <a:pPr algn="l">
                <a:lnSpc>
                  <a:spcPts val="3120"/>
                </a:lnSpc>
              </a:pPr>
              <a:r>
                <a:rPr lang="en-US" sz="2600" spc="52">
                  <a:solidFill>
                    <a:srgbClr val="FFFFFF"/>
                  </a:solidFill>
                  <a:latin typeface="Playfair Display"/>
                  <a:ea typeface="Playfair Display"/>
                  <a:cs typeface="Playfair Display"/>
                  <a:sym typeface="Playfair Display"/>
                </a:rPr>
                <a:t>Node embeddings map graph structure into low-dimensional vectors, enabling standard ML on graphs.</a:t>
              </a:r>
            </a:p>
          </p:txBody>
        </p:sp>
      </p:grpSp>
      <p:grpSp>
        <p:nvGrpSpPr>
          <p:cNvPr id="15" name="Group 15"/>
          <p:cNvGrpSpPr/>
          <p:nvPr/>
        </p:nvGrpSpPr>
        <p:grpSpPr>
          <a:xfrm>
            <a:off x="901703" y="3004823"/>
            <a:ext cx="574043" cy="574043"/>
            <a:chOff x="0" y="0"/>
            <a:chExt cx="765391" cy="765391"/>
          </a:xfrm>
        </p:grpSpPr>
        <p:sp>
          <p:nvSpPr>
            <p:cNvPr id="16" name="Freeform 16"/>
            <p:cNvSpPr/>
            <p:nvPr/>
          </p:nvSpPr>
          <p:spPr>
            <a:xfrm>
              <a:off x="0" y="0"/>
              <a:ext cx="765429" cy="765429"/>
            </a:xfrm>
            <a:custGeom>
              <a:avLst/>
              <a:gdLst/>
              <a:ahLst/>
              <a:cxnLst/>
              <a:rect l="l" t="t" r="r" b="b"/>
              <a:pathLst>
                <a:path w="765429" h="765429">
                  <a:moveTo>
                    <a:pt x="0" y="382651"/>
                  </a:moveTo>
                  <a:cubicBezTo>
                    <a:pt x="0" y="171323"/>
                    <a:pt x="171323" y="0"/>
                    <a:pt x="382651" y="0"/>
                  </a:cubicBezTo>
                  <a:cubicBezTo>
                    <a:pt x="593979" y="0"/>
                    <a:pt x="765429" y="171323"/>
                    <a:pt x="765429" y="382651"/>
                  </a:cubicBezTo>
                  <a:cubicBezTo>
                    <a:pt x="765429" y="593979"/>
                    <a:pt x="594106" y="765429"/>
                    <a:pt x="382651" y="765429"/>
                  </a:cubicBezTo>
                  <a:cubicBezTo>
                    <a:pt x="171196" y="765429"/>
                    <a:pt x="0" y="594106"/>
                    <a:pt x="0" y="382651"/>
                  </a:cubicBezTo>
                  <a:close/>
                </a:path>
              </a:pathLst>
            </a:custGeom>
            <a:solidFill>
              <a:srgbClr val="FFFFFF"/>
            </a:solidFill>
            <a:ln w="25400" cap="sq">
              <a:solidFill>
                <a:srgbClr val="2CB9A0"/>
              </a:solidFill>
              <a:prstDash val="solid"/>
              <a:miter/>
            </a:ln>
          </p:spPr>
          <p:txBody>
            <a:bodyPr/>
            <a:lstStyle/>
            <a:p>
              <a:endParaRPr lang="en-IN"/>
            </a:p>
          </p:txBody>
        </p:sp>
      </p:grpSp>
      <p:grpSp>
        <p:nvGrpSpPr>
          <p:cNvPr id="17" name="Group 17"/>
          <p:cNvGrpSpPr/>
          <p:nvPr/>
        </p:nvGrpSpPr>
        <p:grpSpPr>
          <a:xfrm>
            <a:off x="1737360" y="2926080"/>
            <a:ext cx="15910560" cy="950976"/>
            <a:chOff x="0" y="0"/>
            <a:chExt cx="21214080" cy="1267968"/>
          </a:xfrm>
        </p:grpSpPr>
        <p:sp>
          <p:nvSpPr>
            <p:cNvPr id="18" name="Freeform 18"/>
            <p:cNvSpPr/>
            <p:nvPr/>
          </p:nvSpPr>
          <p:spPr>
            <a:xfrm>
              <a:off x="0" y="0"/>
              <a:ext cx="21214080" cy="1267968"/>
            </a:xfrm>
            <a:custGeom>
              <a:avLst/>
              <a:gdLst/>
              <a:ahLst/>
              <a:cxnLst/>
              <a:rect l="l" t="t" r="r" b="b"/>
              <a:pathLst>
                <a:path w="21214080" h="1267968">
                  <a:moveTo>
                    <a:pt x="0" y="0"/>
                  </a:moveTo>
                  <a:lnTo>
                    <a:pt x="21214080" y="0"/>
                  </a:lnTo>
                  <a:lnTo>
                    <a:pt x="21214080" y="1267968"/>
                  </a:lnTo>
                  <a:lnTo>
                    <a:pt x="0" y="1267968"/>
                  </a:lnTo>
                  <a:close/>
                </a:path>
              </a:pathLst>
            </a:custGeom>
            <a:blipFill>
              <a:blip r:embed="rId3">
                <a:alphaModFix amt="0"/>
              </a:blip>
              <a:stretch>
                <a:fillRect t="-275999" b="-275999"/>
              </a:stretch>
            </a:blipFill>
          </p:spPr>
          <p:txBody>
            <a:bodyPr/>
            <a:lstStyle/>
            <a:p>
              <a:endParaRPr lang="en-IN"/>
            </a:p>
          </p:txBody>
        </p:sp>
        <p:sp>
          <p:nvSpPr>
            <p:cNvPr id="19" name="TextBox 19"/>
            <p:cNvSpPr txBox="1"/>
            <p:nvPr/>
          </p:nvSpPr>
          <p:spPr>
            <a:xfrm>
              <a:off x="0" y="0"/>
              <a:ext cx="21214080" cy="1267968"/>
            </a:xfrm>
            <a:prstGeom prst="rect">
              <a:avLst/>
            </a:prstGeom>
          </p:spPr>
          <p:txBody>
            <a:bodyPr lIns="0" tIns="0" rIns="0" bIns="0" rtlCol="0" anchor="ctr"/>
            <a:lstStyle/>
            <a:p>
              <a:pPr algn="l">
                <a:lnSpc>
                  <a:spcPts val="3120"/>
                </a:lnSpc>
              </a:pPr>
              <a:r>
                <a:rPr lang="en-US" sz="2600" spc="52">
                  <a:solidFill>
                    <a:srgbClr val="FFFFFF"/>
                  </a:solidFill>
                  <a:latin typeface="Playfair Display"/>
                  <a:ea typeface="Playfair Display"/>
                  <a:cs typeface="Playfair Display"/>
                  <a:sym typeface="Playfair Display"/>
                </a:rPr>
                <a:t>All shallow methods follow one framework: Encoder → Embeddings → Decoder → Similarity → Loss.</a:t>
              </a:r>
            </a:p>
          </p:txBody>
        </p:sp>
      </p:grpSp>
      <p:grpSp>
        <p:nvGrpSpPr>
          <p:cNvPr id="20" name="Group 20"/>
          <p:cNvGrpSpPr/>
          <p:nvPr/>
        </p:nvGrpSpPr>
        <p:grpSpPr>
          <a:xfrm>
            <a:off x="901703" y="4193543"/>
            <a:ext cx="574043" cy="574043"/>
            <a:chOff x="0" y="0"/>
            <a:chExt cx="765391" cy="765391"/>
          </a:xfrm>
        </p:grpSpPr>
        <p:sp>
          <p:nvSpPr>
            <p:cNvPr id="21" name="Freeform 21"/>
            <p:cNvSpPr/>
            <p:nvPr/>
          </p:nvSpPr>
          <p:spPr>
            <a:xfrm>
              <a:off x="0" y="0"/>
              <a:ext cx="765429" cy="765429"/>
            </a:xfrm>
            <a:custGeom>
              <a:avLst/>
              <a:gdLst/>
              <a:ahLst/>
              <a:cxnLst/>
              <a:rect l="l" t="t" r="r" b="b"/>
              <a:pathLst>
                <a:path w="765429" h="765429">
                  <a:moveTo>
                    <a:pt x="0" y="382651"/>
                  </a:moveTo>
                  <a:cubicBezTo>
                    <a:pt x="0" y="171323"/>
                    <a:pt x="171323" y="0"/>
                    <a:pt x="382651" y="0"/>
                  </a:cubicBezTo>
                  <a:cubicBezTo>
                    <a:pt x="593979" y="0"/>
                    <a:pt x="765429" y="171323"/>
                    <a:pt x="765429" y="382651"/>
                  </a:cubicBezTo>
                  <a:cubicBezTo>
                    <a:pt x="765429" y="593979"/>
                    <a:pt x="594106" y="765429"/>
                    <a:pt x="382651" y="765429"/>
                  </a:cubicBezTo>
                  <a:cubicBezTo>
                    <a:pt x="171196" y="765429"/>
                    <a:pt x="0" y="594106"/>
                    <a:pt x="0" y="382651"/>
                  </a:cubicBezTo>
                  <a:close/>
                </a:path>
              </a:pathLst>
            </a:custGeom>
            <a:solidFill>
              <a:srgbClr val="FFFFFF"/>
            </a:solidFill>
            <a:ln w="25400" cap="sq">
              <a:solidFill>
                <a:srgbClr val="2CB9A0"/>
              </a:solidFill>
              <a:prstDash val="solid"/>
              <a:miter/>
            </a:ln>
          </p:spPr>
          <p:txBody>
            <a:bodyPr/>
            <a:lstStyle/>
            <a:p>
              <a:endParaRPr lang="en-IN"/>
            </a:p>
          </p:txBody>
        </p:sp>
      </p:grpSp>
      <p:grpSp>
        <p:nvGrpSpPr>
          <p:cNvPr id="22" name="Group 22"/>
          <p:cNvGrpSpPr/>
          <p:nvPr/>
        </p:nvGrpSpPr>
        <p:grpSpPr>
          <a:xfrm>
            <a:off x="1737360" y="4114800"/>
            <a:ext cx="15910560" cy="950976"/>
            <a:chOff x="0" y="0"/>
            <a:chExt cx="21214080" cy="1267968"/>
          </a:xfrm>
        </p:grpSpPr>
        <p:sp>
          <p:nvSpPr>
            <p:cNvPr id="23" name="Freeform 23"/>
            <p:cNvSpPr/>
            <p:nvPr/>
          </p:nvSpPr>
          <p:spPr>
            <a:xfrm>
              <a:off x="0" y="0"/>
              <a:ext cx="21214080" cy="1267968"/>
            </a:xfrm>
            <a:custGeom>
              <a:avLst/>
              <a:gdLst/>
              <a:ahLst/>
              <a:cxnLst/>
              <a:rect l="l" t="t" r="r" b="b"/>
              <a:pathLst>
                <a:path w="21214080" h="1267968">
                  <a:moveTo>
                    <a:pt x="0" y="0"/>
                  </a:moveTo>
                  <a:lnTo>
                    <a:pt x="21214080" y="0"/>
                  </a:lnTo>
                  <a:lnTo>
                    <a:pt x="21214080" y="1267968"/>
                  </a:lnTo>
                  <a:lnTo>
                    <a:pt x="0" y="1267968"/>
                  </a:lnTo>
                  <a:close/>
                </a:path>
              </a:pathLst>
            </a:custGeom>
            <a:blipFill>
              <a:blip r:embed="rId3">
                <a:alphaModFix amt="0"/>
              </a:blip>
              <a:stretch>
                <a:fillRect t="-275999" b="-275999"/>
              </a:stretch>
            </a:blipFill>
          </p:spPr>
          <p:txBody>
            <a:bodyPr/>
            <a:lstStyle/>
            <a:p>
              <a:endParaRPr lang="en-IN"/>
            </a:p>
          </p:txBody>
        </p:sp>
        <p:sp>
          <p:nvSpPr>
            <p:cNvPr id="24" name="TextBox 24"/>
            <p:cNvSpPr txBox="1"/>
            <p:nvPr/>
          </p:nvSpPr>
          <p:spPr>
            <a:xfrm>
              <a:off x="0" y="0"/>
              <a:ext cx="21214080" cy="1267968"/>
            </a:xfrm>
            <a:prstGeom prst="rect">
              <a:avLst/>
            </a:prstGeom>
          </p:spPr>
          <p:txBody>
            <a:bodyPr lIns="0" tIns="0" rIns="0" bIns="0" rtlCol="0" anchor="ctr"/>
            <a:lstStyle/>
            <a:p>
              <a:pPr algn="l">
                <a:lnSpc>
                  <a:spcPts val="3120"/>
                </a:lnSpc>
              </a:pPr>
              <a:r>
                <a:rPr lang="en-US" sz="2600" spc="52">
                  <a:solidFill>
                    <a:srgbClr val="FFFFFF"/>
                  </a:solidFill>
                  <a:latin typeface="Playfair Display"/>
                  <a:ea typeface="Playfair Display"/>
                  <a:cs typeface="Playfair Display"/>
                  <a:sym typeface="Playfair Display"/>
                </a:rPr>
                <a:t>Factorization methods (Lap. Eigenmaps, GF, GraRep, HOPE) use deterministic similarity matrices S.</a:t>
              </a:r>
            </a:p>
          </p:txBody>
        </p:sp>
      </p:grpSp>
      <p:grpSp>
        <p:nvGrpSpPr>
          <p:cNvPr id="25" name="Group 25"/>
          <p:cNvGrpSpPr/>
          <p:nvPr/>
        </p:nvGrpSpPr>
        <p:grpSpPr>
          <a:xfrm>
            <a:off x="901703" y="5382263"/>
            <a:ext cx="574043" cy="574043"/>
            <a:chOff x="0" y="0"/>
            <a:chExt cx="765391" cy="765391"/>
          </a:xfrm>
        </p:grpSpPr>
        <p:sp>
          <p:nvSpPr>
            <p:cNvPr id="26" name="Freeform 26"/>
            <p:cNvSpPr/>
            <p:nvPr/>
          </p:nvSpPr>
          <p:spPr>
            <a:xfrm>
              <a:off x="0" y="0"/>
              <a:ext cx="765429" cy="765429"/>
            </a:xfrm>
            <a:custGeom>
              <a:avLst/>
              <a:gdLst/>
              <a:ahLst/>
              <a:cxnLst/>
              <a:rect l="l" t="t" r="r" b="b"/>
              <a:pathLst>
                <a:path w="765429" h="765429">
                  <a:moveTo>
                    <a:pt x="0" y="382651"/>
                  </a:moveTo>
                  <a:cubicBezTo>
                    <a:pt x="0" y="171323"/>
                    <a:pt x="171323" y="0"/>
                    <a:pt x="382651" y="0"/>
                  </a:cubicBezTo>
                  <a:cubicBezTo>
                    <a:pt x="593979" y="0"/>
                    <a:pt x="765429" y="171323"/>
                    <a:pt x="765429" y="382651"/>
                  </a:cubicBezTo>
                  <a:cubicBezTo>
                    <a:pt x="765429" y="593979"/>
                    <a:pt x="594106" y="765429"/>
                    <a:pt x="382651" y="765429"/>
                  </a:cubicBezTo>
                  <a:cubicBezTo>
                    <a:pt x="171196" y="765429"/>
                    <a:pt x="0" y="594106"/>
                    <a:pt x="0" y="382651"/>
                  </a:cubicBezTo>
                  <a:close/>
                </a:path>
              </a:pathLst>
            </a:custGeom>
            <a:solidFill>
              <a:srgbClr val="FFFFFF"/>
            </a:solidFill>
            <a:ln w="25400" cap="sq">
              <a:solidFill>
                <a:srgbClr val="2CB9A0"/>
              </a:solidFill>
              <a:prstDash val="solid"/>
              <a:miter/>
            </a:ln>
          </p:spPr>
          <p:txBody>
            <a:bodyPr/>
            <a:lstStyle/>
            <a:p>
              <a:endParaRPr lang="en-IN"/>
            </a:p>
          </p:txBody>
        </p:sp>
      </p:grpSp>
      <p:grpSp>
        <p:nvGrpSpPr>
          <p:cNvPr id="27" name="Group 27"/>
          <p:cNvGrpSpPr/>
          <p:nvPr/>
        </p:nvGrpSpPr>
        <p:grpSpPr>
          <a:xfrm>
            <a:off x="1737360" y="5303520"/>
            <a:ext cx="15910560" cy="950976"/>
            <a:chOff x="0" y="0"/>
            <a:chExt cx="21214080" cy="1267968"/>
          </a:xfrm>
        </p:grpSpPr>
        <p:sp>
          <p:nvSpPr>
            <p:cNvPr id="28" name="Freeform 28"/>
            <p:cNvSpPr/>
            <p:nvPr/>
          </p:nvSpPr>
          <p:spPr>
            <a:xfrm>
              <a:off x="0" y="0"/>
              <a:ext cx="21214080" cy="1267968"/>
            </a:xfrm>
            <a:custGeom>
              <a:avLst/>
              <a:gdLst/>
              <a:ahLst/>
              <a:cxnLst/>
              <a:rect l="l" t="t" r="r" b="b"/>
              <a:pathLst>
                <a:path w="21214080" h="1267968">
                  <a:moveTo>
                    <a:pt x="0" y="0"/>
                  </a:moveTo>
                  <a:lnTo>
                    <a:pt x="21214080" y="0"/>
                  </a:lnTo>
                  <a:lnTo>
                    <a:pt x="21214080" y="1267968"/>
                  </a:lnTo>
                  <a:lnTo>
                    <a:pt x="0" y="1267968"/>
                  </a:lnTo>
                  <a:close/>
                </a:path>
              </a:pathLst>
            </a:custGeom>
            <a:blipFill>
              <a:blip r:embed="rId3">
                <a:alphaModFix amt="0"/>
              </a:blip>
              <a:stretch>
                <a:fillRect t="-275999" b="-275999"/>
              </a:stretch>
            </a:blipFill>
          </p:spPr>
          <p:txBody>
            <a:bodyPr/>
            <a:lstStyle/>
            <a:p>
              <a:endParaRPr lang="en-IN"/>
            </a:p>
          </p:txBody>
        </p:sp>
        <p:sp>
          <p:nvSpPr>
            <p:cNvPr id="29" name="TextBox 29"/>
            <p:cNvSpPr txBox="1"/>
            <p:nvPr/>
          </p:nvSpPr>
          <p:spPr>
            <a:xfrm>
              <a:off x="0" y="0"/>
              <a:ext cx="21214080" cy="1267968"/>
            </a:xfrm>
            <a:prstGeom prst="rect">
              <a:avLst/>
            </a:prstGeom>
          </p:spPr>
          <p:txBody>
            <a:bodyPr lIns="0" tIns="0" rIns="0" bIns="0" rtlCol="0" anchor="ctr"/>
            <a:lstStyle/>
            <a:p>
              <a:pPr algn="l">
                <a:lnSpc>
                  <a:spcPts val="3120"/>
                </a:lnSpc>
              </a:pPr>
              <a:r>
                <a:rPr lang="en-US" sz="2600" spc="52" dirty="0">
                  <a:solidFill>
                    <a:srgbClr val="FFFFFF"/>
                  </a:solidFill>
                  <a:latin typeface="Playfair Display"/>
                  <a:ea typeface="Playfair Display"/>
                  <a:cs typeface="Playfair Display"/>
                  <a:sym typeface="Playfair Display"/>
                </a:rPr>
                <a:t>DeepWalk uses random walks + softmax decoder + hierarchical softmax to scale to large graphs.</a:t>
              </a:r>
            </a:p>
          </p:txBody>
        </p:sp>
      </p:grpSp>
      <p:grpSp>
        <p:nvGrpSpPr>
          <p:cNvPr id="30" name="Group 30"/>
          <p:cNvGrpSpPr/>
          <p:nvPr/>
        </p:nvGrpSpPr>
        <p:grpSpPr>
          <a:xfrm>
            <a:off x="901703" y="6570983"/>
            <a:ext cx="574043" cy="574043"/>
            <a:chOff x="0" y="0"/>
            <a:chExt cx="765391" cy="765391"/>
          </a:xfrm>
        </p:grpSpPr>
        <p:sp>
          <p:nvSpPr>
            <p:cNvPr id="31" name="Freeform 31"/>
            <p:cNvSpPr/>
            <p:nvPr/>
          </p:nvSpPr>
          <p:spPr>
            <a:xfrm>
              <a:off x="0" y="0"/>
              <a:ext cx="765429" cy="765429"/>
            </a:xfrm>
            <a:custGeom>
              <a:avLst/>
              <a:gdLst/>
              <a:ahLst/>
              <a:cxnLst/>
              <a:rect l="l" t="t" r="r" b="b"/>
              <a:pathLst>
                <a:path w="765429" h="765429">
                  <a:moveTo>
                    <a:pt x="0" y="382651"/>
                  </a:moveTo>
                  <a:cubicBezTo>
                    <a:pt x="0" y="171323"/>
                    <a:pt x="171323" y="0"/>
                    <a:pt x="382651" y="0"/>
                  </a:cubicBezTo>
                  <a:cubicBezTo>
                    <a:pt x="593979" y="0"/>
                    <a:pt x="765429" y="171323"/>
                    <a:pt x="765429" y="382651"/>
                  </a:cubicBezTo>
                  <a:cubicBezTo>
                    <a:pt x="765429" y="593979"/>
                    <a:pt x="594106" y="765429"/>
                    <a:pt x="382651" y="765429"/>
                  </a:cubicBezTo>
                  <a:cubicBezTo>
                    <a:pt x="171196" y="765429"/>
                    <a:pt x="0" y="594106"/>
                    <a:pt x="0" y="382651"/>
                  </a:cubicBezTo>
                  <a:close/>
                </a:path>
              </a:pathLst>
            </a:custGeom>
            <a:solidFill>
              <a:srgbClr val="FFFFFF"/>
            </a:solidFill>
            <a:ln w="25400" cap="sq">
              <a:solidFill>
                <a:srgbClr val="2CB9A0"/>
              </a:solidFill>
              <a:prstDash val="solid"/>
              <a:miter/>
            </a:ln>
          </p:spPr>
          <p:txBody>
            <a:bodyPr/>
            <a:lstStyle/>
            <a:p>
              <a:endParaRPr lang="en-IN"/>
            </a:p>
          </p:txBody>
        </p:sp>
      </p:grpSp>
      <p:grpSp>
        <p:nvGrpSpPr>
          <p:cNvPr id="32" name="Group 32"/>
          <p:cNvGrpSpPr/>
          <p:nvPr/>
        </p:nvGrpSpPr>
        <p:grpSpPr>
          <a:xfrm>
            <a:off x="1737360" y="6492240"/>
            <a:ext cx="15910560" cy="950976"/>
            <a:chOff x="0" y="0"/>
            <a:chExt cx="21214080" cy="1267968"/>
          </a:xfrm>
        </p:grpSpPr>
        <p:sp>
          <p:nvSpPr>
            <p:cNvPr id="33" name="Freeform 33"/>
            <p:cNvSpPr/>
            <p:nvPr/>
          </p:nvSpPr>
          <p:spPr>
            <a:xfrm>
              <a:off x="0" y="0"/>
              <a:ext cx="21214080" cy="1267968"/>
            </a:xfrm>
            <a:custGeom>
              <a:avLst/>
              <a:gdLst/>
              <a:ahLst/>
              <a:cxnLst/>
              <a:rect l="l" t="t" r="r" b="b"/>
              <a:pathLst>
                <a:path w="21214080" h="1267968">
                  <a:moveTo>
                    <a:pt x="0" y="0"/>
                  </a:moveTo>
                  <a:lnTo>
                    <a:pt x="21214080" y="0"/>
                  </a:lnTo>
                  <a:lnTo>
                    <a:pt x="21214080" y="1267968"/>
                  </a:lnTo>
                  <a:lnTo>
                    <a:pt x="0" y="1267968"/>
                  </a:lnTo>
                  <a:close/>
                </a:path>
              </a:pathLst>
            </a:custGeom>
            <a:blipFill>
              <a:blip r:embed="rId3">
                <a:alphaModFix amt="0"/>
              </a:blip>
              <a:stretch>
                <a:fillRect t="-275999" b="-275999"/>
              </a:stretch>
            </a:blipFill>
          </p:spPr>
          <p:txBody>
            <a:bodyPr/>
            <a:lstStyle/>
            <a:p>
              <a:endParaRPr lang="en-IN"/>
            </a:p>
          </p:txBody>
        </p:sp>
        <p:sp>
          <p:nvSpPr>
            <p:cNvPr id="34" name="TextBox 34"/>
            <p:cNvSpPr txBox="1"/>
            <p:nvPr/>
          </p:nvSpPr>
          <p:spPr>
            <a:xfrm>
              <a:off x="0" y="0"/>
              <a:ext cx="21214080" cy="1267968"/>
            </a:xfrm>
            <a:prstGeom prst="rect">
              <a:avLst/>
            </a:prstGeom>
          </p:spPr>
          <p:txBody>
            <a:bodyPr lIns="0" tIns="0" rIns="0" bIns="0" rtlCol="0" anchor="ctr"/>
            <a:lstStyle/>
            <a:p>
              <a:pPr algn="l">
                <a:lnSpc>
                  <a:spcPts val="3120"/>
                </a:lnSpc>
              </a:pPr>
              <a:r>
                <a:rPr lang="en-US" sz="2600" spc="52">
                  <a:solidFill>
                    <a:srgbClr val="FFFFFF"/>
                  </a:solidFill>
                  <a:latin typeface="Playfair Display"/>
                  <a:ea typeface="Playfair Display"/>
                  <a:cs typeface="Playfair Display"/>
                  <a:sym typeface="Playfair Display"/>
                </a:rPr>
                <a:t>node2vec adds biased walks (p,q parameters) to interpolate between BFS and DFS exploration.</a:t>
              </a:r>
            </a:p>
          </p:txBody>
        </p:sp>
      </p:grpSp>
      <p:grpSp>
        <p:nvGrpSpPr>
          <p:cNvPr id="35" name="Group 35"/>
          <p:cNvGrpSpPr/>
          <p:nvPr/>
        </p:nvGrpSpPr>
        <p:grpSpPr>
          <a:xfrm>
            <a:off x="901703" y="7759703"/>
            <a:ext cx="574043" cy="574043"/>
            <a:chOff x="0" y="0"/>
            <a:chExt cx="765391" cy="765391"/>
          </a:xfrm>
        </p:grpSpPr>
        <p:sp>
          <p:nvSpPr>
            <p:cNvPr id="36" name="Freeform 36"/>
            <p:cNvSpPr/>
            <p:nvPr/>
          </p:nvSpPr>
          <p:spPr>
            <a:xfrm>
              <a:off x="0" y="0"/>
              <a:ext cx="765429" cy="765429"/>
            </a:xfrm>
            <a:custGeom>
              <a:avLst/>
              <a:gdLst/>
              <a:ahLst/>
              <a:cxnLst/>
              <a:rect l="l" t="t" r="r" b="b"/>
              <a:pathLst>
                <a:path w="765429" h="765429">
                  <a:moveTo>
                    <a:pt x="0" y="382651"/>
                  </a:moveTo>
                  <a:cubicBezTo>
                    <a:pt x="0" y="171323"/>
                    <a:pt x="171323" y="0"/>
                    <a:pt x="382651" y="0"/>
                  </a:cubicBezTo>
                  <a:cubicBezTo>
                    <a:pt x="593979" y="0"/>
                    <a:pt x="765429" y="171323"/>
                    <a:pt x="765429" y="382651"/>
                  </a:cubicBezTo>
                  <a:cubicBezTo>
                    <a:pt x="765429" y="593979"/>
                    <a:pt x="594106" y="765429"/>
                    <a:pt x="382651" y="765429"/>
                  </a:cubicBezTo>
                  <a:cubicBezTo>
                    <a:pt x="171196" y="765429"/>
                    <a:pt x="0" y="594106"/>
                    <a:pt x="0" y="382651"/>
                  </a:cubicBezTo>
                  <a:close/>
                </a:path>
              </a:pathLst>
            </a:custGeom>
            <a:solidFill>
              <a:srgbClr val="FFFFFF"/>
            </a:solidFill>
            <a:ln w="25400" cap="sq">
              <a:solidFill>
                <a:srgbClr val="2CB9A0"/>
              </a:solidFill>
              <a:prstDash val="solid"/>
              <a:miter/>
            </a:ln>
          </p:spPr>
          <p:txBody>
            <a:bodyPr/>
            <a:lstStyle/>
            <a:p>
              <a:endParaRPr lang="en-IN"/>
            </a:p>
          </p:txBody>
        </p:sp>
      </p:grpSp>
      <p:grpSp>
        <p:nvGrpSpPr>
          <p:cNvPr id="37" name="Group 37"/>
          <p:cNvGrpSpPr/>
          <p:nvPr/>
        </p:nvGrpSpPr>
        <p:grpSpPr>
          <a:xfrm>
            <a:off x="1737360" y="7680960"/>
            <a:ext cx="15910560" cy="950976"/>
            <a:chOff x="0" y="0"/>
            <a:chExt cx="21214080" cy="1267968"/>
          </a:xfrm>
        </p:grpSpPr>
        <p:sp>
          <p:nvSpPr>
            <p:cNvPr id="38" name="Freeform 38"/>
            <p:cNvSpPr/>
            <p:nvPr/>
          </p:nvSpPr>
          <p:spPr>
            <a:xfrm>
              <a:off x="0" y="0"/>
              <a:ext cx="21214080" cy="1267968"/>
            </a:xfrm>
            <a:custGeom>
              <a:avLst/>
              <a:gdLst/>
              <a:ahLst/>
              <a:cxnLst/>
              <a:rect l="l" t="t" r="r" b="b"/>
              <a:pathLst>
                <a:path w="21214080" h="1267968">
                  <a:moveTo>
                    <a:pt x="0" y="0"/>
                  </a:moveTo>
                  <a:lnTo>
                    <a:pt x="21214080" y="0"/>
                  </a:lnTo>
                  <a:lnTo>
                    <a:pt x="21214080" y="1267968"/>
                  </a:lnTo>
                  <a:lnTo>
                    <a:pt x="0" y="1267968"/>
                  </a:lnTo>
                  <a:close/>
                </a:path>
              </a:pathLst>
            </a:custGeom>
            <a:blipFill>
              <a:blip r:embed="rId3">
                <a:alphaModFix amt="0"/>
              </a:blip>
              <a:stretch>
                <a:fillRect t="-275999" b="-275999"/>
              </a:stretch>
            </a:blipFill>
          </p:spPr>
          <p:txBody>
            <a:bodyPr/>
            <a:lstStyle/>
            <a:p>
              <a:endParaRPr lang="en-IN"/>
            </a:p>
          </p:txBody>
        </p:sp>
        <p:sp>
          <p:nvSpPr>
            <p:cNvPr id="39" name="TextBox 39"/>
            <p:cNvSpPr txBox="1"/>
            <p:nvPr/>
          </p:nvSpPr>
          <p:spPr>
            <a:xfrm>
              <a:off x="0" y="0"/>
              <a:ext cx="21214080" cy="1267968"/>
            </a:xfrm>
            <a:prstGeom prst="rect">
              <a:avLst/>
            </a:prstGeom>
          </p:spPr>
          <p:txBody>
            <a:bodyPr lIns="0" tIns="0" rIns="0" bIns="0" rtlCol="0" anchor="ctr"/>
            <a:lstStyle/>
            <a:p>
              <a:pPr algn="l">
                <a:lnSpc>
                  <a:spcPts val="3120"/>
                </a:lnSpc>
              </a:pPr>
              <a:r>
                <a:rPr lang="en-US" sz="2600" spc="52">
                  <a:solidFill>
                    <a:srgbClr val="FFFFFF"/>
                  </a:solidFill>
                  <a:latin typeface="Playfair Display"/>
                  <a:ea typeface="Playfair Display"/>
                  <a:cs typeface="Playfair Display"/>
                  <a:sym typeface="Playfair Display"/>
                </a:rPr>
                <a:t>Qiu et al. (2018) proved: DeepWalk is secretly factorizing a specific log-transformed matrix S_DW.</a:t>
              </a:r>
            </a:p>
          </p:txBody>
        </p:sp>
      </p:grpSp>
      <p:grpSp>
        <p:nvGrpSpPr>
          <p:cNvPr id="40" name="Group 40"/>
          <p:cNvGrpSpPr/>
          <p:nvPr/>
        </p:nvGrpSpPr>
        <p:grpSpPr>
          <a:xfrm>
            <a:off x="901703" y="8948423"/>
            <a:ext cx="574043" cy="574043"/>
            <a:chOff x="0" y="0"/>
            <a:chExt cx="765391" cy="765391"/>
          </a:xfrm>
        </p:grpSpPr>
        <p:sp>
          <p:nvSpPr>
            <p:cNvPr id="41" name="Freeform 41"/>
            <p:cNvSpPr/>
            <p:nvPr/>
          </p:nvSpPr>
          <p:spPr>
            <a:xfrm>
              <a:off x="0" y="0"/>
              <a:ext cx="765429" cy="765429"/>
            </a:xfrm>
            <a:custGeom>
              <a:avLst/>
              <a:gdLst/>
              <a:ahLst/>
              <a:cxnLst/>
              <a:rect l="l" t="t" r="r" b="b"/>
              <a:pathLst>
                <a:path w="765429" h="765429">
                  <a:moveTo>
                    <a:pt x="0" y="382651"/>
                  </a:moveTo>
                  <a:cubicBezTo>
                    <a:pt x="0" y="171323"/>
                    <a:pt x="171323" y="0"/>
                    <a:pt x="382651" y="0"/>
                  </a:cubicBezTo>
                  <a:cubicBezTo>
                    <a:pt x="593979" y="0"/>
                    <a:pt x="765429" y="171323"/>
                    <a:pt x="765429" y="382651"/>
                  </a:cubicBezTo>
                  <a:cubicBezTo>
                    <a:pt x="765429" y="593979"/>
                    <a:pt x="594106" y="765429"/>
                    <a:pt x="382651" y="765429"/>
                  </a:cubicBezTo>
                  <a:cubicBezTo>
                    <a:pt x="171196" y="765429"/>
                    <a:pt x="0" y="594106"/>
                    <a:pt x="0" y="382651"/>
                  </a:cubicBezTo>
                  <a:close/>
                </a:path>
              </a:pathLst>
            </a:custGeom>
            <a:solidFill>
              <a:srgbClr val="FFFFFF"/>
            </a:solidFill>
            <a:ln w="25400" cap="sq">
              <a:solidFill>
                <a:srgbClr val="2CB9A0"/>
              </a:solidFill>
              <a:prstDash val="solid"/>
              <a:miter/>
            </a:ln>
          </p:spPr>
          <p:txBody>
            <a:bodyPr/>
            <a:lstStyle/>
            <a:p>
              <a:endParaRPr lang="en-IN"/>
            </a:p>
          </p:txBody>
        </p:sp>
      </p:grpSp>
      <p:grpSp>
        <p:nvGrpSpPr>
          <p:cNvPr id="42" name="Group 42"/>
          <p:cNvGrpSpPr/>
          <p:nvPr/>
        </p:nvGrpSpPr>
        <p:grpSpPr>
          <a:xfrm>
            <a:off x="1737360" y="8869680"/>
            <a:ext cx="15910560" cy="950976"/>
            <a:chOff x="0" y="0"/>
            <a:chExt cx="21214080" cy="1267968"/>
          </a:xfrm>
        </p:grpSpPr>
        <p:sp>
          <p:nvSpPr>
            <p:cNvPr id="43" name="Freeform 43"/>
            <p:cNvSpPr/>
            <p:nvPr/>
          </p:nvSpPr>
          <p:spPr>
            <a:xfrm>
              <a:off x="0" y="0"/>
              <a:ext cx="21214080" cy="1267968"/>
            </a:xfrm>
            <a:custGeom>
              <a:avLst/>
              <a:gdLst/>
              <a:ahLst/>
              <a:cxnLst/>
              <a:rect l="l" t="t" r="r" b="b"/>
              <a:pathLst>
                <a:path w="21214080" h="1267968">
                  <a:moveTo>
                    <a:pt x="0" y="0"/>
                  </a:moveTo>
                  <a:lnTo>
                    <a:pt x="21214080" y="0"/>
                  </a:lnTo>
                  <a:lnTo>
                    <a:pt x="21214080" y="1267968"/>
                  </a:lnTo>
                  <a:lnTo>
                    <a:pt x="0" y="1267968"/>
                  </a:lnTo>
                  <a:close/>
                </a:path>
              </a:pathLst>
            </a:custGeom>
            <a:blipFill>
              <a:blip r:embed="rId3">
                <a:alphaModFix amt="0"/>
              </a:blip>
              <a:stretch>
                <a:fillRect t="-275999" b="-275999"/>
              </a:stretch>
            </a:blipFill>
          </p:spPr>
          <p:txBody>
            <a:bodyPr/>
            <a:lstStyle/>
            <a:p>
              <a:endParaRPr lang="en-IN"/>
            </a:p>
          </p:txBody>
        </p:sp>
        <p:sp>
          <p:nvSpPr>
            <p:cNvPr id="44" name="TextBox 44"/>
            <p:cNvSpPr txBox="1"/>
            <p:nvPr/>
          </p:nvSpPr>
          <p:spPr>
            <a:xfrm>
              <a:off x="0" y="0"/>
              <a:ext cx="21214080" cy="1267968"/>
            </a:xfrm>
            <a:prstGeom prst="rect">
              <a:avLst/>
            </a:prstGeom>
          </p:spPr>
          <p:txBody>
            <a:bodyPr lIns="0" tIns="0" rIns="0" bIns="0" rtlCol="0" anchor="ctr"/>
            <a:lstStyle/>
            <a:p>
              <a:pPr algn="l">
                <a:lnSpc>
                  <a:spcPts val="3120"/>
                </a:lnSpc>
              </a:pPr>
              <a:r>
                <a:rPr lang="en-US" sz="2600" spc="52" dirty="0">
                  <a:solidFill>
                    <a:srgbClr val="FFFFFF"/>
                  </a:solidFill>
                  <a:latin typeface="Playfair Display"/>
                  <a:ea typeface="Playfair Display"/>
                  <a:cs typeface="Playfair Display"/>
                  <a:sym typeface="Playfair Display"/>
                </a:rPr>
                <a:t>All shallow methods share 3 flaws: no parameter sharing, no features, transductive — GNNs fix these.</a:t>
              </a: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253439"/>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1342139"/>
            <a:chOff x="0" y="0"/>
            <a:chExt cx="24417871" cy="1789519"/>
          </a:xfrm>
        </p:grpSpPr>
        <p:sp>
          <p:nvSpPr>
            <p:cNvPr id="3" name="Freeform 3"/>
            <p:cNvSpPr/>
            <p:nvPr/>
          </p:nvSpPr>
          <p:spPr>
            <a:xfrm>
              <a:off x="0" y="0"/>
              <a:ext cx="24417910" cy="1789557"/>
            </a:xfrm>
            <a:custGeom>
              <a:avLst/>
              <a:gdLst/>
              <a:ahLst/>
              <a:cxnLst/>
              <a:rect l="l" t="t" r="r" b="b"/>
              <a:pathLst>
                <a:path w="24417910" h="1789557">
                  <a:moveTo>
                    <a:pt x="0" y="0"/>
                  </a:moveTo>
                  <a:lnTo>
                    <a:pt x="24417910" y="0"/>
                  </a:lnTo>
                  <a:lnTo>
                    <a:pt x="24417910" y="1789557"/>
                  </a:lnTo>
                  <a:lnTo>
                    <a:pt x="0" y="1789557"/>
                  </a:lnTo>
                  <a:close/>
                </a:path>
              </a:pathLst>
            </a:custGeom>
            <a:solidFill>
              <a:srgbClr val="FFFFFF"/>
            </a:solidFill>
            <a:ln w="25400" cap="sq">
              <a:solidFill>
                <a:srgbClr val="1A3461"/>
              </a:solidFill>
              <a:prstDash val="solid"/>
              <a:miter/>
            </a:ln>
          </p:spPr>
          <p:txBody>
            <a:bodyPr/>
            <a:lstStyle/>
            <a:p>
              <a:endParaRPr lang="en-IN"/>
            </a:p>
          </p:txBody>
        </p:sp>
      </p:grpSp>
      <p:grpSp>
        <p:nvGrpSpPr>
          <p:cNvPr id="4" name="Group 4"/>
          <p:cNvGrpSpPr/>
          <p:nvPr/>
        </p:nvGrpSpPr>
        <p:grpSpPr>
          <a:xfrm>
            <a:off x="731520" y="0"/>
            <a:ext cx="16824960" cy="1316736"/>
            <a:chOff x="0" y="0"/>
            <a:chExt cx="22433280" cy="1755648"/>
          </a:xfrm>
        </p:grpSpPr>
        <p:sp>
          <p:nvSpPr>
            <p:cNvPr id="5" name="Freeform 5"/>
            <p:cNvSpPr/>
            <p:nvPr/>
          </p:nvSpPr>
          <p:spPr>
            <a:xfrm>
              <a:off x="0" y="0"/>
              <a:ext cx="22433280" cy="1755648"/>
            </a:xfrm>
            <a:custGeom>
              <a:avLst/>
              <a:gdLst/>
              <a:ahLst/>
              <a:cxnLst/>
              <a:rect l="l" t="t" r="r" b="b"/>
              <a:pathLst>
                <a:path w="22433280" h="1755648">
                  <a:moveTo>
                    <a:pt x="0" y="0"/>
                  </a:moveTo>
                  <a:lnTo>
                    <a:pt x="22433280" y="0"/>
                  </a:lnTo>
                  <a:lnTo>
                    <a:pt x="22433280" y="1755648"/>
                  </a:lnTo>
                  <a:lnTo>
                    <a:pt x="0" y="1755648"/>
                  </a:lnTo>
                  <a:close/>
                </a:path>
              </a:pathLst>
            </a:custGeom>
            <a:blipFill>
              <a:blip r:embed="rId3">
                <a:alphaModFix amt="0"/>
              </a:blip>
              <a:stretch>
                <a:fillRect t="-198975" b="-198975"/>
              </a:stretch>
            </a:blipFill>
          </p:spPr>
          <p:txBody>
            <a:bodyPr/>
            <a:lstStyle/>
            <a:p>
              <a:endParaRPr lang="en-IN"/>
            </a:p>
          </p:txBody>
        </p:sp>
        <p:sp>
          <p:nvSpPr>
            <p:cNvPr id="6" name="TextBox 6"/>
            <p:cNvSpPr txBox="1"/>
            <p:nvPr/>
          </p:nvSpPr>
          <p:spPr>
            <a:xfrm>
              <a:off x="0" y="-9525"/>
              <a:ext cx="22433280" cy="1765173"/>
            </a:xfrm>
            <a:prstGeom prst="rect">
              <a:avLst/>
            </a:prstGeom>
          </p:spPr>
          <p:txBody>
            <a:bodyPr lIns="0" tIns="0" rIns="0" bIns="0" rtlCol="0" anchor="ctr"/>
            <a:lstStyle/>
            <a:p>
              <a:pPr algn="l">
                <a:lnSpc>
                  <a:spcPts val="4800"/>
                </a:lnSpc>
              </a:pPr>
              <a:r>
                <a:rPr lang="en-US" sz="4000" spc="560">
                  <a:solidFill>
                    <a:srgbClr val="253439"/>
                  </a:solidFill>
                  <a:latin typeface="Hammersmith One"/>
                  <a:ea typeface="Hammersmith One"/>
                  <a:cs typeface="Hammersmith One"/>
                  <a:sym typeface="Hammersmith One"/>
                </a:rPr>
                <a:t>REFERENCES</a:t>
              </a:r>
            </a:p>
          </p:txBody>
        </p:sp>
      </p:grpSp>
      <p:sp>
        <p:nvSpPr>
          <p:cNvPr id="8" name="Freeform 8"/>
          <p:cNvSpPr/>
          <p:nvPr/>
        </p:nvSpPr>
        <p:spPr>
          <a:xfrm>
            <a:off x="731520" y="73152"/>
            <a:ext cx="16459200" cy="402336"/>
          </a:xfrm>
          <a:custGeom>
            <a:avLst/>
            <a:gdLst/>
            <a:ahLst/>
            <a:cxnLst/>
            <a:rect l="l" t="t" r="r" b="b"/>
            <a:pathLst>
              <a:path w="21945600" h="536448">
                <a:moveTo>
                  <a:pt x="0" y="0"/>
                </a:moveTo>
                <a:lnTo>
                  <a:pt x="21945600" y="0"/>
                </a:lnTo>
                <a:lnTo>
                  <a:pt x="21945600" y="536448"/>
                </a:lnTo>
                <a:lnTo>
                  <a:pt x="0" y="536448"/>
                </a:lnTo>
                <a:close/>
              </a:path>
            </a:pathLst>
          </a:custGeom>
          <a:blipFill>
            <a:blip r:embed="rId3">
              <a:alphaModFix amt="0"/>
            </a:blip>
            <a:stretch>
              <a:fillRect t="-747115" b="-747115"/>
            </a:stretch>
          </a:blipFill>
        </p:spPr>
        <p:txBody>
          <a:bodyPr/>
          <a:lstStyle/>
          <a:p>
            <a:endParaRPr lang="en-IN"/>
          </a:p>
        </p:txBody>
      </p:sp>
      <p:grpSp>
        <p:nvGrpSpPr>
          <p:cNvPr id="10" name="Group 10"/>
          <p:cNvGrpSpPr/>
          <p:nvPr/>
        </p:nvGrpSpPr>
        <p:grpSpPr>
          <a:xfrm>
            <a:off x="731520" y="1609344"/>
            <a:ext cx="16824960" cy="950976"/>
            <a:chOff x="0" y="0"/>
            <a:chExt cx="22433280" cy="1267968"/>
          </a:xfrm>
        </p:grpSpPr>
        <p:sp>
          <p:nvSpPr>
            <p:cNvPr id="11" name="Freeform 11"/>
            <p:cNvSpPr/>
            <p:nvPr/>
          </p:nvSpPr>
          <p:spPr>
            <a:xfrm>
              <a:off x="0" y="0"/>
              <a:ext cx="22433280" cy="1267968"/>
            </a:xfrm>
            <a:custGeom>
              <a:avLst/>
              <a:gdLst/>
              <a:ahLst/>
              <a:cxnLst/>
              <a:rect l="l" t="t" r="r" b="b"/>
              <a:pathLst>
                <a:path w="22433280" h="1267968">
                  <a:moveTo>
                    <a:pt x="0" y="0"/>
                  </a:moveTo>
                  <a:lnTo>
                    <a:pt x="22433280" y="0"/>
                  </a:lnTo>
                  <a:lnTo>
                    <a:pt x="22433280" y="1267968"/>
                  </a:lnTo>
                  <a:lnTo>
                    <a:pt x="0" y="1267968"/>
                  </a:lnTo>
                  <a:close/>
                </a:path>
              </a:pathLst>
            </a:custGeom>
            <a:blipFill>
              <a:blip r:embed="rId3">
                <a:alphaModFix amt="0"/>
              </a:blip>
              <a:stretch>
                <a:fillRect t="-294735" b="-294735"/>
              </a:stretch>
            </a:blipFill>
          </p:spPr>
          <p:txBody>
            <a:bodyPr/>
            <a:lstStyle/>
            <a:p>
              <a:endParaRPr lang="en-IN"/>
            </a:p>
          </p:txBody>
        </p:sp>
        <p:sp>
          <p:nvSpPr>
            <p:cNvPr id="12" name="TextBox 12"/>
            <p:cNvSpPr txBox="1"/>
            <p:nvPr/>
          </p:nvSpPr>
          <p:spPr>
            <a:xfrm>
              <a:off x="0" y="0"/>
              <a:ext cx="22433280" cy="1267968"/>
            </a:xfrm>
            <a:prstGeom prst="rect">
              <a:avLst/>
            </a:prstGeom>
          </p:spPr>
          <p:txBody>
            <a:bodyPr lIns="0" tIns="0" rIns="0" bIns="0" rtlCol="0" anchor="ctr"/>
            <a:lstStyle/>
            <a:p>
              <a:pPr algn="l">
                <a:lnSpc>
                  <a:spcPts val="2879"/>
                </a:lnSpc>
              </a:pPr>
              <a:r>
                <a:rPr lang="en-US" sz="2400" spc="48">
                  <a:solidFill>
                    <a:srgbClr val="FFFFFF"/>
                  </a:solidFill>
                  <a:latin typeface="Playfair Display"/>
                  <a:ea typeface="Playfair Display"/>
                  <a:cs typeface="Playfair Display"/>
                  <a:sym typeface="Playfair Display"/>
                </a:rPr>
                <a:t>[1]  Hamilton, W.L. (2020). Graph Representation Learning. McGill University (GRL Book), Chapter 3.</a:t>
              </a:r>
            </a:p>
          </p:txBody>
        </p:sp>
      </p:grpSp>
      <p:grpSp>
        <p:nvGrpSpPr>
          <p:cNvPr id="13" name="Group 13"/>
          <p:cNvGrpSpPr/>
          <p:nvPr/>
        </p:nvGrpSpPr>
        <p:grpSpPr>
          <a:xfrm>
            <a:off x="731520" y="2633472"/>
            <a:ext cx="16824960" cy="950976"/>
            <a:chOff x="0" y="0"/>
            <a:chExt cx="22433280" cy="1267968"/>
          </a:xfrm>
        </p:grpSpPr>
        <p:sp>
          <p:nvSpPr>
            <p:cNvPr id="14" name="Freeform 14"/>
            <p:cNvSpPr/>
            <p:nvPr/>
          </p:nvSpPr>
          <p:spPr>
            <a:xfrm>
              <a:off x="0" y="0"/>
              <a:ext cx="22433280" cy="1267968"/>
            </a:xfrm>
            <a:custGeom>
              <a:avLst/>
              <a:gdLst/>
              <a:ahLst/>
              <a:cxnLst/>
              <a:rect l="l" t="t" r="r" b="b"/>
              <a:pathLst>
                <a:path w="22433280" h="1267968">
                  <a:moveTo>
                    <a:pt x="0" y="0"/>
                  </a:moveTo>
                  <a:lnTo>
                    <a:pt x="22433280" y="0"/>
                  </a:lnTo>
                  <a:lnTo>
                    <a:pt x="22433280" y="1267968"/>
                  </a:lnTo>
                  <a:lnTo>
                    <a:pt x="0" y="1267968"/>
                  </a:lnTo>
                  <a:close/>
                </a:path>
              </a:pathLst>
            </a:custGeom>
            <a:blipFill>
              <a:blip r:embed="rId3">
                <a:alphaModFix amt="0"/>
              </a:blip>
              <a:stretch>
                <a:fillRect t="-294735" b="-294735"/>
              </a:stretch>
            </a:blipFill>
          </p:spPr>
          <p:txBody>
            <a:bodyPr/>
            <a:lstStyle/>
            <a:p>
              <a:endParaRPr lang="en-IN"/>
            </a:p>
          </p:txBody>
        </p:sp>
        <p:sp>
          <p:nvSpPr>
            <p:cNvPr id="15" name="TextBox 15"/>
            <p:cNvSpPr txBox="1"/>
            <p:nvPr/>
          </p:nvSpPr>
          <p:spPr>
            <a:xfrm>
              <a:off x="0" y="0"/>
              <a:ext cx="22433280" cy="1267968"/>
            </a:xfrm>
            <a:prstGeom prst="rect">
              <a:avLst/>
            </a:prstGeom>
          </p:spPr>
          <p:txBody>
            <a:bodyPr lIns="0" tIns="0" rIns="0" bIns="0" rtlCol="0" anchor="ctr"/>
            <a:lstStyle/>
            <a:p>
              <a:pPr algn="l">
                <a:lnSpc>
                  <a:spcPts val="2879"/>
                </a:lnSpc>
              </a:pPr>
              <a:r>
                <a:rPr lang="en-US" sz="2400" spc="48" dirty="0">
                  <a:solidFill>
                    <a:srgbClr val="FFFFFF"/>
                  </a:solidFill>
                  <a:latin typeface="Playfair Display"/>
                  <a:ea typeface="Playfair Display"/>
                  <a:cs typeface="Playfair Display"/>
                  <a:sym typeface="Playfair Display"/>
                </a:rPr>
                <a:t>[2]  Leskovec, J. &amp; Kanatsoulis, C. (2025). CS224W: Machine Learning with Graphs, Lecture 2. Stanford University.</a:t>
              </a:r>
            </a:p>
          </p:txBody>
        </p:sp>
      </p:grpSp>
      <p:sp>
        <p:nvSpPr>
          <p:cNvPr id="20" name="Freeform 20"/>
          <p:cNvSpPr/>
          <p:nvPr/>
        </p:nvSpPr>
        <p:spPr>
          <a:xfrm>
            <a:off x="731520" y="4681728"/>
            <a:ext cx="16824960" cy="950976"/>
          </a:xfrm>
          <a:custGeom>
            <a:avLst/>
            <a:gdLst/>
            <a:ahLst/>
            <a:cxnLst/>
            <a:rect l="l" t="t" r="r" b="b"/>
            <a:pathLst>
              <a:path w="22433280" h="1267968">
                <a:moveTo>
                  <a:pt x="0" y="0"/>
                </a:moveTo>
                <a:lnTo>
                  <a:pt x="22433280" y="0"/>
                </a:lnTo>
                <a:lnTo>
                  <a:pt x="22433280" y="1267968"/>
                </a:lnTo>
                <a:lnTo>
                  <a:pt x="0" y="1267968"/>
                </a:lnTo>
                <a:close/>
              </a:path>
            </a:pathLst>
          </a:custGeom>
          <a:blipFill>
            <a:blip r:embed="rId3">
              <a:alphaModFix amt="0"/>
            </a:blip>
            <a:stretch>
              <a:fillRect t="-294735" b="-294735"/>
            </a:stretch>
          </a:blipFill>
        </p:spPr>
        <p:txBody>
          <a:bodyPr/>
          <a:lstStyle/>
          <a:p>
            <a:endParaRPr lang="en-IN"/>
          </a:p>
        </p:txBody>
      </p:sp>
      <p:sp>
        <p:nvSpPr>
          <p:cNvPr id="26" name="Freeform 26"/>
          <p:cNvSpPr/>
          <p:nvPr/>
        </p:nvSpPr>
        <p:spPr>
          <a:xfrm>
            <a:off x="731520" y="6729984"/>
            <a:ext cx="16824960" cy="950976"/>
          </a:xfrm>
          <a:custGeom>
            <a:avLst/>
            <a:gdLst/>
            <a:ahLst/>
            <a:cxnLst/>
            <a:rect l="l" t="t" r="r" b="b"/>
            <a:pathLst>
              <a:path w="22433280" h="1267968">
                <a:moveTo>
                  <a:pt x="0" y="0"/>
                </a:moveTo>
                <a:lnTo>
                  <a:pt x="22433280" y="0"/>
                </a:lnTo>
                <a:lnTo>
                  <a:pt x="22433280" y="1267968"/>
                </a:lnTo>
                <a:lnTo>
                  <a:pt x="0" y="1267968"/>
                </a:lnTo>
                <a:close/>
              </a:path>
            </a:pathLst>
          </a:custGeom>
          <a:blipFill>
            <a:blip r:embed="rId3">
              <a:alphaModFix amt="0"/>
            </a:blip>
            <a:stretch>
              <a:fillRect t="-294735" b="-294735"/>
            </a:stretch>
          </a:blipFill>
        </p:spPr>
        <p:txBody>
          <a:bodyPr/>
          <a:lstStyle/>
          <a:p>
            <a:endParaRPr lang="en-IN"/>
          </a:p>
        </p:txBody>
      </p:sp>
      <p:sp>
        <p:nvSpPr>
          <p:cNvPr id="29" name="Freeform 29"/>
          <p:cNvSpPr/>
          <p:nvPr/>
        </p:nvSpPr>
        <p:spPr>
          <a:xfrm>
            <a:off x="731520" y="7754112"/>
            <a:ext cx="16824960" cy="950976"/>
          </a:xfrm>
          <a:custGeom>
            <a:avLst/>
            <a:gdLst/>
            <a:ahLst/>
            <a:cxnLst/>
            <a:rect l="l" t="t" r="r" b="b"/>
            <a:pathLst>
              <a:path w="22433280" h="1267968">
                <a:moveTo>
                  <a:pt x="0" y="0"/>
                </a:moveTo>
                <a:lnTo>
                  <a:pt x="22433280" y="0"/>
                </a:lnTo>
                <a:lnTo>
                  <a:pt x="22433280" y="1267968"/>
                </a:lnTo>
                <a:lnTo>
                  <a:pt x="0" y="1267968"/>
                </a:lnTo>
                <a:close/>
              </a:path>
            </a:pathLst>
          </a:custGeom>
          <a:blipFill>
            <a:blip r:embed="rId3">
              <a:alphaModFix amt="0"/>
            </a:blip>
            <a:stretch>
              <a:fillRect t="-294735" b="-294735"/>
            </a:stretch>
          </a:blipFill>
        </p:spPr>
        <p:txBody>
          <a:bodyPr/>
          <a:lstStyle/>
          <a:p>
            <a:endParaRPr lang="en-IN"/>
          </a:p>
        </p:txBody>
      </p:sp>
      <p:sp>
        <p:nvSpPr>
          <p:cNvPr id="34" name="TextBox 33">
            <a:extLst>
              <a:ext uri="{FF2B5EF4-FFF2-40B4-BE49-F238E27FC236}">
                <a16:creationId xmlns:a16="http://schemas.microsoft.com/office/drawing/2014/main" id="{0AD2CF88-1176-A0BB-554E-94B522CC012C}"/>
              </a:ext>
            </a:extLst>
          </p:cNvPr>
          <p:cNvSpPr txBox="1"/>
          <p:nvPr/>
        </p:nvSpPr>
        <p:spPr>
          <a:xfrm>
            <a:off x="7467600" y="6134100"/>
            <a:ext cx="3225114" cy="923330"/>
          </a:xfrm>
          <a:prstGeom prst="rect">
            <a:avLst/>
          </a:prstGeom>
          <a:noFill/>
        </p:spPr>
        <p:txBody>
          <a:bodyPr wrap="none" rtlCol="0">
            <a:spAutoFit/>
          </a:bodyPr>
          <a:lstStyle/>
          <a:p>
            <a:r>
              <a:rPr lang="en-US" sz="5400" dirty="0">
                <a:solidFill>
                  <a:schemeClr val="bg1"/>
                </a:solidFill>
                <a:latin typeface="Times New Roman" panose="02020603050405020304" pitchFamily="18" charset="0"/>
                <a:cs typeface="Times New Roman" panose="02020603050405020304" pitchFamily="18" charset="0"/>
              </a:rPr>
              <a:t>Thank You</a:t>
            </a:r>
            <a:endParaRPr lang="en-IN" sz="54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2939</TotalTime>
  <Words>5934</Words>
  <Application>Microsoft Office PowerPoint</Application>
  <PresentationFormat>Custom</PresentationFormat>
  <Paragraphs>922</Paragraphs>
  <Slides>36</Slides>
  <Notes>36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36</vt:i4>
      </vt:variant>
    </vt:vector>
  </HeadingPairs>
  <TitlesOfParts>
    <vt:vector size="46" baseType="lpstr">
      <vt:lpstr>Playfair Display</vt:lpstr>
      <vt:lpstr>Hammersmith One</vt:lpstr>
      <vt:lpstr>Arial</vt:lpstr>
      <vt:lpstr>Cambria Math</vt:lpstr>
      <vt:lpstr>Cambria</vt:lpstr>
      <vt:lpstr>Calibri</vt:lpstr>
      <vt:lpstr>Playfair Display Italics</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graph_ml_presentation.pptx</dc:title>
  <dc:creator>Siddardha Sangavarapu Venkata Sai</dc:creator>
  <cp:lastModifiedBy>Siddardha Sangavarapu Venkata Sai</cp:lastModifiedBy>
  <cp:revision>3</cp:revision>
  <dcterms:created xsi:type="dcterms:W3CDTF">2006-08-16T00:00:00Z</dcterms:created>
  <dcterms:modified xsi:type="dcterms:W3CDTF">2026-06-11T07:18:16Z</dcterms:modified>
  <dc:identifier>DAHMDuKmU3U</dc:identifier>
</cp:coreProperties>
</file>